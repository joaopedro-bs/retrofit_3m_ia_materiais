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8dcbc779ca4b26" /><Relationship Type="http://schemas.openxmlformats.org/officeDocument/2006/relationships/extended-properties" Target="/docProps/app.xml" Id="Re6ab5dd0279a450d" /><Relationship Type="http://schemas.openxmlformats.org/officeDocument/2006/relationships/officeDocument" Target="/ppt/presentation.xml" Id="R121e647538be40bd" /></Relationships>
</file>

<file path=ppt/presentation.xml><?xml version="1.0" encoding="utf-8"?>
<p:presentation xmlns:p="http://schemas.openxmlformats.org/presentationml/2006/main">
  <p:sldMasterIdLst>
    <p:sldMasterId xmlns:r="http://schemas.openxmlformats.org/officeDocument/2006/relationships" id="2147483648" r:id="R5c0284196e5c4b1b"/>
  </p:sldMasterIdLst>
  <p:notesMasterIdLst>
    <p:notesMasterId xmlns:r="http://schemas.openxmlformats.org/officeDocument/2006/relationships" r:id="R07b79b09c45b48eb"/>
  </p:notesMasterIdLst>
  <p:sldIdLst>
    <p:sldId xmlns:r="http://schemas.openxmlformats.org/officeDocument/2006/relationships" id="256" r:id="R2a33d02af8dc47b5"/>
    <p:sldId xmlns:r="http://schemas.openxmlformats.org/officeDocument/2006/relationships" id="257" r:id="R6c6e8e63a3ab4d86"/>
    <p:sldId xmlns:r="http://schemas.openxmlformats.org/officeDocument/2006/relationships" id="258" r:id="Rb09910ae76404a51"/>
    <p:sldId xmlns:r="http://schemas.openxmlformats.org/officeDocument/2006/relationships" id="259" r:id="Rb31d175abb3d4dfc"/>
    <p:sldId xmlns:r="http://schemas.openxmlformats.org/officeDocument/2006/relationships" id="260" r:id="R54d673f1af104f2d"/>
    <p:sldId xmlns:r="http://schemas.openxmlformats.org/officeDocument/2006/relationships" id="261" r:id="Rb1ead936e0c0492d"/>
    <p:sldId xmlns:r="http://schemas.openxmlformats.org/officeDocument/2006/relationships" id="262" r:id="R5e1830308d8b4f1e"/>
    <p:sldId xmlns:r="http://schemas.openxmlformats.org/officeDocument/2006/relationships" id="263" r:id="Ra95abf7d0a404894"/>
    <p:sldId xmlns:r="http://schemas.openxmlformats.org/officeDocument/2006/relationships" id="264" r:id="R3255234fa34c4ff5"/>
    <p:sldId xmlns:r="http://schemas.openxmlformats.org/officeDocument/2006/relationships" id="265" r:id="R3b8f1a3e6f1c41a0"/>
    <p:sldId xmlns:r="http://schemas.openxmlformats.org/officeDocument/2006/relationships" id="266" r:id="R5d74088224ed4eef"/>
    <p:sldId xmlns:r="http://schemas.openxmlformats.org/officeDocument/2006/relationships" id="267" r:id="R5eb5403c0b2a4f75"/>
    <p:sldId xmlns:r="http://schemas.openxmlformats.org/officeDocument/2006/relationships" id="268" r:id="R1eed8dbb46dc4151"/>
    <p:sldId xmlns:r="http://schemas.openxmlformats.org/officeDocument/2006/relationships" id="269" r:id="R3c7238f2fc104c54"/>
    <p:sldId xmlns:r="http://schemas.openxmlformats.org/officeDocument/2006/relationships" id="270" r:id="Rdf38073b9e1345ff"/>
    <p:sldId xmlns:r="http://schemas.openxmlformats.org/officeDocument/2006/relationships" id="271" r:id="R2d88a9052dd9479d"/>
    <p:sldId xmlns:r="http://schemas.openxmlformats.org/officeDocument/2006/relationships" id="272" r:id="Ra75af06c817e4ced"/>
    <p:sldId xmlns:r="http://schemas.openxmlformats.org/officeDocument/2006/relationships" id="273" r:id="R3c7bef3048624a27"/>
    <p:sldId xmlns:r="http://schemas.openxmlformats.org/officeDocument/2006/relationships" id="274" r:id="R40af118ccc834ac7"/>
    <p:sldId xmlns:r="http://schemas.openxmlformats.org/officeDocument/2006/relationships" id="275" r:id="Rf60bff0c13b147ec"/>
    <p:sldId xmlns:r="http://schemas.openxmlformats.org/officeDocument/2006/relationships" id="276" r:id="Reec4f0cebe234721"/>
    <p:sldId xmlns:r="http://schemas.openxmlformats.org/officeDocument/2006/relationships" id="277" r:id="R2da3d05dad114c53"/>
    <p:sldId xmlns:r="http://schemas.openxmlformats.org/officeDocument/2006/relationships" id="278" r:id="R183552cfccc5402d"/>
  </p:sldIdLst>
  <p:sldSz cx="9144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7e4e66119f04bb4" /><Relationship Type="http://schemas.openxmlformats.org/officeDocument/2006/relationships/slideMaster" Target="/ppt/slideMasters/slideMaster1.xml" Id="R5c0284196e5c4b1b" /><Relationship Type="http://schemas.openxmlformats.org/officeDocument/2006/relationships/notesMaster" Target="/ppt/notesMasters/notesMaster1.xml" Id="R07b79b09c45b48eb" /><Relationship Type="http://schemas.openxmlformats.org/officeDocument/2006/relationships/presProps" Target="/ppt/presProps.xml" Id="R2061aeb0e5a94f79" /><Relationship Type="http://schemas.openxmlformats.org/officeDocument/2006/relationships/viewProps" Target="/ppt/viewProps.xml" Id="R1cf4565041bb4470" /><Relationship Type="http://schemas.openxmlformats.org/officeDocument/2006/relationships/tableStyles" Target="/ppt/tableStyles.xml" Id="R4905a3d144b7419f" /><Relationship Type="http://schemas.openxmlformats.org/officeDocument/2006/relationships/slide" Target="/ppt/slides/slide1.xml" Id="R2a33d02af8dc47b5" /><Relationship Type="http://schemas.openxmlformats.org/officeDocument/2006/relationships/slide" Target="/ppt/slides/slide2.xml" Id="R6c6e8e63a3ab4d86" /><Relationship Type="http://schemas.openxmlformats.org/officeDocument/2006/relationships/slide" Target="/ppt/slides/slide3.xml" Id="Rb09910ae76404a51" /><Relationship Type="http://schemas.openxmlformats.org/officeDocument/2006/relationships/slide" Target="/ppt/slides/slide4.xml" Id="Rb31d175abb3d4dfc" /><Relationship Type="http://schemas.openxmlformats.org/officeDocument/2006/relationships/slide" Target="/ppt/slides/slide5.xml" Id="R54d673f1af104f2d" /><Relationship Type="http://schemas.openxmlformats.org/officeDocument/2006/relationships/slide" Target="/ppt/slides/slide6.xml" Id="Rb1ead936e0c0492d" /><Relationship Type="http://schemas.openxmlformats.org/officeDocument/2006/relationships/slide" Target="/ppt/slides/slide7.xml" Id="R5e1830308d8b4f1e" /><Relationship Type="http://schemas.openxmlformats.org/officeDocument/2006/relationships/slide" Target="/ppt/slides/slide8.xml" Id="Ra95abf7d0a404894" /><Relationship Type="http://schemas.openxmlformats.org/officeDocument/2006/relationships/slide" Target="/ppt/slides/slide9.xml" Id="R3255234fa34c4ff5" /><Relationship Type="http://schemas.openxmlformats.org/officeDocument/2006/relationships/slide" Target="/ppt/slides/slide10.xml" Id="R3b8f1a3e6f1c41a0" /><Relationship Type="http://schemas.openxmlformats.org/officeDocument/2006/relationships/slide" Target="/ppt/slides/slide11.xml" Id="R5d74088224ed4eef" /><Relationship Type="http://schemas.openxmlformats.org/officeDocument/2006/relationships/slide" Target="/ppt/slides/slide12.xml" Id="R5eb5403c0b2a4f75" /><Relationship Type="http://schemas.openxmlformats.org/officeDocument/2006/relationships/slide" Target="/ppt/slides/slide13.xml" Id="R1eed8dbb46dc4151" /><Relationship Type="http://schemas.openxmlformats.org/officeDocument/2006/relationships/slide" Target="/ppt/slides/slide14.xml" Id="R3c7238f2fc104c54" /><Relationship Type="http://schemas.openxmlformats.org/officeDocument/2006/relationships/slide" Target="/ppt/slides/slide15.xml" Id="Rdf38073b9e1345ff" /><Relationship Type="http://schemas.openxmlformats.org/officeDocument/2006/relationships/slide" Target="/ppt/slides/slide16.xml" Id="R2d88a9052dd9479d" /><Relationship Type="http://schemas.openxmlformats.org/officeDocument/2006/relationships/slide" Target="/ppt/slides/slide17.xml" Id="Ra75af06c817e4ced" /><Relationship Type="http://schemas.openxmlformats.org/officeDocument/2006/relationships/slide" Target="/ppt/slides/slide18.xml" Id="R3c7bef3048624a27" /><Relationship Type="http://schemas.openxmlformats.org/officeDocument/2006/relationships/slide" Target="/ppt/slides/slide19.xml" Id="R40af118ccc834ac7" /><Relationship Type="http://schemas.openxmlformats.org/officeDocument/2006/relationships/slide" Target="/ppt/slides/slide20.xml" Id="Rf60bff0c13b147ec" /><Relationship Type="http://schemas.openxmlformats.org/officeDocument/2006/relationships/slide" Target="/ppt/slides/slide21.xml" Id="Reec4f0cebe234721" /><Relationship Type="http://schemas.openxmlformats.org/officeDocument/2006/relationships/slide" Target="/ppt/slides/slide22.xml" Id="R2da3d05dad114c53" /><Relationship Type="http://schemas.openxmlformats.org/officeDocument/2006/relationships/slide" Target="/ppt/slides/slide23.xml" Id="R183552cfccc540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5873fcc9234c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8bd0d864334681" /><Relationship Type="http://schemas.openxmlformats.org/officeDocument/2006/relationships/notesMaster" Target="/ppt/notesMasters/notesMaster1.xml" Id="R44a1867963f343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61ab1473084a50" /><Relationship Type="http://schemas.openxmlformats.org/officeDocument/2006/relationships/notesMaster" Target="/ppt/notesMasters/notesMaster1.xml" Id="R74ec35f4a1c443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147c66d53048b0" /><Relationship Type="http://schemas.openxmlformats.org/officeDocument/2006/relationships/notesMaster" Target="/ppt/notesMasters/notesMaster1.xml" Id="R468317024ac345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3d688a1bba43bc" /><Relationship Type="http://schemas.openxmlformats.org/officeDocument/2006/relationships/notesMaster" Target="/ppt/notesMasters/notesMaster1.xml" Id="R081b98a2531045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68718182be4740" /><Relationship Type="http://schemas.openxmlformats.org/officeDocument/2006/relationships/notesMaster" Target="/ppt/notesMasters/notesMaster1.xml" Id="R3eb46c022d2341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b4ddaf72bd423b" /><Relationship Type="http://schemas.openxmlformats.org/officeDocument/2006/relationships/notesMaster" Target="/ppt/notesMasters/notesMaster1.xml" Id="Rcb0825b627a645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4c245c18c84641" /><Relationship Type="http://schemas.openxmlformats.org/officeDocument/2006/relationships/notesMaster" Target="/ppt/notesMasters/notesMaster1.xml" Id="R8baef2855b7747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602717201e4cf1" /><Relationship Type="http://schemas.openxmlformats.org/officeDocument/2006/relationships/notesMaster" Target="/ppt/notesMasters/notesMaster1.xml" Id="Ra4dfc88d61de43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e1f7e05aa54e06" /><Relationship Type="http://schemas.openxmlformats.org/officeDocument/2006/relationships/notesMaster" Target="/ppt/notesMasters/notesMaster1.xml" Id="R3affaaf6907840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71b71da64d4702" /><Relationship Type="http://schemas.openxmlformats.org/officeDocument/2006/relationships/notesMaster" Target="/ppt/notesMasters/notesMaster1.xml" Id="R463b7243d3304e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cecdd68ac14198" /><Relationship Type="http://schemas.openxmlformats.org/officeDocument/2006/relationships/notesMaster" Target="/ppt/notesMasters/notesMaster1.xml" Id="R15786d21c7ca45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2754c44fdb4f91" /><Relationship Type="http://schemas.openxmlformats.org/officeDocument/2006/relationships/notesMaster" Target="/ppt/notesMasters/notesMaster1.xml" Id="Rc2511f0c807b45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63be0b20a1408d" /><Relationship Type="http://schemas.openxmlformats.org/officeDocument/2006/relationships/notesMaster" Target="/ppt/notesMasters/notesMaster1.xml" Id="Re3d87b6eccc643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28844a406bb411f" /><Relationship Type="http://schemas.openxmlformats.org/officeDocument/2006/relationships/notesMaster" Target="/ppt/notesMasters/notesMaster1.xml" Id="Rc3d4e450027641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c20df93b9948b7" /><Relationship Type="http://schemas.openxmlformats.org/officeDocument/2006/relationships/notesMaster" Target="/ppt/notesMasters/notesMaster1.xml" Id="R9c10aab3efe44b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047bb42d33469d" /><Relationship Type="http://schemas.openxmlformats.org/officeDocument/2006/relationships/notesMaster" Target="/ppt/notesMasters/notesMaster1.xml" Id="Rc66c30fbda2d48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f6804550364af2" /><Relationship Type="http://schemas.openxmlformats.org/officeDocument/2006/relationships/notesMaster" Target="/ppt/notesMasters/notesMaster1.xml" Id="Rd3b3ee87a7934d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f9cdc107b974e75" /><Relationship Type="http://schemas.openxmlformats.org/officeDocument/2006/relationships/notesMaster" Target="/ppt/notesMasters/notesMaster1.xml" Id="Re0ae8f37571643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f8498438ac34e90" /><Relationship Type="http://schemas.openxmlformats.org/officeDocument/2006/relationships/notesMaster" Target="/ppt/notesMasters/notesMaster1.xml" Id="R15192a62fd5a4b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0ac21a7ade64974" /><Relationship Type="http://schemas.openxmlformats.org/officeDocument/2006/relationships/notesMaster" Target="/ppt/notesMasters/notesMaster1.xml" Id="Ra57004260fac400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e2da5d28ef442f0" /><Relationship Type="http://schemas.openxmlformats.org/officeDocument/2006/relationships/notesMaster" Target="/ppt/notesMasters/notesMaster1.xml" Id="R77fd49a2e2d6453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337eb4ce21f4ae0" /><Relationship Type="http://schemas.openxmlformats.org/officeDocument/2006/relationships/notesMaster" Target="/ppt/notesMasters/notesMaster1.xml" Id="R1786f02c69ee45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3e1a95826b4fe4" /><Relationship Type="http://schemas.openxmlformats.org/officeDocument/2006/relationships/notesMaster" Target="/ppt/notesMasters/notesMaster1.xml" Id="R42b3e6254b7a4b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474397e52943e8" /><Relationship Type="http://schemas.openxmlformats.org/officeDocument/2006/relationships/image" Target="/ppt/media/image.jpeg" Id="Rc1566c95ce504fda" /><Relationship Type="http://schemas.openxmlformats.org/officeDocument/2006/relationships/image" Target="/ppt/media/image2.png" Id="Rd0e01588701d49e2" /><Relationship Type="http://schemas.openxmlformats.org/officeDocument/2006/relationships/image" Target="/ppt/media/image3.png" Id="R277bf4ff0d6643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086faf11d643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74267b5693949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265272467c4e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6e31caacfc4f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47b570509b49c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148140946fe4e6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880f73298164ff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1a62d0ecc75418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edafbf3c18f4b3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f5aabbfa6694d6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91dd2730dd3416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7877c58709154236" /><Relationship Type="http://schemas.openxmlformats.org/officeDocument/2006/relationships/image" Target="/ppt/media/image4.png" Id="R3fa1698e41da492a" /></Relationships>
</file>

<file path=ppt/slideLayouts/slideLayout1.xml><?xml version="1.0" encoding="utf-8"?>
<p:sldLayout xmlns:p="http://schemas.openxmlformats.org/presentationml/2006/main" showMasterSp="0" matchingName="Title Slide" type="title">
  <p:cSld name="TITLE">
    <p:spTree>
      <p:nvGrpSpPr>
        <p:cNvPr id="1" name=""/>
        <p:cNvGrpSpPr/>
        <p:nvPr/>
      </p:nvGrpSpPr>
      <p:grpSpPr>
        <a:xfrm xmlns:a="http://schemas.openxmlformats.org/drawingml/2006/main"/>
      </p:grpSpPr>
      <p:sp>
        <p:nvSpPr>
          <p:cNvPr id="19" name="Google Shape;19;p2">
            <a:extLst xmlns:a="http://schemas.openxmlformats.org/drawingml/2006/main">
              <a:ext uri="{FF2B5EF4-FFF2-40B4-BE49-F238E27FC236}">
                <a16:creationId xmlns:a16="http://schemas.microsoft.com/office/drawing/2014/main" id="{671A2153-70B6-4648-B799-CB28E04A61AF}"/>
              </a:ext>
            </a:extLst>
          </p:cNvPr>
          <p:cNvSpPr>
            <a:spLocks xmlns:a="http://schemas.openxmlformats.org/drawingml/2006/main" noGrp="1"/>
          </p:cNvSpPr>
          <p:nvPr>
            <p:ph type="ctrTitle" idx="0"/>
          </p:nvPr>
        </p:nvSpPr>
        <p:spPr>
          <a:xfrm xmlns:a="http://schemas.openxmlformats.org/drawingml/2006/main">
            <a:off x="2835445" y="800861"/>
            <a:ext cx="6191137" cy="34635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90000"/>
              </a:lnSpc>
              <a:spcBef>
                <a:spcPts val="0"/>
              </a:spcBef>
              <a:spcAft>
                <a:spcPts val="0"/>
              </a:spcAft>
              <a:buNone/>
              <a:defRPr sz="4500">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20" name="Google Shape;20;p2">
            <a:extLst xmlns:a="http://schemas.openxmlformats.org/drawingml/2006/main">
              <a:ext uri="{FF2B5EF4-FFF2-40B4-BE49-F238E27FC236}">
                <a16:creationId xmlns:a16="http://schemas.microsoft.com/office/drawing/2014/main" id="{C938B4B9-6E4E-42C9-B0B0-38836786C709}"/>
              </a:ext>
            </a:extLst>
          </p:cNvPr>
          <p:cNvSpPr>
            <a:spLocks xmlns:a="http://schemas.openxmlformats.org/drawingml/2006/main" noGrp="1"/>
          </p:cNvSpPr>
          <p:nvPr>
            <p:ph type="subTitle" idx="1"/>
          </p:nvPr>
        </p:nvSpPr>
        <p:spPr>
          <a:xfrm xmlns:a="http://schemas.openxmlformats.org/drawingml/2006/main">
            <a:off x="2835445" y="4414058"/>
            <a:ext cx="6217114" cy="9013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750"/>
              </a:spcBef>
              <a:spcAft>
                <a:spcPts val="0"/>
              </a:spcAft>
              <a:buNone/>
              <a:defRPr sz="1800">
                <a:solidFill>
                  <a:srgbClr val="38415C"/>
                </a:solidFill>
              </a:defRPr>
            </a:lvl1pPr>
            <a:lvl2pPr algn="ctr">
              <a:lnSpc>
                <a:spcPct val="90000"/>
              </a:lnSpc>
              <a:spcBef>
                <a:spcPts val="375"/>
              </a:spcBef>
              <a:spcAft>
                <a:spcPts val="0"/>
              </a:spcAft>
              <a:buNone/>
              <a:defRPr sz="1500"/>
            </a:lvl2pPr>
            <a:lvl3pPr algn="ctr">
              <a:lnSpc>
                <a:spcPct val="90000"/>
              </a:lnSpc>
              <a:spcBef>
                <a:spcPts val="375"/>
              </a:spcBef>
              <a:spcAft>
                <a:spcPts val="0"/>
              </a:spcAft>
              <a:buNone/>
              <a:defRPr sz="1350"/>
            </a:lvl3pPr>
            <a:lvl4pPr algn="ctr">
              <a:lnSpc>
                <a:spcPct val="90000"/>
              </a:lnSpc>
              <a:spcBef>
                <a:spcPts val="375"/>
              </a:spcBef>
              <a:spcAft>
                <a:spcPts val="0"/>
              </a:spcAft>
              <a:buNone/>
              <a:defRPr sz="1200"/>
            </a:lvl4pPr>
            <a:lvl5pPr algn="ctr">
              <a:lnSpc>
                <a:spcPct val="90000"/>
              </a:lnSpc>
              <a:spcBef>
                <a:spcPts val="375"/>
              </a:spcBef>
              <a:spcAft>
                <a:spcPts val="0"/>
              </a:spcAft>
              <a:buNone/>
              <a:defRPr sz="1200"/>
            </a:lvl5pPr>
            <a:lvl6pPr algn="ctr">
              <a:lnSpc>
                <a:spcPct val="90000"/>
              </a:lnSpc>
              <a:spcBef>
                <a:spcPts val="375"/>
              </a:spcBef>
              <a:spcAft>
                <a:spcPts val="0"/>
              </a:spcAft>
              <a:buNone/>
              <a:defRPr sz="1200"/>
            </a:lvl6pPr>
            <a:lvl7pPr algn="ctr">
              <a:lnSpc>
                <a:spcPct val="90000"/>
              </a:lnSpc>
              <a:spcBef>
                <a:spcPts val="375"/>
              </a:spcBef>
              <a:spcAft>
                <a:spcPts val="0"/>
              </a:spcAft>
              <a:buNone/>
              <a:defRPr sz="1200"/>
            </a:lvl7pPr>
            <a:lvl8pPr algn="ctr">
              <a:lnSpc>
                <a:spcPct val="90000"/>
              </a:lnSpc>
              <a:spcBef>
                <a:spcPts val="375"/>
              </a:spcBef>
              <a:spcAft>
                <a:spcPts val="0"/>
              </a:spcAft>
              <a:buNone/>
              <a:defRPr sz="1200"/>
            </a:lvl8pPr>
            <a:lvl9pPr algn="ctr">
              <a:lnSpc>
                <a:spcPct val="90000"/>
              </a:lnSpc>
              <a:spcBef>
                <a:spcPts val="375"/>
              </a:spcBef>
              <a:spcAft>
                <a:spcPts val="0"/>
              </a:spcAft>
              <a:buNone/>
              <a:defRPr sz="1200"/>
            </a:lvl9pPr>
          </a:lstStyle>
          <a:p xmlns:a="http://schemas.openxmlformats.org/drawingml/2006/main"/>
        </p:txBody>
      </p:sp>
      <p:pic>
        <p:nvPicPr>
          <p:cNvPr id="21" name="Google Shape;21;p2"/>
          <p:cNvPicPr>
            <a:picLocks xmlns:a="http://schemas.openxmlformats.org/drawingml/2006/main" noChangeAspect="1"/>
          </p:cNvPicPr>
          <p:nvPr/>
        </p:nvPicPr>
        <p:blipFill rotWithShape="1">
          <a:blip xmlns:r="http://schemas.openxmlformats.org/officeDocument/2006/relationships" xmlns:a="http://schemas.openxmlformats.org/drawingml/2006/main" r:embed="Rc1566c95ce504fda"/>
          <a:srcRect xmlns:a="http://schemas.openxmlformats.org/drawingml/2006/main" l="0" t="0" r="0" b="0"/>
          <a:stretch xmlns:a="http://schemas.openxmlformats.org/drawingml/2006/main"/>
        </p:blipFill>
        <p:spPr>
          <a:xfrm xmlns:a="http://schemas.openxmlformats.org/drawingml/2006/main">
            <a:off x="6119096" y="219583"/>
            <a:ext cx="1350000" cy="777718"/>
          </a:xfrm>
          <a:prstGeom xmlns:a="http://schemas.openxmlformats.org/drawingml/2006/main" prst="rect">
            <a:avLst/>
          </a:prstGeom>
          <a:ln xmlns:a="http://schemas.openxmlformats.org/drawingml/2006/main">
            <a:noFill/>
          </a:ln>
        </p:spPr>
      </p:pic>
      <p:pic>
        <p:nvPicPr>
          <p:cNvPr id="22" name="Google Shape;22;p2"/>
          <p:cNvPicPr>
            <a:picLocks xmlns:a="http://schemas.openxmlformats.org/drawingml/2006/main" noChangeAspect="1"/>
          </p:cNvPicPr>
          <p:nvPr/>
        </p:nvPicPr>
        <p:blipFill rotWithShape="1">
          <a:blip xmlns:r="http://schemas.openxmlformats.org/officeDocument/2006/relationships" xmlns:a="http://schemas.openxmlformats.org/drawingml/2006/main" r:embed="Rd0e01588701d49e2"/>
          <a:srcRect xmlns:a="http://schemas.openxmlformats.org/drawingml/2006/main" l="0" t="0" r="0" b="0"/>
          <a:stretch xmlns:a="http://schemas.openxmlformats.org/drawingml/2006/main"/>
        </p:blipFill>
        <p:spPr>
          <a:xfrm xmlns:a="http://schemas.openxmlformats.org/drawingml/2006/main">
            <a:off x="91442" y="219583"/>
            <a:ext cx="3229658" cy="5515718"/>
          </a:xfrm>
          <a:prstGeom xmlns:a="http://schemas.openxmlformats.org/drawingml/2006/main" prst="rect">
            <a:avLst/>
          </a:prstGeom>
          <a:ln xmlns:a="http://schemas.openxmlformats.org/drawingml/2006/main">
            <a:noFill/>
          </a:ln>
        </p:spPr>
      </p:pic>
      <p:pic>
        <p:nvPicPr>
          <p:cNvPr id="23" name="Google Shape;23;p2"/>
          <p:cNvPicPr>
            <a:picLocks xmlns:a="http://schemas.openxmlformats.org/drawingml/2006/main" noChangeAspect="1"/>
          </p:cNvPicPr>
          <p:nvPr/>
        </p:nvPicPr>
        <p:blipFill rotWithShape="1">
          <a:blip xmlns:r="http://schemas.openxmlformats.org/officeDocument/2006/relationships" xmlns:a="http://schemas.openxmlformats.org/drawingml/2006/main" r:embed="R277bf4ff0d66430f"/>
          <a:srcRect xmlns:a="http://schemas.openxmlformats.org/drawingml/2006/main" l="0" t="0" r="0" b="0"/>
          <a:stretch xmlns:a="http://schemas.openxmlformats.org/drawingml/2006/main"/>
        </p:blipFill>
        <p:spPr>
          <a:xfrm xmlns:a="http://schemas.openxmlformats.org/drawingml/2006/main">
            <a:off x="7519689" y="-45213"/>
            <a:ext cx="1624312" cy="1307310"/>
          </a:xfrm>
          <a:prstGeom xmlns:a="http://schemas.openxmlformats.org/drawingml/2006/main" prst="rect">
            <a:avLst/>
          </a:prstGeom>
          <a:ln xmlns:a="http://schemas.openxmlformats.org/drawingml/2006/main">
            <a:noFill/>
          </a:ln>
        </p:spPr>
      </p:pic>
    </p:spTree>
  </p:cSld>
</p:sldLayout>
</file>

<file path=ppt/slideLayouts/slideLayout2.xml><?xml version="1.0" encoding="utf-8"?>
<p:sldLayout xmlns:p="http://schemas.openxmlformats.org/presentationml/2006/main" matchingName="Title and Content">
  <p:cSld name="Title and Content">
    <p:spTree>
      <p:nvGrpSpPr>
        <p:cNvPr id="1" name=""/>
        <p:cNvGrpSpPr/>
        <p:nvPr/>
      </p:nvGrpSpPr>
      <p:grpSpPr>
        <a:xfrm xmlns:a="http://schemas.openxmlformats.org/drawingml/2006/main"/>
      </p:grpSpPr>
      <p:sp>
        <p:nvSpPr>
          <p:cNvPr id="31" name="Google Shape;31;p4">
            <a:extLst xmlns:a="http://schemas.openxmlformats.org/drawingml/2006/main">
              <a:ext uri="{FF2B5EF4-FFF2-40B4-BE49-F238E27FC236}">
                <a16:creationId xmlns:a16="http://schemas.microsoft.com/office/drawing/2014/main" id="{885F1D73-AB48-4D6F-9282-0BF96F060F7A}"/>
              </a:ext>
            </a:extLst>
          </p:cNvPr>
          <p:cNvSpPr>
            <a:spLocks xmlns:a="http://schemas.openxmlformats.org/drawingml/2006/main" noGrp="1"/>
          </p:cNvSpPr>
          <p:nvPr>
            <p:ph type="body" idx="1"/>
          </p:nvPr>
        </p:nvSpPr>
        <p:spPr>
          <a:xfrm xmlns:a="http://schemas.openxmlformats.org/drawingml/2006/main">
            <a:off x="117417" y="1501428"/>
            <a:ext cx="8935142" cy="46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342900" indent="-323850" algn="l">
              <a:lnSpc>
                <a:spcPct val="90000"/>
              </a:lnSpc>
              <a:spcBef>
                <a:spcPts val="750"/>
              </a:spcBef>
              <a:spcAft>
                <a:spcPts val="0"/>
              </a:spcAft>
              <a:buChar char="•"/>
              <a:defRPr sz="2400">
                <a:solidFill>
                  <a:srgbClr val="38415C"/>
                </a:solidFill>
              </a:defRPr>
            </a:lvl1pPr>
            <a:lvl2pPr marL="685800" indent="-304800" algn="l">
              <a:lnSpc>
                <a:spcPct val="90000"/>
              </a:lnSpc>
              <a:spcBef>
                <a:spcPts val="375"/>
              </a:spcBef>
              <a:spcAft>
                <a:spcPts val="0"/>
              </a:spcAft>
              <a:buChar char="•"/>
              <a:defRPr sz="2100">
                <a:solidFill>
                  <a:srgbClr val="38415C"/>
                </a:solidFill>
              </a:defRPr>
            </a:lvl2pPr>
            <a:lvl3pPr marL="1028700" indent="-285750" algn="l">
              <a:lnSpc>
                <a:spcPct val="90000"/>
              </a:lnSpc>
              <a:spcBef>
                <a:spcPts val="375"/>
              </a:spcBef>
              <a:spcAft>
                <a:spcPts val="0"/>
              </a:spcAft>
              <a:buChar char="•"/>
              <a:defRPr sz="1800">
                <a:solidFill>
                  <a:srgbClr val="38415C"/>
                </a:solidFill>
              </a:defRPr>
            </a:lvl3pPr>
            <a:lvl4pPr marL="1371600" indent="-266700" algn="l">
              <a:lnSpc>
                <a:spcPct val="90000"/>
              </a:lnSpc>
              <a:spcBef>
                <a:spcPts val="375"/>
              </a:spcBef>
              <a:spcAft>
                <a:spcPts val="0"/>
              </a:spcAft>
              <a:buChar char="•"/>
              <a:defRPr sz="1500">
                <a:solidFill>
                  <a:srgbClr val="38415C"/>
                </a:solidFill>
              </a:defRPr>
            </a:lvl4pPr>
            <a:lvl5pPr marL="1714500" indent="-266700" algn="l">
              <a:lnSpc>
                <a:spcPct val="90000"/>
              </a:lnSpc>
              <a:spcBef>
                <a:spcPts val="375"/>
              </a:spcBef>
              <a:spcAft>
                <a:spcPts val="0"/>
              </a:spcAft>
              <a:buChar char="•"/>
              <a:defRPr sz="1500">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xmlns:a="http://schemas.openxmlformats.org/drawingml/2006/main"/>
        </p:txBody>
      </p:sp>
      <p:sp>
        <p:nvSpPr>
          <p:cNvPr id="32" name="Google Shape;32;p4">
            <a:extLst xmlns:a="http://schemas.openxmlformats.org/drawingml/2006/main">
              <a:ext uri="{FF2B5EF4-FFF2-40B4-BE49-F238E27FC236}">
                <a16:creationId xmlns:a16="http://schemas.microsoft.com/office/drawing/2014/main" id="{50391B8C-40B2-471E-8C7E-9167DE9DE854}"/>
              </a:ext>
            </a:extLst>
          </p:cNvPr>
          <p:cNvSpPr>
            <a:spLocks xmlns:a="http://schemas.openxmlformats.org/drawingml/2006/main" noGrp="1"/>
          </p:cNvSpPr>
          <p:nvPr>
            <p:ph type="title" idx="0"/>
          </p:nvPr>
        </p:nvSpPr>
        <p:spPr>
          <a:xfrm xmlns:a="http://schemas.openxmlformats.org/drawingml/2006/main">
            <a:off x="866601" y="66183"/>
            <a:ext cx="8185958" cy="1334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 name="Google Shape;83;p11">
            <a:extLst xmlns:a="http://schemas.openxmlformats.org/drawingml/2006/main">
              <a:ext uri="{FF2B5EF4-FFF2-40B4-BE49-F238E27FC236}">
                <a16:creationId xmlns:a16="http://schemas.microsoft.com/office/drawing/2014/main" id="{701370BF-C132-A715-D273-78D75983D631}"/>
              </a:ext>
            </a:extLst>
          </p:cNvPr>
          <p:cNvSpPr>
            <a:spLocks xmlns:a="http://schemas.openxmlformats.org/drawingml/2006/main" noGrp="1"/>
          </p:cNvSpPr>
          <p:nvPr>
            <p:ph type="sldNum" idx="12"/>
          </p:nvPr>
        </p:nvSpPr>
        <p:spPr>
          <a:xfrm xmlns:a="http://schemas.openxmlformats.org/drawingml/2006/main">
            <a:off x="6600825"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00000000-1234-1234-1234-123412341234}" type="slidenum">
              <a:t>‹#›</a:t>
            </a:fld>
          </a:p>
        </p:txBody>
      </p:sp>
      <p:sp>
        <p:nvSpPr>
          <p:cNvPr id="8" name="Google Shape;13;p1">
            <a:extLst xmlns:a="http://schemas.openxmlformats.org/drawingml/2006/main">
              <a:ext uri="{FF2B5EF4-FFF2-40B4-BE49-F238E27FC236}">
                <a16:creationId xmlns:a16="http://schemas.microsoft.com/office/drawing/2014/main" id="{4D55328F-AD34-6CA6-9477-5EF26BE4E3BF}"/>
              </a:ext>
            </a:extLst>
          </p:cNvPr>
          <p:cNvSpPr>
            <a:spLocks xmlns:a="http://schemas.openxmlformats.org/drawingml/2006/main" noGrp="1"/>
          </p:cNvSpPr>
          <p:nvPr/>
        </p:nvSpPr>
        <p:spPr>
          <a:xfrm xmlns:a="http://schemas.openxmlformats.org/drawingml/2006/main">
            <a:off x="172583" y="6368185"/>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EB976D"/>
                </a:solidFill>
                <a:latin typeface="Fira Sans"/>
                <a:ea typeface="Fira Sans"/>
                <a:cs typeface="Fira Sans"/>
              </a:rPr>
              <a:t>Martins · Costa · Lopes</a:t>
            </a:r>
          </a:p>
          <a:p xmlns:a="http://schemas.openxmlformats.org/drawingml/2006/main">
            <a:pPr>
              <a:buNone/>
            </a:pPr>
            <a:r>
              <a:rPr sz="675" b="0" i="0">
                <a:solidFill>
                  <a:srgbClr val="EB976D"/>
                </a:solidFill>
                <a:latin typeface="Fira Sans"/>
                <a:ea typeface="Fira Sans"/>
                <a:cs typeface="Fira Sans"/>
              </a:rPr>
              <a:t>joaopedro@cos.ufrj.br</a:t>
            </a:r>
          </a:p>
        </p:txBody>
      </p:sp>
      <p:sp>
        <p:nvSpPr>
          <p:cNvPr id="9" name="Google Shape;14;p1">
            <a:extLst xmlns:a="http://schemas.openxmlformats.org/drawingml/2006/main">
              <a:ext uri="{FF2B5EF4-FFF2-40B4-BE49-F238E27FC236}">
                <a16:creationId xmlns:a16="http://schemas.microsoft.com/office/drawing/2014/main" id="{94E57D7B-F424-A53D-4E48-4083B901B5B3}"/>
              </a:ext>
            </a:extLst>
          </p:cNvPr>
          <p:cNvSpPr>
            <a:spLocks xmlns:a="http://schemas.openxmlformats.org/drawingml/2006/main" noGrp="1"/>
          </p:cNvSpPr>
          <p:nvPr/>
        </p:nvSpPr>
        <p:spPr>
          <a:xfrm xmlns:a="http://schemas.openxmlformats.org/drawingml/2006/main">
            <a:off x="2715758" y="6368185"/>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38415C"/>
                </a:solidFill>
                <a:latin typeface="Fira Sans"/>
                <a:ea typeface="Fira Sans"/>
                <a:cs typeface="Fira Sans"/>
              </a:rPr>
              <a:t>MARTINS; COSTA; LOPES (2026) · Retrofit do Modelo 3M</a:t>
            </a:r>
          </a:p>
        </p:txBody>
      </p:sp>
    </p:spTree>
  </p:cSld>
</p:sldLayout>
</file>

<file path=ppt/slideLayouts/slideLayout3.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3" name="Google Shape;43;p6">
            <a:extLst xmlns:a="http://schemas.openxmlformats.org/drawingml/2006/main">
              <a:ext uri="{FF2B5EF4-FFF2-40B4-BE49-F238E27FC236}">
                <a16:creationId xmlns:a16="http://schemas.microsoft.com/office/drawing/2014/main" id="{2F93B4C2-A7F9-4FA1-B6E2-A9FCA15A812B}"/>
              </a:ext>
            </a:extLst>
          </p:cNvPr>
          <p:cNvSpPr>
            <a:spLocks xmlns:a="http://schemas.openxmlformats.org/drawingml/2006/main" noGrp="1"/>
          </p:cNvSpPr>
          <p:nvPr>
            <p:ph type="title" idx="0"/>
          </p:nvPr>
        </p:nvSpPr>
        <p:spPr>
          <a:xfrm xmlns:a="http://schemas.openxmlformats.org/drawingml/2006/main">
            <a:off x="866601" y="66183"/>
            <a:ext cx="8185958" cy="1334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CBFFC476-108B-4B1E-9958-FB6F2CE5E706}"/>
              </a:ext>
            </a:extLst>
          </p:cNvPr>
          <p:cNvSpPr>
            <a:spLocks xmlns:a="http://schemas.openxmlformats.org/drawingml/2006/main" noGrp="1"/>
          </p:cNvSpPr>
          <p:nvPr>
            <p:ph type="body" idx="1"/>
          </p:nvPr>
        </p:nvSpPr>
        <p:spPr>
          <a:xfrm xmlns:a="http://schemas.openxmlformats.org/drawingml/2006/main">
            <a:off x="156408" y="1500884"/>
            <a:ext cx="4320000" cy="46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342900" indent="-304800" algn="l">
              <a:lnSpc>
                <a:spcPct val="90000"/>
              </a:lnSpc>
              <a:spcBef>
                <a:spcPts val="750"/>
              </a:spcBef>
              <a:spcAft>
                <a:spcPts val="0"/>
              </a:spcAft>
              <a:buChar char="•"/>
              <a:defRPr>
                <a:solidFill>
                  <a:srgbClr val="38415C"/>
                </a:solidFill>
              </a:defRPr>
            </a:lvl1pPr>
            <a:lvl2pPr marL="685800" indent="-285750" algn="l">
              <a:lnSpc>
                <a:spcPct val="90000"/>
              </a:lnSpc>
              <a:spcBef>
                <a:spcPts val="375"/>
              </a:spcBef>
              <a:spcAft>
                <a:spcPts val="0"/>
              </a:spcAft>
              <a:buChar char="•"/>
              <a:defRPr>
                <a:solidFill>
                  <a:srgbClr val="38415C"/>
                </a:solidFill>
              </a:defRPr>
            </a:lvl2pPr>
            <a:lvl3pPr marL="1028700" indent="-266700" algn="l">
              <a:lnSpc>
                <a:spcPct val="90000"/>
              </a:lnSpc>
              <a:spcBef>
                <a:spcPts val="375"/>
              </a:spcBef>
              <a:spcAft>
                <a:spcPts val="0"/>
              </a:spcAft>
              <a:buChar char="•"/>
              <a:defRPr>
                <a:solidFill>
                  <a:srgbClr val="38415C"/>
                </a:solidFill>
              </a:defRPr>
            </a:lvl3pPr>
            <a:lvl4pPr marL="1371600" indent="-257175" algn="l">
              <a:lnSpc>
                <a:spcPct val="90000"/>
              </a:lnSpc>
              <a:spcBef>
                <a:spcPts val="375"/>
              </a:spcBef>
              <a:spcAft>
                <a:spcPts val="0"/>
              </a:spcAft>
              <a:buChar char="•"/>
              <a:defRPr>
                <a:solidFill>
                  <a:srgbClr val="38415C"/>
                </a:solidFill>
              </a:defRPr>
            </a:lvl4pPr>
            <a:lvl5pPr marL="1714500" indent="-257175" algn="l">
              <a:lnSpc>
                <a:spcPct val="90000"/>
              </a:lnSpc>
              <a:spcBef>
                <a:spcPts val="375"/>
              </a:spcBef>
              <a:spcAft>
                <a:spcPts val="0"/>
              </a:spcAft>
              <a:buChar char="•"/>
              <a:defRPr>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26F1552E-FCF9-4583-81A3-F1606D5A6FA2}"/>
              </a:ext>
            </a:extLst>
          </p:cNvPr>
          <p:cNvSpPr>
            <a:spLocks xmlns:a="http://schemas.openxmlformats.org/drawingml/2006/main" noGrp="1"/>
          </p:cNvSpPr>
          <p:nvPr>
            <p:ph type="body" idx="2"/>
          </p:nvPr>
        </p:nvSpPr>
        <p:spPr>
          <a:xfrm xmlns:a="http://schemas.openxmlformats.org/drawingml/2006/main">
            <a:off x="4732559" y="1500884"/>
            <a:ext cx="4320000" cy="46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342900" indent="-257175" algn="l">
              <a:lnSpc>
                <a:spcPct val="90000"/>
              </a:lnSpc>
              <a:spcBef>
                <a:spcPts val="750"/>
              </a:spcBef>
              <a:spcAft>
                <a:spcPts val="0"/>
              </a:spcAft>
              <a:buChar char="•"/>
              <a:defRPr/>
            </a:lvl1pPr>
            <a:lvl2pPr marL="685800" indent="-257175" algn="l">
              <a:lnSpc>
                <a:spcPct val="90000"/>
              </a:lnSpc>
              <a:spcBef>
                <a:spcPts val="375"/>
              </a:spcBef>
              <a:spcAft>
                <a:spcPts val="0"/>
              </a:spcAft>
              <a:buChar char="•"/>
              <a:defRPr/>
            </a:lvl2pPr>
            <a:lvl3pPr marL="1028700" indent="-257175" algn="l">
              <a:lnSpc>
                <a:spcPct val="90000"/>
              </a:lnSpc>
              <a:spcBef>
                <a:spcPts val="375"/>
              </a:spcBef>
              <a:spcAft>
                <a:spcPts val="0"/>
              </a:spcAft>
              <a:buChar char="•"/>
              <a:defRPr/>
            </a:lvl3pPr>
            <a:lvl4pPr marL="1371600" indent="-257175" algn="l">
              <a:lnSpc>
                <a:spcPct val="90000"/>
              </a:lnSpc>
              <a:spcBef>
                <a:spcPts val="375"/>
              </a:spcBef>
              <a:spcAft>
                <a:spcPts val="0"/>
              </a:spcAft>
              <a:buChar char="•"/>
              <a:defRPr/>
            </a:lvl4pPr>
            <a:lvl5pPr marL="1714500" indent="-257175" algn="l">
              <a:lnSpc>
                <a:spcPct val="90000"/>
              </a:lnSpc>
              <a:spcBef>
                <a:spcPts val="375"/>
              </a:spcBef>
              <a:spcAft>
                <a:spcPts val="0"/>
              </a:spcAft>
              <a:buChar char="•"/>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xmlns:a="http://schemas.openxmlformats.org/drawingml/2006/main"/>
        </p:txBody>
      </p:sp>
      <p:sp>
        <p:nvSpPr>
          <p:cNvPr id="7" name="Google Shape;83;p11">
            <a:extLst xmlns:a="http://schemas.openxmlformats.org/drawingml/2006/main">
              <a:ext uri="{FF2B5EF4-FFF2-40B4-BE49-F238E27FC236}">
                <a16:creationId xmlns:a16="http://schemas.microsoft.com/office/drawing/2014/main" id="{0762D070-8A19-B8CB-B343-A2D04F195B48}"/>
              </a:ext>
            </a:extLst>
          </p:cNvPr>
          <p:cNvSpPr>
            <a:spLocks xmlns:a="http://schemas.openxmlformats.org/drawingml/2006/main" noGrp="1"/>
          </p:cNvSpPr>
          <p:nvPr>
            <p:ph type="sldNum" idx="12"/>
          </p:nvPr>
        </p:nvSpPr>
        <p:spPr>
          <a:xfrm xmlns:a="http://schemas.openxmlformats.org/drawingml/2006/main">
            <a:off x="6600825"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00000000-1234-1234-1234-123412341234}" type="slidenum">
              <a:t>‹#›</a:t>
            </a:fld>
          </a:p>
        </p:txBody>
      </p:sp>
      <p:sp>
        <p:nvSpPr>
          <p:cNvPr id="8" name="Google Shape;13;p1">
            <a:extLst xmlns:a="http://schemas.openxmlformats.org/drawingml/2006/main">
              <a:ext uri="{FF2B5EF4-FFF2-40B4-BE49-F238E27FC236}">
                <a16:creationId xmlns:a16="http://schemas.microsoft.com/office/drawing/2014/main" id="{6B296B81-4886-2FF3-AF57-6A1207AEBE18}"/>
              </a:ext>
            </a:extLst>
          </p:cNvPr>
          <p:cNvSpPr>
            <a:spLocks xmlns:a="http://schemas.openxmlformats.org/drawingml/2006/main" noGrp="1"/>
          </p:cNvSpPr>
          <p:nvPr/>
        </p:nvSpPr>
        <p:spPr>
          <a:xfrm xmlns:a="http://schemas.openxmlformats.org/drawingml/2006/main">
            <a:off x="172583" y="6368185"/>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EB976D"/>
                </a:solidFill>
                <a:latin typeface="Fira Sans"/>
                <a:ea typeface="Fira Sans"/>
                <a:cs typeface="Fira Sans"/>
              </a:rPr>
              <a:t>Martins · Costa · Lopes</a:t>
            </a:r>
          </a:p>
          <a:p xmlns:a="http://schemas.openxmlformats.org/drawingml/2006/main">
            <a:pPr>
              <a:buNone/>
            </a:pPr>
            <a:r>
              <a:rPr sz="675" b="0" i="0">
                <a:solidFill>
                  <a:srgbClr val="EB976D"/>
                </a:solidFill>
                <a:latin typeface="Fira Sans"/>
                <a:ea typeface="Fira Sans"/>
                <a:cs typeface="Fira Sans"/>
              </a:rPr>
              <a:t>joaopedro@cos.ufrj.br</a:t>
            </a:r>
          </a:p>
        </p:txBody>
      </p:sp>
      <p:sp>
        <p:nvSpPr>
          <p:cNvPr id="9" name="Google Shape;14;p1">
            <a:extLst xmlns:a="http://schemas.openxmlformats.org/drawingml/2006/main">
              <a:ext uri="{FF2B5EF4-FFF2-40B4-BE49-F238E27FC236}">
                <a16:creationId xmlns:a16="http://schemas.microsoft.com/office/drawing/2014/main" id="{F9437BE5-C60A-6BCA-BA8A-841AEA1C2DC3}"/>
              </a:ext>
            </a:extLst>
          </p:cNvPr>
          <p:cNvSpPr>
            <a:spLocks xmlns:a="http://schemas.openxmlformats.org/drawingml/2006/main" noGrp="1"/>
          </p:cNvSpPr>
          <p:nvPr/>
        </p:nvSpPr>
        <p:spPr>
          <a:xfrm xmlns:a="http://schemas.openxmlformats.org/drawingml/2006/main">
            <a:off x="2715758" y="6368185"/>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38415C"/>
                </a:solidFill>
                <a:latin typeface="Fira Sans"/>
                <a:ea typeface="Fira Sans"/>
                <a:cs typeface="Fira Sans"/>
              </a:rPr>
              <a:t>MARTINS; COSTA; LOPES (2026) · Retrofit do Modelo 3M</a:t>
            </a:r>
          </a:p>
        </p:txBody>
      </p:sp>
    </p:spTree>
  </p:cSld>
</p:sldLayout>
</file>

<file path=ppt/slideLayouts/slideLayout4.xml><?xml version="1.0" encoding="utf-8"?>
<p:sldLayout xmlns:p="http://schemas.openxmlformats.org/presentationml/2006/main" matchingName="2_Two Content">
  <p:cSld name="2_Two Content">
    <p:spTree>
      <p:nvGrpSpPr>
        <p:cNvPr id="1" name=""/>
        <p:cNvGrpSpPr/>
        <p:nvPr/>
      </p:nvGrpSpPr>
      <p:grpSpPr>
        <a:xfrm xmlns:a="http://schemas.openxmlformats.org/drawingml/2006/main"/>
      </p:grpSpPr>
      <p:sp>
        <p:nvSpPr>
          <p:cNvPr id="50" name="Google Shape;50;p7">
            <a:extLst xmlns:a="http://schemas.openxmlformats.org/drawingml/2006/main">
              <a:ext uri="{FF2B5EF4-FFF2-40B4-BE49-F238E27FC236}">
                <a16:creationId xmlns:a16="http://schemas.microsoft.com/office/drawing/2014/main" id="{1F094840-48D7-46BF-987D-D52D19A15515}"/>
              </a:ext>
            </a:extLst>
          </p:cNvPr>
          <p:cNvSpPr>
            <a:spLocks xmlns:a="http://schemas.openxmlformats.org/drawingml/2006/main" noGrp="1"/>
          </p:cNvSpPr>
          <p:nvPr>
            <p:ph type="title" idx="0"/>
          </p:nvPr>
        </p:nvSpPr>
        <p:spPr>
          <a:xfrm xmlns:a="http://schemas.openxmlformats.org/drawingml/2006/main">
            <a:off x="866601" y="66183"/>
            <a:ext cx="8185958" cy="1334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DBA1D6F6-41F8-4463-9938-31E5D44C5ACA}"/>
              </a:ext>
            </a:extLst>
          </p:cNvPr>
          <p:cNvSpPr>
            <a:spLocks xmlns:a="http://schemas.openxmlformats.org/drawingml/2006/main" noGrp="1"/>
          </p:cNvSpPr>
          <p:nvPr>
            <p:ph type="body" idx="1"/>
          </p:nvPr>
        </p:nvSpPr>
        <p:spPr>
          <a:xfrm xmlns:a="http://schemas.openxmlformats.org/drawingml/2006/main">
            <a:off x="4732559" y="1500884"/>
            <a:ext cx="4320000" cy="46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342900" indent="-257175" algn="l">
              <a:lnSpc>
                <a:spcPct val="90000"/>
              </a:lnSpc>
              <a:spcBef>
                <a:spcPts val="750"/>
              </a:spcBef>
              <a:spcAft>
                <a:spcPts val="0"/>
              </a:spcAft>
              <a:buChar char="•"/>
              <a:defRPr/>
            </a:lvl1pPr>
            <a:lvl2pPr marL="685800" indent="-257175" algn="l">
              <a:lnSpc>
                <a:spcPct val="90000"/>
              </a:lnSpc>
              <a:spcBef>
                <a:spcPts val="375"/>
              </a:spcBef>
              <a:spcAft>
                <a:spcPts val="0"/>
              </a:spcAft>
              <a:buChar char="•"/>
              <a:defRPr/>
            </a:lvl2pPr>
            <a:lvl3pPr marL="1028700" indent="-257175" algn="l">
              <a:lnSpc>
                <a:spcPct val="90000"/>
              </a:lnSpc>
              <a:spcBef>
                <a:spcPts val="375"/>
              </a:spcBef>
              <a:spcAft>
                <a:spcPts val="0"/>
              </a:spcAft>
              <a:buChar char="•"/>
              <a:defRPr/>
            </a:lvl3pPr>
            <a:lvl4pPr marL="1371600" indent="-257175" algn="l">
              <a:lnSpc>
                <a:spcPct val="90000"/>
              </a:lnSpc>
              <a:spcBef>
                <a:spcPts val="375"/>
              </a:spcBef>
              <a:spcAft>
                <a:spcPts val="0"/>
              </a:spcAft>
              <a:buChar char="•"/>
              <a:defRPr/>
            </a:lvl4pPr>
            <a:lvl5pPr marL="1714500" indent="-257175" algn="l">
              <a:lnSpc>
                <a:spcPct val="90000"/>
              </a:lnSpc>
              <a:spcBef>
                <a:spcPts val="375"/>
              </a:spcBef>
              <a:spcAft>
                <a:spcPts val="0"/>
              </a:spcAft>
              <a:buChar char="•"/>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xmlns:a="http://schemas.openxmlformats.org/drawingml/2006/main"/>
        </p:txBody>
      </p:sp>
      <p:sp>
        <p:nvSpPr>
          <p:cNvPr id="52" name="Google Shape;52;p7">
            <a:extLst xmlns:a="http://schemas.openxmlformats.org/drawingml/2006/main">
              <a:ext uri="{FF2B5EF4-FFF2-40B4-BE49-F238E27FC236}">
                <a16:creationId xmlns:a16="http://schemas.microsoft.com/office/drawing/2014/main" id="{BC69C5D6-D6EC-4C31-AC36-06FDCC8E000C}"/>
              </a:ext>
            </a:extLst>
          </p:cNvPr>
          <p:cNvSpPr>
            <a:spLocks xmlns:a="http://schemas.openxmlformats.org/drawingml/2006/main" noGrp="1"/>
          </p:cNvSpPr>
          <p:nvPr>
            <p:ph type="dt" idx="10"/>
          </p:nvPr>
        </p:nvSpPr>
        <p:spPr>
          <a:xfrm xmlns:a="http://schemas.openxmlformats.org/drawingml/2006/main">
            <a:off x="117418"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3" name="Google Shape;53;p7">
            <a:extLst xmlns:a="http://schemas.openxmlformats.org/drawingml/2006/main">
              <a:ext uri="{FF2B5EF4-FFF2-40B4-BE49-F238E27FC236}">
                <a16:creationId xmlns:a16="http://schemas.microsoft.com/office/drawing/2014/main" id="{AE205343-2450-4034-AD95-A0C8B5EB83F5}"/>
              </a:ext>
            </a:extLst>
          </p:cNvPr>
          <p:cNvSpPr>
            <a:spLocks xmlns:a="http://schemas.openxmlformats.org/drawingml/2006/main" noGrp="1"/>
          </p:cNvSpPr>
          <p:nvPr>
            <p:ph type="ftr" idx="11"/>
          </p:nvPr>
        </p:nvSpPr>
        <p:spPr>
          <a:xfrm xmlns:a="http://schemas.openxmlformats.org/drawingml/2006/main">
            <a:off x="3028950" y="6356351"/>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4" name="Google Shape;54;p7">
            <a:extLst xmlns:a="http://schemas.openxmlformats.org/drawingml/2006/main">
              <a:ext uri="{FF2B5EF4-FFF2-40B4-BE49-F238E27FC236}">
                <a16:creationId xmlns:a16="http://schemas.microsoft.com/office/drawing/2014/main" id="{F8424025-0FA0-4797-9711-1C76075C5581}"/>
              </a:ext>
            </a:extLst>
          </p:cNvPr>
          <p:cNvSpPr>
            <a:spLocks xmlns:a="http://schemas.openxmlformats.org/drawingml/2006/main" noGrp="1"/>
          </p:cNvSpPr>
          <p:nvPr>
            <p:ph type="sldNum" idx="12"/>
          </p:nvPr>
        </p:nvSpPr>
        <p:spPr>
          <a:xfrm xmlns:a="http://schemas.openxmlformats.org/drawingml/2006/main">
            <a:off x="6600825"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00000000-1234-1234-1234-123412341234}" type="slidenum">
              <a:t>‹#›</a:t>
            </a:fld>
          </a:p>
        </p:txBody>
      </p:sp>
      <p:sp>
        <p:nvSpPr>
          <p:cNvPr id="2" name="Google Shape;10;p1">
            <a:extLst xmlns:a="http://schemas.openxmlformats.org/drawingml/2006/main">
              <a:ext uri="{FF2B5EF4-FFF2-40B4-BE49-F238E27FC236}">
                <a16:creationId xmlns:a16="http://schemas.microsoft.com/office/drawing/2014/main" id="{4454396F-23D7-D04C-3368-44359CAC864A}"/>
              </a:ext>
            </a:extLst>
          </p:cNvPr>
          <p:cNvSpPr>
            <a:spLocks xmlns:a="http://schemas.openxmlformats.org/drawingml/2006/main" noGrp="1"/>
          </p:cNvSpPr>
          <p:nvPr/>
        </p:nvSpPr>
        <p:spPr>
          <a:xfrm xmlns:a="http://schemas.openxmlformats.org/drawingml/2006/main">
            <a:off x="0" y="6211798"/>
            <a:ext cx="9144000" cy="646203"/>
          </a:xfrm>
          <a:prstGeom xmlns:a="http://schemas.openxmlformats.org/drawingml/2006/main" prst="rect">
            <a:avLst/>
          </a:prstGeom>
          <a:solidFill xmlns:a="http://schemas.openxmlformats.org/drawingml/2006/main">
            <a:srgbClr val="38415C"/>
          </a:solidFill>
          <a:ln xmlns:a="http://schemas.openxmlformats.org/drawingml/2006/main" w="12700" cmpd="sng">
            <a:solidFill>
              <a:srgbClr val="38415C"/>
            </a:solidFill>
            <a:prstDash val="solid"/>
          </a:ln>
        </p:spPr>
        <p:txBody>
          <a:bodyPr xmlns:a="http://schemas.openxmlformats.org/drawingml/2006/main" spcFirstLastPara="1" wrap="square" lIns="68569" tIns="34275" rIns="68569" bIns="34275" anchor="ctr">
            <a:noAutofit/>
          </a:bodyPr>
          <a:lstStyle xmlns:a="http://schemas.openxmlformats.org/drawingml/2006/main"/>
          <a:p xmlns:a="http://schemas.openxmlformats.org/drawingml/2006/main">
            <a:pPr marL="0" indent="0" algn="ctr">
              <a:spcBef>
                <a:spcPts val="0"/>
              </a:spcBef>
              <a:spcAft>
                <a:spcPts val="0"/>
              </a:spcAft>
              <a:buNone/>
            </a:pPr>
          </a:p>
        </p:txBody>
      </p:sp>
      <p:sp>
        <p:nvSpPr>
          <p:cNvPr id="3" name="Google Shape;13;p1">
            <a:extLst xmlns:a="http://schemas.openxmlformats.org/drawingml/2006/main">
              <a:ext uri="{FF2B5EF4-FFF2-40B4-BE49-F238E27FC236}">
                <a16:creationId xmlns:a16="http://schemas.microsoft.com/office/drawing/2014/main" id="{A5D92E09-6D01-9E0A-D825-4C52C4B7C8B3}"/>
              </a:ext>
            </a:extLst>
          </p:cNvPr>
          <p:cNvSpPr>
            <a:spLocks xmlns:a="http://schemas.openxmlformats.org/drawingml/2006/main" noGrp="1"/>
          </p:cNvSpPr>
          <p:nvPr/>
        </p:nvSpPr>
        <p:spPr>
          <a:xfrm xmlns:a="http://schemas.openxmlformats.org/drawingml/2006/main">
            <a:off x="117418"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EB976D"/>
                </a:solidFill>
                <a:latin typeface="Fira Sans"/>
                <a:ea typeface="Fira Sans"/>
                <a:cs typeface="Fira Sans"/>
              </a:rPr>
              <a:t>Martins · Costa · Lopes</a:t>
            </a:r>
          </a:p>
          <a:p xmlns:a="http://schemas.openxmlformats.org/drawingml/2006/main">
            <a:pPr>
              <a:buNone/>
            </a:pPr>
            <a:r>
              <a:rPr sz="675" b="0" i="0">
                <a:solidFill>
                  <a:srgbClr val="EB976D"/>
                </a:solidFill>
                <a:latin typeface="Fira Sans"/>
                <a:ea typeface="Fira Sans"/>
                <a:cs typeface="Fira Sans"/>
              </a:rPr>
              <a:t>joaopedro@cos.ufrj.br</a:t>
            </a:r>
          </a:p>
        </p:txBody>
      </p:sp>
      <p:sp>
        <p:nvSpPr>
          <p:cNvPr id="4" name="Google Shape;14;p1">
            <a:extLst xmlns:a="http://schemas.openxmlformats.org/drawingml/2006/main">
              <a:ext uri="{FF2B5EF4-FFF2-40B4-BE49-F238E27FC236}">
                <a16:creationId xmlns:a16="http://schemas.microsoft.com/office/drawing/2014/main" id="{125D206B-8316-FB78-11AD-FED01E65613A}"/>
              </a:ext>
            </a:extLst>
          </p:cNvPr>
          <p:cNvSpPr>
            <a:spLocks xmlns:a="http://schemas.openxmlformats.org/drawingml/2006/main" noGrp="1"/>
          </p:cNvSpPr>
          <p:nvPr/>
        </p:nvSpPr>
        <p:spPr>
          <a:xfrm xmlns:a="http://schemas.openxmlformats.org/drawingml/2006/main">
            <a:off x="2778576" y="6368186"/>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38415C"/>
                </a:solidFill>
                <a:latin typeface="Fira Sans"/>
                <a:ea typeface="Fira Sans"/>
                <a:cs typeface="Fira Sans"/>
              </a:rPr>
              <a:t>MARTINS; COSTA; LOPES (2026) · Retrofit do Modelo 3M</a:t>
            </a:r>
          </a:p>
        </p:txBody>
      </p:sp>
      <p:sp>
        <p:nvSpPr>
          <p:cNvPr id="5" name="Google Shape;15;p1">
            <a:extLst xmlns:a="http://schemas.openxmlformats.org/drawingml/2006/main">
              <a:ext uri="{FF2B5EF4-FFF2-40B4-BE49-F238E27FC236}">
                <a16:creationId xmlns:a16="http://schemas.microsoft.com/office/drawing/2014/main" id="{A7B5C549-B1B2-5631-7949-581BFCF7D0A9}"/>
              </a:ext>
            </a:extLst>
          </p:cNvPr>
          <p:cNvSpPr>
            <a:spLocks xmlns:a="http://schemas.openxmlformats.org/drawingml/2006/main" noGrp="1"/>
          </p:cNvSpPr>
          <p:nvPr/>
        </p:nvSpPr>
        <p:spPr>
          <a:xfrm xmlns:a="http://schemas.openxmlformats.org/drawingml/2006/main">
            <a:off x="6295851" y="6368186"/>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lnSpc>
                <a:spcPct val="100000"/>
              </a:lnSpc>
              <a:spcBef>
                <a:spcPts val="0"/>
              </a:spcBef>
              <a:spcAft>
                <a:spcPts val="0"/>
              </a:spcAft>
              <a:buNone/>
              <a:defRPr sz="5400" b="1" i="0" u="none" cap="none">
                <a:solidFill>
                  <a:srgbClr val="EB976D"/>
                </a:solidFill>
                <a:latin typeface="Fira Sans"/>
                <a:ea typeface="Fira Sans"/>
                <a:cs typeface="Fira Sans"/>
              </a:defRPr>
            </a:lvl1pPr>
            <a:lvl2pPr marL="0" indent="0" algn="r">
              <a:lnSpc>
                <a:spcPct val="100000"/>
              </a:lnSpc>
              <a:spcBef>
                <a:spcPts val="0"/>
              </a:spcBef>
              <a:spcAft>
                <a:spcPts val="0"/>
              </a:spcAft>
              <a:buNone/>
              <a:defRPr sz="5400" b="1" i="0" u="none" cap="none">
                <a:solidFill>
                  <a:srgbClr val="EB976D"/>
                </a:solidFill>
                <a:latin typeface="Fira Sans"/>
                <a:ea typeface="Fira Sans"/>
                <a:cs typeface="Fira Sans"/>
              </a:defRPr>
            </a:lvl2pPr>
            <a:lvl3pPr marL="0" indent="0" algn="r">
              <a:lnSpc>
                <a:spcPct val="100000"/>
              </a:lnSpc>
              <a:spcBef>
                <a:spcPts val="0"/>
              </a:spcBef>
              <a:spcAft>
                <a:spcPts val="0"/>
              </a:spcAft>
              <a:buNone/>
              <a:defRPr sz="5400" b="1" i="0" u="none" cap="none">
                <a:solidFill>
                  <a:srgbClr val="EB976D"/>
                </a:solidFill>
                <a:latin typeface="Fira Sans"/>
                <a:ea typeface="Fira Sans"/>
                <a:cs typeface="Fira Sans"/>
              </a:defRPr>
            </a:lvl3pPr>
            <a:lvl4pPr marL="0" indent="0" algn="r">
              <a:lnSpc>
                <a:spcPct val="100000"/>
              </a:lnSpc>
              <a:spcBef>
                <a:spcPts val="0"/>
              </a:spcBef>
              <a:spcAft>
                <a:spcPts val="0"/>
              </a:spcAft>
              <a:buNone/>
              <a:defRPr sz="5400" b="1" i="0" u="none" cap="none">
                <a:solidFill>
                  <a:srgbClr val="EB976D"/>
                </a:solidFill>
                <a:latin typeface="Fira Sans"/>
                <a:ea typeface="Fira Sans"/>
                <a:cs typeface="Fira Sans"/>
              </a:defRPr>
            </a:lvl4pPr>
            <a:lvl5pPr marL="0" indent="0" algn="r">
              <a:lnSpc>
                <a:spcPct val="100000"/>
              </a:lnSpc>
              <a:spcBef>
                <a:spcPts val="0"/>
              </a:spcBef>
              <a:spcAft>
                <a:spcPts val="0"/>
              </a:spcAft>
              <a:buNone/>
              <a:defRPr sz="5400" b="1" i="0" u="none" cap="none">
                <a:solidFill>
                  <a:srgbClr val="EB976D"/>
                </a:solidFill>
                <a:latin typeface="Fira Sans"/>
                <a:ea typeface="Fira Sans"/>
                <a:cs typeface="Fira Sans"/>
              </a:defRPr>
            </a:lvl5pPr>
            <a:lvl6pPr marL="0" indent="0" algn="r">
              <a:lnSpc>
                <a:spcPct val="100000"/>
              </a:lnSpc>
              <a:spcBef>
                <a:spcPts val="0"/>
              </a:spcBef>
              <a:spcAft>
                <a:spcPts val="0"/>
              </a:spcAft>
              <a:buNone/>
              <a:defRPr sz="5400" b="1" i="0" u="none" cap="none">
                <a:solidFill>
                  <a:srgbClr val="EB976D"/>
                </a:solidFill>
                <a:latin typeface="Fira Sans"/>
                <a:ea typeface="Fira Sans"/>
                <a:cs typeface="Fira Sans"/>
              </a:defRPr>
            </a:lvl6pPr>
            <a:lvl7pPr marL="0" indent="0" algn="r">
              <a:lnSpc>
                <a:spcPct val="100000"/>
              </a:lnSpc>
              <a:spcBef>
                <a:spcPts val="0"/>
              </a:spcBef>
              <a:spcAft>
                <a:spcPts val="0"/>
              </a:spcAft>
              <a:buNone/>
              <a:defRPr sz="5400" b="1" i="0" u="none" cap="none">
                <a:solidFill>
                  <a:srgbClr val="EB976D"/>
                </a:solidFill>
                <a:latin typeface="Fira Sans"/>
                <a:ea typeface="Fira Sans"/>
                <a:cs typeface="Fira Sans"/>
              </a:defRPr>
            </a:lvl7pPr>
            <a:lvl8pPr marL="0" indent="0" algn="r">
              <a:lnSpc>
                <a:spcPct val="100000"/>
              </a:lnSpc>
              <a:spcBef>
                <a:spcPts val="0"/>
              </a:spcBef>
              <a:spcAft>
                <a:spcPts val="0"/>
              </a:spcAft>
              <a:buNone/>
              <a:defRPr sz="5400" b="1" i="0" u="none" cap="none">
                <a:solidFill>
                  <a:srgbClr val="EB976D"/>
                </a:solidFill>
                <a:latin typeface="Fira Sans"/>
                <a:ea typeface="Fira Sans"/>
                <a:cs typeface="Fira Sans"/>
              </a:defRPr>
            </a:lvl8pPr>
            <a:lvl9pPr marL="0" indent="0" algn="r">
              <a:lnSpc>
                <a:spcPct val="100000"/>
              </a:lnSpc>
              <a:spcBef>
                <a:spcPts val="0"/>
              </a:spcBef>
              <a:spcAft>
                <a:spcPts val="0"/>
              </a:spcAft>
              <a:buNone/>
              <a:defRPr sz="5400" b="1" i="0" u="none" cap="none">
                <a:solidFill>
                  <a:srgbClr val="EB976D"/>
                </a:solidFill>
                <a:latin typeface="Fira Sans"/>
                <a:ea typeface="Fira Sans"/>
                <a:cs typeface="Fira Sans"/>
              </a:defRPr>
            </a:lvl9pPr>
          </a:lstStyle>
          <a:p xmlns:a="http://schemas.openxmlformats.org/drawingml/2006/main">
            <a:fld id="{46B270FB-0C54-A54F-867B-58A7B95C958C}" type="slidenum">
              <a:t>‹#›</a:t>
            </a:fld>
          </a:p>
        </p:txBody>
      </p:sp>
      <p:sp>
        <p:nvSpPr>
          <p:cNvPr id="6" name="Google Shape;17;p1">
            <a:extLst xmlns:a="http://schemas.openxmlformats.org/drawingml/2006/main">
              <a:ext uri="{FF2B5EF4-FFF2-40B4-BE49-F238E27FC236}">
                <a16:creationId xmlns:a16="http://schemas.microsoft.com/office/drawing/2014/main" id="{23BC0789-0241-F5FA-8256-903089131E1A}"/>
              </a:ext>
            </a:extLst>
          </p:cNvPr>
          <p:cNvSpPr>
            <a:spLocks xmlns:a="http://schemas.openxmlformats.org/drawingml/2006/main" noGrp="1"/>
          </p:cNvSpPr>
          <p:nvPr/>
        </p:nvSpPr>
        <p:spPr>
          <a:xfrm xmlns:a="http://schemas.openxmlformats.org/drawingml/2006/main">
            <a:off x="8470669" y="6309681"/>
            <a:ext cx="555913" cy="482136"/>
          </a:xfrm>
          <a:prstGeom xmlns:a="http://schemas.openxmlformats.org/drawingml/2006/main" prst="rect">
            <a:avLst/>
          </a:prstGeom>
          <a:noFill xmlns:a="http://schemas.openxmlformats.org/drawingml/2006/main"/>
          <a:ln xmlns:a="http://schemas.openxmlformats.org/drawingml/2006/main" w="12700" cmpd="sng">
            <a:solidFill>
              <a:srgbClr val="38415C"/>
            </a:solidFill>
            <a:prstDash val="solid"/>
          </a:ln>
        </p:spPr>
        <p:txBody>
          <a:bodyPr xmlns:a="http://schemas.openxmlformats.org/drawingml/2006/main" spcFirstLastPara="1" lIns="68569" tIns="34275" rIns="68569" bIns="34275" anchor="ctr">
            <a:noAutofit/>
          </a:bodyPr>
          <a:lstStyle xmlns:a="http://schemas.openxmlformats.org/drawingml/2006/main"/>
          <a:p xmlns:a="http://schemas.openxmlformats.org/drawingml/2006/main">
            <a:pPr marL="0" indent="0" algn="ctr">
              <a:spcBef>
                <a:spcPts val="0"/>
              </a:spcBef>
              <a:spcAft>
                <a:spcPts val="0"/>
              </a:spcAft>
              <a:buNone/>
            </a:pPr>
            <a:r>
              <a:rPr sz="1650" b="1" i="0" u="none" cap="none">
                <a:solidFill>
                  <a:srgbClr val="EB976D"/>
                </a:solidFill>
                <a:latin typeface="Fira Sans"/>
                <a:ea typeface="Fira Sans"/>
                <a:cs typeface="Fira Sans"/>
              </a:rPr>
              <a:t>/23</a:t>
            </a:r>
          </a:p>
        </p:txBody>
      </p:sp>
    </p:spTree>
  </p:cSld>
</p:sldLayout>
</file>

<file path=ppt/slideLayouts/slideLayout5.xml><?xml version="1.0" encoding="utf-8"?>
<p:sldLayout xmlns:p="http://schemas.openxmlformats.org/presentationml/2006/main" matchingName="Comparison">
  <p:cSld name="Comparison">
    <p:spTree>
      <p:nvGrpSpPr>
        <p:cNvPr id="1" name=""/>
        <p:cNvGrpSpPr/>
        <p:nvPr/>
      </p:nvGrpSpPr>
      <p:grpSpPr>
        <a:xfrm xmlns:a="http://schemas.openxmlformats.org/drawingml/2006/main"/>
      </p:grpSpPr>
      <p:sp>
        <p:nvSpPr>
          <p:cNvPr id="56" name="Google Shape;56;p8">
            <a:extLst xmlns:a="http://schemas.openxmlformats.org/drawingml/2006/main">
              <a:ext uri="{FF2B5EF4-FFF2-40B4-BE49-F238E27FC236}">
                <a16:creationId xmlns:a16="http://schemas.microsoft.com/office/drawing/2014/main" id="{56B14880-60CA-47DB-A703-5CB5A2AF641A}"/>
              </a:ext>
            </a:extLst>
          </p:cNvPr>
          <p:cNvSpPr>
            <a:spLocks xmlns:a="http://schemas.openxmlformats.org/drawingml/2006/main" noGrp="1"/>
          </p:cNvSpPr>
          <p:nvPr>
            <p:ph type="body" idx="1"/>
          </p:nvPr>
        </p:nvSpPr>
        <p:spPr>
          <a:xfrm xmlns:a="http://schemas.openxmlformats.org/drawingml/2006/main">
            <a:off x="172394" y="1530777"/>
            <a:ext cx="432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342900" indent="-171450" algn="l">
              <a:lnSpc>
                <a:spcPct val="90000"/>
              </a:lnSpc>
              <a:spcBef>
                <a:spcPts val="750"/>
              </a:spcBef>
              <a:spcAft>
                <a:spcPts val="0"/>
              </a:spcAft>
              <a:buNone/>
              <a:defRPr sz="1800" b="1">
                <a:solidFill>
                  <a:srgbClr val="38415C"/>
                </a:solidFill>
              </a:defRPr>
            </a:lvl1pPr>
            <a:lvl2pPr marL="685800" indent="-171450" algn="l">
              <a:lnSpc>
                <a:spcPct val="90000"/>
              </a:lnSpc>
              <a:spcBef>
                <a:spcPts val="375"/>
              </a:spcBef>
              <a:spcAft>
                <a:spcPts val="0"/>
              </a:spcAft>
              <a:buNone/>
              <a:defRPr sz="1500" b="1"/>
            </a:lvl2pPr>
            <a:lvl3pPr marL="1028700" indent="-171450" algn="l">
              <a:lnSpc>
                <a:spcPct val="90000"/>
              </a:lnSpc>
              <a:spcBef>
                <a:spcPts val="375"/>
              </a:spcBef>
              <a:spcAft>
                <a:spcPts val="0"/>
              </a:spcAft>
              <a:buNone/>
              <a:defRPr sz="1350" b="1"/>
            </a:lvl3pPr>
            <a:lvl4pPr marL="1371600" indent="-171450" algn="l">
              <a:lnSpc>
                <a:spcPct val="90000"/>
              </a:lnSpc>
              <a:spcBef>
                <a:spcPts val="375"/>
              </a:spcBef>
              <a:spcAft>
                <a:spcPts val="0"/>
              </a:spcAft>
              <a:buNone/>
              <a:defRPr sz="1200" b="1"/>
            </a:lvl4pPr>
            <a:lvl5pPr marL="1714500" indent="-171450" algn="l">
              <a:lnSpc>
                <a:spcPct val="90000"/>
              </a:lnSpc>
              <a:spcBef>
                <a:spcPts val="375"/>
              </a:spcBef>
              <a:spcAft>
                <a:spcPts val="0"/>
              </a:spcAft>
              <a:buNone/>
              <a:defRPr sz="1200" b="1"/>
            </a:lvl5pPr>
            <a:lvl6pPr marL="2057400" indent="-171450" algn="l">
              <a:lnSpc>
                <a:spcPct val="90000"/>
              </a:lnSpc>
              <a:spcBef>
                <a:spcPts val="375"/>
              </a:spcBef>
              <a:spcAft>
                <a:spcPts val="0"/>
              </a:spcAft>
              <a:buNone/>
              <a:defRPr sz="1200" b="1"/>
            </a:lvl6pPr>
            <a:lvl7pPr marL="2400300" indent="-171450" algn="l">
              <a:lnSpc>
                <a:spcPct val="90000"/>
              </a:lnSpc>
              <a:spcBef>
                <a:spcPts val="375"/>
              </a:spcBef>
              <a:spcAft>
                <a:spcPts val="0"/>
              </a:spcAft>
              <a:buNone/>
              <a:defRPr sz="1200" b="1"/>
            </a:lvl7pPr>
            <a:lvl8pPr marL="2743200" indent="-171450" algn="l">
              <a:lnSpc>
                <a:spcPct val="90000"/>
              </a:lnSpc>
              <a:spcBef>
                <a:spcPts val="375"/>
              </a:spcBef>
              <a:spcAft>
                <a:spcPts val="0"/>
              </a:spcAft>
              <a:buNone/>
              <a:defRPr sz="1200" b="1"/>
            </a:lvl8pPr>
            <a:lvl9pPr marL="3086100" indent="-171450" algn="l">
              <a:lnSpc>
                <a:spcPct val="90000"/>
              </a:lnSpc>
              <a:spcBef>
                <a:spcPts val="375"/>
              </a:spcBef>
              <a:spcAft>
                <a:spcPts val="0"/>
              </a:spcAft>
              <a:buNone/>
              <a:defRPr sz="1200" b="1"/>
            </a:lvl9pPr>
          </a:lstStyle>
          <a:p xmlns:a="http://schemas.openxmlformats.org/drawingml/2006/main"/>
        </p:txBody>
      </p:sp>
      <p:sp>
        <p:nvSpPr>
          <p:cNvPr id="57" name="Google Shape;57;p8">
            <a:extLst xmlns:a="http://schemas.openxmlformats.org/drawingml/2006/main">
              <a:ext uri="{FF2B5EF4-FFF2-40B4-BE49-F238E27FC236}">
                <a16:creationId xmlns:a16="http://schemas.microsoft.com/office/drawing/2014/main" id="{8AB1706F-9E87-4B81-92AA-A31147280A66}"/>
              </a:ext>
            </a:extLst>
          </p:cNvPr>
          <p:cNvSpPr>
            <a:spLocks xmlns:a="http://schemas.openxmlformats.org/drawingml/2006/main" noGrp="1"/>
          </p:cNvSpPr>
          <p:nvPr>
            <p:ph type="body" idx="2"/>
          </p:nvPr>
        </p:nvSpPr>
        <p:spPr>
          <a:xfrm xmlns:a="http://schemas.openxmlformats.org/drawingml/2006/main">
            <a:off x="172394" y="2184437"/>
            <a:ext cx="4320000" cy="3932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342900" indent="-304800" algn="l">
              <a:lnSpc>
                <a:spcPct val="90000"/>
              </a:lnSpc>
              <a:spcBef>
                <a:spcPts val="750"/>
              </a:spcBef>
              <a:spcAft>
                <a:spcPts val="0"/>
              </a:spcAft>
              <a:buChar char="•"/>
              <a:defRPr b="0">
                <a:solidFill>
                  <a:srgbClr val="38415C"/>
                </a:solidFill>
              </a:defRPr>
            </a:lvl1pPr>
            <a:lvl2pPr marL="685800" indent="-285750" algn="l">
              <a:lnSpc>
                <a:spcPct val="90000"/>
              </a:lnSpc>
              <a:spcBef>
                <a:spcPts val="375"/>
              </a:spcBef>
              <a:spcAft>
                <a:spcPts val="0"/>
              </a:spcAft>
              <a:buChar char="•"/>
              <a:defRPr b="0">
                <a:solidFill>
                  <a:srgbClr val="38415C"/>
                </a:solidFill>
              </a:defRPr>
            </a:lvl2pPr>
            <a:lvl3pPr marL="1028700" indent="-266700" algn="l">
              <a:lnSpc>
                <a:spcPct val="90000"/>
              </a:lnSpc>
              <a:spcBef>
                <a:spcPts val="375"/>
              </a:spcBef>
              <a:spcAft>
                <a:spcPts val="0"/>
              </a:spcAft>
              <a:buChar char="•"/>
              <a:defRPr b="0">
                <a:solidFill>
                  <a:srgbClr val="38415C"/>
                </a:solidFill>
              </a:defRPr>
            </a:lvl3pPr>
            <a:lvl4pPr marL="1371600" indent="-257175" algn="l">
              <a:lnSpc>
                <a:spcPct val="90000"/>
              </a:lnSpc>
              <a:spcBef>
                <a:spcPts val="375"/>
              </a:spcBef>
              <a:spcAft>
                <a:spcPts val="0"/>
              </a:spcAft>
              <a:buChar char="•"/>
              <a:defRPr b="0">
                <a:solidFill>
                  <a:srgbClr val="38415C"/>
                </a:solidFill>
              </a:defRPr>
            </a:lvl4pPr>
            <a:lvl5pPr marL="1714500" indent="-257175" algn="l">
              <a:lnSpc>
                <a:spcPct val="90000"/>
              </a:lnSpc>
              <a:spcBef>
                <a:spcPts val="375"/>
              </a:spcBef>
              <a:spcAft>
                <a:spcPts val="0"/>
              </a:spcAft>
              <a:buChar char="•"/>
              <a:defRPr b="0">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xmlns:a="http://schemas.openxmlformats.org/drawingml/2006/main"/>
        </p:txBody>
      </p:sp>
      <p:sp>
        <p:nvSpPr>
          <p:cNvPr id="58" name="Google Shape;58;p8">
            <a:extLst xmlns:a="http://schemas.openxmlformats.org/drawingml/2006/main">
              <a:ext uri="{FF2B5EF4-FFF2-40B4-BE49-F238E27FC236}">
                <a16:creationId xmlns:a16="http://schemas.microsoft.com/office/drawing/2014/main" id="{BBB38D52-9E3B-4E68-BF67-7E3B8FC185A8}"/>
              </a:ext>
            </a:extLst>
          </p:cNvPr>
          <p:cNvSpPr>
            <a:spLocks xmlns:a="http://schemas.openxmlformats.org/drawingml/2006/main" noGrp="1"/>
          </p:cNvSpPr>
          <p:nvPr>
            <p:ph type="body" idx="3"/>
          </p:nvPr>
        </p:nvSpPr>
        <p:spPr>
          <a:xfrm xmlns:a="http://schemas.openxmlformats.org/drawingml/2006/main">
            <a:off x="4732559" y="1535885"/>
            <a:ext cx="432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342900" indent="-171450" algn="l">
              <a:lnSpc>
                <a:spcPct val="90000"/>
              </a:lnSpc>
              <a:spcBef>
                <a:spcPts val="750"/>
              </a:spcBef>
              <a:spcAft>
                <a:spcPts val="0"/>
              </a:spcAft>
              <a:buNone/>
              <a:defRPr sz="1800" b="1">
                <a:solidFill>
                  <a:srgbClr val="38415C"/>
                </a:solidFill>
              </a:defRPr>
            </a:lvl1pPr>
            <a:lvl2pPr marL="685800" indent="-171450" algn="l">
              <a:lnSpc>
                <a:spcPct val="90000"/>
              </a:lnSpc>
              <a:spcBef>
                <a:spcPts val="375"/>
              </a:spcBef>
              <a:spcAft>
                <a:spcPts val="0"/>
              </a:spcAft>
              <a:buNone/>
              <a:defRPr sz="1500" b="1"/>
            </a:lvl2pPr>
            <a:lvl3pPr marL="1028700" indent="-171450" algn="l">
              <a:lnSpc>
                <a:spcPct val="90000"/>
              </a:lnSpc>
              <a:spcBef>
                <a:spcPts val="375"/>
              </a:spcBef>
              <a:spcAft>
                <a:spcPts val="0"/>
              </a:spcAft>
              <a:buNone/>
              <a:defRPr sz="1350" b="1"/>
            </a:lvl3pPr>
            <a:lvl4pPr marL="1371600" indent="-171450" algn="l">
              <a:lnSpc>
                <a:spcPct val="90000"/>
              </a:lnSpc>
              <a:spcBef>
                <a:spcPts val="375"/>
              </a:spcBef>
              <a:spcAft>
                <a:spcPts val="0"/>
              </a:spcAft>
              <a:buNone/>
              <a:defRPr sz="1200" b="1"/>
            </a:lvl4pPr>
            <a:lvl5pPr marL="1714500" indent="-171450" algn="l">
              <a:lnSpc>
                <a:spcPct val="90000"/>
              </a:lnSpc>
              <a:spcBef>
                <a:spcPts val="375"/>
              </a:spcBef>
              <a:spcAft>
                <a:spcPts val="0"/>
              </a:spcAft>
              <a:buNone/>
              <a:defRPr sz="1200" b="1"/>
            </a:lvl5pPr>
            <a:lvl6pPr marL="2057400" indent="-171450" algn="l">
              <a:lnSpc>
                <a:spcPct val="90000"/>
              </a:lnSpc>
              <a:spcBef>
                <a:spcPts val="375"/>
              </a:spcBef>
              <a:spcAft>
                <a:spcPts val="0"/>
              </a:spcAft>
              <a:buNone/>
              <a:defRPr sz="1200" b="1"/>
            </a:lvl6pPr>
            <a:lvl7pPr marL="2400300" indent="-171450" algn="l">
              <a:lnSpc>
                <a:spcPct val="90000"/>
              </a:lnSpc>
              <a:spcBef>
                <a:spcPts val="375"/>
              </a:spcBef>
              <a:spcAft>
                <a:spcPts val="0"/>
              </a:spcAft>
              <a:buNone/>
              <a:defRPr sz="1200" b="1"/>
            </a:lvl7pPr>
            <a:lvl8pPr marL="2743200" indent="-171450" algn="l">
              <a:lnSpc>
                <a:spcPct val="90000"/>
              </a:lnSpc>
              <a:spcBef>
                <a:spcPts val="375"/>
              </a:spcBef>
              <a:spcAft>
                <a:spcPts val="0"/>
              </a:spcAft>
              <a:buNone/>
              <a:defRPr sz="1200" b="1"/>
            </a:lvl8pPr>
            <a:lvl9pPr marL="3086100" indent="-171450" algn="l">
              <a:lnSpc>
                <a:spcPct val="90000"/>
              </a:lnSpc>
              <a:spcBef>
                <a:spcPts val="375"/>
              </a:spcBef>
              <a:spcAft>
                <a:spcPts val="0"/>
              </a:spcAft>
              <a:buNone/>
              <a:defRPr sz="1200" b="1"/>
            </a:lvl9pPr>
          </a:lstStyle>
          <a:p xmlns:a="http://schemas.openxmlformats.org/drawingml/2006/main"/>
        </p:txBody>
      </p:sp>
      <p:sp>
        <p:nvSpPr>
          <p:cNvPr id="59" name="Google Shape;59;p8">
            <a:extLst xmlns:a="http://schemas.openxmlformats.org/drawingml/2006/main">
              <a:ext uri="{FF2B5EF4-FFF2-40B4-BE49-F238E27FC236}">
                <a16:creationId xmlns:a16="http://schemas.microsoft.com/office/drawing/2014/main" id="{9E8661ED-2635-4BB2-AA65-240D7BDD099E}"/>
              </a:ext>
            </a:extLst>
          </p:cNvPr>
          <p:cNvSpPr>
            <a:spLocks xmlns:a="http://schemas.openxmlformats.org/drawingml/2006/main" noGrp="1"/>
          </p:cNvSpPr>
          <p:nvPr>
            <p:ph type="body" idx="4"/>
          </p:nvPr>
        </p:nvSpPr>
        <p:spPr>
          <a:xfrm xmlns:a="http://schemas.openxmlformats.org/drawingml/2006/main">
            <a:off x="4732559" y="2184437"/>
            <a:ext cx="4320000" cy="39326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342900" indent="-304800" algn="l">
              <a:lnSpc>
                <a:spcPct val="90000"/>
              </a:lnSpc>
              <a:spcBef>
                <a:spcPts val="750"/>
              </a:spcBef>
              <a:spcAft>
                <a:spcPts val="0"/>
              </a:spcAft>
              <a:buChar char="•"/>
              <a:defRPr>
                <a:solidFill>
                  <a:srgbClr val="38415C"/>
                </a:solidFill>
              </a:defRPr>
            </a:lvl1pPr>
            <a:lvl2pPr marL="685800" indent="-285750" algn="l">
              <a:lnSpc>
                <a:spcPct val="90000"/>
              </a:lnSpc>
              <a:spcBef>
                <a:spcPts val="375"/>
              </a:spcBef>
              <a:spcAft>
                <a:spcPts val="0"/>
              </a:spcAft>
              <a:buChar char="•"/>
              <a:defRPr>
                <a:solidFill>
                  <a:srgbClr val="38415C"/>
                </a:solidFill>
              </a:defRPr>
            </a:lvl2pPr>
            <a:lvl3pPr marL="1028700" indent="-266700" algn="l">
              <a:lnSpc>
                <a:spcPct val="90000"/>
              </a:lnSpc>
              <a:spcBef>
                <a:spcPts val="375"/>
              </a:spcBef>
              <a:spcAft>
                <a:spcPts val="0"/>
              </a:spcAft>
              <a:buChar char="•"/>
              <a:defRPr>
                <a:solidFill>
                  <a:srgbClr val="38415C"/>
                </a:solidFill>
              </a:defRPr>
            </a:lvl3pPr>
            <a:lvl4pPr marL="1371600" indent="-257175" algn="l">
              <a:lnSpc>
                <a:spcPct val="90000"/>
              </a:lnSpc>
              <a:spcBef>
                <a:spcPts val="375"/>
              </a:spcBef>
              <a:spcAft>
                <a:spcPts val="0"/>
              </a:spcAft>
              <a:buChar char="•"/>
              <a:defRPr>
                <a:solidFill>
                  <a:srgbClr val="38415C"/>
                </a:solidFill>
              </a:defRPr>
            </a:lvl4pPr>
            <a:lvl5pPr marL="1714500" indent="-257175" algn="l">
              <a:lnSpc>
                <a:spcPct val="90000"/>
              </a:lnSpc>
              <a:spcBef>
                <a:spcPts val="375"/>
              </a:spcBef>
              <a:spcAft>
                <a:spcPts val="0"/>
              </a:spcAft>
              <a:buChar char="•"/>
              <a:defRPr>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xmlns:a="http://schemas.openxmlformats.org/drawingml/2006/main"/>
        </p:txBody>
      </p:sp>
      <p:sp>
        <p:nvSpPr>
          <p:cNvPr id="60" name="Google Shape;60;p8">
            <a:extLst xmlns:a="http://schemas.openxmlformats.org/drawingml/2006/main">
              <a:ext uri="{FF2B5EF4-FFF2-40B4-BE49-F238E27FC236}">
                <a16:creationId xmlns:a16="http://schemas.microsoft.com/office/drawing/2014/main" id="{1CEC3562-F474-436A-A933-E4A5528C0A91}"/>
              </a:ext>
            </a:extLst>
          </p:cNvPr>
          <p:cNvSpPr>
            <a:spLocks xmlns:a="http://schemas.openxmlformats.org/drawingml/2006/main" noGrp="1"/>
          </p:cNvSpPr>
          <p:nvPr>
            <p:ph type="title" idx="0"/>
          </p:nvPr>
        </p:nvSpPr>
        <p:spPr>
          <a:xfrm xmlns:a="http://schemas.openxmlformats.org/drawingml/2006/main">
            <a:off x="866601" y="66183"/>
            <a:ext cx="8185958" cy="1334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10" name="Google Shape;83;p11">
            <a:extLst xmlns:a="http://schemas.openxmlformats.org/drawingml/2006/main">
              <a:ext uri="{FF2B5EF4-FFF2-40B4-BE49-F238E27FC236}">
                <a16:creationId xmlns:a16="http://schemas.microsoft.com/office/drawing/2014/main" id="{B0388D56-D47A-FC41-3073-20A543FD148E}"/>
              </a:ext>
            </a:extLst>
          </p:cNvPr>
          <p:cNvSpPr>
            <a:spLocks xmlns:a="http://schemas.openxmlformats.org/drawingml/2006/main" noGrp="1"/>
          </p:cNvSpPr>
          <p:nvPr>
            <p:ph type="sldNum" idx="12"/>
          </p:nvPr>
        </p:nvSpPr>
        <p:spPr>
          <a:xfrm xmlns:a="http://schemas.openxmlformats.org/drawingml/2006/main">
            <a:off x="6600825"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00000000-1234-1234-1234-123412341234}" type="slidenum">
              <a:t>‹#›</a:t>
            </a:fld>
          </a:p>
        </p:txBody>
      </p:sp>
      <p:sp>
        <p:nvSpPr>
          <p:cNvPr id="11" name="Google Shape;13;p1">
            <a:extLst xmlns:a="http://schemas.openxmlformats.org/drawingml/2006/main">
              <a:ext uri="{FF2B5EF4-FFF2-40B4-BE49-F238E27FC236}">
                <a16:creationId xmlns:a16="http://schemas.microsoft.com/office/drawing/2014/main" id="{E72668BE-7256-A05E-F820-422C9F991256}"/>
              </a:ext>
            </a:extLst>
          </p:cNvPr>
          <p:cNvSpPr>
            <a:spLocks xmlns:a="http://schemas.openxmlformats.org/drawingml/2006/main" noGrp="1"/>
          </p:cNvSpPr>
          <p:nvPr/>
        </p:nvSpPr>
        <p:spPr>
          <a:xfrm xmlns:a="http://schemas.openxmlformats.org/drawingml/2006/main">
            <a:off x="172583" y="6368185"/>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EB976D"/>
                </a:solidFill>
                <a:latin typeface="Fira Sans"/>
                <a:ea typeface="Fira Sans"/>
                <a:cs typeface="Fira Sans"/>
              </a:rPr>
              <a:t>Martins · Costa · Lopes</a:t>
            </a:r>
          </a:p>
          <a:p xmlns:a="http://schemas.openxmlformats.org/drawingml/2006/main">
            <a:pPr>
              <a:buNone/>
            </a:pPr>
            <a:r>
              <a:rPr sz="675" b="0" i="0">
                <a:solidFill>
                  <a:srgbClr val="EB976D"/>
                </a:solidFill>
                <a:latin typeface="Fira Sans"/>
                <a:ea typeface="Fira Sans"/>
                <a:cs typeface="Fira Sans"/>
              </a:rPr>
              <a:t>joaopedro@cos.ufrj.br</a:t>
            </a:r>
          </a:p>
        </p:txBody>
      </p:sp>
      <p:sp>
        <p:nvSpPr>
          <p:cNvPr id="12" name="Google Shape;14;p1">
            <a:extLst xmlns:a="http://schemas.openxmlformats.org/drawingml/2006/main">
              <a:ext uri="{FF2B5EF4-FFF2-40B4-BE49-F238E27FC236}">
                <a16:creationId xmlns:a16="http://schemas.microsoft.com/office/drawing/2014/main" id="{0D83C5E2-8FC9-487A-E9AE-CB77F613FCCA}"/>
              </a:ext>
            </a:extLst>
          </p:cNvPr>
          <p:cNvSpPr>
            <a:spLocks xmlns:a="http://schemas.openxmlformats.org/drawingml/2006/main" noGrp="1"/>
          </p:cNvSpPr>
          <p:nvPr/>
        </p:nvSpPr>
        <p:spPr>
          <a:xfrm xmlns:a="http://schemas.openxmlformats.org/drawingml/2006/main">
            <a:off x="2715758" y="6368185"/>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38415C"/>
                </a:solidFill>
                <a:latin typeface="Fira Sans"/>
                <a:ea typeface="Fira Sans"/>
                <a:cs typeface="Fira Sans"/>
              </a:rPr>
              <a:t>MARTINS; COSTA; LOPES (2026) · Retrofit do Modelo 3M</a:t>
            </a:r>
          </a:p>
        </p:txBody>
      </p:sp>
    </p:spTree>
  </p:cSld>
</p:sldLayout>
</file>

<file path=ppt/slideLayouts/slideLayout6.xml><?xml version="1.0" encoding="utf-8"?>
<p:sldLayout xmlns:p="http://schemas.openxmlformats.org/presentationml/2006/main" matchingName="1_Comparison">
  <p:cSld name="1_Comparison">
    <p:spTree>
      <p:nvGrpSpPr>
        <p:cNvPr id="1" name=""/>
        <p:cNvGrpSpPr/>
        <p:nvPr/>
      </p:nvGrpSpPr>
      <p:grpSpPr>
        <a:xfrm xmlns:a="http://schemas.openxmlformats.org/drawingml/2006/main"/>
      </p:grpSpPr>
      <p:sp>
        <p:nvSpPr>
          <p:cNvPr id="65" name="Google Shape;65;p9">
            <a:extLst xmlns:a="http://schemas.openxmlformats.org/drawingml/2006/main">
              <a:ext uri="{FF2B5EF4-FFF2-40B4-BE49-F238E27FC236}">
                <a16:creationId xmlns:a16="http://schemas.microsoft.com/office/drawing/2014/main" id="{2170472C-1CD1-4B1F-A7A5-262F18EE7369}"/>
              </a:ext>
            </a:extLst>
          </p:cNvPr>
          <p:cNvSpPr>
            <a:spLocks xmlns:a="http://schemas.openxmlformats.org/drawingml/2006/main" noGrp="1"/>
          </p:cNvSpPr>
          <p:nvPr>
            <p:ph type="body" idx="1"/>
          </p:nvPr>
        </p:nvSpPr>
        <p:spPr>
          <a:xfrm xmlns:a="http://schemas.openxmlformats.org/drawingml/2006/main">
            <a:off x="172394" y="1530777"/>
            <a:ext cx="432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342900" indent="-171450" algn="l">
              <a:lnSpc>
                <a:spcPct val="90000"/>
              </a:lnSpc>
              <a:spcBef>
                <a:spcPts val="750"/>
              </a:spcBef>
              <a:spcAft>
                <a:spcPts val="0"/>
              </a:spcAft>
              <a:buNone/>
              <a:defRPr sz="1800" b="1">
                <a:solidFill>
                  <a:srgbClr val="38415C"/>
                </a:solidFill>
              </a:defRPr>
            </a:lvl1pPr>
            <a:lvl2pPr marL="685800" indent="-171450" algn="l">
              <a:lnSpc>
                <a:spcPct val="90000"/>
              </a:lnSpc>
              <a:spcBef>
                <a:spcPts val="375"/>
              </a:spcBef>
              <a:spcAft>
                <a:spcPts val="0"/>
              </a:spcAft>
              <a:buNone/>
              <a:defRPr sz="1500" b="1"/>
            </a:lvl2pPr>
            <a:lvl3pPr marL="1028700" indent="-171450" algn="l">
              <a:lnSpc>
                <a:spcPct val="90000"/>
              </a:lnSpc>
              <a:spcBef>
                <a:spcPts val="375"/>
              </a:spcBef>
              <a:spcAft>
                <a:spcPts val="0"/>
              </a:spcAft>
              <a:buNone/>
              <a:defRPr sz="1350" b="1"/>
            </a:lvl3pPr>
            <a:lvl4pPr marL="1371600" indent="-171450" algn="l">
              <a:lnSpc>
                <a:spcPct val="90000"/>
              </a:lnSpc>
              <a:spcBef>
                <a:spcPts val="375"/>
              </a:spcBef>
              <a:spcAft>
                <a:spcPts val="0"/>
              </a:spcAft>
              <a:buNone/>
              <a:defRPr sz="1200" b="1"/>
            </a:lvl4pPr>
            <a:lvl5pPr marL="1714500" indent="-171450" algn="l">
              <a:lnSpc>
                <a:spcPct val="90000"/>
              </a:lnSpc>
              <a:spcBef>
                <a:spcPts val="375"/>
              </a:spcBef>
              <a:spcAft>
                <a:spcPts val="0"/>
              </a:spcAft>
              <a:buNone/>
              <a:defRPr sz="1200" b="1"/>
            </a:lvl5pPr>
            <a:lvl6pPr marL="2057400" indent="-171450" algn="l">
              <a:lnSpc>
                <a:spcPct val="90000"/>
              </a:lnSpc>
              <a:spcBef>
                <a:spcPts val="375"/>
              </a:spcBef>
              <a:spcAft>
                <a:spcPts val="0"/>
              </a:spcAft>
              <a:buNone/>
              <a:defRPr sz="1200" b="1"/>
            </a:lvl6pPr>
            <a:lvl7pPr marL="2400300" indent="-171450" algn="l">
              <a:lnSpc>
                <a:spcPct val="90000"/>
              </a:lnSpc>
              <a:spcBef>
                <a:spcPts val="375"/>
              </a:spcBef>
              <a:spcAft>
                <a:spcPts val="0"/>
              </a:spcAft>
              <a:buNone/>
              <a:defRPr sz="1200" b="1"/>
            </a:lvl7pPr>
            <a:lvl8pPr marL="2743200" indent="-171450" algn="l">
              <a:lnSpc>
                <a:spcPct val="90000"/>
              </a:lnSpc>
              <a:spcBef>
                <a:spcPts val="375"/>
              </a:spcBef>
              <a:spcAft>
                <a:spcPts val="0"/>
              </a:spcAft>
              <a:buNone/>
              <a:defRPr sz="1200" b="1"/>
            </a:lvl8pPr>
            <a:lvl9pPr marL="3086100" indent="-171450" algn="l">
              <a:lnSpc>
                <a:spcPct val="90000"/>
              </a:lnSpc>
              <a:spcBef>
                <a:spcPts val="375"/>
              </a:spcBef>
              <a:spcAft>
                <a:spcPts val="0"/>
              </a:spcAft>
              <a:buNone/>
              <a:defRPr sz="1200" b="1"/>
            </a:lvl9pPr>
          </a:lstStyle>
          <a:p xmlns:a="http://schemas.openxmlformats.org/drawingml/2006/main"/>
        </p:txBody>
      </p:sp>
      <p:sp>
        <p:nvSpPr>
          <p:cNvPr id="66" name="Google Shape;66;p9">
            <a:extLst xmlns:a="http://schemas.openxmlformats.org/drawingml/2006/main">
              <a:ext uri="{FF2B5EF4-FFF2-40B4-BE49-F238E27FC236}">
                <a16:creationId xmlns:a16="http://schemas.microsoft.com/office/drawing/2014/main" id="{52F40588-C503-4FD1-84EE-55898AE467BE}"/>
              </a:ext>
            </a:extLst>
          </p:cNvPr>
          <p:cNvSpPr>
            <a:spLocks xmlns:a="http://schemas.openxmlformats.org/drawingml/2006/main" noGrp="1"/>
          </p:cNvSpPr>
          <p:nvPr>
            <p:ph type="body" idx="2"/>
          </p:nvPr>
        </p:nvSpPr>
        <p:spPr>
          <a:xfrm xmlns:a="http://schemas.openxmlformats.org/drawingml/2006/main">
            <a:off x="172394" y="2184437"/>
            <a:ext cx="4320000" cy="3932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342900" indent="-304800" algn="l">
              <a:lnSpc>
                <a:spcPct val="90000"/>
              </a:lnSpc>
              <a:spcBef>
                <a:spcPts val="750"/>
              </a:spcBef>
              <a:spcAft>
                <a:spcPts val="0"/>
              </a:spcAft>
              <a:buChar char="•"/>
              <a:defRPr b="0">
                <a:solidFill>
                  <a:srgbClr val="38415C"/>
                </a:solidFill>
              </a:defRPr>
            </a:lvl1pPr>
            <a:lvl2pPr marL="685800" indent="-285750" algn="l">
              <a:lnSpc>
                <a:spcPct val="90000"/>
              </a:lnSpc>
              <a:spcBef>
                <a:spcPts val="375"/>
              </a:spcBef>
              <a:spcAft>
                <a:spcPts val="0"/>
              </a:spcAft>
              <a:buChar char="•"/>
              <a:defRPr b="0">
                <a:solidFill>
                  <a:srgbClr val="38415C"/>
                </a:solidFill>
              </a:defRPr>
            </a:lvl2pPr>
            <a:lvl3pPr marL="1028700" indent="-266700" algn="l">
              <a:lnSpc>
                <a:spcPct val="90000"/>
              </a:lnSpc>
              <a:spcBef>
                <a:spcPts val="375"/>
              </a:spcBef>
              <a:spcAft>
                <a:spcPts val="0"/>
              </a:spcAft>
              <a:buChar char="•"/>
              <a:defRPr b="0">
                <a:solidFill>
                  <a:srgbClr val="38415C"/>
                </a:solidFill>
              </a:defRPr>
            </a:lvl3pPr>
            <a:lvl4pPr marL="1371600" indent="-257175" algn="l">
              <a:lnSpc>
                <a:spcPct val="90000"/>
              </a:lnSpc>
              <a:spcBef>
                <a:spcPts val="375"/>
              </a:spcBef>
              <a:spcAft>
                <a:spcPts val="0"/>
              </a:spcAft>
              <a:buChar char="•"/>
              <a:defRPr b="0">
                <a:solidFill>
                  <a:srgbClr val="38415C"/>
                </a:solidFill>
              </a:defRPr>
            </a:lvl4pPr>
            <a:lvl5pPr marL="1714500" indent="-257175" algn="l">
              <a:lnSpc>
                <a:spcPct val="90000"/>
              </a:lnSpc>
              <a:spcBef>
                <a:spcPts val="375"/>
              </a:spcBef>
              <a:spcAft>
                <a:spcPts val="0"/>
              </a:spcAft>
              <a:buChar char="•"/>
              <a:defRPr b="0">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xmlns:a="http://schemas.openxmlformats.org/drawingml/2006/main"/>
        </p:txBody>
      </p:sp>
      <p:sp>
        <p:nvSpPr>
          <p:cNvPr id="67" name="Google Shape;67;p9">
            <a:extLst xmlns:a="http://schemas.openxmlformats.org/drawingml/2006/main">
              <a:ext uri="{FF2B5EF4-FFF2-40B4-BE49-F238E27FC236}">
                <a16:creationId xmlns:a16="http://schemas.microsoft.com/office/drawing/2014/main" id="{5A2EF76C-542C-45BE-B099-49AA6E0D8795}"/>
              </a:ext>
            </a:extLst>
          </p:cNvPr>
          <p:cNvSpPr>
            <a:spLocks xmlns:a="http://schemas.openxmlformats.org/drawingml/2006/main" noGrp="1"/>
          </p:cNvSpPr>
          <p:nvPr>
            <p:ph type="title" idx="0"/>
          </p:nvPr>
        </p:nvSpPr>
        <p:spPr>
          <a:xfrm xmlns:a="http://schemas.openxmlformats.org/drawingml/2006/main">
            <a:off x="866601" y="66183"/>
            <a:ext cx="8185958" cy="1334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 name="Google Shape;83;p11">
            <a:extLst xmlns:a="http://schemas.openxmlformats.org/drawingml/2006/main">
              <a:ext uri="{FF2B5EF4-FFF2-40B4-BE49-F238E27FC236}">
                <a16:creationId xmlns:a16="http://schemas.microsoft.com/office/drawing/2014/main" id="{9DA6CF24-B0F2-AF5A-856B-1EA966B0FFD8}"/>
              </a:ext>
            </a:extLst>
          </p:cNvPr>
          <p:cNvSpPr>
            <a:spLocks xmlns:a="http://schemas.openxmlformats.org/drawingml/2006/main" noGrp="1"/>
          </p:cNvSpPr>
          <p:nvPr>
            <p:ph type="sldNum" idx="12"/>
          </p:nvPr>
        </p:nvSpPr>
        <p:spPr>
          <a:xfrm xmlns:a="http://schemas.openxmlformats.org/drawingml/2006/main">
            <a:off x="6600825"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00000000-1234-1234-1234-123412341234}" type="slidenum">
              <a:t>‹#›</a:t>
            </a:fld>
          </a:p>
        </p:txBody>
      </p:sp>
      <p:sp>
        <p:nvSpPr>
          <p:cNvPr id="8" name="Google Shape;13;p1">
            <a:extLst xmlns:a="http://schemas.openxmlformats.org/drawingml/2006/main">
              <a:ext uri="{FF2B5EF4-FFF2-40B4-BE49-F238E27FC236}">
                <a16:creationId xmlns:a16="http://schemas.microsoft.com/office/drawing/2014/main" id="{BAE9BA02-0D58-DF37-A906-D30C7C67798C}"/>
              </a:ext>
            </a:extLst>
          </p:cNvPr>
          <p:cNvSpPr>
            <a:spLocks xmlns:a="http://schemas.openxmlformats.org/drawingml/2006/main" noGrp="1"/>
          </p:cNvSpPr>
          <p:nvPr/>
        </p:nvSpPr>
        <p:spPr>
          <a:xfrm xmlns:a="http://schemas.openxmlformats.org/drawingml/2006/main">
            <a:off x="172583" y="6368185"/>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EB976D"/>
                </a:solidFill>
                <a:latin typeface="Fira Sans"/>
                <a:ea typeface="Fira Sans"/>
                <a:cs typeface="Fira Sans"/>
              </a:rPr>
              <a:t>Martins · Costa · Lopes</a:t>
            </a:r>
          </a:p>
          <a:p xmlns:a="http://schemas.openxmlformats.org/drawingml/2006/main">
            <a:pPr>
              <a:buNone/>
            </a:pPr>
            <a:r>
              <a:rPr sz="675" b="0" i="0">
                <a:solidFill>
                  <a:srgbClr val="EB976D"/>
                </a:solidFill>
                <a:latin typeface="Fira Sans"/>
                <a:ea typeface="Fira Sans"/>
                <a:cs typeface="Fira Sans"/>
              </a:rPr>
              <a:t>joaopedro@cos.ufrj.br</a:t>
            </a:r>
          </a:p>
        </p:txBody>
      </p:sp>
      <p:sp>
        <p:nvSpPr>
          <p:cNvPr id="9" name="Google Shape;14;p1">
            <a:extLst xmlns:a="http://schemas.openxmlformats.org/drawingml/2006/main">
              <a:ext uri="{FF2B5EF4-FFF2-40B4-BE49-F238E27FC236}">
                <a16:creationId xmlns:a16="http://schemas.microsoft.com/office/drawing/2014/main" id="{44C7ADF8-4551-764D-3FAB-EBEF4DF33E09}"/>
              </a:ext>
            </a:extLst>
          </p:cNvPr>
          <p:cNvSpPr>
            <a:spLocks xmlns:a="http://schemas.openxmlformats.org/drawingml/2006/main" noGrp="1"/>
          </p:cNvSpPr>
          <p:nvPr/>
        </p:nvSpPr>
        <p:spPr>
          <a:xfrm xmlns:a="http://schemas.openxmlformats.org/drawingml/2006/main">
            <a:off x="2715758" y="6368185"/>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38415C"/>
                </a:solidFill>
                <a:latin typeface="Fira Sans"/>
                <a:ea typeface="Fira Sans"/>
                <a:cs typeface="Fira Sans"/>
              </a:rPr>
              <a:t>MARTINS; COSTA; LOPES (2026) · Retrofit do Modelo 3M</a:t>
            </a:r>
          </a:p>
        </p:txBody>
      </p:sp>
    </p:spTree>
  </p:cSld>
</p:sldLayout>
</file>

<file path=ppt/slideLayouts/slideLayout7.xml><?xml version="1.0" encoding="utf-8"?>
<p:sldLayout xmlns:p="http://schemas.openxmlformats.org/presentationml/2006/main" matchingName="2_Comparison">
  <p:cSld name="2_Comparison">
    <p:spTree>
      <p:nvGrpSpPr>
        <p:cNvPr id="1" name=""/>
        <p:cNvGrpSpPr/>
        <p:nvPr/>
      </p:nvGrpSpPr>
      <p:grpSpPr>
        <a:xfrm xmlns:a="http://schemas.openxmlformats.org/drawingml/2006/main"/>
      </p:grpSpPr>
      <p:sp>
        <p:nvSpPr>
          <p:cNvPr id="72" name="Google Shape;72;p10">
            <a:extLst xmlns:a="http://schemas.openxmlformats.org/drawingml/2006/main">
              <a:ext uri="{FF2B5EF4-FFF2-40B4-BE49-F238E27FC236}">
                <a16:creationId xmlns:a16="http://schemas.microsoft.com/office/drawing/2014/main" id="{E7374C4E-83C1-482B-9152-D2FF6588A0E0}"/>
              </a:ext>
            </a:extLst>
          </p:cNvPr>
          <p:cNvSpPr>
            <a:spLocks xmlns:a="http://schemas.openxmlformats.org/drawingml/2006/main" noGrp="1"/>
          </p:cNvSpPr>
          <p:nvPr>
            <p:ph type="body" idx="1"/>
          </p:nvPr>
        </p:nvSpPr>
        <p:spPr>
          <a:xfrm xmlns:a="http://schemas.openxmlformats.org/drawingml/2006/main">
            <a:off x="4732559" y="1535885"/>
            <a:ext cx="432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342900" indent="-171450" algn="l">
              <a:lnSpc>
                <a:spcPct val="90000"/>
              </a:lnSpc>
              <a:spcBef>
                <a:spcPts val="750"/>
              </a:spcBef>
              <a:spcAft>
                <a:spcPts val="0"/>
              </a:spcAft>
              <a:buNone/>
              <a:defRPr sz="1800" b="1">
                <a:solidFill>
                  <a:srgbClr val="38415C"/>
                </a:solidFill>
              </a:defRPr>
            </a:lvl1pPr>
            <a:lvl2pPr marL="685800" indent="-171450" algn="l">
              <a:lnSpc>
                <a:spcPct val="90000"/>
              </a:lnSpc>
              <a:spcBef>
                <a:spcPts val="375"/>
              </a:spcBef>
              <a:spcAft>
                <a:spcPts val="0"/>
              </a:spcAft>
              <a:buNone/>
              <a:defRPr sz="1500" b="1"/>
            </a:lvl2pPr>
            <a:lvl3pPr marL="1028700" indent="-171450" algn="l">
              <a:lnSpc>
                <a:spcPct val="90000"/>
              </a:lnSpc>
              <a:spcBef>
                <a:spcPts val="375"/>
              </a:spcBef>
              <a:spcAft>
                <a:spcPts val="0"/>
              </a:spcAft>
              <a:buNone/>
              <a:defRPr sz="1350" b="1"/>
            </a:lvl3pPr>
            <a:lvl4pPr marL="1371600" indent="-171450" algn="l">
              <a:lnSpc>
                <a:spcPct val="90000"/>
              </a:lnSpc>
              <a:spcBef>
                <a:spcPts val="375"/>
              </a:spcBef>
              <a:spcAft>
                <a:spcPts val="0"/>
              </a:spcAft>
              <a:buNone/>
              <a:defRPr sz="1200" b="1"/>
            </a:lvl4pPr>
            <a:lvl5pPr marL="1714500" indent="-171450" algn="l">
              <a:lnSpc>
                <a:spcPct val="90000"/>
              </a:lnSpc>
              <a:spcBef>
                <a:spcPts val="375"/>
              </a:spcBef>
              <a:spcAft>
                <a:spcPts val="0"/>
              </a:spcAft>
              <a:buNone/>
              <a:defRPr sz="1200" b="1"/>
            </a:lvl5pPr>
            <a:lvl6pPr marL="2057400" indent="-171450" algn="l">
              <a:lnSpc>
                <a:spcPct val="90000"/>
              </a:lnSpc>
              <a:spcBef>
                <a:spcPts val="375"/>
              </a:spcBef>
              <a:spcAft>
                <a:spcPts val="0"/>
              </a:spcAft>
              <a:buNone/>
              <a:defRPr sz="1200" b="1"/>
            </a:lvl6pPr>
            <a:lvl7pPr marL="2400300" indent="-171450" algn="l">
              <a:lnSpc>
                <a:spcPct val="90000"/>
              </a:lnSpc>
              <a:spcBef>
                <a:spcPts val="375"/>
              </a:spcBef>
              <a:spcAft>
                <a:spcPts val="0"/>
              </a:spcAft>
              <a:buNone/>
              <a:defRPr sz="1200" b="1"/>
            </a:lvl7pPr>
            <a:lvl8pPr marL="2743200" indent="-171450" algn="l">
              <a:lnSpc>
                <a:spcPct val="90000"/>
              </a:lnSpc>
              <a:spcBef>
                <a:spcPts val="375"/>
              </a:spcBef>
              <a:spcAft>
                <a:spcPts val="0"/>
              </a:spcAft>
              <a:buNone/>
              <a:defRPr sz="1200" b="1"/>
            </a:lvl8pPr>
            <a:lvl9pPr marL="3086100" indent="-171450" algn="l">
              <a:lnSpc>
                <a:spcPct val="90000"/>
              </a:lnSpc>
              <a:spcBef>
                <a:spcPts val="375"/>
              </a:spcBef>
              <a:spcAft>
                <a:spcPts val="0"/>
              </a:spcAft>
              <a:buNone/>
              <a:defRPr sz="1200" b="1"/>
            </a:lvl9pPr>
          </a:lstStyle>
          <a:p xmlns:a="http://schemas.openxmlformats.org/drawingml/2006/main"/>
        </p:txBody>
      </p:sp>
      <p:sp>
        <p:nvSpPr>
          <p:cNvPr id="73" name="Google Shape;73;p10">
            <a:extLst xmlns:a="http://schemas.openxmlformats.org/drawingml/2006/main">
              <a:ext uri="{FF2B5EF4-FFF2-40B4-BE49-F238E27FC236}">
                <a16:creationId xmlns:a16="http://schemas.microsoft.com/office/drawing/2014/main" id="{30939747-B22E-4F08-81B8-F2B85DD60849}"/>
              </a:ext>
            </a:extLst>
          </p:cNvPr>
          <p:cNvSpPr>
            <a:spLocks xmlns:a="http://schemas.openxmlformats.org/drawingml/2006/main" noGrp="1"/>
          </p:cNvSpPr>
          <p:nvPr>
            <p:ph type="body" idx="2"/>
          </p:nvPr>
        </p:nvSpPr>
        <p:spPr>
          <a:xfrm xmlns:a="http://schemas.openxmlformats.org/drawingml/2006/main">
            <a:off x="4732559" y="2184437"/>
            <a:ext cx="4320000" cy="39326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342900" indent="-304800" algn="l">
              <a:lnSpc>
                <a:spcPct val="90000"/>
              </a:lnSpc>
              <a:spcBef>
                <a:spcPts val="750"/>
              </a:spcBef>
              <a:spcAft>
                <a:spcPts val="0"/>
              </a:spcAft>
              <a:buChar char="•"/>
              <a:defRPr>
                <a:solidFill>
                  <a:srgbClr val="38415C"/>
                </a:solidFill>
              </a:defRPr>
            </a:lvl1pPr>
            <a:lvl2pPr marL="685800" indent="-285750" algn="l">
              <a:lnSpc>
                <a:spcPct val="90000"/>
              </a:lnSpc>
              <a:spcBef>
                <a:spcPts val="375"/>
              </a:spcBef>
              <a:spcAft>
                <a:spcPts val="0"/>
              </a:spcAft>
              <a:buChar char="•"/>
              <a:defRPr>
                <a:solidFill>
                  <a:srgbClr val="38415C"/>
                </a:solidFill>
              </a:defRPr>
            </a:lvl2pPr>
            <a:lvl3pPr marL="1028700" indent="-266700" algn="l">
              <a:lnSpc>
                <a:spcPct val="90000"/>
              </a:lnSpc>
              <a:spcBef>
                <a:spcPts val="375"/>
              </a:spcBef>
              <a:spcAft>
                <a:spcPts val="0"/>
              </a:spcAft>
              <a:buChar char="•"/>
              <a:defRPr>
                <a:solidFill>
                  <a:srgbClr val="38415C"/>
                </a:solidFill>
              </a:defRPr>
            </a:lvl3pPr>
            <a:lvl4pPr marL="1371600" indent="-257175" algn="l">
              <a:lnSpc>
                <a:spcPct val="90000"/>
              </a:lnSpc>
              <a:spcBef>
                <a:spcPts val="375"/>
              </a:spcBef>
              <a:spcAft>
                <a:spcPts val="0"/>
              </a:spcAft>
              <a:buChar char="•"/>
              <a:defRPr>
                <a:solidFill>
                  <a:srgbClr val="38415C"/>
                </a:solidFill>
              </a:defRPr>
            </a:lvl4pPr>
            <a:lvl5pPr marL="1714500" indent="-257175" algn="l">
              <a:lnSpc>
                <a:spcPct val="90000"/>
              </a:lnSpc>
              <a:spcBef>
                <a:spcPts val="375"/>
              </a:spcBef>
              <a:spcAft>
                <a:spcPts val="0"/>
              </a:spcAft>
              <a:buChar char="•"/>
              <a:defRPr>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xmlns:a="http://schemas.openxmlformats.org/drawingml/2006/main"/>
        </p:txBody>
      </p:sp>
      <p:sp>
        <p:nvSpPr>
          <p:cNvPr id="74" name="Google Shape;74;p10">
            <a:extLst xmlns:a="http://schemas.openxmlformats.org/drawingml/2006/main">
              <a:ext uri="{FF2B5EF4-FFF2-40B4-BE49-F238E27FC236}">
                <a16:creationId xmlns:a16="http://schemas.microsoft.com/office/drawing/2014/main" id="{0FD20AC1-2A79-4361-B05E-0F3679984E96}"/>
              </a:ext>
            </a:extLst>
          </p:cNvPr>
          <p:cNvSpPr>
            <a:spLocks xmlns:a="http://schemas.openxmlformats.org/drawingml/2006/main" noGrp="1"/>
          </p:cNvSpPr>
          <p:nvPr>
            <p:ph type="title" idx="0"/>
          </p:nvPr>
        </p:nvSpPr>
        <p:spPr>
          <a:xfrm xmlns:a="http://schemas.openxmlformats.org/drawingml/2006/main">
            <a:off x="866601" y="66183"/>
            <a:ext cx="8185958" cy="1334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 name="Google Shape;83;p11">
            <a:extLst xmlns:a="http://schemas.openxmlformats.org/drawingml/2006/main">
              <a:ext uri="{FF2B5EF4-FFF2-40B4-BE49-F238E27FC236}">
                <a16:creationId xmlns:a16="http://schemas.microsoft.com/office/drawing/2014/main" id="{CA122395-EAF2-42E9-C7F2-8364D3F6D7B0}"/>
              </a:ext>
            </a:extLst>
          </p:cNvPr>
          <p:cNvSpPr>
            <a:spLocks xmlns:a="http://schemas.openxmlformats.org/drawingml/2006/main" noGrp="1"/>
          </p:cNvSpPr>
          <p:nvPr>
            <p:ph type="sldNum" idx="12"/>
          </p:nvPr>
        </p:nvSpPr>
        <p:spPr>
          <a:xfrm xmlns:a="http://schemas.openxmlformats.org/drawingml/2006/main">
            <a:off x="6600825"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00000000-1234-1234-1234-123412341234}" type="slidenum">
              <a:t>‹#›</a:t>
            </a:fld>
          </a:p>
        </p:txBody>
      </p:sp>
      <p:sp>
        <p:nvSpPr>
          <p:cNvPr id="8" name="Google Shape;13;p1">
            <a:extLst xmlns:a="http://schemas.openxmlformats.org/drawingml/2006/main">
              <a:ext uri="{FF2B5EF4-FFF2-40B4-BE49-F238E27FC236}">
                <a16:creationId xmlns:a16="http://schemas.microsoft.com/office/drawing/2014/main" id="{B3ED0C8E-80E8-2251-F3D7-7F2360B109DB}"/>
              </a:ext>
            </a:extLst>
          </p:cNvPr>
          <p:cNvSpPr>
            <a:spLocks xmlns:a="http://schemas.openxmlformats.org/drawingml/2006/main" noGrp="1"/>
          </p:cNvSpPr>
          <p:nvPr/>
        </p:nvSpPr>
        <p:spPr>
          <a:xfrm xmlns:a="http://schemas.openxmlformats.org/drawingml/2006/main">
            <a:off x="172583" y="6368185"/>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EB976D"/>
                </a:solidFill>
                <a:latin typeface="Fira Sans"/>
                <a:ea typeface="Fira Sans"/>
                <a:cs typeface="Fira Sans"/>
              </a:rPr>
              <a:t>Martins · Costa · Lopes</a:t>
            </a:r>
          </a:p>
          <a:p xmlns:a="http://schemas.openxmlformats.org/drawingml/2006/main">
            <a:pPr>
              <a:buNone/>
            </a:pPr>
            <a:r>
              <a:rPr sz="675" b="0" i="0">
                <a:solidFill>
                  <a:srgbClr val="EB976D"/>
                </a:solidFill>
                <a:latin typeface="Fira Sans"/>
                <a:ea typeface="Fira Sans"/>
                <a:cs typeface="Fira Sans"/>
              </a:rPr>
              <a:t>joaopedro@cos.ufrj.br</a:t>
            </a:r>
          </a:p>
        </p:txBody>
      </p:sp>
      <p:sp>
        <p:nvSpPr>
          <p:cNvPr id="9" name="Google Shape;14;p1">
            <a:extLst xmlns:a="http://schemas.openxmlformats.org/drawingml/2006/main">
              <a:ext uri="{FF2B5EF4-FFF2-40B4-BE49-F238E27FC236}">
                <a16:creationId xmlns:a16="http://schemas.microsoft.com/office/drawing/2014/main" id="{352FC943-040A-056D-98FF-91ED5D8862EE}"/>
              </a:ext>
            </a:extLst>
          </p:cNvPr>
          <p:cNvSpPr>
            <a:spLocks xmlns:a="http://schemas.openxmlformats.org/drawingml/2006/main" noGrp="1"/>
          </p:cNvSpPr>
          <p:nvPr/>
        </p:nvSpPr>
        <p:spPr>
          <a:xfrm xmlns:a="http://schemas.openxmlformats.org/drawingml/2006/main">
            <a:off x="2715758" y="6368185"/>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38415C"/>
                </a:solidFill>
                <a:latin typeface="Fira Sans"/>
                <a:ea typeface="Fira Sans"/>
                <a:cs typeface="Fira Sans"/>
              </a:rPr>
              <a:t>MARTINS; COSTA; LOPES (2026) · Retrofit do Modelo 3M</a:t>
            </a:r>
          </a:p>
        </p:txBody>
      </p:sp>
    </p:spTree>
  </p:cSld>
</p:sldLayout>
</file>

<file path=ppt/slideLayouts/slideLayout8.xml><?xml version="1.0" encoding="utf-8"?>
<p:sldLayout xmlns:p="http://schemas.openxmlformats.org/presentationml/2006/main" matchingName="Definição">
  <p:cSld name="Definição">
    <p:spTree>
      <p:nvGrpSpPr>
        <p:cNvPr id="1" name=""/>
        <p:cNvGrpSpPr/>
        <p:nvPr/>
      </p:nvGrpSpPr>
      <p:grpSpPr>
        <a:xfrm xmlns:a="http://schemas.openxmlformats.org/drawingml/2006/main"/>
      </p:grpSpPr>
      <p:sp>
        <p:nvSpPr>
          <p:cNvPr id="79" name="Google Shape;79;p11">
            <a:extLst xmlns:a="http://schemas.openxmlformats.org/drawingml/2006/main">
              <a:ext uri="{FF2B5EF4-FFF2-40B4-BE49-F238E27FC236}">
                <a16:creationId xmlns:a16="http://schemas.microsoft.com/office/drawing/2014/main" id="{86F0CCA6-4326-4494-9D3C-F5A73263CF09}"/>
              </a:ext>
            </a:extLst>
          </p:cNvPr>
          <p:cNvSpPr>
            <a:spLocks xmlns:a="http://schemas.openxmlformats.org/drawingml/2006/main" noGrp="1"/>
          </p:cNvSpPr>
          <p:nvPr>
            <p:ph type="body" idx="1"/>
          </p:nvPr>
        </p:nvSpPr>
        <p:spPr>
          <a:xfrm xmlns:a="http://schemas.openxmlformats.org/drawingml/2006/main">
            <a:off x="117417" y="1501428"/>
            <a:ext cx="8935142" cy="46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342900" indent="-171450" algn="l">
              <a:lnSpc>
                <a:spcPct val="100000"/>
              </a:lnSpc>
              <a:spcBef>
                <a:spcPts val="0"/>
              </a:spcBef>
              <a:spcAft>
                <a:spcPts val="0"/>
              </a:spcAft>
              <a:buNone/>
              <a:defRPr sz="3600" b="1">
                <a:solidFill>
                  <a:srgbClr val="38415C"/>
                </a:solidFill>
              </a:defRPr>
            </a:lvl1pPr>
            <a:lvl2pPr marL="685800" indent="-171450" algn="l">
              <a:lnSpc>
                <a:spcPct val="100000"/>
              </a:lnSpc>
              <a:spcBef>
                <a:spcPts val="0"/>
              </a:spcBef>
              <a:spcAft>
                <a:spcPts val="0"/>
              </a:spcAft>
              <a:buNone/>
              <a:defRPr sz="2400" b="0">
                <a:solidFill>
                  <a:srgbClr val="38415C"/>
                </a:solidFill>
              </a:defRPr>
            </a:lvl2pPr>
            <a:lvl3pPr marL="1028700" indent="-171450" algn="l">
              <a:lnSpc>
                <a:spcPct val="100000"/>
              </a:lnSpc>
              <a:spcBef>
                <a:spcPts val="0"/>
              </a:spcBef>
              <a:spcAft>
                <a:spcPts val="0"/>
              </a:spcAft>
              <a:buNone/>
              <a:defRPr sz="2100" b="0">
                <a:solidFill>
                  <a:srgbClr val="38415C"/>
                </a:solidFill>
              </a:defRPr>
            </a:lvl3pPr>
            <a:lvl4pPr marL="1371600" indent="-171450" algn="l">
              <a:lnSpc>
                <a:spcPct val="100000"/>
              </a:lnSpc>
              <a:spcBef>
                <a:spcPts val="0"/>
              </a:spcBef>
              <a:spcAft>
                <a:spcPts val="0"/>
              </a:spcAft>
              <a:buNone/>
              <a:defRPr sz="1800" b="0">
                <a:solidFill>
                  <a:srgbClr val="38415C"/>
                </a:solidFill>
              </a:defRPr>
            </a:lvl4pPr>
            <a:lvl5pPr marL="1714500" indent="-171450" algn="l">
              <a:lnSpc>
                <a:spcPct val="100000"/>
              </a:lnSpc>
              <a:spcBef>
                <a:spcPts val="0"/>
              </a:spcBef>
              <a:spcAft>
                <a:spcPts val="0"/>
              </a:spcAft>
              <a:buNone/>
              <a:defRPr sz="1800" b="0">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xmlns:a="http://schemas.openxmlformats.org/drawingml/2006/main"/>
        </p:txBody>
      </p:sp>
      <p:sp>
        <p:nvSpPr>
          <p:cNvPr id="80" name="Google Shape;80;p11">
            <a:extLst xmlns:a="http://schemas.openxmlformats.org/drawingml/2006/main">
              <a:ext uri="{FF2B5EF4-FFF2-40B4-BE49-F238E27FC236}">
                <a16:creationId xmlns:a16="http://schemas.microsoft.com/office/drawing/2014/main" id="{E47B496F-8305-48D6-B5D8-11899F97BC49}"/>
              </a:ext>
            </a:extLst>
          </p:cNvPr>
          <p:cNvSpPr>
            <a:spLocks xmlns:a="http://schemas.openxmlformats.org/drawingml/2006/main" noGrp="1"/>
          </p:cNvSpPr>
          <p:nvPr>
            <p:ph type="title" idx="0"/>
          </p:nvPr>
        </p:nvSpPr>
        <p:spPr>
          <a:xfrm xmlns:a="http://schemas.openxmlformats.org/drawingml/2006/main">
            <a:off x="866601" y="66183"/>
            <a:ext cx="8185958" cy="1334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83" name="Google Shape;83;p11">
            <a:extLst xmlns:a="http://schemas.openxmlformats.org/drawingml/2006/main">
              <a:ext uri="{FF2B5EF4-FFF2-40B4-BE49-F238E27FC236}">
                <a16:creationId xmlns:a16="http://schemas.microsoft.com/office/drawing/2014/main" id="{A0A5E861-1E5C-4221-8733-7E3E803CD5DA}"/>
              </a:ext>
            </a:extLst>
          </p:cNvPr>
          <p:cNvSpPr>
            <a:spLocks xmlns:a="http://schemas.openxmlformats.org/drawingml/2006/main" noGrp="1"/>
          </p:cNvSpPr>
          <p:nvPr>
            <p:ph type="sldNum" idx="12"/>
          </p:nvPr>
        </p:nvSpPr>
        <p:spPr>
          <a:xfrm xmlns:a="http://schemas.openxmlformats.org/drawingml/2006/main">
            <a:off x="6600825"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00000000-1234-1234-1234-123412341234}" type="slidenum">
              <a:t>‹#›</a:t>
            </a:fld>
          </a:p>
        </p:txBody>
      </p:sp>
      <p:sp>
        <p:nvSpPr>
          <p:cNvPr id="3" name="Google Shape;13;p1">
            <a:extLst xmlns:a="http://schemas.openxmlformats.org/drawingml/2006/main">
              <a:ext uri="{FF2B5EF4-FFF2-40B4-BE49-F238E27FC236}">
                <a16:creationId xmlns:a16="http://schemas.microsoft.com/office/drawing/2014/main" id="{A4D840F7-DE08-E41F-FF27-B1A0CFEAA4DB}"/>
              </a:ext>
            </a:extLst>
          </p:cNvPr>
          <p:cNvSpPr>
            <a:spLocks xmlns:a="http://schemas.openxmlformats.org/drawingml/2006/main" noGrp="1"/>
          </p:cNvSpPr>
          <p:nvPr/>
        </p:nvSpPr>
        <p:spPr>
          <a:xfrm xmlns:a="http://schemas.openxmlformats.org/drawingml/2006/main">
            <a:off x="172583" y="6368185"/>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EB976D"/>
                </a:solidFill>
                <a:latin typeface="Fira Sans"/>
                <a:ea typeface="Fira Sans"/>
                <a:cs typeface="Fira Sans"/>
              </a:rPr>
              <a:t>Martins · Costa · Lopes</a:t>
            </a:r>
          </a:p>
          <a:p xmlns:a="http://schemas.openxmlformats.org/drawingml/2006/main">
            <a:pPr>
              <a:buNone/>
            </a:pPr>
            <a:r>
              <a:rPr sz="675" b="0" i="0">
                <a:solidFill>
                  <a:srgbClr val="EB976D"/>
                </a:solidFill>
                <a:latin typeface="Fira Sans"/>
                <a:ea typeface="Fira Sans"/>
                <a:cs typeface="Fira Sans"/>
              </a:rPr>
              <a:t>joaopedro@cos.ufrj.br</a:t>
            </a:r>
          </a:p>
        </p:txBody>
      </p:sp>
      <p:sp>
        <p:nvSpPr>
          <p:cNvPr id="4" name="Google Shape;14;p1">
            <a:extLst xmlns:a="http://schemas.openxmlformats.org/drawingml/2006/main">
              <a:ext uri="{FF2B5EF4-FFF2-40B4-BE49-F238E27FC236}">
                <a16:creationId xmlns:a16="http://schemas.microsoft.com/office/drawing/2014/main" id="{5C662F7D-C3F7-EB9A-A9AC-52533FC28CD7}"/>
              </a:ext>
            </a:extLst>
          </p:cNvPr>
          <p:cNvSpPr>
            <a:spLocks xmlns:a="http://schemas.openxmlformats.org/drawingml/2006/main" noGrp="1"/>
          </p:cNvSpPr>
          <p:nvPr/>
        </p:nvSpPr>
        <p:spPr>
          <a:xfrm xmlns:a="http://schemas.openxmlformats.org/drawingml/2006/main">
            <a:off x="2715758" y="6368185"/>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38415C"/>
                </a:solidFill>
                <a:latin typeface="Fira Sans"/>
                <a:ea typeface="Fira Sans"/>
                <a:cs typeface="Fira Sans"/>
              </a:rPr>
              <a:t>MARTINS; COSTA; LOPES (2026) · Retrofit do Modelo 3M</a:t>
            </a:r>
          </a:p>
        </p:txBody>
      </p:sp>
      <p:sp>
        <p:nvSpPr>
          <p:cNvPr id="6" name="Google Shape;17;p1">
            <a:extLst xmlns:a="http://schemas.openxmlformats.org/drawingml/2006/main">
              <a:ext uri="{FF2B5EF4-FFF2-40B4-BE49-F238E27FC236}">
                <a16:creationId xmlns:a16="http://schemas.microsoft.com/office/drawing/2014/main" id="{C780B7C7-BF3B-09ED-7D49-9212BC9FBF81}"/>
              </a:ext>
            </a:extLst>
          </p:cNvPr>
          <p:cNvSpPr>
            <a:spLocks xmlns:a="http://schemas.openxmlformats.org/drawingml/2006/main" noGrp="1"/>
          </p:cNvSpPr>
          <p:nvPr/>
        </p:nvSpPr>
        <p:spPr>
          <a:xfrm xmlns:a="http://schemas.openxmlformats.org/drawingml/2006/main">
            <a:off x="8470669" y="6309681"/>
            <a:ext cx="555913" cy="482136"/>
          </a:xfrm>
          <a:prstGeom xmlns:a="http://schemas.openxmlformats.org/drawingml/2006/main" prst="rect">
            <a:avLst/>
          </a:prstGeom>
          <a:noFill xmlns:a="http://schemas.openxmlformats.org/drawingml/2006/main"/>
          <a:ln xmlns:a="http://schemas.openxmlformats.org/drawingml/2006/main" w="12700" cmpd="sng">
            <a:solidFill>
              <a:srgbClr val="38415C"/>
            </a:solidFill>
            <a:prstDash val="solid"/>
          </a:ln>
        </p:spPr>
        <p:txBody>
          <a:bodyPr xmlns:a="http://schemas.openxmlformats.org/drawingml/2006/main" spcFirstLastPara="1" lIns="68569" tIns="34275" rIns="68569" bIns="34275" anchor="ctr">
            <a:noAutofit/>
          </a:bodyPr>
          <a:lstStyle xmlns:a="http://schemas.openxmlformats.org/drawingml/2006/main"/>
          <a:p xmlns:a="http://schemas.openxmlformats.org/drawingml/2006/main">
            <a:pPr marL="0" indent="0" algn="ctr">
              <a:spcBef>
                <a:spcPts val="0"/>
              </a:spcBef>
              <a:spcAft>
                <a:spcPts val="0"/>
              </a:spcAft>
              <a:buNone/>
            </a:pPr>
            <a:r>
              <a:rPr sz="1650" b="1" i="0" u="none" cap="none">
                <a:solidFill>
                  <a:srgbClr val="EB976D"/>
                </a:solidFill>
                <a:latin typeface="Fira Sans"/>
                <a:ea typeface="Fira Sans"/>
                <a:cs typeface="Fira Sans"/>
              </a:rPr>
              <a:t>/23</a:t>
            </a:r>
          </a:p>
        </p:txBody>
      </p:sp>
    </p:spTree>
  </p:cSld>
</p:sldLayout>
</file>

<file path=ppt/slideLayouts/slideLayout9.xml><?xml version="1.0" encoding="utf-8"?>
<p:sldLayout xmlns:p="http://schemas.openxmlformats.org/presentationml/2006/main" matchingName="Lista de Definições">
  <p:cSld name="Lista de Definições">
    <p:spTree>
      <p:nvGrpSpPr>
        <p:cNvPr id="1" name=""/>
        <p:cNvGrpSpPr/>
        <p:nvPr/>
      </p:nvGrpSpPr>
      <p:grpSpPr>
        <a:xfrm xmlns:a="http://schemas.openxmlformats.org/drawingml/2006/main"/>
      </p:grpSpPr>
      <p:sp>
        <p:nvSpPr>
          <p:cNvPr id="85" name="Google Shape;85;p12">
            <a:extLst xmlns:a="http://schemas.openxmlformats.org/drawingml/2006/main">
              <a:ext uri="{FF2B5EF4-FFF2-40B4-BE49-F238E27FC236}">
                <a16:creationId xmlns:a16="http://schemas.microsoft.com/office/drawing/2014/main" id="{D67474C1-A9C6-4D26-8811-5C7088856572}"/>
              </a:ext>
            </a:extLst>
          </p:cNvPr>
          <p:cNvSpPr>
            <a:spLocks xmlns:a="http://schemas.openxmlformats.org/drawingml/2006/main" noGrp="1"/>
          </p:cNvSpPr>
          <p:nvPr>
            <p:ph type="body" idx="1"/>
          </p:nvPr>
        </p:nvSpPr>
        <p:spPr>
          <a:xfrm xmlns:a="http://schemas.openxmlformats.org/drawingml/2006/main">
            <a:off x="117417" y="1501428"/>
            <a:ext cx="8935142" cy="46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342900" indent="-323850" algn="l">
              <a:lnSpc>
                <a:spcPct val="90000"/>
              </a:lnSpc>
              <a:spcBef>
                <a:spcPts val="750"/>
              </a:spcBef>
              <a:spcAft>
                <a:spcPts val="0"/>
              </a:spcAft>
              <a:buChar char="•"/>
              <a:defRPr sz="2400" b="1">
                <a:solidFill>
                  <a:srgbClr val="38415C"/>
                </a:solidFill>
              </a:defRPr>
            </a:lvl1pPr>
            <a:lvl2pPr marL="685800" indent="-304800" algn="l">
              <a:lnSpc>
                <a:spcPct val="90000"/>
              </a:lnSpc>
              <a:spcBef>
                <a:spcPts val="375"/>
              </a:spcBef>
              <a:spcAft>
                <a:spcPts val="0"/>
              </a:spcAft>
              <a:buChar char="•"/>
              <a:defRPr sz="2100">
                <a:solidFill>
                  <a:srgbClr val="38415C"/>
                </a:solidFill>
              </a:defRPr>
            </a:lvl2pPr>
            <a:lvl3pPr marL="1028700" indent="-285750" algn="l">
              <a:lnSpc>
                <a:spcPct val="90000"/>
              </a:lnSpc>
              <a:spcBef>
                <a:spcPts val="375"/>
              </a:spcBef>
              <a:spcAft>
                <a:spcPts val="0"/>
              </a:spcAft>
              <a:buChar char="•"/>
              <a:defRPr sz="1800">
                <a:solidFill>
                  <a:srgbClr val="38415C"/>
                </a:solidFill>
              </a:defRPr>
            </a:lvl3pPr>
            <a:lvl4pPr marL="1371600" indent="-266700" algn="l">
              <a:lnSpc>
                <a:spcPct val="90000"/>
              </a:lnSpc>
              <a:spcBef>
                <a:spcPts val="375"/>
              </a:spcBef>
              <a:spcAft>
                <a:spcPts val="0"/>
              </a:spcAft>
              <a:buChar char="•"/>
              <a:defRPr sz="1500">
                <a:solidFill>
                  <a:srgbClr val="38415C"/>
                </a:solidFill>
              </a:defRPr>
            </a:lvl4pPr>
            <a:lvl5pPr marL="1714500" indent="-266700" algn="l">
              <a:lnSpc>
                <a:spcPct val="90000"/>
              </a:lnSpc>
              <a:spcBef>
                <a:spcPts val="375"/>
              </a:spcBef>
              <a:spcAft>
                <a:spcPts val="0"/>
              </a:spcAft>
              <a:buChar char="•"/>
              <a:defRPr sz="1500">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xmlns:a="http://schemas.openxmlformats.org/drawingml/2006/main"/>
        </p:txBody>
      </p:sp>
      <p:sp>
        <p:nvSpPr>
          <p:cNvPr id="86" name="Google Shape;86;p12">
            <a:extLst xmlns:a="http://schemas.openxmlformats.org/drawingml/2006/main">
              <a:ext uri="{FF2B5EF4-FFF2-40B4-BE49-F238E27FC236}">
                <a16:creationId xmlns:a16="http://schemas.microsoft.com/office/drawing/2014/main" id="{5FF52DF6-77C2-4FCB-AAE2-64C3C4BEEA54}"/>
              </a:ext>
            </a:extLst>
          </p:cNvPr>
          <p:cNvSpPr>
            <a:spLocks xmlns:a="http://schemas.openxmlformats.org/drawingml/2006/main" noGrp="1"/>
          </p:cNvSpPr>
          <p:nvPr>
            <p:ph type="title" idx="0"/>
          </p:nvPr>
        </p:nvSpPr>
        <p:spPr>
          <a:xfrm xmlns:a="http://schemas.openxmlformats.org/drawingml/2006/main">
            <a:off x="866601" y="66183"/>
            <a:ext cx="8185958" cy="1334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 name="Google Shape;83;p11">
            <a:extLst xmlns:a="http://schemas.openxmlformats.org/drawingml/2006/main">
              <a:ext uri="{FF2B5EF4-FFF2-40B4-BE49-F238E27FC236}">
                <a16:creationId xmlns:a16="http://schemas.microsoft.com/office/drawing/2014/main" id="{23AA0777-A0AA-857E-E4DD-23723AA80730}"/>
              </a:ext>
            </a:extLst>
          </p:cNvPr>
          <p:cNvSpPr>
            <a:spLocks xmlns:a="http://schemas.openxmlformats.org/drawingml/2006/main" noGrp="1"/>
          </p:cNvSpPr>
          <p:nvPr>
            <p:ph type="sldNum" idx="12"/>
          </p:nvPr>
        </p:nvSpPr>
        <p:spPr>
          <a:xfrm xmlns:a="http://schemas.openxmlformats.org/drawingml/2006/main">
            <a:off x="6600825"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00000000-1234-1234-1234-123412341234}" type="slidenum">
              <a:t>‹#›</a:t>
            </a:fld>
          </a:p>
        </p:txBody>
      </p:sp>
      <p:sp>
        <p:nvSpPr>
          <p:cNvPr id="8" name="Google Shape;13;p1">
            <a:extLst xmlns:a="http://schemas.openxmlformats.org/drawingml/2006/main">
              <a:ext uri="{FF2B5EF4-FFF2-40B4-BE49-F238E27FC236}">
                <a16:creationId xmlns:a16="http://schemas.microsoft.com/office/drawing/2014/main" id="{B5912525-BC0A-DCBA-A8A8-8116AE52F6C1}"/>
              </a:ext>
            </a:extLst>
          </p:cNvPr>
          <p:cNvSpPr>
            <a:spLocks xmlns:a="http://schemas.openxmlformats.org/drawingml/2006/main" noGrp="1"/>
          </p:cNvSpPr>
          <p:nvPr/>
        </p:nvSpPr>
        <p:spPr>
          <a:xfrm xmlns:a="http://schemas.openxmlformats.org/drawingml/2006/main">
            <a:off x="172583" y="6368185"/>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EB976D"/>
                </a:solidFill>
                <a:latin typeface="Fira Sans"/>
                <a:ea typeface="Fira Sans"/>
                <a:cs typeface="Fira Sans"/>
              </a:rPr>
              <a:t>Martins · Costa · Lopes</a:t>
            </a:r>
          </a:p>
          <a:p xmlns:a="http://schemas.openxmlformats.org/drawingml/2006/main">
            <a:pPr>
              <a:buNone/>
            </a:pPr>
            <a:r>
              <a:rPr sz="675" b="0" i="0">
                <a:solidFill>
                  <a:srgbClr val="EB976D"/>
                </a:solidFill>
                <a:latin typeface="Fira Sans"/>
                <a:ea typeface="Fira Sans"/>
                <a:cs typeface="Fira Sans"/>
              </a:rPr>
              <a:t>joaopedro@cos.ufrj.br</a:t>
            </a:r>
          </a:p>
        </p:txBody>
      </p:sp>
      <p:sp>
        <p:nvSpPr>
          <p:cNvPr id="9" name="Google Shape;14;p1">
            <a:extLst xmlns:a="http://schemas.openxmlformats.org/drawingml/2006/main">
              <a:ext uri="{FF2B5EF4-FFF2-40B4-BE49-F238E27FC236}">
                <a16:creationId xmlns:a16="http://schemas.microsoft.com/office/drawing/2014/main" id="{B3ED1E57-7533-4BCE-95DE-9F8FEA4709F0}"/>
              </a:ext>
            </a:extLst>
          </p:cNvPr>
          <p:cNvSpPr>
            <a:spLocks xmlns:a="http://schemas.openxmlformats.org/drawingml/2006/main" noGrp="1"/>
          </p:cNvSpPr>
          <p:nvPr/>
        </p:nvSpPr>
        <p:spPr>
          <a:xfrm xmlns:a="http://schemas.openxmlformats.org/drawingml/2006/main">
            <a:off x="2715758" y="6368185"/>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38415C"/>
                </a:solidFill>
                <a:latin typeface="Fira Sans"/>
                <a:ea typeface="Fira Sans"/>
                <a:cs typeface="Fira Sans"/>
              </a:rPr>
              <a:t>MARTINS; COSTA; LOPES (2026) · Retrofit do Modelo 3M</a:t>
            </a:r>
          </a:p>
        </p:txBody>
      </p:sp>
    </p:spTree>
  </p:cSld>
</p:sldLayout>
</file>

<file path=ppt/slideLayouts/slideLayout10.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91" name="Google Shape;91;p13">
            <a:extLst xmlns:a="http://schemas.openxmlformats.org/drawingml/2006/main">
              <a:ext uri="{FF2B5EF4-FFF2-40B4-BE49-F238E27FC236}">
                <a16:creationId xmlns:a16="http://schemas.microsoft.com/office/drawing/2014/main" id="{2A518710-33E4-49CA-B1DB-2204AFC95901}"/>
              </a:ext>
            </a:extLst>
          </p:cNvPr>
          <p:cNvSpPr>
            <a:spLocks xmlns:a="http://schemas.openxmlformats.org/drawingml/2006/main" noGrp="1"/>
          </p:cNvSpPr>
          <p:nvPr>
            <p:ph type="title" idx="0"/>
          </p:nvPr>
        </p:nvSpPr>
        <p:spPr>
          <a:xfrm xmlns:a="http://schemas.openxmlformats.org/drawingml/2006/main">
            <a:off x="866601" y="66183"/>
            <a:ext cx="8185958" cy="1334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 name="Google Shape;83;p11">
            <a:extLst xmlns:a="http://schemas.openxmlformats.org/drawingml/2006/main">
              <a:ext uri="{FF2B5EF4-FFF2-40B4-BE49-F238E27FC236}">
                <a16:creationId xmlns:a16="http://schemas.microsoft.com/office/drawing/2014/main" id="{112471AE-902F-88F5-FB83-1C4E1D519B05}"/>
              </a:ext>
            </a:extLst>
          </p:cNvPr>
          <p:cNvSpPr>
            <a:spLocks xmlns:a="http://schemas.openxmlformats.org/drawingml/2006/main" noGrp="1"/>
          </p:cNvSpPr>
          <p:nvPr>
            <p:ph type="sldNum" idx="12"/>
          </p:nvPr>
        </p:nvSpPr>
        <p:spPr>
          <a:xfrm xmlns:a="http://schemas.openxmlformats.org/drawingml/2006/main">
            <a:off x="6600825"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00000000-1234-1234-1234-123412341234}" type="slidenum">
              <a:t>‹#›</a:t>
            </a:fld>
          </a:p>
        </p:txBody>
      </p:sp>
      <p:sp>
        <p:nvSpPr>
          <p:cNvPr id="8" name="Google Shape;13;p1">
            <a:extLst xmlns:a="http://schemas.openxmlformats.org/drawingml/2006/main">
              <a:ext uri="{FF2B5EF4-FFF2-40B4-BE49-F238E27FC236}">
                <a16:creationId xmlns:a16="http://schemas.microsoft.com/office/drawing/2014/main" id="{17A17315-56DB-5D15-ECEF-02725F32377D}"/>
              </a:ext>
            </a:extLst>
          </p:cNvPr>
          <p:cNvSpPr>
            <a:spLocks xmlns:a="http://schemas.openxmlformats.org/drawingml/2006/main" noGrp="1"/>
          </p:cNvSpPr>
          <p:nvPr/>
        </p:nvSpPr>
        <p:spPr>
          <a:xfrm xmlns:a="http://schemas.openxmlformats.org/drawingml/2006/main">
            <a:off x="172583" y="6368185"/>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EB976D"/>
                </a:solidFill>
                <a:latin typeface="Fira Sans"/>
                <a:ea typeface="Fira Sans"/>
                <a:cs typeface="Fira Sans"/>
              </a:rPr>
              <a:t>Martins · Costa · Lopes</a:t>
            </a:r>
          </a:p>
          <a:p xmlns:a="http://schemas.openxmlformats.org/drawingml/2006/main">
            <a:pPr>
              <a:buNone/>
            </a:pPr>
            <a:r>
              <a:rPr sz="675" b="0" i="0">
                <a:solidFill>
                  <a:srgbClr val="EB976D"/>
                </a:solidFill>
                <a:latin typeface="Fira Sans"/>
                <a:ea typeface="Fira Sans"/>
                <a:cs typeface="Fira Sans"/>
              </a:rPr>
              <a:t>joaopedro@cos.ufrj.br</a:t>
            </a:r>
          </a:p>
        </p:txBody>
      </p:sp>
      <p:sp>
        <p:nvSpPr>
          <p:cNvPr id="9" name="Google Shape;14;p1">
            <a:extLst xmlns:a="http://schemas.openxmlformats.org/drawingml/2006/main">
              <a:ext uri="{FF2B5EF4-FFF2-40B4-BE49-F238E27FC236}">
                <a16:creationId xmlns:a16="http://schemas.microsoft.com/office/drawing/2014/main" id="{41AC2F66-A186-23A5-3DB7-A7900C58377A}"/>
              </a:ext>
            </a:extLst>
          </p:cNvPr>
          <p:cNvSpPr>
            <a:spLocks xmlns:a="http://schemas.openxmlformats.org/drawingml/2006/main" noGrp="1"/>
          </p:cNvSpPr>
          <p:nvPr/>
        </p:nvSpPr>
        <p:spPr>
          <a:xfrm xmlns:a="http://schemas.openxmlformats.org/drawingml/2006/main">
            <a:off x="2715758" y="6368185"/>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38415C"/>
                </a:solidFill>
                <a:latin typeface="Fira Sans"/>
                <a:ea typeface="Fira Sans"/>
                <a:cs typeface="Fira Sans"/>
              </a:rPr>
              <a:t>MARTINS; COSTA; LOPES (2026) · Retrofit do Modelo 3M</a:t>
            </a: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96" name="Google Shape;96;p14">
            <a:extLst xmlns:a="http://schemas.openxmlformats.org/drawingml/2006/main">
              <a:ext uri="{FF2B5EF4-FFF2-40B4-BE49-F238E27FC236}">
                <a16:creationId xmlns:a16="http://schemas.microsoft.com/office/drawing/2014/main" id="{BFBDDEBE-BCAB-42C3-9808-FDC2A1FB50E4}"/>
              </a:ext>
            </a:extLst>
          </p:cNvPr>
          <p:cNvSpPr>
            <a:spLocks xmlns:a="http://schemas.openxmlformats.org/drawingml/2006/main" noGrp="1"/>
          </p:cNvSpPr>
          <p:nvPr>
            <p:ph type="dt" idx="10"/>
          </p:nvPr>
        </p:nvSpPr>
        <p:spPr>
          <a:xfrm xmlns:a="http://schemas.openxmlformats.org/drawingml/2006/main">
            <a:off x="117418"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97" name="Google Shape;97;p14">
            <a:extLst xmlns:a="http://schemas.openxmlformats.org/drawingml/2006/main">
              <a:ext uri="{FF2B5EF4-FFF2-40B4-BE49-F238E27FC236}">
                <a16:creationId xmlns:a16="http://schemas.microsoft.com/office/drawing/2014/main" id="{8F655A90-4AD5-4807-BB83-0B7F355AD37B}"/>
              </a:ext>
            </a:extLst>
          </p:cNvPr>
          <p:cNvSpPr>
            <a:spLocks xmlns:a="http://schemas.openxmlformats.org/drawingml/2006/main" noGrp="1"/>
          </p:cNvSpPr>
          <p:nvPr>
            <p:ph type="ftr" idx="11"/>
          </p:nvPr>
        </p:nvSpPr>
        <p:spPr>
          <a:xfrm xmlns:a="http://schemas.openxmlformats.org/drawingml/2006/main">
            <a:off x="3028950" y="6356351"/>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98" name="Google Shape;98;p14">
            <a:extLst xmlns:a="http://schemas.openxmlformats.org/drawingml/2006/main">
              <a:ext uri="{FF2B5EF4-FFF2-40B4-BE49-F238E27FC236}">
                <a16:creationId xmlns:a16="http://schemas.microsoft.com/office/drawing/2014/main" id="{1598351D-9A61-4172-9B54-644802BB0D66}"/>
              </a:ext>
            </a:extLst>
          </p:cNvPr>
          <p:cNvSpPr>
            <a:spLocks xmlns:a="http://schemas.openxmlformats.org/drawingml/2006/main" noGrp="1"/>
          </p:cNvSpPr>
          <p:nvPr>
            <p:ph type="sldNum" idx="12"/>
          </p:nvPr>
        </p:nvSpPr>
        <p:spPr>
          <a:xfrm xmlns:a="http://schemas.openxmlformats.org/drawingml/2006/main">
            <a:off x="6600825"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00000000-1234-1234-1234-123412341234}" type="slidenum">
              <a:t>‹#›</a:t>
            </a:fld>
          </a:p>
        </p:txBody>
      </p:sp>
      <p:sp>
        <p:nvSpPr>
          <p:cNvPr id="2" name="Google Shape;10;p1">
            <a:extLst xmlns:a="http://schemas.openxmlformats.org/drawingml/2006/main">
              <a:ext uri="{FF2B5EF4-FFF2-40B4-BE49-F238E27FC236}">
                <a16:creationId xmlns:a16="http://schemas.microsoft.com/office/drawing/2014/main" id="{54F14818-85ED-5EDB-341B-FDDE13A16E76}"/>
              </a:ext>
            </a:extLst>
          </p:cNvPr>
          <p:cNvSpPr>
            <a:spLocks xmlns:a="http://schemas.openxmlformats.org/drawingml/2006/main" noGrp="1"/>
          </p:cNvSpPr>
          <p:nvPr/>
        </p:nvSpPr>
        <p:spPr>
          <a:xfrm xmlns:a="http://schemas.openxmlformats.org/drawingml/2006/main">
            <a:off x="0" y="6211798"/>
            <a:ext cx="9144000" cy="646203"/>
          </a:xfrm>
          <a:prstGeom xmlns:a="http://schemas.openxmlformats.org/drawingml/2006/main" prst="rect">
            <a:avLst/>
          </a:prstGeom>
          <a:solidFill xmlns:a="http://schemas.openxmlformats.org/drawingml/2006/main">
            <a:srgbClr val="38415C"/>
          </a:solidFill>
          <a:ln xmlns:a="http://schemas.openxmlformats.org/drawingml/2006/main" w="12700" cmpd="sng">
            <a:solidFill>
              <a:srgbClr val="38415C"/>
            </a:solidFill>
            <a:prstDash val="solid"/>
          </a:ln>
        </p:spPr>
        <p:txBody>
          <a:bodyPr xmlns:a="http://schemas.openxmlformats.org/drawingml/2006/main" spcFirstLastPara="1" wrap="square" lIns="68569" tIns="34275" rIns="68569" bIns="34275" anchor="ctr">
            <a:noAutofit/>
          </a:bodyPr>
          <a:lstStyle xmlns:a="http://schemas.openxmlformats.org/drawingml/2006/main"/>
          <a:p xmlns:a="http://schemas.openxmlformats.org/drawingml/2006/main">
            <a:pPr marL="0" indent="0" algn="ctr">
              <a:spcBef>
                <a:spcPts val="0"/>
              </a:spcBef>
              <a:spcAft>
                <a:spcPts val="0"/>
              </a:spcAft>
              <a:buNone/>
            </a:pPr>
          </a:p>
        </p:txBody>
      </p:sp>
      <p:sp>
        <p:nvSpPr>
          <p:cNvPr id="3" name="Google Shape;13;p1">
            <a:extLst xmlns:a="http://schemas.openxmlformats.org/drawingml/2006/main">
              <a:ext uri="{FF2B5EF4-FFF2-40B4-BE49-F238E27FC236}">
                <a16:creationId xmlns:a16="http://schemas.microsoft.com/office/drawing/2014/main" id="{541749A7-2ED6-B601-3BAD-A19EFDB72887}"/>
              </a:ext>
            </a:extLst>
          </p:cNvPr>
          <p:cNvSpPr>
            <a:spLocks xmlns:a="http://schemas.openxmlformats.org/drawingml/2006/main" noGrp="1"/>
          </p:cNvSpPr>
          <p:nvPr/>
        </p:nvSpPr>
        <p:spPr>
          <a:xfrm xmlns:a="http://schemas.openxmlformats.org/drawingml/2006/main">
            <a:off x="117418"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EB976D"/>
                </a:solidFill>
                <a:latin typeface="Fira Sans"/>
                <a:ea typeface="Fira Sans"/>
                <a:cs typeface="Fira Sans"/>
              </a:rPr>
              <a:t>Martins · Costa · Lopes</a:t>
            </a:r>
          </a:p>
          <a:p xmlns:a="http://schemas.openxmlformats.org/drawingml/2006/main">
            <a:pPr>
              <a:buNone/>
            </a:pPr>
            <a:r>
              <a:rPr sz="675" b="0" i="0">
                <a:solidFill>
                  <a:srgbClr val="EB976D"/>
                </a:solidFill>
                <a:latin typeface="Fira Sans"/>
                <a:ea typeface="Fira Sans"/>
                <a:cs typeface="Fira Sans"/>
              </a:rPr>
              <a:t>joaopedro@cos.ufrj.br</a:t>
            </a:r>
          </a:p>
        </p:txBody>
      </p:sp>
      <p:sp>
        <p:nvSpPr>
          <p:cNvPr id="4" name="Google Shape;14;p1">
            <a:extLst xmlns:a="http://schemas.openxmlformats.org/drawingml/2006/main">
              <a:ext uri="{FF2B5EF4-FFF2-40B4-BE49-F238E27FC236}">
                <a16:creationId xmlns:a16="http://schemas.microsoft.com/office/drawing/2014/main" id="{2ACBB222-C48B-A68B-53AA-0FDF7B91F30F}"/>
              </a:ext>
            </a:extLst>
          </p:cNvPr>
          <p:cNvSpPr>
            <a:spLocks xmlns:a="http://schemas.openxmlformats.org/drawingml/2006/main" noGrp="1"/>
          </p:cNvSpPr>
          <p:nvPr/>
        </p:nvSpPr>
        <p:spPr>
          <a:xfrm xmlns:a="http://schemas.openxmlformats.org/drawingml/2006/main">
            <a:off x="2778576" y="6368186"/>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38415C"/>
                </a:solidFill>
                <a:latin typeface="Fira Sans"/>
                <a:ea typeface="Fira Sans"/>
                <a:cs typeface="Fira Sans"/>
              </a:rPr>
              <a:t>MARTINS; COSTA; LOPES (2026) · Retrofit do Modelo 3M</a:t>
            </a:r>
          </a:p>
        </p:txBody>
      </p:sp>
      <p:sp>
        <p:nvSpPr>
          <p:cNvPr id="5" name="Google Shape;15;p1">
            <a:extLst xmlns:a="http://schemas.openxmlformats.org/drawingml/2006/main">
              <a:ext uri="{FF2B5EF4-FFF2-40B4-BE49-F238E27FC236}">
                <a16:creationId xmlns:a16="http://schemas.microsoft.com/office/drawing/2014/main" id="{62DC56A7-0483-871C-AAB8-9B1C94E3007F}"/>
              </a:ext>
            </a:extLst>
          </p:cNvPr>
          <p:cNvSpPr>
            <a:spLocks xmlns:a="http://schemas.openxmlformats.org/drawingml/2006/main" noGrp="1"/>
          </p:cNvSpPr>
          <p:nvPr/>
        </p:nvSpPr>
        <p:spPr>
          <a:xfrm xmlns:a="http://schemas.openxmlformats.org/drawingml/2006/main">
            <a:off x="6295851" y="6368186"/>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lnSpc>
                <a:spcPct val="100000"/>
              </a:lnSpc>
              <a:spcBef>
                <a:spcPts val="0"/>
              </a:spcBef>
              <a:spcAft>
                <a:spcPts val="0"/>
              </a:spcAft>
              <a:buNone/>
              <a:defRPr sz="5400" b="1" i="0" u="none" cap="none">
                <a:solidFill>
                  <a:srgbClr val="EB976D"/>
                </a:solidFill>
                <a:latin typeface="Fira Sans"/>
                <a:ea typeface="Fira Sans"/>
                <a:cs typeface="Fira Sans"/>
              </a:defRPr>
            </a:lvl1pPr>
            <a:lvl2pPr marL="0" indent="0" algn="r">
              <a:lnSpc>
                <a:spcPct val="100000"/>
              </a:lnSpc>
              <a:spcBef>
                <a:spcPts val="0"/>
              </a:spcBef>
              <a:spcAft>
                <a:spcPts val="0"/>
              </a:spcAft>
              <a:buNone/>
              <a:defRPr sz="5400" b="1" i="0" u="none" cap="none">
                <a:solidFill>
                  <a:srgbClr val="EB976D"/>
                </a:solidFill>
                <a:latin typeface="Fira Sans"/>
                <a:ea typeface="Fira Sans"/>
                <a:cs typeface="Fira Sans"/>
              </a:defRPr>
            </a:lvl2pPr>
            <a:lvl3pPr marL="0" indent="0" algn="r">
              <a:lnSpc>
                <a:spcPct val="100000"/>
              </a:lnSpc>
              <a:spcBef>
                <a:spcPts val="0"/>
              </a:spcBef>
              <a:spcAft>
                <a:spcPts val="0"/>
              </a:spcAft>
              <a:buNone/>
              <a:defRPr sz="5400" b="1" i="0" u="none" cap="none">
                <a:solidFill>
                  <a:srgbClr val="EB976D"/>
                </a:solidFill>
                <a:latin typeface="Fira Sans"/>
                <a:ea typeface="Fira Sans"/>
                <a:cs typeface="Fira Sans"/>
              </a:defRPr>
            </a:lvl3pPr>
            <a:lvl4pPr marL="0" indent="0" algn="r">
              <a:lnSpc>
                <a:spcPct val="100000"/>
              </a:lnSpc>
              <a:spcBef>
                <a:spcPts val="0"/>
              </a:spcBef>
              <a:spcAft>
                <a:spcPts val="0"/>
              </a:spcAft>
              <a:buNone/>
              <a:defRPr sz="5400" b="1" i="0" u="none" cap="none">
                <a:solidFill>
                  <a:srgbClr val="EB976D"/>
                </a:solidFill>
                <a:latin typeface="Fira Sans"/>
                <a:ea typeface="Fira Sans"/>
                <a:cs typeface="Fira Sans"/>
              </a:defRPr>
            </a:lvl4pPr>
            <a:lvl5pPr marL="0" indent="0" algn="r">
              <a:lnSpc>
                <a:spcPct val="100000"/>
              </a:lnSpc>
              <a:spcBef>
                <a:spcPts val="0"/>
              </a:spcBef>
              <a:spcAft>
                <a:spcPts val="0"/>
              </a:spcAft>
              <a:buNone/>
              <a:defRPr sz="5400" b="1" i="0" u="none" cap="none">
                <a:solidFill>
                  <a:srgbClr val="EB976D"/>
                </a:solidFill>
                <a:latin typeface="Fira Sans"/>
                <a:ea typeface="Fira Sans"/>
                <a:cs typeface="Fira Sans"/>
              </a:defRPr>
            </a:lvl5pPr>
            <a:lvl6pPr marL="0" indent="0" algn="r">
              <a:lnSpc>
                <a:spcPct val="100000"/>
              </a:lnSpc>
              <a:spcBef>
                <a:spcPts val="0"/>
              </a:spcBef>
              <a:spcAft>
                <a:spcPts val="0"/>
              </a:spcAft>
              <a:buNone/>
              <a:defRPr sz="5400" b="1" i="0" u="none" cap="none">
                <a:solidFill>
                  <a:srgbClr val="EB976D"/>
                </a:solidFill>
                <a:latin typeface="Fira Sans"/>
                <a:ea typeface="Fira Sans"/>
                <a:cs typeface="Fira Sans"/>
              </a:defRPr>
            </a:lvl6pPr>
            <a:lvl7pPr marL="0" indent="0" algn="r">
              <a:lnSpc>
                <a:spcPct val="100000"/>
              </a:lnSpc>
              <a:spcBef>
                <a:spcPts val="0"/>
              </a:spcBef>
              <a:spcAft>
                <a:spcPts val="0"/>
              </a:spcAft>
              <a:buNone/>
              <a:defRPr sz="5400" b="1" i="0" u="none" cap="none">
                <a:solidFill>
                  <a:srgbClr val="EB976D"/>
                </a:solidFill>
                <a:latin typeface="Fira Sans"/>
                <a:ea typeface="Fira Sans"/>
                <a:cs typeface="Fira Sans"/>
              </a:defRPr>
            </a:lvl7pPr>
            <a:lvl8pPr marL="0" indent="0" algn="r">
              <a:lnSpc>
                <a:spcPct val="100000"/>
              </a:lnSpc>
              <a:spcBef>
                <a:spcPts val="0"/>
              </a:spcBef>
              <a:spcAft>
                <a:spcPts val="0"/>
              </a:spcAft>
              <a:buNone/>
              <a:defRPr sz="5400" b="1" i="0" u="none" cap="none">
                <a:solidFill>
                  <a:srgbClr val="EB976D"/>
                </a:solidFill>
                <a:latin typeface="Fira Sans"/>
                <a:ea typeface="Fira Sans"/>
                <a:cs typeface="Fira Sans"/>
              </a:defRPr>
            </a:lvl8pPr>
            <a:lvl9pPr marL="0" indent="0" algn="r">
              <a:lnSpc>
                <a:spcPct val="100000"/>
              </a:lnSpc>
              <a:spcBef>
                <a:spcPts val="0"/>
              </a:spcBef>
              <a:spcAft>
                <a:spcPts val="0"/>
              </a:spcAft>
              <a:buNone/>
              <a:defRPr sz="5400" b="1" i="0" u="none" cap="none">
                <a:solidFill>
                  <a:srgbClr val="EB976D"/>
                </a:solidFill>
                <a:latin typeface="Fira Sans"/>
                <a:ea typeface="Fira Sans"/>
                <a:cs typeface="Fira Sans"/>
              </a:defRPr>
            </a:lvl9pPr>
          </a:lstStyle>
          <a:p xmlns:a="http://schemas.openxmlformats.org/drawingml/2006/main">
            <a:fld id="{46B270FB-0C54-A54F-867B-58A7B95C958C}" type="slidenum">
              <a:t>‹#›</a:t>
            </a:fld>
          </a:p>
        </p:txBody>
      </p:sp>
      <p:sp>
        <p:nvSpPr>
          <p:cNvPr id="6" name="Google Shape;17;p1">
            <a:extLst xmlns:a="http://schemas.openxmlformats.org/drawingml/2006/main">
              <a:ext uri="{FF2B5EF4-FFF2-40B4-BE49-F238E27FC236}">
                <a16:creationId xmlns:a16="http://schemas.microsoft.com/office/drawing/2014/main" id="{D17C2C70-76CF-A9A8-7D09-6FBABBF45555}"/>
              </a:ext>
            </a:extLst>
          </p:cNvPr>
          <p:cNvSpPr>
            <a:spLocks xmlns:a="http://schemas.openxmlformats.org/drawingml/2006/main" noGrp="1"/>
          </p:cNvSpPr>
          <p:nvPr/>
        </p:nvSpPr>
        <p:spPr>
          <a:xfrm xmlns:a="http://schemas.openxmlformats.org/drawingml/2006/main">
            <a:off x="8470669" y="6309681"/>
            <a:ext cx="555913" cy="482136"/>
          </a:xfrm>
          <a:prstGeom xmlns:a="http://schemas.openxmlformats.org/drawingml/2006/main" prst="rect">
            <a:avLst/>
          </a:prstGeom>
          <a:noFill xmlns:a="http://schemas.openxmlformats.org/drawingml/2006/main"/>
          <a:ln xmlns:a="http://schemas.openxmlformats.org/drawingml/2006/main" w="12700" cmpd="sng">
            <a:solidFill>
              <a:srgbClr val="38415C"/>
            </a:solidFill>
            <a:prstDash val="solid"/>
          </a:ln>
        </p:spPr>
        <p:txBody>
          <a:bodyPr xmlns:a="http://schemas.openxmlformats.org/drawingml/2006/main" spcFirstLastPara="1" lIns="68569" tIns="34275" rIns="68569" bIns="34275" anchor="ctr">
            <a:noAutofit/>
          </a:bodyPr>
          <a:lstStyle xmlns:a="http://schemas.openxmlformats.org/drawingml/2006/main"/>
          <a:p xmlns:a="http://schemas.openxmlformats.org/drawingml/2006/main">
            <a:pPr marL="0" indent="0" algn="ctr">
              <a:spcBef>
                <a:spcPts val="0"/>
              </a:spcBef>
              <a:spcAft>
                <a:spcPts val="0"/>
              </a:spcAft>
              <a:buNone/>
            </a:pPr>
            <a:r>
              <a:rPr sz="1650" b="1" i="0" u="none" cap="none">
                <a:solidFill>
                  <a:srgbClr val="EB976D"/>
                </a:solidFill>
                <a:latin typeface="Fira Sans"/>
                <a:ea typeface="Fira Sans"/>
                <a:cs typeface="Fira Sans"/>
              </a:rPr>
              <a:t>/23</a:t>
            </a:r>
          </a:p>
        </p:txBody>
      </p:sp>
    </p:spTree>
  </p:cSld>
</p:sldLayout>
</file>

<file path=ppt/slideLayouts/slideLayout12.xml><?xml version="1.0" encoding="utf-8"?>
<p:sldLayout xmlns:p="http://schemas.openxmlformats.org/presentationml/2006/main" showMasterSp="0" matchingName="Full_Blank">
  <p:cSld name="Full_Blank">
    <p:spTree>
      <p:nvGrpSpPr>
        <p:cNvPr id="1" name=""/>
        <p:cNvGrpSpPr/>
        <p:nvPr/>
      </p:nvGrpSpPr>
      <p:grpSpPr>
        <a:xfrm xmlns:a="http://schemas.openxmlformats.org/drawingml/2006/main"/>
      </p:grpSpPr>
    </p:spTree>
  </p:cSld>
</p:sldLayout>
</file>

<file path=ppt/slideLayouts/slideLayout13.xml><?xml version="1.0" encoding="utf-8"?>
<p:sldLayout xmlns:p="http://schemas.openxmlformats.org/presentationml/2006/main" showMasterSp="0" matchingName="Logo50">
  <p:cSld name="Logo50">
    <p:spTree>
      <p:nvGrpSpPr>
        <p:cNvPr id="1" name=""/>
        <p:cNvGrpSpPr/>
        <p:nvPr/>
      </p:nvGrpSpPr>
      <p:grpSpPr>
        <a:xfrm xmlns:a="http://schemas.openxmlformats.org/drawingml/2006/main"/>
      </p:grpSpPr>
      <p:pic>
        <p:nvPicPr>
          <p:cNvPr id="1" name="Google Shape;101;p16"/>
          <p:cNvPicPr>
            <a:picLocks xmlns:a="http://schemas.openxmlformats.org/drawingml/2006/main" noChangeAspect="1"/>
          </p:cNvPicPr>
          <p:nvPr/>
        </p:nvPicPr>
        <p:blipFill rotWithShape="1">
          <a:blip xmlns:r="http://schemas.openxmlformats.org/officeDocument/2006/relationships" xmlns:a="http://schemas.openxmlformats.org/drawingml/2006/main" r:embed="R3fa1698e41da492a"/>
          <a:srcRect xmlns:a="http://schemas.openxmlformats.org/drawingml/2006/main" l="0" t="0" r="0" b="0"/>
          <a:stretch xmlns:a="http://schemas.openxmlformats.org/drawingml/2006/main"/>
        </p:blipFill>
        <p:spPr>
          <a:xfrm xmlns:a="http://schemas.openxmlformats.org/drawingml/2006/main">
            <a:off x="1228725" y="52388"/>
            <a:ext cx="6686550" cy="6753225"/>
          </a:xfrm>
          <a:prstGeom xmlns:a="http://schemas.openxmlformats.org/drawingml/2006/main" prst="rect">
            <a:avLst/>
          </a:prstGeom>
          <a:ln xmlns:a="http://schemas.openxmlformats.org/drawingml/2006/main">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eee6ad1a39854796" /><Relationship Type="http://schemas.openxmlformats.org/officeDocument/2006/relationships/theme" Target="/ppt/slideMasters/theme/theme2.xml" Id="Rdc833d4aca694829" /><Relationship Type="http://schemas.openxmlformats.org/officeDocument/2006/relationships/slideLayout" Target="/ppt/slideLayouts/slideLayout1.xml" Id="R1785fa5388204e1f" /><Relationship Type="http://schemas.openxmlformats.org/officeDocument/2006/relationships/slideLayout" Target="/ppt/slideLayouts/slideLayout2.xml" Id="R2e354eea3f0f4e5e" /><Relationship Type="http://schemas.openxmlformats.org/officeDocument/2006/relationships/slideLayout" Target="/ppt/slideLayouts/slideLayout3.xml" Id="R2b4227aa66c14488" /><Relationship Type="http://schemas.openxmlformats.org/officeDocument/2006/relationships/slideLayout" Target="/ppt/slideLayouts/slideLayout4.xml" Id="Rd2b81b165ef941c4" /><Relationship Type="http://schemas.openxmlformats.org/officeDocument/2006/relationships/slideLayout" Target="/ppt/slideLayouts/slideLayout5.xml" Id="R101b03ddc86a4c9f" /><Relationship Type="http://schemas.openxmlformats.org/officeDocument/2006/relationships/slideLayout" Target="/ppt/slideLayouts/slideLayout6.xml" Id="R1ff943a9bb124e78" /><Relationship Type="http://schemas.openxmlformats.org/officeDocument/2006/relationships/slideLayout" Target="/ppt/slideLayouts/slideLayout7.xml" Id="Re3defc7527a6426c" /><Relationship Type="http://schemas.openxmlformats.org/officeDocument/2006/relationships/slideLayout" Target="/ppt/slideLayouts/slideLayout8.xml" Id="R83331c6ea0c94110" /><Relationship Type="http://schemas.openxmlformats.org/officeDocument/2006/relationships/slideLayout" Target="/ppt/slideLayouts/slideLayout9.xml" Id="R4a21043526784ada" /><Relationship Type="http://schemas.openxmlformats.org/officeDocument/2006/relationships/slideLayout" Target="/ppt/slideLayouts/slideLayout10.xml" Id="R1a15fbae79c04fa7" /><Relationship Type="http://schemas.openxmlformats.org/officeDocument/2006/relationships/slideLayout" Target="/ppt/slideLayouts/slideLayout11.xml" Id="R3951b3776b3e43a8" /><Relationship Type="http://schemas.openxmlformats.org/officeDocument/2006/relationships/slideLayout" Target="/ppt/slideLayouts/slideLayout12.xml" Id="R38baa731c3e6406d" /><Relationship Type="http://schemas.openxmlformats.org/officeDocument/2006/relationships/slideLayout" Target="/ppt/slideLayouts/slideLayout13.xml" Id="R04b1c02198bc4d9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230B56B0-5936-48E9-8F9C-036A766970DC}"/>
              </a:ext>
            </a:extLst>
          </p:cNvPr>
          <p:cNvSpPr>
            <a:spLocks xmlns:a="http://schemas.openxmlformats.org/drawingml/2006/main" noGrp="1"/>
          </p:cNvSpPr>
          <p:nvPr/>
        </p:nvSpPr>
        <p:spPr>
          <a:xfrm xmlns:a="http://schemas.openxmlformats.org/drawingml/2006/main">
            <a:off x="0" y="6211798"/>
            <a:ext cx="9144000" cy="646203"/>
          </a:xfrm>
          <a:prstGeom xmlns:a="http://schemas.openxmlformats.org/drawingml/2006/main" prst="rect">
            <a:avLst/>
          </a:prstGeom>
          <a:solidFill xmlns:a="http://schemas.openxmlformats.org/drawingml/2006/main">
            <a:srgbClr val="38415C"/>
          </a:solidFill>
          <a:ln xmlns:a="http://schemas.openxmlformats.org/drawingml/2006/main" w="12700" cmpd="sng">
            <a:solidFill>
              <a:srgbClr val="38415C"/>
            </a:solidFill>
            <a:prstDash val="solid"/>
          </a:ln>
        </p:spPr>
        <p:txBody>
          <a:bodyPr xmlns:a="http://schemas.openxmlformats.org/drawingml/2006/main" spcFirstLastPara="1" wrap="square" lIns="68569" tIns="34275" rIns="68569" bIns="34275" anchor="ctr">
            <a:noAutofit/>
          </a:bodyPr>
          <a:lstStyle xmlns:a="http://schemas.openxmlformats.org/drawingml/2006/main"/>
          <a:p xmlns:a="http://schemas.openxmlformats.org/drawingml/2006/main">
            <a:pPr marL="0" indent="0" algn="ctr">
              <a:spcBef>
                <a:spcPts val="0"/>
              </a:spcBef>
              <a:spcAft>
                <a:spcPts val="0"/>
              </a:spcAft>
              <a:buNone/>
            </a:pPr>
          </a:p>
        </p:txBody>
      </p:sp>
      <p:sp>
        <p:nvSpPr>
          <p:cNvPr id="11" name="Google Shape;11;p1">
            <a:extLst xmlns:a="http://schemas.openxmlformats.org/drawingml/2006/main">
              <a:ext uri="{FF2B5EF4-FFF2-40B4-BE49-F238E27FC236}">
                <a16:creationId xmlns:a16="http://schemas.microsoft.com/office/drawing/2014/main" id="{67AF04A8-41B6-47D9-B810-DCFA7659E5EB}"/>
              </a:ext>
            </a:extLst>
          </p:cNvPr>
          <p:cNvSpPr>
            <a:spLocks xmlns:a="http://schemas.openxmlformats.org/drawingml/2006/main" noGrp="1"/>
          </p:cNvSpPr>
          <p:nvPr>
            <p:ph type="title" idx="0"/>
          </p:nvPr>
        </p:nvSpPr>
        <p:spPr>
          <a:xfrm xmlns:a="http://schemas.openxmlformats.org/drawingml/2006/main">
            <a:off x="866601" y="66183"/>
            <a:ext cx="8185958" cy="1334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None/>
              <a:defRPr sz="5400" b="1" i="0" u="none" cap="none">
                <a:solidFill>
                  <a:srgbClr val="38415C"/>
                </a:solidFill>
                <a:latin typeface="Fira Sans"/>
                <a:ea typeface="Fira Sans"/>
                <a:cs typeface="Fira Sans"/>
              </a:defRPr>
            </a:lvl1pPr>
            <a:lvl2pPr>
              <a:spcBef>
                <a:spcPts val="0"/>
              </a:spcBef>
              <a:spcAft>
                <a:spcPts val="0"/>
              </a:spcAft>
              <a:buNone/>
              <a:defRPr sz="1800"/>
            </a:lvl2pPr>
            <a:lvl3pPr>
              <a:spcBef>
                <a:spcPts val="0"/>
              </a:spcBef>
              <a:spcAft>
                <a:spcPts val="0"/>
              </a:spcAft>
              <a:buNone/>
              <a:defRPr sz="1800"/>
            </a:lvl3pPr>
            <a:lvl4pPr>
              <a:spcBef>
                <a:spcPts val="0"/>
              </a:spcBef>
              <a:spcAft>
                <a:spcPts val="0"/>
              </a:spcAft>
              <a:buNone/>
              <a:defRPr sz="1800"/>
            </a:lvl4pPr>
            <a:lvl5pPr>
              <a:spcBef>
                <a:spcPts val="0"/>
              </a:spcBef>
              <a:spcAft>
                <a:spcPts val="0"/>
              </a:spcAft>
              <a:buNone/>
              <a:defRPr sz="1800"/>
            </a:lvl5pPr>
            <a:lvl6pPr>
              <a:spcBef>
                <a:spcPts val="0"/>
              </a:spcBef>
              <a:spcAft>
                <a:spcPts val="0"/>
              </a:spcAft>
              <a:buNone/>
              <a:defRPr sz="1800"/>
            </a:lvl6pPr>
            <a:lvl7pPr>
              <a:spcBef>
                <a:spcPts val="0"/>
              </a:spcBef>
              <a:spcAft>
                <a:spcPts val="0"/>
              </a:spcAft>
              <a:buNone/>
              <a:defRPr sz="1800"/>
            </a:lvl7pPr>
            <a:lvl8pPr>
              <a:spcBef>
                <a:spcPts val="0"/>
              </a:spcBef>
              <a:spcAft>
                <a:spcPts val="0"/>
              </a:spcAft>
              <a:buNone/>
              <a:defRPr sz="1800"/>
            </a:lvl8pPr>
            <a:lvl9pPr>
              <a:spcBef>
                <a:spcPts val="0"/>
              </a:spcBef>
              <a:spcAft>
                <a:spcPts val="0"/>
              </a:spcAft>
              <a:buNone/>
              <a:defRPr sz="1800"/>
            </a:lvl9pPr>
          </a:lstStyle>
          <a:p xmlns:a="http://schemas.openxmlformats.org/drawingml/2006/main"/>
        </p:txBody>
      </p:sp>
      <p:sp>
        <p:nvSpPr>
          <p:cNvPr id="12" name="Google Shape;12;p1">
            <a:extLst xmlns:a="http://schemas.openxmlformats.org/drawingml/2006/main">
              <a:ext uri="{FF2B5EF4-FFF2-40B4-BE49-F238E27FC236}">
                <a16:creationId xmlns:a16="http://schemas.microsoft.com/office/drawing/2014/main" id="{0B57BFDF-CEA1-4AA7-8066-CE7291668DC7}"/>
              </a:ext>
            </a:extLst>
          </p:cNvPr>
          <p:cNvSpPr>
            <a:spLocks xmlns:a="http://schemas.openxmlformats.org/drawingml/2006/main" noGrp="1"/>
          </p:cNvSpPr>
          <p:nvPr>
            <p:ph type="body" idx="1"/>
          </p:nvPr>
        </p:nvSpPr>
        <p:spPr>
          <a:xfrm xmlns:a="http://schemas.openxmlformats.org/drawingml/2006/main">
            <a:off x="117417" y="1501428"/>
            <a:ext cx="8935142" cy="46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lnSpc>
                <a:spcPct val="90000"/>
              </a:lnSpc>
              <a:spcBef>
                <a:spcPts val="1000"/>
              </a:spcBef>
              <a:spcAft>
                <a:spcPts val="0"/>
              </a:spcAft>
              <a:buChar char="•"/>
              <a:defRPr sz="2800" b="0" i="0" u="none" cap="none">
                <a:solidFill>
                  <a:srgbClr val="38415C"/>
                </a:solidFill>
                <a:latin typeface="Fira Sans"/>
                <a:ea typeface="Fira Sans"/>
                <a:cs typeface="Fira Sans"/>
              </a:defRPr>
            </a:lvl1pPr>
            <a:lvl2pPr marL="914400" indent="-381000" algn="l">
              <a:lnSpc>
                <a:spcPct val="90000"/>
              </a:lnSpc>
              <a:spcBef>
                <a:spcPts val="500"/>
              </a:spcBef>
              <a:spcAft>
                <a:spcPts val="0"/>
              </a:spcAft>
              <a:buChar char="•"/>
              <a:defRPr sz="2400" b="0" i="0" u="none" cap="none">
                <a:solidFill>
                  <a:srgbClr val="38415C"/>
                </a:solidFill>
                <a:latin typeface="Fira Sans"/>
                <a:ea typeface="Fira Sans"/>
                <a:cs typeface="Fira Sans"/>
              </a:defRPr>
            </a:lvl2pPr>
            <a:lvl3pPr marL="1371600" indent="-355600" algn="l">
              <a:lnSpc>
                <a:spcPct val="90000"/>
              </a:lnSpc>
              <a:spcBef>
                <a:spcPts val="500"/>
              </a:spcBef>
              <a:spcAft>
                <a:spcPts val="0"/>
              </a:spcAft>
              <a:buChar char="•"/>
              <a:defRPr sz="2000" b="0" i="0" u="none" cap="none">
                <a:solidFill>
                  <a:srgbClr val="38415C"/>
                </a:solidFill>
                <a:latin typeface="Fira Sans"/>
                <a:ea typeface="Fira Sans"/>
                <a:cs typeface="Fira Sans"/>
              </a:defRPr>
            </a:lvl3pPr>
            <a:lvl4pPr marL="1828800" indent="-342900" algn="l">
              <a:lnSpc>
                <a:spcPct val="90000"/>
              </a:lnSpc>
              <a:spcBef>
                <a:spcPts val="500"/>
              </a:spcBef>
              <a:spcAft>
                <a:spcPts val="0"/>
              </a:spcAft>
              <a:buChar char="•"/>
              <a:defRPr sz="1800" b="0" i="0" u="none" cap="none">
                <a:solidFill>
                  <a:srgbClr val="38415C"/>
                </a:solidFill>
                <a:latin typeface="Fira Sans"/>
                <a:ea typeface="Fira Sans"/>
                <a:cs typeface="Fira Sans"/>
              </a:defRPr>
            </a:lvl4pPr>
            <a:lvl5pPr marL="2286000" indent="-342900" algn="l">
              <a:lnSpc>
                <a:spcPct val="90000"/>
              </a:lnSpc>
              <a:spcBef>
                <a:spcPts val="500"/>
              </a:spcBef>
              <a:spcAft>
                <a:spcPts val="0"/>
              </a:spcAft>
              <a:buChar char="•"/>
              <a:defRPr sz="1800" b="0" i="0" u="none" cap="none">
                <a:solidFill>
                  <a:srgbClr val="38415C"/>
                </a:solidFill>
                <a:latin typeface="Fira Sans"/>
                <a:ea typeface="Fira Sans"/>
                <a:cs typeface="Fira Sans"/>
              </a:defRPr>
            </a:lvl5pPr>
            <a:lvl6pPr marL="2743200" indent="-342900" algn="l">
              <a:lnSpc>
                <a:spcPct val="90000"/>
              </a:lnSpc>
              <a:spcBef>
                <a:spcPts val="500"/>
              </a:spcBef>
              <a:spcAft>
                <a:spcPts val="0"/>
              </a:spcAft>
              <a:buChar char="•"/>
              <a:defRPr sz="1800" b="0" i="0" u="none" cap="none">
                <a:solidFill>
                  <a:schemeClr val="dk1"/>
                </a:solidFill>
                <a:latin typeface="Calibri"/>
                <a:ea typeface="Calibri"/>
                <a:cs typeface="Calibri"/>
              </a:defRPr>
            </a:lvl6pPr>
            <a:lvl7pPr marL="3200400" indent="-342900" algn="l">
              <a:lnSpc>
                <a:spcPct val="90000"/>
              </a:lnSpc>
              <a:spcBef>
                <a:spcPts val="500"/>
              </a:spcBef>
              <a:spcAft>
                <a:spcPts val="0"/>
              </a:spcAft>
              <a:buChar char="•"/>
              <a:defRPr sz="1800" b="0" i="0" u="none" cap="none">
                <a:solidFill>
                  <a:schemeClr val="dk1"/>
                </a:solidFill>
                <a:latin typeface="Calibri"/>
                <a:ea typeface="Calibri"/>
                <a:cs typeface="Calibri"/>
              </a:defRPr>
            </a:lvl7pPr>
            <a:lvl8pPr marL="3657600" indent="-342900" algn="l">
              <a:lnSpc>
                <a:spcPct val="90000"/>
              </a:lnSpc>
              <a:spcBef>
                <a:spcPts val="500"/>
              </a:spcBef>
              <a:spcAft>
                <a:spcPts val="0"/>
              </a:spcAft>
              <a:buChar char="•"/>
              <a:defRPr sz="1800" b="0" i="0" u="none" cap="none">
                <a:solidFill>
                  <a:schemeClr val="dk1"/>
                </a:solidFill>
                <a:latin typeface="Calibri"/>
                <a:ea typeface="Calibri"/>
                <a:cs typeface="Calibri"/>
              </a:defRPr>
            </a:lvl8pPr>
            <a:lvl9pPr marL="4114800" indent="-342900" algn="l">
              <a:lnSpc>
                <a:spcPct val="90000"/>
              </a:lnSpc>
              <a:spcBef>
                <a:spcPts val="500"/>
              </a:spcBef>
              <a:spcAft>
                <a:spcPts val="0"/>
              </a:spcAft>
              <a:buChar char="•"/>
              <a:defRPr sz="1800" b="0" i="0" u="none" cap="none">
                <a:solidFill>
                  <a:schemeClr val="dk1"/>
                </a:solidFill>
                <a:latin typeface="Calibri"/>
                <a:ea typeface="Calibri"/>
                <a:cs typeface="Calibri"/>
              </a:defRPr>
            </a:lvl9pPr>
          </a:lstStyle>
          <a:p xmlns:a="http://schemas.openxmlformats.org/drawingml/2006/main"/>
        </p:txBody>
      </p:sp>
      <p:sp>
        <p:nvSpPr>
          <p:cNvPr id="13" name="Google Shape;13;p1">
            <a:extLst xmlns:a="http://schemas.openxmlformats.org/drawingml/2006/main">
              <a:ext uri="{FF2B5EF4-FFF2-40B4-BE49-F238E27FC236}">
                <a16:creationId xmlns:a16="http://schemas.microsoft.com/office/drawing/2014/main" id="{06AF42E5-90B8-48CE-A044-0B4DE9D6903F}"/>
              </a:ext>
            </a:extLst>
          </p:cNvPr>
          <p:cNvSpPr>
            <a:spLocks xmlns:a="http://schemas.openxmlformats.org/drawingml/2006/main" noGrp="1"/>
          </p:cNvSpPr>
          <p:nvPr>
            <p:ph type="dt" idx="10"/>
          </p:nvPr>
        </p:nvSpPr>
        <p:spPr>
          <a:xfrm xmlns:a="http://schemas.openxmlformats.org/drawingml/2006/main">
            <a:off x="117418" y="6350139"/>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l">
              <a:spcBef>
                <a:spcPts val="0"/>
              </a:spcBef>
              <a:spcAft>
                <a:spcPts val="0"/>
              </a:spcAft>
              <a:buNone/>
              <a:defRPr sz="900" b="0" i="0" u="none" cap="none">
                <a:solidFill>
                  <a:srgbClr val="EB976D"/>
                </a:solidFill>
                <a:latin typeface="Fira Sans"/>
                <a:ea typeface="Fira Sans"/>
                <a:cs typeface="Fira Sans"/>
              </a:defRPr>
            </a:lvl1pPr>
            <a:lvl2pPr algn="l">
              <a:spcBef>
                <a:spcPts val="0"/>
              </a:spcBef>
              <a:spcAft>
                <a:spcPts val="0"/>
              </a:spcAft>
              <a:buNone/>
              <a:defRPr sz="1350" b="0" i="0" u="none" cap="none">
                <a:solidFill>
                  <a:schemeClr val="dk1"/>
                </a:solidFill>
                <a:latin typeface="Calibri"/>
                <a:ea typeface="Calibri"/>
                <a:cs typeface="Calibri"/>
              </a:defRPr>
            </a:lvl2pPr>
            <a:lvl3pPr algn="l">
              <a:spcBef>
                <a:spcPts val="0"/>
              </a:spcBef>
              <a:spcAft>
                <a:spcPts val="0"/>
              </a:spcAft>
              <a:buNone/>
              <a:defRPr sz="1350" b="0" i="0" u="none" cap="none">
                <a:solidFill>
                  <a:schemeClr val="dk1"/>
                </a:solidFill>
                <a:latin typeface="Calibri"/>
                <a:ea typeface="Calibri"/>
                <a:cs typeface="Calibri"/>
              </a:defRPr>
            </a:lvl3pPr>
            <a:lvl4pPr algn="l">
              <a:spcBef>
                <a:spcPts val="0"/>
              </a:spcBef>
              <a:spcAft>
                <a:spcPts val="0"/>
              </a:spcAft>
              <a:buNone/>
              <a:defRPr sz="1350" b="0" i="0" u="none" cap="none">
                <a:solidFill>
                  <a:schemeClr val="dk1"/>
                </a:solidFill>
                <a:latin typeface="Calibri"/>
                <a:ea typeface="Calibri"/>
                <a:cs typeface="Calibri"/>
              </a:defRPr>
            </a:lvl4pPr>
            <a:lvl5pPr algn="l">
              <a:spcBef>
                <a:spcPts val="0"/>
              </a:spcBef>
              <a:spcAft>
                <a:spcPts val="0"/>
              </a:spcAft>
              <a:buNone/>
              <a:defRPr sz="1350" b="0" i="0" u="none" cap="none">
                <a:solidFill>
                  <a:schemeClr val="dk1"/>
                </a:solidFill>
                <a:latin typeface="Calibri"/>
                <a:ea typeface="Calibri"/>
                <a:cs typeface="Calibri"/>
              </a:defRPr>
            </a:lvl5pPr>
            <a:lvl6pPr algn="l">
              <a:spcBef>
                <a:spcPts val="0"/>
              </a:spcBef>
              <a:spcAft>
                <a:spcPts val="0"/>
              </a:spcAft>
              <a:buNone/>
              <a:defRPr sz="1350" b="0" i="0" u="none" cap="none">
                <a:solidFill>
                  <a:schemeClr val="dk1"/>
                </a:solidFill>
                <a:latin typeface="Calibri"/>
                <a:ea typeface="Calibri"/>
                <a:cs typeface="Calibri"/>
              </a:defRPr>
            </a:lvl6pPr>
            <a:lvl7pPr algn="l">
              <a:spcBef>
                <a:spcPts val="0"/>
              </a:spcBef>
              <a:spcAft>
                <a:spcPts val="0"/>
              </a:spcAft>
              <a:buNone/>
              <a:defRPr sz="1350" b="0" i="0" u="none" cap="none">
                <a:solidFill>
                  <a:schemeClr val="dk1"/>
                </a:solidFill>
                <a:latin typeface="Calibri"/>
                <a:ea typeface="Calibri"/>
                <a:cs typeface="Calibri"/>
              </a:defRPr>
            </a:lvl7pPr>
            <a:lvl8pPr algn="l">
              <a:spcBef>
                <a:spcPts val="0"/>
              </a:spcBef>
              <a:spcAft>
                <a:spcPts val="0"/>
              </a:spcAft>
              <a:buNone/>
              <a:defRPr sz="1350" b="0" i="0" u="none" cap="none">
                <a:solidFill>
                  <a:schemeClr val="dk1"/>
                </a:solidFill>
                <a:latin typeface="Calibri"/>
                <a:ea typeface="Calibri"/>
                <a:cs typeface="Calibri"/>
              </a:defRPr>
            </a:lvl8pPr>
            <a:lvl9pPr algn="l">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fld id="{746028C4-6B07-106E-1307-2C72CCB60849}" type="datetime1">
              <a:rPr sz="675" b="0" i="0">
                <a:solidFill>
                  <a:srgbClr val="EB976D"/>
                </a:solidFill>
                <a:latin typeface="Fira Sans"/>
                <a:ea typeface="Fira Sans"/>
                <a:cs typeface="Fira Sans"/>
              </a:rPr>
              <a:t>Martins · Costa · Lopes</a:t>
            </a:fld>
          </a:p>
          <a:p xmlns:a="http://schemas.openxmlformats.org/drawingml/2006/main">
            <a:pPr>
              <a:buNone/>
            </a:pPr>
            <a:fld id="{31565867-3632-2F3A-10CA-ED795683A44F}" type="datetime1">
              <a:rPr sz="675" b="0" i="0">
                <a:solidFill>
                  <a:srgbClr val="EB976D"/>
                </a:solidFill>
                <a:latin typeface="Fira Sans"/>
                <a:ea typeface="Fira Sans"/>
                <a:cs typeface="Fira Sans"/>
              </a:rPr>
              <a:t>joaopedro@cos.ufrj.br</a:t>
            </a:fld>
          </a:p>
        </p:txBody>
      </p:sp>
      <p:sp>
        <p:nvSpPr>
          <p:cNvPr id="14" name="Google Shape;14;p1">
            <a:extLst xmlns:a="http://schemas.openxmlformats.org/drawingml/2006/main">
              <a:ext uri="{FF2B5EF4-FFF2-40B4-BE49-F238E27FC236}">
                <a16:creationId xmlns:a16="http://schemas.microsoft.com/office/drawing/2014/main" id="{AB42448F-38B9-4D06-84B8-DBE891EBB3CA}"/>
              </a:ext>
            </a:extLst>
          </p:cNvPr>
          <p:cNvSpPr>
            <a:spLocks xmlns:a="http://schemas.openxmlformats.org/drawingml/2006/main" noGrp="1"/>
          </p:cNvSpPr>
          <p:nvPr>
            <p:ph type="ftr" idx="11"/>
          </p:nvPr>
        </p:nvSpPr>
        <p:spPr>
          <a:xfrm xmlns:a="http://schemas.openxmlformats.org/drawingml/2006/main">
            <a:off x="2778576" y="6368186"/>
            <a:ext cx="30861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ctr">
            <a:noAutofit/>
          </a:bodyPr>
          <a:lstStyle xmlns:a="http://schemas.openxmlformats.org/drawingml/2006/main">
            <a:lvl1pPr algn="ctr">
              <a:spcBef>
                <a:spcPts val="0"/>
              </a:spcBef>
              <a:spcAft>
                <a:spcPts val="0"/>
              </a:spcAft>
              <a:buNone/>
              <a:defRPr sz="2200" b="0" i="1" u="none" cap="none">
                <a:solidFill>
                  <a:srgbClr val="38415C"/>
                </a:solidFill>
                <a:latin typeface="Fira Sans"/>
                <a:ea typeface="Fira Sans"/>
                <a:cs typeface="Fira Sans"/>
              </a:defRPr>
            </a:lvl1pPr>
            <a:lvl2pPr algn="l">
              <a:spcBef>
                <a:spcPts val="0"/>
              </a:spcBef>
              <a:spcAft>
                <a:spcPts val="0"/>
              </a:spcAft>
              <a:buNone/>
              <a:defRPr sz="1350" b="0" i="0" u="none" cap="none">
                <a:solidFill>
                  <a:schemeClr val="dk1"/>
                </a:solidFill>
                <a:latin typeface="Calibri"/>
                <a:ea typeface="Calibri"/>
                <a:cs typeface="Calibri"/>
              </a:defRPr>
            </a:lvl2pPr>
            <a:lvl3pPr algn="l">
              <a:spcBef>
                <a:spcPts val="0"/>
              </a:spcBef>
              <a:spcAft>
                <a:spcPts val="0"/>
              </a:spcAft>
              <a:buNone/>
              <a:defRPr sz="1350" b="0" i="0" u="none" cap="none">
                <a:solidFill>
                  <a:schemeClr val="dk1"/>
                </a:solidFill>
                <a:latin typeface="Calibri"/>
                <a:ea typeface="Calibri"/>
                <a:cs typeface="Calibri"/>
              </a:defRPr>
            </a:lvl3pPr>
            <a:lvl4pPr algn="l">
              <a:spcBef>
                <a:spcPts val="0"/>
              </a:spcBef>
              <a:spcAft>
                <a:spcPts val="0"/>
              </a:spcAft>
              <a:buNone/>
              <a:defRPr sz="1350" b="0" i="0" u="none" cap="none">
                <a:solidFill>
                  <a:schemeClr val="dk1"/>
                </a:solidFill>
                <a:latin typeface="Calibri"/>
                <a:ea typeface="Calibri"/>
                <a:cs typeface="Calibri"/>
              </a:defRPr>
            </a:lvl4pPr>
            <a:lvl5pPr algn="l">
              <a:spcBef>
                <a:spcPts val="0"/>
              </a:spcBef>
              <a:spcAft>
                <a:spcPts val="0"/>
              </a:spcAft>
              <a:buNone/>
              <a:defRPr sz="1350" b="0" i="0" u="none" cap="none">
                <a:solidFill>
                  <a:schemeClr val="dk1"/>
                </a:solidFill>
                <a:latin typeface="Calibri"/>
                <a:ea typeface="Calibri"/>
                <a:cs typeface="Calibri"/>
              </a:defRPr>
            </a:lvl5pPr>
            <a:lvl6pPr algn="l">
              <a:spcBef>
                <a:spcPts val="0"/>
              </a:spcBef>
              <a:spcAft>
                <a:spcPts val="0"/>
              </a:spcAft>
              <a:buNone/>
              <a:defRPr sz="1350" b="0" i="0" u="none" cap="none">
                <a:solidFill>
                  <a:schemeClr val="dk1"/>
                </a:solidFill>
                <a:latin typeface="Calibri"/>
                <a:ea typeface="Calibri"/>
                <a:cs typeface="Calibri"/>
              </a:defRPr>
            </a:lvl6pPr>
            <a:lvl7pPr algn="l">
              <a:spcBef>
                <a:spcPts val="0"/>
              </a:spcBef>
              <a:spcAft>
                <a:spcPts val="0"/>
              </a:spcAft>
              <a:buNone/>
              <a:defRPr sz="1350" b="0" i="0" u="none" cap="none">
                <a:solidFill>
                  <a:schemeClr val="dk1"/>
                </a:solidFill>
                <a:latin typeface="Calibri"/>
                <a:ea typeface="Calibri"/>
                <a:cs typeface="Calibri"/>
              </a:defRPr>
            </a:lvl7pPr>
            <a:lvl8pPr algn="l">
              <a:spcBef>
                <a:spcPts val="0"/>
              </a:spcBef>
              <a:spcAft>
                <a:spcPts val="0"/>
              </a:spcAft>
              <a:buNone/>
              <a:defRPr sz="1350" b="0" i="0" u="none" cap="none">
                <a:solidFill>
                  <a:schemeClr val="dk1"/>
                </a:solidFill>
                <a:latin typeface="Calibri"/>
                <a:ea typeface="Calibri"/>
                <a:cs typeface="Calibri"/>
              </a:defRPr>
            </a:lvl8pPr>
            <a:lvl9pPr algn="l">
              <a:spcBef>
                <a:spcPts val="0"/>
              </a:spcBef>
              <a:spcAft>
                <a:spcPts val="0"/>
              </a:spcAft>
              <a:buNone/>
              <a:defRPr sz="1350" b="0" i="0" u="none" cap="none">
                <a:solidFill>
                  <a:schemeClr val="dk1"/>
                </a:solidFill>
                <a:latin typeface="Calibri"/>
                <a:ea typeface="Calibri"/>
                <a:cs typeface="Calibri"/>
              </a:defRPr>
            </a:lvl9pPr>
          </a:lstStyle>
          <a:p xmlns:a="http://schemas.openxmlformats.org/drawingml/2006/main">
            <a:pPr>
              <a:buNone/>
            </a:pPr>
            <a:r>
              <a:rPr sz="675" b="0" i="0">
                <a:solidFill>
                  <a:srgbClr val="38415C"/>
                </a:solidFill>
                <a:latin typeface="Fira Sans"/>
                <a:ea typeface="Fira Sans"/>
                <a:cs typeface="Fira Sans"/>
              </a:rPr>
              <a:t>MARTINS; COSTA; LOPES (2026) · Retrofit do Modelo 3M</a:t>
            </a:r>
          </a:p>
        </p:txBody>
      </p:sp>
      <p:sp>
        <p:nvSpPr>
          <p:cNvPr id="15" name="Google Shape;15;p1">
            <a:extLst xmlns:a="http://schemas.openxmlformats.org/drawingml/2006/main">
              <a:ext uri="{FF2B5EF4-FFF2-40B4-BE49-F238E27FC236}">
                <a16:creationId xmlns:a16="http://schemas.microsoft.com/office/drawing/2014/main" id="{246C54BC-DF1B-43AF-94AF-29C331CA72F6}"/>
              </a:ext>
            </a:extLst>
          </p:cNvPr>
          <p:cNvSpPr>
            <a:spLocks xmlns:a="http://schemas.openxmlformats.org/drawingml/2006/main" noGrp="1"/>
          </p:cNvSpPr>
          <p:nvPr>
            <p:ph type="sldNum" idx="12"/>
          </p:nvPr>
        </p:nvSpPr>
        <p:spPr>
          <a:xfrm xmlns:a="http://schemas.openxmlformats.org/drawingml/2006/main">
            <a:off x="6295851" y="6368186"/>
            <a:ext cx="2057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5400" b="1" i="0" u="none" cap="none">
                <a:solidFill>
                  <a:srgbClr val="EB976D"/>
                </a:solidFill>
                <a:latin typeface="Fira Sans"/>
                <a:ea typeface="Fira Sans"/>
                <a:cs typeface="Fira Sans"/>
              </a:defRPr>
            </a:lvl1pPr>
            <a:lvl2pPr marL="0" indent="0" algn="r">
              <a:spcBef>
                <a:spcPts val="0"/>
              </a:spcBef>
              <a:buNone/>
              <a:defRPr sz="5400" b="1" i="0" u="none" cap="none">
                <a:solidFill>
                  <a:srgbClr val="EB976D"/>
                </a:solidFill>
                <a:latin typeface="Fira Sans"/>
                <a:ea typeface="Fira Sans"/>
                <a:cs typeface="Fira Sans"/>
              </a:defRPr>
            </a:lvl2pPr>
            <a:lvl3pPr marL="0" indent="0" algn="r">
              <a:spcBef>
                <a:spcPts val="0"/>
              </a:spcBef>
              <a:buNone/>
              <a:defRPr sz="5400" b="1" i="0" u="none" cap="none">
                <a:solidFill>
                  <a:srgbClr val="EB976D"/>
                </a:solidFill>
                <a:latin typeface="Fira Sans"/>
                <a:ea typeface="Fira Sans"/>
                <a:cs typeface="Fira Sans"/>
              </a:defRPr>
            </a:lvl3pPr>
            <a:lvl4pPr marL="0" indent="0" algn="r">
              <a:spcBef>
                <a:spcPts val="0"/>
              </a:spcBef>
              <a:buNone/>
              <a:defRPr sz="5400" b="1" i="0" u="none" cap="none">
                <a:solidFill>
                  <a:srgbClr val="EB976D"/>
                </a:solidFill>
                <a:latin typeface="Fira Sans"/>
                <a:ea typeface="Fira Sans"/>
                <a:cs typeface="Fira Sans"/>
              </a:defRPr>
            </a:lvl4pPr>
            <a:lvl5pPr marL="0" indent="0" algn="r">
              <a:spcBef>
                <a:spcPts val="0"/>
              </a:spcBef>
              <a:buNone/>
              <a:defRPr sz="5400" b="1" i="0" u="none" cap="none">
                <a:solidFill>
                  <a:srgbClr val="EB976D"/>
                </a:solidFill>
                <a:latin typeface="Fira Sans"/>
                <a:ea typeface="Fira Sans"/>
                <a:cs typeface="Fira Sans"/>
              </a:defRPr>
            </a:lvl5pPr>
            <a:lvl6pPr marL="0" indent="0" algn="r">
              <a:spcBef>
                <a:spcPts val="0"/>
              </a:spcBef>
              <a:buNone/>
              <a:defRPr sz="5400" b="1" i="0" u="none" cap="none">
                <a:solidFill>
                  <a:srgbClr val="EB976D"/>
                </a:solidFill>
                <a:latin typeface="Fira Sans"/>
                <a:ea typeface="Fira Sans"/>
                <a:cs typeface="Fira Sans"/>
              </a:defRPr>
            </a:lvl6pPr>
            <a:lvl7pPr marL="0" indent="0" algn="r">
              <a:spcBef>
                <a:spcPts val="0"/>
              </a:spcBef>
              <a:buNone/>
              <a:defRPr sz="5400" b="1" i="0" u="none" cap="none">
                <a:solidFill>
                  <a:srgbClr val="EB976D"/>
                </a:solidFill>
                <a:latin typeface="Fira Sans"/>
                <a:ea typeface="Fira Sans"/>
                <a:cs typeface="Fira Sans"/>
              </a:defRPr>
            </a:lvl7pPr>
            <a:lvl8pPr marL="0" indent="0" algn="r">
              <a:spcBef>
                <a:spcPts val="0"/>
              </a:spcBef>
              <a:buNone/>
              <a:defRPr sz="5400" b="1" i="0" u="none" cap="none">
                <a:solidFill>
                  <a:srgbClr val="EB976D"/>
                </a:solidFill>
                <a:latin typeface="Fira Sans"/>
                <a:ea typeface="Fira Sans"/>
                <a:cs typeface="Fira Sans"/>
              </a:defRPr>
            </a:lvl8pPr>
            <a:lvl9pPr marL="0" indent="0" algn="r">
              <a:spcBef>
                <a:spcPts val="0"/>
              </a:spcBef>
              <a:buNone/>
              <a:defRPr sz="5400" b="1" i="0" u="none" cap="none">
                <a:solidFill>
                  <a:srgbClr val="EB976D"/>
                </a:solidFill>
                <a:latin typeface="Fira Sans"/>
                <a:ea typeface="Fira Sans"/>
                <a:cs typeface="Fira Sans"/>
              </a:defRPr>
            </a:lvl9pPr>
          </a:lstStyle>
          <a:p xmlns:a="http://schemas.openxmlformats.org/drawingml/2006/main">
            <a:fld id="{46B270FB-0C54-A54F-867B-58A7B95C958C}" type="slidenum">
              <a:t>‹#›</a:t>
            </a:fld>
          </a:p>
        </p:txBody>
      </p:sp>
      <p:pic>
        <p:nvPicPr>
          <p:cNvPr id="16" name="Google Shape;16;p1"/>
          <p:cNvPicPr>
            <a:picLocks xmlns:a="http://schemas.openxmlformats.org/drawingml/2006/main" noChangeAspect="1"/>
          </p:cNvPicPr>
          <p:nvPr/>
        </p:nvPicPr>
        <p:blipFill rotWithShape="1">
          <a:blip xmlns:r="http://schemas.openxmlformats.org/officeDocument/2006/relationships" xmlns:a="http://schemas.openxmlformats.org/drawingml/2006/main" r:embed="Reee6ad1a39854796"/>
          <a:srcRect xmlns:a="http://schemas.openxmlformats.org/drawingml/2006/main" l="0" t="0" r="0" b="0"/>
          <a:stretch xmlns:a="http://schemas.openxmlformats.org/drawingml/2006/main"/>
        </p:blipFill>
        <p:spPr>
          <a:xfrm xmlns:a="http://schemas.openxmlformats.org/drawingml/2006/main">
            <a:off x="117418" y="91016"/>
            <a:ext cx="775161" cy="1324688"/>
          </a:xfrm>
          <a:prstGeom xmlns:a="http://schemas.openxmlformats.org/drawingml/2006/main" prst="rect">
            <a:avLst/>
          </a:prstGeom>
          <a:ln xmlns:a="http://schemas.openxmlformats.org/drawingml/2006/main">
            <a:noFill/>
          </a:ln>
        </p:spPr>
      </p:pic>
      <p:sp>
        <p:nvSpPr>
          <p:cNvPr id="17" name="Google Shape;17;p1">
            <a:extLst xmlns:a="http://schemas.openxmlformats.org/drawingml/2006/main">
              <a:ext uri="{FF2B5EF4-FFF2-40B4-BE49-F238E27FC236}">
                <a16:creationId xmlns:a16="http://schemas.microsoft.com/office/drawing/2014/main" id="{BADE7D8E-D5A4-4FDE-B8EC-175684A18D63}"/>
              </a:ext>
            </a:extLst>
          </p:cNvPr>
          <p:cNvSpPr>
            <a:spLocks xmlns:a="http://schemas.openxmlformats.org/drawingml/2006/main" noGrp="1"/>
          </p:cNvSpPr>
          <p:nvPr/>
        </p:nvSpPr>
        <p:spPr>
          <a:xfrm xmlns:a="http://schemas.openxmlformats.org/drawingml/2006/main">
            <a:off x="8470669" y="6309681"/>
            <a:ext cx="555913" cy="482136"/>
          </a:xfrm>
          <a:prstGeom xmlns:a="http://schemas.openxmlformats.org/drawingml/2006/main" prst="rect">
            <a:avLst/>
          </a:prstGeom>
          <a:noFill xmlns:a="http://schemas.openxmlformats.org/drawingml/2006/main"/>
          <a:ln xmlns:a="http://schemas.openxmlformats.org/drawingml/2006/main" w="12700" cmpd="sng">
            <a:solidFill>
              <a:srgbClr val="38415C"/>
            </a:solidFill>
            <a:prstDash val="solid"/>
          </a:ln>
        </p:spPr>
        <p:txBody>
          <a:bodyPr xmlns:a="http://schemas.openxmlformats.org/drawingml/2006/main" spcFirstLastPara="1" lIns="68569" tIns="34275" rIns="68569" bIns="34275" anchor="ctr">
            <a:noAutofit/>
          </a:bodyPr>
          <a:lstStyle xmlns:a="http://schemas.openxmlformats.org/drawingml/2006/main"/>
          <a:p xmlns:a="http://schemas.openxmlformats.org/drawingml/2006/main">
            <a:pPr marL="0" indent="0" algn="ctr">
              <a:spcBef>
                <a:spcPts val="0"/>
              </a:spcBef>
              <a:spcAft>
                <a:spcPts val="0"/>
              </a:spcAft>
              <a:buNone/>
            </a:pPr>
            <a:r>
              <a:rPr sz="1650" b="1" i="0" u="none" cap="none">
                <a:solidFill>
                  <a:srgbClr val="EB976D"/>
                </a:solidFill>
                <a:latin typeface="Fira Sans"/>
                <a:ea typeface="Fira Sans"/>
                <a:cs typeface="Fira Sans"/>
              </a:rPr>
              <a:t>/23</a:t>
            </a: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785fa5388204e1f"/>
    <p:sldLayoutId xmlns:r="http://schemas.openxmlformats.org/officeDocument/2006/relationships" id="2147483650" r:id="R2e354eea3f0f4e5e"/>
    <p:sldLayoutId xmlns:r="http://schemas.openxmlformats.org/officeDocument/2006/relationships" id="2147483651" r:id="R2b4227aa66c14488"/>
    <p:sldLayoutId xmlns:r="http://schemas.openxmlformats.org/officeDocument/2006/relationships" id="2147483652" r:id="Rd2b81b165ef941c4"/>
    <p:sldLayoutId xmlns:r="http://schemas.openxmlformats.org/officeDocument/2006/relationships" id="2147483653" r:id="R101b03ddc86a4c9f"/>
    <p:sldLayoutId xmlns:r="http://schemas.openxmlformats.org/officeDocument/2006/relationships" id="2147483654" r:id="R1ff943a9bb124e78"/>
    <p:sldLayoutId xmlns:r="http://schemas.openxmlformats.org/officeDocument/2006/relationships" id="2147483655" r:id="Re3defc7527a6426c"/>
    <p:sldLayoutId xmlns:r="http://schemas.openxmlformats.org/officeDocument/2006/relationships" id="2147483656" r:id="R83331c6ea0c94110"/>
    <p:sldLayoutId xmlns:r="http://schemas.openxmlformats.org/officeDocument/2006/relationships" id="2147483657" r:id="R4a21043526784ada"/>
    <p:sldLayoutId xmlns:r="http://schemas.openxmlformats.org/officeDocument/2006/relationships" id="2147483658" r:id="R1a15fbae79c04fa7"/>
    <p:sldLayoutId xmlns:r="http://schemas.openxmlformats.org/officeDocument/2006/relationships" id="2147483659" r:id="R3951b3776b3e43a8"/>
    <p:sldLayoutId xmlns:r="http://schemas.openxmlformats.org/officeDocument/2006/relationships" id="2147483660" r:id="R38baa731c3e6406d"/>
    <p:sldLayoutId xmlns:r="http://schemas.openxmlformats.org/officeDocument/2006/relationships" id="2147483661" r:id="R04b1c02198bc4d91"/>
  </p:sldLayoutIdLst>
  <p:hf hdr="0" ftr="0" dt="0"/>
  <p:txStyles>
    <p:titleStyle>
      <a:lvl1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900" b="0" i="0" u="none" cap="none">
          <a:solidFill>
            <a:srgbClr val="EB976D"/>
          </a:solidFill>
          <a:latin typeface="Fira Sans"/>
          <a:ea typeface="Fira Sans"/>
          <a:cs typeface="Fira Sans"/>
        </a:defRPr>
      </a:lvl1pPr>
      <a:lvl2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05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ab4d31e1134a6f" /><Relationship Type="http://schemas.openxmlformats.org/officeDocument/2006/relationships/notesSlide" Target="/ppt/notesSlides/notesSlide1.xml" Id="R3388e21adb0344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931d2d3c603d4a3f" /><Relationship Type="http://schemas.openxmlformats.org/officeDocument/2006/relationships/notesSlide" Target="/ppt/notesSlides/notesSlide2.xml" Id="R410c4e44ce6a48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6d8e3cf860994859" /><Relationship Type="http://schemas.openxmlformats.org/officeDocument/2006/relationships/notesSlide" Target="/ppt/notesSlides/notesSlide3.xml" Id="Rd46c5ea9e03846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7f78423ffb1c49aa" /><Relationship Type="http://schemas.openxmlformats.org/officeDocument/2006/relationships/notesSlide" Target="/ppt/notesSlides/notesSlide4.xml" Id="Rb5e1ab544b6e4b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c7314aa3c0aa47c0" /><Relationship Type="http://schemas.openxmlformats.org/officeDocument/2006/relationships/notesSlide" Target="/ppt/notesSlides/notesSlide5.xml" Id="Rfb1dd36ee23845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378d9697555349bc" /><Relationship Type="http://schemas.openxmlformats.org/officeDocument/2006/relationships/notesSlide" Target="/ppt/notesSlides/notesSlide6.xml" Id="R1d5b348fdcdd41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c926041c52bd4a74" /><Relationship Type="http://schemas.openxmlformats.org/officeDocument/2006/relationships/notesSlide" Target="/ppt/notesSlides/notesSlide7.xml" Id="R5df0140d89ef4a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8b2e9b91bcdc4435" /><Relationship Type="http://schemas.openxmlformats.org/officeDocument/2006/relationships/notesSlide" Target="/ppt/notesSlides/notesSlide8.xml" Id="Raf4bdb8de9bb46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44e514c59f8f4a72" /><Relationship Type="http://schemas.openxmlformats.org/officeDocument/2006/relationships/notesSlide" Target="/ppt/notesSlides/notesSlide9.xml" Id="R04f6ab82225043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0.xml" Id="Rd5b644e063624b85" /><Relationship Type="http://schemas.openxmlformats.org/officeDocument/2006/relationships/notesSlide" Target="/ppt/notesSlides/notesSlide10.xml" Id="R48a1c5579bba4c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0519083cc0144efe" /><Relationship Type="http://schemas.openxmlformats.org/officeDocument/2006/relationships/notesSlide" Target="/ppt/notesSlides/notesSlide11.xml" Id="Re82a004ccc204d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ba7de60828c2431c" /><Relationship Type="http://schemas.openxmlformats.org/officeDocument/2006/relationships/notesSlide" Target="/ppt/notesSlides/notesSlide12.xml" Id="Re20639718f6c40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0.xml" Id="Ra712fe9c2e204532" /><Relationship Type="http://schemas.openxmlformats.org/officeDocument/2006/relationships/notesSlide" Target="/ppt/notesSlides/notesSlide13.xml" Id="R10fa1adba4b34da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0.xml" Id="Rdbd8278fdb1d46bb" /><Relationship Type="http://schemas.openxmlformats.org/officeDocument/2006/relationships/notesSlide" Target="/ppt/notesSlides/notesSlide14.xml" Id="Rdb52f539d0e149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6258220cab56470f" /><Relationship Type="http://schemas.openxmlformats.org/officeDocument/2006/relationships/notesSlide" Target="/ppt/notesSlides/notesSlide15.xml" Id="R23a7a1886749422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460607dcc3d44e94" /><Relationship Type="http://schemas.openxmlformats.org/officeDocument/2006/relationships/notesSlide" Target="/ppt/notesSlides/notesSlide16.xml" Id="R5a6fc3e8f3ea465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8.xml" Id="R03683777ecdf4e1b" /><Relationship Type="http://schemas.openxmlformats.org/officeDocument/2006/relationships/notesSlide" Target="/ppt/notesSlides/notesSlide17.xml" Id="R8e02f519bd134a5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24a984e203b44f8" /><Relationship Type="http://schemas.openxmlformats.org/officeDocument/2006/relationships/notesSlide" Target="/ppt/notesSlides/notesSlide18.xml" Id="R110e902f9646452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8.xml" Id="R8e6f4fd6754c4c45" /><Relationship Type="http://schemas.openxmlformats.org/officeDocument/2006/relationships/notesSlide" Target="/ppt/notesSlides/notesSlide19.xml" Id="R2a57e424bb474cb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8.xml" Id="R9a8ee7abf9274387" /><Relationship Type="http://schemas.openxmlformats.org/officeDocument/2006/relationships/notesSlide" Target="/ppt/notesSlides/notesSlide20.xml" Id="R2e033465bea04b3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8.xml" Id="R366a1c02dabe4844" /><Relationship Type="http://schemas.openxmlformats.org/officeDocument/2006/relationships/notesSlide" Target="/ppt/notesSlides/notesSlide21.xml" Id="R61a35c62820c48e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8.xml" Id="Rbed2449593454c50" /><Relationship Type="http://schemas.openxmlformats.org/officeDocument/2006/relationships/notesSlide" Target="/ppt/notesSlides/notesSlide22.xml" Id="R12f623c2ebd148d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8.xml" Id="R70d269c7acaf4cb9" /><Relationship Type="http://schemas.openxmlformats.org/officeDocument/2006/relationships/notesSlide" Target="/ppt/notesSlides/notesSlide23.xml" Id="R3c88ba81873b494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6FA069-7035-493C-9EB3-3217A1C4C139}"/>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Retrofit do Modelo 3M de Universidade Corporativa: Reinterpretação de seus Três Pilares à Luz da Inteligência Artificial</a:t>
            </a:r>
          </a:p>
        </p:txBody>
      </p:sp>
      <p:sp>
        <p:nvSpPr>
          <p:cNvPr id="3" name="Subtitle 2">
            <a:extLst xmlns:a="http://schemas.openxmlformats.org/drawingml/2006/main">
              <a:ext uri="{FF2B5EF4-FFF2-40B4-BE49-F238E27FC236}">
                <a16:creationId xmlns:a16="http://schemas.microsoft.com/office/drawing/2014/main" id="{C771212D-E83A-4B0E-8861-31066D3EFB67}"/>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pPr>
              <a:buNone/>
            </a:pPr>
            <a:r>
              <a:rPr sz="1200" b="0" i="0">
                <a:solidFill>
                  <a:srgbClr val="38415C"/>
                </a:solidFill>
                <a:latin typeface="Fira Sans"/>
                <a:ea typeface="Fira Sans"/>
                <a:cs typeface="Fira Sans"/>
              </a:rPr>
              <a:t>João Pedro Barbosa Martins · Viviane Cunha Farias da Costa · Emily Lopes</a:t>
            </a:r>
          </a:p>
          <a:p xmlns:a="http://schemas.openxmlformats.org/drawingml/2006/main">
            <a:pPr>
              <a:buNone/>
            </a:pPr>
            <a:r>
              <a:rPr sz="1200" b="0" i="0">
                <a:solidFill>
                  <a:srgbClr val="38415C"/>
                </a:solidFill>
                <a:latin typeface="Fira Sans"/>
                <a:ea typeface="Fira Sans"/>
                <a:cs typeface="Fira Sans"/>
              </a:rPr>
              <a:t>CPS831 — Gestão Aumentada do Conhecimento 5.0 · PESC/COPPE-UFRJ · 2026</a:t>
            </a:r>
          </a:p>
        </p:txBody>
      </p:sp>
    </p:spTree>
    <p:extLst>
      <p:ext uri="{BB962C8B-B14F-4D97-AF65-F5344CB8AC3E}">
        <p14:creationId xmlns:p14="http://schemas.microsoft.com/office/powerpoint/2010/main" val="918032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B88670-A8B0-4F9D-978D-34926F056A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Agenda</a:t>
            </a:r>
          </a:p>
        </p:txBody>
      </p:sp>
      <p:sp>
        <p:nvSpPr>
          <p:cNvPr id="3" name="Content Placeholder 2">
            <a:extLst xmlns:a="http://schemas.openxmlformats.org/drawingml/2006/main">
              <a:ext uri="{FF2B5EF4-FFF2-40B4-BE49-F238E27FC236}">
                <a16:creationId xmlns:a16="http://schemas.microsoft.com/office/drawing/2014/main" id="{37088C56-992D-44E4-ACAE-81A4521EA0CA}"/>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1. Contexto e problema: </a:t>
            </a:r>
            <a:r>
              <a:rPr sz="1050" b="1" i="0">
                <a:solidFill>
                  <a:srgbClr val="38415C"/>
                </a:solidFill>
                <a:latin typeface="Fira Sans"/>
                <a:ea typeface="Fira Sans"/>
                <a:cs typeface="Fira Sans"/>
              </a:rPr>
              <a:t>o que mudou nas Universidades Corporativas.</a:t>
            </a:r>
          </a:p>
          <a:p xmlns:a="http://schemas.openxmlformats.org/drawingml/2006/main">
            <a:pPr marL="18" indent="-10">
              <a:spcAft>
                <a:spcPts val="7"/>
              </a:spcAft>
              <a:buChar char="•"/>
            </a:pPr>
            <a:r>
              <a:rPr sz="1050" b="1" i="0">
                <a:solidFill>
                  <a:srgbClr val="EB976D"/>
                </a:solidFill>
                <a:latin typeface="Fira Sans"/>
                <a:ea typeface="Fira Sans"/>
                <a:cs typeface="Fira Sans"/>
              </a:rPr>
              <a:t>2. Referencial: </a:t>
            </a:r>
            <a:r>
              <a:rPr sz="1050" b="1" i="0">
                <a:solidFill>
                  <a:srgbClr val="38415C"/>
                </a:solidFill>
                <a:latin typeface="Fira Sans"/>
                <a:ea typeface="Fira Sans"/>
                <a:cs typeface="Fira Sans"/>
              </a:rPr>
              <a:t>GC, IA Generativa, aprendizagem, agência e governança.</a:t>
            </a:r>
          </a:p>
          <a:p xmlns:a="http://schemas.openxmlformats.org/drawingml/2006/main">
            <a:pPr marL="18" indent="-10">
              <a:spcAft>
                <a:spcPts val="7"/>
              </a:spcAft>
              <a:buChar char="•"/>
            </a:pPr>
            <a:r>
              <a:rPr sz="1050" b="1" i="0">
                <a:solidFill>
                  <a:srgbClr val="EB976D"/>
                </a:solidFill>
                <a:latin typeface="Fira Sans"/>
                <a:ea typeface="Fira Sans"/>
                <a:cs typeface="Fira Sans"/>
              </a:rPr>
              <a:t>3. Método: </a:t>
            </a:r>
            <a:r>
              <a:rPr sz="1050" b="1" i="0">
                <a:solidFill>
                  <a:srgbClr val="38415C"/>
                </a:solidFill>
                <a:latin typeface="Fira Sans"/>
                <a:ea typeface="Fira Sans"/>
                <a:cs typeface="Fira Sans"/>
              </a:rPr>
              <a:t>revisão de escopo assistida e estratégia de retrofit.</a:t>
            </a:r>
          </a:p>
          <a:p xmlns:a="http://schemas.openxmlformats.org/drawingml/2006/main">
            <a:pPr marL="18" indent="-10">
              <a:spcAft>
                <a:spcPts val="7"/>
              </a:spcAft>
              <a:buChar char="•"/>
            </a:pPr>
            <a:r>
              <a:rPr sz="1050" b="1" i="0">
                <a:solidFill>
                  <a:srgbClr val="EB976D"/>
                </a:solidFill>
                <a:latin typeface="Fira Sans"/>
                <a:ea typeface="Fira Sans"/>
                <a:cs typeface="Fira Sans"/>
              </a:rPr>
              <a:t>4. Proposta e análise: </a:t>
            </a:r>
            <a:r>
              <a:rPr sz="1050" b="1" i="0">
                <a:solidFill>
                  <a:srgbClr val="38415C"/>
                </a:solidFill>
                <a:latin typeface="Fira Sans"/>
                <a:ea typeface="Fira Sans"/>
                <a:cs typeface="Fira Sans"/>
              </a:rPr>
              <a:t>Modelo 3M reinterpretado e cobertura conceitual.</a:t>
            </a:r>
          </a:p>
          <a:p xmlns:a="http://schemas.openxmlformats.org/drawingml/2006/main">
            <a:pPr marL="18" indent="-10">
              <a:spcAft>
                <a:spcPts val="7"/>
              </a:spcAft>
              <a:buChar char="•"/>
            </a:pPr>
            <a:r>
              <a:rPr sz="1050" b="1" i="0">
                <a:solidFill>
                  <a:srgbClr val="EB976D"/>
                </a:solidFill>
                <a:latin typeface="Fira Sans"/>
                <a:ea typeface="Fira Sans"/>
                <a:cs typeface="Fira Sans"/>
              </a:rPr>
              <a:t>5. Discussão, limitações e conclusão.</a:t>
            </a:r>
          </a:p>
        </p:txBody>
      </p:sp>
    </p:spTree>
    <p:extLst>
      <p:ext uri="{BB962C8B-B14F-4D97-AF65-F5344CB8AC3E}">
        <p14:creationId xmlns:p14="http://schemas.microsoft.com/office/powerpoint/2010/main" val="61505594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BA6B2E-56E1-4D71-A9EF-CEACD0F9A9B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Universidades Corporativas e o Modelo 3M</a:t>
            </a:r>
          </a:p>
        </p:txBody>
      </p:sp>
      <p:sp>
        <p:nvSpPr>
          <p:cNvPr id="3" name="Content Placeholder 2">
            <a:extLst xmlns:a="http://schemas.openxmlformats.org/drawingml/2006/main">
              <a:ext uri="{FF2B5EF4-FFF2-40B4-BE49-F238E27FC236}">
                <a16:creationId xmlns:a16="http://schemas.microsoft.com/office/drawing/2014/main" id="{E63E9F10-9414-451D-A060-14725ABCB89C}"/>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Universidade Corporativa: </a:t>
            </a:r>
            <a:r>
              <a:rPr sz="1050" i="0">
                <a:solidFill>
                  <a:srgbClr val="38415C"/>
                </a:solidFill>
                <a:latin typeface="Fira Sans"/>
                <a:ea typeface="Fira Sans"/>
                <a:cs typeface="Fira Sans"/>
              </a:rPr>
              <a:t>articula estratégia, aprendizagem e Gestão do Conhecimento (GC).</a:t>
            </a:r>
          </a:p>
          <a:p xmlns:a="http://schemas.openxmlformats.org/drawingml/2006/main">
            <a:pPr marL="18" indent="-10">
              <a:spcAft>
                <a:spcPts val="7"/>
              </a:spcAft>
              <a:buChar char="•"/>
            </a:pPr>
            <a:r>
              <a:rPr sz="1050" b="1" i="0">
                <a:solidFill>
                  <a:srgbClr val="EB976D"/>
                </a:solidFill>
                <a:latin typeface="Fira Sans"/>
                <a:ea typeface="Fira Sans"/>
                <a:cs typeface="Fira Sans"/>
              </a:rPr>
              <a:t>Motive — por quê: </a:t>
            </a:r>
            <a:r>
              <a:rPr sz="1050" b="1" i="0">
                <a:solidFill>
                  <a:srgbClr val="38415C"/>
                </a:solidFill>
                <a:latin typeface="Fira Sans"/>
                <a:ea typeface="Fira Sans"/>
                <a:cs typeface="Fira Sans"/>
              </a:rPr>
              <a:t>alinhamento estratégico e competências críticas.</a:t>
            </a:r>
          </a:p>
          <a:p xmlns:a="http://schemas.openxmlformats.org/drawingml/2006/main">
            <a:pPr marL="18" indent="-10">
              <a:spcAft>
                <a:spcPts val="7"/>
              </a:spcAft>
              <a:buChar char="•"/>
            </a:pPr>
            <a:r>
              <a:rPr sz="1050" b="1" i="0">
                <a:solidFill>
                  <a:srgbClr val="EB976D"/>
                </a:solidFill>
                <a:latin typeface="Fira Sans"/>
                <a:ea typeface="Fira Sans"/>
                <a:cs typeface="Fira Sans"/>
              </a:rPr>
              <a:t>Model — como: </a:t>
            </a:r>
            <a:r>
              <a:rPr sz="1050" b="1" i="0">
                <a:solidFill>
                  <a:srgbClr val="38415C"/>
                </a:solidFill>
                <a:latin typeface="Fira Sans"/>
                <a:ea typeface="Fira Sans"/>
                <a:cs typeface="Fira Sans"/>
              </a:rPr>
              <a:t>arquitetura educacional, currículos, programas e públicos.</a:t>
            </a:r>
          </a:p>
          <a:p xmlns:a="http://schemas.openxmlformats.org/drawingml/2006/main">
            <a:pPr marL="18" indent="-10">
              <a:spcAft>
                <a:spcPts val="7"/>
              </a:spcAft>
              <a:buChar char="•"/>
            </a:pPr>
            <a:r>
              <a:rPr sz="1050" b="1" i="0">
                <a:solidFill>
                  <a:srgbClr val="EB976D"/>
                </a:solidFill>
                <a:latin typeface="Fira Sans"/>
                <a:ea typeface="Fira Sans"/>
                <a:cs typeface="Fira Sans"/>
              </a:rPr>
              <a:t>Moment — quando: </a:t>
            </a:r>
            <a:r>
              <a:rPr sz="1050" b="1" i="0">
                <a:solidFill>
                  <a:srgbClr val="38415C"/>
                </a:solidFill>
                <a:latin typeface="Fira Sans"/>
                <a:ea typeface="Fira Sans"/>
                <a:cs typeface="Fira Sans"/>
              </a:rPr>
              <a:t>resposta às mudanças dinâmicas e imprevisíveis do ambiente.</a:t>
            </a:r>
          </a:p>
          <a:p xmlns:a="http://schemas.openxmlformats.org/drawingml/2006/main">
            <a:pPr marL="18" indent="-10">
              <a:spcAft>
                <a:spcPts val="7"/>
              </a:spcAft>
              <a:buChar char="•"/>
            </a:pPr>
            <a:r>
              <a:rPr sz="1050" b="1" i="0">
                <a:solidFill>
                  <a:srgbClr val="EB976D"/>
                </a:solidFill>
                <a:latin typeface="Fira Sans"/>
                <a:ea typeface="Fira Sans"/>
                <a:cs typeface="Fira Sans"/>
              </a:rPr>
              <a:t>Base do modelo: </a:t>
            </a:r>
            <a:r>
              <a:rPr sz="1050" b="1" i="0">
                <a:solidFill>
                  <a:srgbClr val="38415C"/>
                </a:solidFill>
                <a:latin typeface="Fira Sans"/>
                <a:ea typeface="Fira Sans"/>
                <a:cs typeface="Fira Sans"/>
              </a:rPr>
              <a:t>mapeamento das três visões aos processos de GC de Prat.</a:t>
            </a:r>
          </a:p>
        </p:txBody>
      </p:sp>
    </p:spTree>
    <p:extLst>
      <p:ext uri="{BB962C8B-B14F-4D97-AF65-F5344CB8AC3E}">
        <p14:creationId xmlns:p14="http://schemas.microsoft.com/office/powerpoint/2010/main" val="890144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6F0288-AEC5-4F4F-BE59-3BFA6E3E21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Problema e questão de pesquisa</a:t>
            </a:r>
          </a:p>
        </p:txBody>
      </p:sp>
      <p:sp>
        <p:nvSpPr>
          <p:cNvPr id="3" name="Content Placeholder 2">
            <a:extLst xmlns:a="http://schemas.openxmlformats.org/drawingml/2006/main">
              <a:ext uri="{FF2B5EF4-FFF2-40B4-BE49-F238E27FC236}">
                <a16:creationId xmlns:a16="http://schemas.microsoft.com/office/drawing/2014/main" id="{252F4B97-4F66-4189-B919-B855D80F400C}"/>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Lacuna: </a:t>
            </a:r>
            <a:r>
              <a:rPr sz="1050" i="0">
                <a:solidFill>
                  <a:srgbClr val="38415C"/>
                </a:solidFill>
                <a:latin typeface="Fira Sans"/>
                <a:ea typeface="Fira Sans"/>
                <a:cs typeface="Fira Sans"/>
              </a:rPr>
              <a:t>os 19 modelos anteriores catalogados por Mora-Mora et al. não explicitam IA Generativa agêntica em sua arquitetura.</a:t>
            </a:r>
          </a:p>
          <a:p xmlns:a="http://schemas.openxmlformats.org/drawingml/2006/main">
            <a:pPr marL="18" indent="-10">
              <a:spcAft>
                <a:spcPts val="7"/>
              </a:spcAft>
              <a:buChar char="•"/>
            </a:pPr>
            <a:r>
              <a:rPr sz="1050" b="1" i="0">
                <a:solidFill>
                  <a:srgbClr val="EB976D"/>
                </a:solidFill>
                <a:latin typeface="Fira Sans"/>
                <a:ea typeface="Fira Sans"/>
                <a:cs typeface="Fira Sans"/>
              </a:rPr>
              <a:t>Cuidado interpretativo: </a:t>
            </a:r>
            <a:r>
              <a:rPr sz="1050" i="0">
                <a:solidFill>
                  <a:srgbClr val="38415C"/>
                </a:solidFill>
                <a:latin typeface="Fira Sans"/>
                <a:ea typeface="Fira Sans"/>
                <a:cs typeface="Fira Sans"/>
              </a:rPr>
              <a:t>o estudo de 2025 também propõe um novo modelo que integra tecnologias de Indústria 4.0/5.0.</a:t>
            </a:r>
          </a:p>
          <a:p xmlns:a="http://schemas.openxmlformats.org/drawingml/2006/main">
            <a:pPr marL="18" indent="-10">
              <a:spcBef>
                <a:spcPts val="600"/>
              </a:spcBef>
              <a:spcAft>
                <a:spcPts val="7"/>
              </a:spcAft>
              <a:buChar char="•"/>
            </a:pPr>
            <a:r>
              <a:rPr sz="1050" b="1" i="0">
                <a:solidFill>
                  <a:srgbClr val="EB976D"/>
                </a:solidFill>
                <a:latin typeface="Fira Sans"/>
                <a:ea typeface="Fira Sans"/>
                <a:cs typeface="Fira Sans"/>
              </a:rPr>
              <a:t>Questão: </a:t>
            </a:r>
            <a:r>
              <a:rPr sz="1050" b="1" i="0">
                <a:solidFill>
                  <a:srgbClr val="38415C"/>
                </a:solidFill>
                <a:latin typeface="Fira Sans"/>
                <a:ea typeface="Fira Sans"/>
                <a:cs typeface="Fira Sans"/>
              </a:rPr>
              <a:t>como reconfigurar o Modelo 3M para integrar IA como ferramenta e agente, alinhada à GC e à governança algorítmica?</a:t>
            </a:r>
          </a:p>
          <a:p xmlns:a="http://schemas.openxmlformats.org/drawingml/2006/main">
            <a:pPr marL="18" indent="-10">
              <a:spcBef>
                <a:spcPts val="600"/>
              </a:spcBef>
              <a:spcAft>
                <a:spcPts val="7"/>
              </a:spcAft>
              <a:buChar char="•"/>
            </a:pPr>
            <a:r>
              <a:rPr sz="1050" b="1" i="0">
                <a:solidFill>
                  <a:srgbClr val="EB976D"/>
                </a:solidFill>
                <a:latin typeface="Fira Sans"/>
                <a:ea typeface="Fira Sans"/>
                <a:cs typeface="Fira Sans"/>
              </a:rPr>
              <a:t>Objetivo: </a:t>
            </a:r>
            <a:r>
              <a:rPr sz="1050" b="1" i="0">
                <a:solidFill>
                  <a:srgbClr val="38415C"/>
                </a:solidFill>
                <a:latin typeface="Fira Sans"/>
                <a:ea typeface="Fira Sans"/>
                <a:cs typeface="Fira Sans"/>
              </a:rPr>
              <a:t>propor o retrofit, mapear seus processos de GC e examinar sua cobertura conceitual.</a:t>
            </a:r>
          </a:p>
          <a:p xmlns:a="http://schemas.openxmlformats.org/drawingml/2006/main">
            <a:pPr marL="18" indent="-10">
              <a:spcAft>
                <a:spcPts val="7"/>
              </a:spcAft>
              <a:buNone/>
            </a:pPr>
            <a:r>
              <a:rPr sz="900" b="1" i="0">
                <a:solidFill>
                  <a:srgbClr val="EB976D"/>
                </a:solidFill>
                <a:latin typeface="Fira Sans"/>
                <a:ea typeface="Fira Sans"/>
                <a:cs typeface="Fira Sans"/>
              </a:rPr>
              <a:t>Escopo: </a:t>
            </a:r>
            <a:r>
              <a:rPr sz="900" i="1">
                <a:solidFill>
                  <a:srgbClr val="8C8C96"/>
                </a:solidFill>
                <a:latin typeface="Fira Sans"/>
                <a:ea typeface="Fira Sans"/>
                <a:cs typeface="Fira Sans"/>
              </a:rPr>
              <a:t>contribuição teórica; não constitui validação empírica de efetividade.</a:t>
            </a:r>
          </a:p>
        </p:txBody>
      </p:sp>
    </p:spTree>
    <p:extLst>
      <p:ext uri="{BB962C8B-B14F-4D97-AF65-F5344CB8AC3E}">
        <p14:creationId xmlns:p14="http://schemas.microsoft.com/office/powerpoint/2010/main" val="76447745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59D064-E306-4095-B82A-D37E86CD2E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Fundamentos de Gestão do Conhecimento</a:t>
            </a:r>
          </a:p>
        </p:txBody>
      </p:sp>
      <p:sp>
        <p:nvSpPr>
          <p:cNvPr id="3" name="Content Placeholder 2">
            <a:extLst xmlns:a="http://schemas.openxmlformats.org/drawingml/2006/main">
              <a:ext uri="{FF2B5EF4-FFF2-40B4-BE49-F238E27FC236}">
                <a16:creationId xmlns:a16="http://schemas.microsoft.com/office/drawing/2014/main" id="{0B602575-7DE4-4981-9E20-124AAEE9B632}"/>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Prat: </a:t>
            </a:r>
            <a:r>
              <a:rPr sz="1050" i="0">
                <a:solidFill>
                  <a:srgbClr val="38415C"/>
                </a:solidFill>
                <a:latin typeface="Fira Sans"/>
                <a:ea typeface="Fira Sans"/>
                <a:cs typeface="Fira Sans"/>
              </a:rPr>
              <a:t>processos estratégicos e operacionais sustentam o diagnóstico de maturidade da UC.</a:t>
            </a:r>
          </a:p>
          <a:p xmlns:a="http://schemas.openxmlformats.org/drawingml/2006/main">
            <a:pPr marL="18" indent="-10">
              <a:spcAft>
                <a:spcPts val="7"/>
              </a:spcAft>
              <a:buChar char="•"/>
            </a:pPr>
            <a:r>
              <a:rPr sz="1050" b="1" i="0">
                <a:solidFill>
                  <a:srgbClr val="EB976D"/>
                </a:solidFill>
                <a:latin typeface="Fira Sans"/>
                <a:ea typeface="Fira Sans"/>
                <a:cs typeface="Fira Sans"/>
              </a:rPr>
              <a:t>Stollenwerk: </a:t>
            </a:r>
            <a:r>
              <a:rPr sz="1050" i="0">
                <a:solidFill>
                  <a:srgbClr val="38415C"/>
                </a:solidFill>
                <a:latin typeface="Fira Sans"/>
                <a:ea typeface="Fira Sans"/>
                <a:cs typeface="Fira Sans"/>
              </a:rPr>
              <a:t>controle e descarte complementam o ciclo de geração, codificação, armazenamento, distribuição e aplicação.</a:t>
            </a:r>
          </a:p>
          <a:p xmlns:a="http://schemas.openxmlformats.org/drawingml/2006/main">
            <a:pPr marL="18" indent="-10">
              <a:spcAft>
                <a:spcPts val="7"/>
              </a:spcAft>
              <a:buChar char="•"/>
            </a:pPr>
            <a:r>
              <a:rPr sz="1050" b="1" i="0">
                <a:solidFill>
                  <a:srgbClr val="EB976D"/>
                </a:solidFill>
                <a:latin typeface="Fira Sans"/>
                <a:ea typeface="Fira Sans"/>
                <a:cs typeface="Fira Sans"/>
              </a:rPr>
              <a:t>SECI: </a:t>
            </a:r>
            <a:r>
              <a:rPr sz="1050" i="0">
                <a:solidFill>
                  <a:srgbClr val="38415C"/>
                </a:solidFill>
                <a:latin typeface="Fira Sans"/>
                <a:ea typeface="Fira Sans"/>
                <a:cs typeface="Fira Sans"/>
              </a:rPr>
              <a:t>referência clássica para conversão entre conhecimento tácito e explícito.</a:t>
            </a:r>
          </a:p>
          <a:p xmlns:a="http://schemas.openxmlformats.org/drawingml/2006/main">
            <a:pPr marL="18" indent="-10">
              <a:spcAft>
                <a:spcPts val="7"/>
              </a:spcAft>
              <a:buChar char="•"/>
            </a:pPr>
            <a:r>
              <a:rPr sz="1050" b="1" i="0">
                <a:solidFill>
                  <a:srgbClr val="EB976D"/>
                </a:solidFill>
                <a:latin typeface="Fira Sans"/>
                <a:ea typeface="Fira Sans"/>
                <a:cs typeface="Fira Sans"/>
              </a:rPr>
              <a:t>GRAI: </a:t>
            </a:r>
            <a:r>
              <a:rPr sz="1050" i="0">
                <a:solidFill>
                  <a:srgbClr val="38415C"/>
                </a:solidFill>
                <a:latin typeface="Fira Sans"/>
                <a:ea typeface="Fira Sans"/>
                <a:cs typeface="Fira Sans"/>
              </a:rPr>
              <a:t>extensão recente que busca representar interações dinâmicas entre humanos e IA; ainda requer validação independente.</a:t>
            </a:r>
          </a:p>
          <a:p xmlns:a="http://schemas.openxmlformats.org/drawingml/2006/main">
            <a:pPr marL="18" indent="-10">
              <a:spcAft>
                <a:spcPts val="7"/>
              </a:spcAft>
              <a:buNone/>
            </a:pPr>
            <a:r>
              <a:rPr sz="900" b="1" i="0">
                <a:solidFill>
                  <a:srgbClr val="EB976D"/>
                </a:solidFill>
                <a:latin typeface="Fira Sans"/>
                <a:ea typeface="Fira Sans"/>
                <a:cs typeface="Fira Sans"/>
              </a:rPr>
              <a:t>Uso no estudo: </a:t>
            </a:r>
            <a:r>
              <a:rPr sz="900" i="1">
                <a:solidFill>
                  <a:srgbClr val="8C8C96"/>
                </a:solidFill>
                <a:latin typeface="Fira Sans"/>
                <a:ea typeface="Fira Sans"/>
                <a:cs typeface="Fira Sans"/>
              </a:rPr>
              <a:t>lente processual, não substituição consensual do SECI.</a:t>
            </a:r>
          </a:p>
        </p:txBody>
      </p:sp>
    </p:spTree>
    <p:extLst>
      <p:ext uri="{BB962C8B-B14F-4D97-AF65-F5344CB8AC3E}">
        <p14:creationId xmlns:p14="http://schemas.microsoft.com/office/powerpoint/2010/main" val="73555073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B8C48BE-B120-4EA3-8442-93A3FDC444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IA Generativa e Gestão do Conhecimento</a:t>
            </a:r>
          </a:p>
        </p:txBody>
      </p:sp>
      <p:sp>
        <p:nvSpPr>
          <p:cNvPr id="3" name="Content Placeholder 2">
            <a:extLst xmlns:a="http://schemas.openxmlformats.org/drawingml/2006/main">
              <a:ext uri="{FF2B5EF4-FFF2-40B4-BE49-F238E27FC236}">
                <a16:creationId xmlns:a16="http://schemas.microsoft.com/office/drawing/2014/main" id="{43DC13BA-AB2B-4AD2-A323-A526EAE5B6A7}"/>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LLMs: </a:t>
            </a:r>
            <a:r>
              <a:rPr sz="1050" b="1" i="0">
                <a:solidFill>
                  <a:srgbClr val="38415C"/>
                </a:solidFill>
                <a:latin typeface="Fira Sans"/>
                <a:ea typeface="Fira Sans"/>
                <a:cs typeface="Fira Sans"/>
              </a:rPr>
              <a:t>ampliam síntese, busca semântica e geração de artefatos, mas podem alucinar.</a:t>
            </a:r>
          </a:p>
          <a:p xmlns:a="http://schemas.openxmlformats.org/drawingml/2006/main">
            <a:pPr marL="18" indent="-10">
              <a:spcAft>
                <a:spcPts val="7"/>
              </a:spcAft>
              <a:buChar char="•"/>
            </a:pPr>
            <a:r>
              <a:rPr sz="1050" b="1" i="0">
                <a:solidFill>
                  <a:srgbClr val="EB976D"/>
                </a:solidFill>
                <a:latin typeface="Fira Sans"/>
                <a:ea typeface="Fira Sans"/>
                <a:cs typeface="Fira Sans"/>
              </a:rPr>
              <a:t>RAG: </a:t>
            </a:r>
            <a:r>
              <a:rPr sz="1050" b="1" i="0">
                <a:solidFill>
                  <a:srgbClr val="38415C"/>
                </a:solidFill>
                <a:latin typeface="Fira Sans"/>
                <a:ea typeface="Fira Sans"/>
                <a:cs typeface="Fira Sans"/>
              </a:rPr>
              <a:t>combina geração com recuperação de fontes corporativas para aumentar rastreabilidade factual.</a:t>
            </a:r>
          </a:p>
          <a:p xmlns:a="http://schemas.openxmlformats.org/drawingml/2006/main">
            <a:pPr marL="18" indent="-10">
              <a:spcAft>
                <a:spcPts val="7"/>
              </a:spcAft>
              <a:buChar char="•"/>
            </a:pPr>
            <a:r>
              <a:rPr sz="1050" b="1" i="0">
                <a:solidFill>
                  <a:srgbClr val="EB976D"/>
                </a:solidFill>
                <a:latin typeface="Fira Sans"/>
                <a:ea typeface="Fira Sans"/>
                <a:cs typeface="Fira Sans"/>
              </a:rPr>
              <a:t>Grafos de conhecimento: </a:t>
            </a:r>
            <a:r>
              <a:rPr sz="1050" b="1" i="0">
                <a:solidFill>
                  <a:srgbClr val="38415C"/>
                </a:solidFill>
                <a:latin typeface="Fira Sans"/>
                <a:ea typeface="Fira Sans"/>
                <a:cs typeface="Fira Sans"/>
              </a:rPr>
              <a:t>estruturam entidades e relações; complementam a flexibilidade semântica dos LLMs.</a:t>
            </a:r>
          </a:p>
          <a:p xmlns:a="http://schemas.openxmlformats.org/drawingml/2006/main">
            <a:pPr marL="18" indent="-10">
              <a:spcAft>
                <a:spcPts val="7"/>
              </a:spcAft>
              <a:buChar char="•"/>
            </a:pPr>
            <a:r>
              <a:rPr sz="1050" b="1" i="0">
                <a:solidFill>
                  <a:srgbClr val="EB976D"/>
                </a:solidFill>
                <a:latin typeface="Fira Sans"/>
                <a:ea typeface="Fira Sans"/>
                <a:cs typeface="Fira Sans"/>
              </a:rPr>
              <a:t>Simbiose humano–IA: </a:t>
            </a:r>
            <a:r>
              <a:rPr sz="1050" b="1" i="0">
                <a:solidFill>
                  <a:srgbClr val="38415C"/>
                </a:solidFill>
                <a:latin typeface="Fira Sans"/>
                <a:ea typeface="Fira Sans"/>
                <a:cs typeface="Fira Sans"/>
              </a:rPr>
              <a:t>escala computacional combinada a julgamento, contexto, empatia e responsabilidade humanos.</a:t>
            </a:r>
          </a:p>
          <a:p xmlns:a="http://schemas.openxmlformats.org/drawingml/2006/main">
            <a:pPr marL="18" indent="-10">
              <a:spcAft>
                <a:spcPts val="7"/>
              </a:spcAft>
              <a:buNone/>
            </a:pPr>
            <a:r>
              <a:rPr sz="900" b="1" i="0">
                <a:solidFill>
                  <a:srgbClr val="EB976D"/>
                </a:solidFill>
                <a:latin typeface="Fira Sans"/>
                <a:ea typeface="Fira Sans"/>
                <a:cs typeface="Fira Sans"/>
              </a:rPr>
              <a:t>Implicação: </a:t>
            </a:r>
            <a:r>
              <a:rPr sz="900" b="1" i="1">
                <a:solidFill>
                  <a:srgbClr val="8C8C96"/>
                </a:solidFill>
                <a:latin typeface="Fira Sans"/>
                <a:ea typeface="Fira Sans"/>
                <a:cs typeface="Fira Sans"/>
              </a:rPr>
              <a:t>a IA medeia processos de GC, sem eliminar a curadoria humana.</a:t>
            </a:r>
          </a:p>
        </p:txBody>
      </p:sp>
    </p:spTree>
    <p:extLst>
      <p:ext uri="{BB962C8B-B14F-4D97-AF65-F5344CB8AC3E}">
        <p14:creationId xmlns:p14="http://schemas.microsoft.com/office/powerpoint/2010/main" val="131249652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95C287-6364-41BF-9FEA-8C6D080B1CF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Aprendizagem no fluxo de trabalho</a:t>
            </a:r>
          </a:p>
        </p:txBody>
      </p:sp>
      <p:sp>
        <p:nvSpPr>
          <p:cNvPr id="3" name="Content Placeholder 2">
            <a:extLst xmlns:a="http://schemas.openxmlformats.org/drawingml/2006/main">
              <a:ext uri="{FF2B5EF4-FFF2-40B4-BE49-F238E27FC236}">
                <a16:creationId xmlns:a16="http://schemas.microsoft.com/office/drawing/2014/main" id="{73BDEA5E-AB9E-48BC-817F-1ABF33EA731D}"/>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Learning in the flow of work: </a:t>
            </a:r>
            <a:r>
              <a:rPr sz="1050" b="1" i="0">
                <a:solidFill>
                  <a:srgbClr val="38415C"/>
                </a:solidFill>
                <a:latin typeface="Fira Sans"/>
                <a:ea typeface="Fira Sans"/>
                <a:cs typeface="Fira Sans"/>
              </a:rPr>
              <a:t>suporte contextual no momento da necessidade operacional.</a:t>
            </a:r>
          </a:p>
          <a:p xmlns:a="http://schemas.openxmlformats.org/drawingml/2006/main">
            <a:pPr marL="18" indent="-10">
              <a:spcAft>
                <a:spcPts val="7"/>
              </a:spcAft>
              <a:buChar char="•"/>
            </a:pPr>
            <a:r>
              <a:rPr sz="1050" b="1" i="0">
                <a:solidFill>
                  <a:srgbClr val="EB976D"/>
                </a:solidFill>
                <a:latin typeface="Fira Sans"/>
                <a:ea typeface="Fira Sans"/>
                <a:cs typeface="Fira Sans"/>
              </a:rPr>
              <a:t>Scaffolding: </a:t>
            </a:r>
            <a:r>
              <a:rPr sz="1050" b="1" i="0">
                <a:solidFill>
                  <a:srgbClr val="38415C"/>
                </a:solidFill>
                <a:latin typeface="Fira Sans"/>
                <a:ea typeface="Fira Sans"/>
                <a:cs typeface="Fira Sans"/>
              </a:rPr>
              <a:t>andaimes orientam a formulação de dúvidas, a avaliação de fontes e a aplicação segura.</a:t>
            </a:r>
          </a:p>
          <a:p xmlns:a="http://schemas.openxmlformats.org/drawingml/2006/main">
            <a:pPr marL="18" indent="-10">
              <a:spcAft>
                <a:spcPts val="7"/>
              </a:spcAft>
              <a:buChar char="•"/>
            </a:pPr>
            <a:r>
              <a:rPr sz="1050" b="1" i="0">
                <a:solidFill>
                  <a:srgbClr val="EB976D"/>
                </a:solidFill>
                <a:latin typeface="Fira Sans"/>
                <a:ea typeface="Fira Sans"/>
                <a:cs typeface="Fira Sans"/>
              </a:rPr>
              <a:t>AI literacy: </a:t>
            </a:r>
            <a:r>
              <a:rPr sz="1050" b="1" i="0">
                <a:solidFill>
                  <a:srgbClr val="38415C"/>
                </a:solidFill>
                <a:latin typeface="Fira Sans"/>
                <a:ea typeface="Fira Sans"/>
                <a:cs typeface="Fira Sans"/>
              </a:rPr>
              <a:t>capacidade de compreender, auditar, contestar e refinar saídas algorítmicas.</a:t>
            </a:r>
          </a:p>
          <a:p xmlns:a="http://schemas.openxmlformats.org/drawingml/2006/main">
            <a:pPr marL="18" indent="-10">
              <a:spcAft>
                <a:spcPts val="7"/>
              </a:spcAft>
              <a:buChar char="•"/>
            </a:pPr>
            <a:r>
              <a:rPr sz="1050" b="1" i="0">
                <a:solidFill>
                  <a:srgbClr val="EB976D"/>
                </a:solidFill>
                <a:latin typeface="Fira Sans"/>
                <a:ea typeface="Fira Sans"/>
                <a:cs typeface="Fira Sans"/>
              </a:rPr>
              <a:t>Deskilling: </a:t>
            </a:r>
            <a:r>
              <a:rPr sz="1050" b="1" i="0">
                <a:solidFill>
                  <a:srgbClr val="38415C"/>
                </a:solidFill>
                <a:latin typeface="Fira Sans"/>
                <a:ea typeface="Fira Sans"/>
                <a:cs typeface="Fira Sans"/>
              </a:rPr>
              <a:t>habilidades operacionais podem perder centralidade quando a solução é terceirizada sem reflexão.</a:t>
            </a:r>
          </a:p>
          <a:p xmlns:a="http://schemas.openxmlformats.org/drawingml/2006/main">
            <a:pPr marL="18" indent="-10">
              <a:spcAft>
                <a:spcPts val="7"/>
              </a:spcAft>
              <a:buNone/>
            </a:pPr>
            <a:r>
              <a:rPr sz="900" b="1" i="0">
                <a:solidFill>
                  <a:srgbClr val="EB976D"/>
                </a:solidFill>
                <a:latin typeface="Fira Sans"/>
                <a:ea typeface="Fira Sans"/>
                <a:cs typeface="Fira Sans"/>
              </a:rPr>
              <a:t>Papel da UC: </a:t>
            </a:r>
            <a:r>
              <a:rPr sz="900" b="1" i="1">
                <a:solidFill>
                  <a:srgbClr val="8C8C96"/>
                </a:solidFill>
                <a:latin typeface="Fira Sans"/>
                <a:ea typeface="Fira Sans"/>
                <a:cs typeface="Fira Sans"/>
              </a:rPr>
              <a:t>facilitar aprendizagem crítica, não apenas entregar conteúdo.</a:t>
            </a:r>
          </a:p>
        </p:txBody>
      </p:sp>
    </p:spTree>
    <p:extLst>
      <p:ext uri="{BB962C8B-B14F-4D97-AF65-F5344CB8AC3E}">
        <p14:creationId xmlns:p14="http://schemas.microsoft.com/office/powerpoint/2010/main" val="122316911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C70AAA-F261-4A14-AB65-87C040D462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IA como agente organizacional</a:t>
            </a:r>
          </a:p>
        </p:txBody>
      </p:sp>
      <p:sp>
        <p:nvSpPr>
          <p:cNvPr id="3" name="Content Placeholder 2">
            <a:extLst xmlns:a="http://schemas.openxmlformats.org/drawingml/2006/main">
              <a:ext uri="{FF2B5EF4-FFF2-40B4-BE49-F238E27FC236}">
                <a16:creationId xmlns:a16="http://schemas.microsoft.com/office/drawing/2014/main" id="{C7E5944F-17BC-4859-9237-13FCC53B7645}"/>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Ferramenta: </a:t>
            </a:r>
            <a:r>
              <a:rPr sz="1050" i="0">
                <a:solidFill>
                  <a:srgbClr val="38415C"/>
                </a:solidFill>
                <a:latin typeface="Fira Sans"/>
                <a:ea typeface="Fira Sans"/>
                <a:cs typeface="Fira Sans"/>
              </a:rPr>
              <a:t>infraestrutura semântica para recuperar, sintetizar e distribuir conhecimento.</a:t>
            </a:r>
          </a:p>
          <a:p xmlns:a="http://schemas.openxmlformats.org/drawingml/2006/main">
            <a:pPr marL="18" indent="-10">
              <a:spcAft>
                <a:spcPts val="7"/>
              </a:spcAft>
              <a:buChar char="•"/>
            </a:pPr>
            <a:r>
              <a:rPr sz="1050" b="1" i="0">
                <a:solidFill>
                  <a:srgbClr val="EB976D"/>
                </a:solidFill>
                <a:latin typeface="Fira Sans"/>
                <a:ea typeface="Fira Sans"/>
                <a:cs typeface="Fira Sans"/>
              </a:rPr>
              <a:t>Agente operacional: </a:t>
            </a:r>
            <a:r>
              <a:rPr sz="1050" b="1" i="0">
                <a:solidFill>
                  <a:srgbClr val="38415C"/>
                </a:solidFill>
                <a:latin typeface="Fira Sans"/>
                <a:ea typeface="Fira Sans"/>
                <a:cs typeface="Fira Sans"/>
              </a:rPr>
              <a:t>sistema que recebe objetivos delegados, planeja etapas e usa ferramentas dentro de limites definidos.</a:t>
            </a:r>
          </a:p>
          <a:p xmlns:a="http://schemas.openxmlformats.org/drawingml/2006/main">
            <a:pPr marL="18" indent="-10">
              <a:spcAft>
                <a:spcPts val="7"/>
              </a:spcAft>
              <a:buChar char="•"/>
            </a:pPr>
            <a:r>
              <a:rPr sz="1050" b="1" i="0">
                <a:solidFill>
                  <a:srgbClr val="EB976D"/>
                </a:solidFill>
                <a:latin typeface="Fira Sans"/>
                <a:ea typeface="Fira Sans"/>
                <a:cs typeface="Fira Sans"/>
              </a:rPr>
              <a:t>Agência material: </a:t>
            </a:r>
            <a:r>
              <a:rPr sz="1050" b="1" i="0">
                <a:solidFill>
                  <a:srgbClr val="38415C"/>
                </a:solidFill>
                <a:latin typeface="Fira Sans"/>
                <a:ea typeface="Fira Sans"/>
                <a:cs typeface="Fira Sans"/>
              </a:rPr>
              <a:t>suas ações alteram fluxos, decisões e práticas sociotécnicas da organização.</a:t>
            </a:r>
          </a:p>
          <a:p xmlns:a="http://schemas.openxmlformats.org/drawingml/2006/main">
            <a:pPr marL="18" indent="-10">
              <a:spcAft>
                <a:spcPts val="7"/>
              </a:spcAft>
              <a:buChar char="•"/>
            </a:pPr>
            <a:r>
              <a:rPr sz="1050" b="1" i="0">
                <a:solidFill>
                  <a:srgbClr val="EB976D"/>
                </a:solidFill>
                <a:latin typeface="Fira Sans"/>
                <a:ea typeface="Fira Sans"/>
                <a:cs typeface="Fira Sans"/>
              </a:rPr>
              <a:t>Limite conceitual: </a:t>
            </a:r>
            <a:r>
              <a:rPr sz="1050" b="1" i="0">
                <a:solidFill>
                  <a:srgbClr val="38415C"/>
                </a:solidFill>
                <a:latin typeface="Fira Sans"/>
                <a:ea typeface="Fira Sans"/>
                <a:cs typeface="Fira Sans"/>
              </a:rPr>
              <a:t>agência não implica consciência, intenção própria ou aprendizagem contínua garantida.</a:t>
            </a:r>
          </a:p>
          <a:p xmlns:a="http://schemas.openxmlformats.org/drawingml/2006/main">
            <a:pPr marL="18" indent="-10">
              <a:spcAft>
                <a:spcPts val="7"/>
              </a:spcAft>
              <a:buNone/>
            </a:pPr>
            <a:r>
              <a:rPr sz="900" b="1" i="0">
                <a:solidFill>
                  <a:srgbClr val="EB976D"/>
                </a:solidFill>
                <a:latin typeface="Fira Sans"/>
                <a:ea typeface="Fira Sans"/>
                <a:cs typeface="Fira Sans"/>
              </a:rPr>
              <a:t>Controle: </a:t>
            </a:r>
            <a:r>
              <a:rPr sz="900" b="1" i="1">
                <a:solidFill>
                  <a:srgbClr val="8C8C96"/>
                </a:solidFill>
                <a:latin typeface="Fira Sans"/>
                <a:ea typeface="Fira Sans"/>
                <a:cs typeface="Fira Sans"/>
              </a:rPr>
              <a:t>responsabilidade e autoridade decisória permanecem organizacionais e humanas.</a:t>
            </a:r>
          </a:p>
        </p:txBody>
      </p:sp>
    </p:spTree>
    <p:extLst>
      <p:ext uri="{BB962C8B-B14F-4D97-AF65-F5344CB8AC3E}">
        <p14:creationId xmlns:p14="http://schemas.microsoft.com/office/powerpoint/2010/main" val="18891509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0C1A88-C3EC-445E-9E60-7D4473CB11F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Governança de IA como ciclo de aprendizagem</a:t>
            </a:r>
          </a:p>
        </p:txBody>
      </p:sp>
      <p:sp>
        <p:nvSpPr>
          <p:cNvPr id="3" name="Content Placeholder 2">
            <a:extLst xmlns:a="http://schemas.openxmlformats.org/drawingml/2006/main">
              <a:ext uri="{FF2B5EF4-FFF2-40B4-BE49-F238E27FC236}">
                <a16:creationId xmlns:a16="http://schemas.microsoft.com/office/drawing/2014/main" id="{26DA40BB-8025-4C13-A47C-855565CD2948}"/>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Ética e direitos: </a:t>
            </a:r>
            <a:r>
              <a:rPr sz="1050" i="0">
                <a:solidFill>
                  <a:srgbClr val="38415C"/>
                </a:solidFill>
                <a:latin typeface="Fira Sans"/>
                <a:ea typeface="Fira Sans"/>
                <a:cs typeface="Fira Sans"/>
              </a:rPr>
              <a:t>finalidades legítimas, privacidade, não discriminação e segurança psicológica.</a:t>
            </a:r>
          </a:p>
          <a:p xmlns:a="http://schemas.openxmlformats.org/drawingml/2006/main">
            <a:pPr marL="18" indent="-10">
              <a:spcAft>
                <a:spcPts val="7"/>
              </a:spcAft>
              <a:buChar char="•"/>
            </a:pPr>
            <a:r>
              <a:rPr sz="1050" b="1" i="0">
                <a:solidFill>
                  <a:srgbClr val="EB976D"/>
                </a:solidFill>
                <a:latin typeface="Fira Sans"/>
                <a:ea typeface="Fira Sans"/>
                <a:cs typeface="Fira Sans"/>
              </a:rPr>
              <a:t>Accountability: </a:t>
            </a:r>
            <a:r>
              <a:rPr sz="1050" b="1" i="0">
                <a:solidFill>
                  <a:srgbClr val="38415C"/>
                </a:solidFill>
                <a:latin typeface="Fira Sans"/>
                <a:ea typeface="Fira Sans"/>
                <a:cs typeface="Fira Sans"/>
              </a:rPr>
              <a:t>papéis, rastreabilidade, apelação e responsabilização por decisões.</a:t>
            </a:r>
          </a:p>
          <a:p xmlns:a="http://schemas.openxmlformats.org/drawingml/2006/main">
            <a:pPr marL="18" indent="-10">
              <a:spcAft>
                <a:spcPts val="7"/>
              </a:spcAft>
              <a:buChar char="•"/>
            </a:pPr>
            <a:r>
              <a:rPr sz="1050" b="1" i="0">
                <a:solidFill>
                  <a:srgbClr val="EB976D"/>
                </a:solidFill>
                <a:latin typeface="Fira Sans"/>
                <a:ea typeface="Fira Sans"/>
                <a:cs typeface="Fira Sans"/>
              </a:rPr>
              <a:t>Transparência: </a:t>
            </a:r>
            <a:r>
              <a:rPr sz="1050" b="1" i="0">
                <a:solidFill>
                  <a:srgbClr val="38415C"/>
                </a:solidFill>
                <a:latin typeface="Fira Sans"/>
                <a:ea typeface="Fira Sans"/>
                <a:cs typeface="Fira Sans"/>
              </a:rPr>
              <a:t>fontes, critérios, limitações e registro das intervenções.</a:t>
            </a:r>
          </a:p>
          <a:p xmlns:a="http://schemas.openxmlformats.org/drawingml/2006/main">
            <a:pPr marL="18" indent="-10">
              <a:spcAft>
                <a:spcPts val="7"/>
              </a:spcAft>
              <a:buChar char="•"/>
            </a:pPr>
            <a:r>
              <a:rPr sz="1050" b="1" i="0">
                <a:solidFill>
                  <a:srgbClr val="EB976D"/>
                </a:solidFill>
                <a:latin typeface="Fira Sans"/>
                <a:ea typeface="Fira Sans"/>
                <a:cs typeface="Fira Sans"/>
              </a:rPr>
              <a:t>Controle: </a:t>
            </a:r>
            <a:r>
              <a:rPr sz="1050" b="1" i="0">
                <a:solidFill>
                  <a:srgbClr val="38415C"/>
                </a:solidFill>
                <a:latin typeface="Fira Sans"/>
                <a:ea typeface="Fira Sans"/>
                <a:cs typeface="Fira Sans"/>
              </a:rPr>
              <a:t>human-in/on/out-of-the-loop conforme risco, reversibilidade e impacto.</a:t>
            </a:r>
          </a:p>
          <a:p xmlns:a="http://schemas.openxmlformats.org/drawingml/2006/main">
            <a:pPr marL="18" indent="-10">
              <a:spcAft>
                <a:spcPts val="7"/>
              </a:spcAft>
              <a:buChar char="•"/>
            </a:pPr>
            <a:r>
              <a:rPr sz="1050" b="1" i="0">
                <a:solidFill>
                  <a:srgbClr val="EB976D"/>
                </a:solidFill>
                <a:latin typeface="Fira Sans"/>
                <a:ea typeface="Fira Sans"/>
                <a:cs typeface="Fira Sans"/>
              </a:rPr>
              <a:t>Ciclo pedagógico: </a:t>
            </a:r>
            <a:r>
              <a:rPr sz="1050" b="1" i="0">
                <a:solidFill>
                  <a:srgbClr val="38415C"/>
                </a:solidFill>
                <a:latin typeface="Fira Sans"/>
                <a:ea typeface="Fira Sans"/>
                <a:cs typeface="Fira Sans"/>
              </a:rPr>
              <a:t>contestar, corrigir e incorporar aprendizados ao sistema e às práticas.</a:t>
            </a:r>
          </a:p>
          <a:p xmlns:a="http://schemas.openxmlformats.org/drawingml/2006/main">
            <a:pPr marL="18" indent="-10">
              <a:spcAft>
                <a:spcPts val="7"/>
              </a:spcAft>
              <a:buNone/>
            </a:pPr>
            <a:r>
              <a:rPr sz="900" b="1" i="0">
                <a:solidFill>
                  <a:srgbClr val="EB976D"/>
                </a:solidFill>
                <a:latin typeface="Fira Sans"/>
                <a:ea typeface="Fira Sans"/>
                <a:cs typeface="Fira Sans"/>
              </a:rPr>
              <a:t>Síntese: </a:t>
            </a:r>
            <a:r>
              <a:rPr sz="900" b="1" i="1">
                <a:solidFill>
                  <a:srgbClr val="8C8C96"/>
                </a:solidFill>
                <a:latin typeface="Fira Sans"/>
                <a:ea typeface="Fira Sans"/>
                <a:cs typeface="Fira Sans"/>
              </a:rPr>
              <a:t>capacitação é um mecanismo de mitigação, não garantia suficiente.</a:t>
            </a:r>
          </a:p>
        </p:txBody>
      </p:sp>
    </p:spTree>
    <p:extLst>
      <p:ext uri="{BB962C8B-B14F-4D97-AF65-F5344CB8AC3E}">
        <p14:creationId xmlns:p14="http://schemas.microsoft.com/office/powerpoint/2010/main" val="116763980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07615A-39EE-4B38-B188-14E9DE0C0C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Revisão de escopo — funil de seleção</a:t>
            </a:r>
          </a:p>
        </p:txBody>
      </p:sp>
      <p:graphicFrame>
        <p:nvGraphicFramePr>
          <p:cNvPr id="3" name="Tabela Triagem"/>
          <p:cNvGraphicFramePr/>
          <p:nvPr/>
        </p:nvGraphicFramePr>
        <p:xfrm>
          <a:off xmlns:a="http://schemas.openxmlformats.org/drawingml/2006/main" x="209550" y="1428750"/>
          <a:ext xmlns:a="http://schemas.openxmlformats.org/drawingml/2006/main" cx="8724900" cy="3143250"/>
        </p:xfrm>
        <a:graphic xmlns:a="http://schemas.openxmlformats.org/drawingml/2006/main">
          <a:graphicData uri="http://schemas.openxmlformats.org/drawingml/2006/table">
            <a:tbl>
              <a:tblPr firstRow="1" lastRow="1">
                <a:tableStyleId>{5C22544A-7EE6-4342-B048-85BDC9FD1C3A}</a:tableStyleId>
              </a:tblPr>
              <a:tblGrid>
                <a:gridCol w="952500"/>
                <a:gridCol w="714375"/>
                <a:gridCol w="809625"/>
                <a:gridCol w="714375"/>
                <a:gridCol w="3143250"/>
                <a:gridCol w="2390775"/>
              </a:tblGrid>
              <a:tr h="300000">
                <a:tc>
                  <a:txBody>
                    <a:bodyPr/>
                    <a:lstStyle/>
                    <a:p>
                      <a:pPr algn="ctr">
                        <a:buNone/>
                      </a:pPr>
                      <a:r>
                        <a:rPr sz="750" b="1">
                          <a:solidFill>
                            <a:srgbClr val="38415C"/>
                          </a:solidFill>
                          <a:latin typeface="Fira Sans"/>
                          <a:ea typeface="Fira Sans"/>
                          <a:cs typeface="Fira Sans"/>
                        </a:rPr>
                        <a:t>Etapa</a:t>
                      </a:r>
                    </a:p>
                  </a:txBody>
                  <a:tcPr marL="45720" marR="45720" marT="22860" marB="22860" anchor="ctr"/>
                </a:tc>
                <a:tc>
                  <a:txBody>
                    <a:bodyPr/>
                    <a:lstStyle/>
                    <a:p>
                      <a:pPr algn="ctr">
                        <a:buNone/>
                      </a:pPr>
                      <a:r>
                        <a:rPr sz="750" b="1">
                          <a:solidFill>
                            <a:srgbClr val="38415C"/>
                          </a:solidFill>
                          <a:latin typeface="Fira Sans"/>
                          <a:ea typeface="Fira Sans"/>
                          <a:cs typeface="Fira Sans"/>
                        </a:rPr>
                        <a:t>Entrada</a:t>
                      </a:r>
                    </a:p>
                  </a:txBody>
                  <a:tcPr marL="45720" marR="45720" marT="22860" marB="22860" anchor="ctr"/>
                </a:tc>
                <a:tc>
                  <a:txBody>
                    <a:bodyPr/>
                    <a:lstStyle/>
                    <a:p>
                      <a:pPr algn="ctr">
                        <a:buNone/>
                      </a:pPr>
                      <a:r>
                        <a:rPr sz="750" b="1">
                          <a:solidFill>
                            <a:srgbClr val="38415C"/>
                          </a:solidFill>
                          <a:latin typeface="Fira Sans"/>
                          <a:ea typeface="Fira Sans"/>
                          <a:cs typeface="Fira Sans"/>
                        </a:rPr>
                        <a:t>Exclusões</a:t>
                      </a:r>
                    </a:p>
                  </a:txBody>
                  <a:tcPr marL="45720" marR="45720" marT="22860" marB="22860" anchor="ctr"/>
                </a:tc>
                <a:tc>
                  <a:txBody>
                    <a:bodyPr/>
                    <a:lstStyle/>
                    <a:p>
                      <a:pPr algn="ctr">
                        <a:buNone/>
                      </a:pPr>
                      <a:r>
                        <a:rPr sz="750" b="1">
                          <a:solidFill>
                            <a:srgbClr val="38415C"/>
                          </a:solidFill>
                          <a:latin typeface="Fira Sans"/>
                          <a:ea typeface="Fira Sans"/>
                          <a:cs typeface="Fira Sans"/>
                        </a:rPr>
                        <a:t>Saída</a:t>
                      </a:r>
                    </a:p>
                  </a:txBody>
                  <a:tcPr marL="45720" marR="45720" marT="22860" marB="22860" anchor="ctr"/>
                </a:tc>
                <a:tc>
                  <a:txBody>
                    <a:bodyPr/>
                    <a:lstStyle/>
                    <a:p>
                      <a:pPr algn="ctr">
                        <a:buNone/>
                      </a:pPr>
                      <a:r>
                        <a:rPr sz="750" b="1">
                          <a:solidFill>
                            <a:srgbClr val="38415C"/>
                          </a:solidFill>
                          <a:latin typeface="Fira Sans"/>
                          <a:ea typeface="Fira Sans"/>
                          <a:cs typeface="Fira Sans"/>
                        </a:rPr>
                        <a:t>Critério</a:t>
                      </a:r>
                    </a:p>
                  </a:txBody>
                  <a:tcPr marL="45720" marR="45720" marT="22860" marB="22860" anchor="ctr"/>
                </a:tc>
                <a:tc>
                  <a:txBody>
                    <a:bodyPr/>
                    <a:lstStyle/>
                    <a:p>
                      <a:pPr algn="ctr">
                        <a:buNone/>
                      </a:pPr>
                      <a:r>
                        <a:rPr sz="750" b="1">
                          <a:solidFill>
                            <a:srgbClr val="38415C"/>
                          </a:solidFill>
                          <a:latin typeface="Fira Sans"/>
                          <a:ea typeface="Fira Sans"/>
                          <a:cs typeface="Fira Sans"/>
                        </a:rPr>
                        <a:t>Decisão humana</a:t>
                      </a:r>
                    </a:p>
                  </a:txBody>
                  <a:tcPr marL="45720" marR="45720" marT="22860" marB="22860" anchor="ctr"/>
                </a:tc>
              </a:tr>
              <a:tr h="300000">
                <a:tc>
                  <a:txBody>
                    <a:bodyPr/>
                    <a:lstStyle/>
                    <a:p>
                      <a:pPr algn="ctr">
                        <a:buNone/>
                      </a:pPr>
                      <a:r>
                        <a:rPr sz="713" b="1">
                          <a:solidFill>
                            <a:srgbClr val="38415C"/>
                          </a:solidFill>
                          <a:latin typeface="Fira Sans"/>
                          <a:ea typeface="Fira Sans"/>
                          <a:cs typeface="Fira Sans"/>
                        </a:rPr>
                        <a:t>Identificação</a:t>
                      </a:r>
                    </a:p>
                  </a:txBody>
                  <a:tcPr marL="45720" marR="45720" marT="22860" marB="22860" anchor="ctr"/>
                </a:tc>
                <a:tc>
                  <a:txBody>
                    <a:bodyPr/>
                    <a:lstStyle/>
                    <a:p>
                      <a:pPr algn="l">
                        <a:buNone/>
                      </a:pPr>
                      <a:r>
                        <a:rPr sz="713" b="0" i="1">
                          <a:solidFill>
                            <a:srgbClr val="38415C"/>
                          </a:solidFill>
                          <a:latin typeface="Fira Sans"/>
                          <a:ea typeface="Fira Sans"/>
                          <a:cs typeface="Fira Sans"/>
                        </a:rPr>
                        <a:t>129</a:t>
                      </a:r>
                    </a:p>
                  </a:txBody>
                  <a:tcPr marL="45720" marR="45720" marT="22860" marB="22860" anchor="ctr"/>
                </a:tc>
                <a:tc>
                  <a:txBody>
                    <a:bodyPr/>
                    <a:lstStyle/>
                    <a:p>
                      <a:pPr algn="ctr">
                        <a:buNone/>
                      </a:pPr>
                      <a:r>
                        <a:rPr sz="713" b="0">
                          <a:solidFill>
                            <a:srgbClr val="38415C"/>
                          </a:solidFill>
                          <a:latin typeface="Fira Sans"/>
                          <a:ea typeface="Fira Sans"/>
                          <a:cs typeface="Fira Sans"/>
                        </a:rPr>
                        <a:t>—</a:t>
                      </a:r>
                    </a:p>
                  </a:txBody>
                  <a:tcPr marL="45720" marR="45720" marT="22860" marB="22860" anchor="ctr"/>
                </a:tc>
                <a:tc>
                  <a:txBody>
                    <a:bodyPr/>
                    <a:lstStyle/>
                    <a:p>
                      <a:pPr algn="ctr">
                        <a:buNone/>
                      </a:pPr>
                      <a:r>
                        <a:rPr sz="713" b="0">
                          <a:solidFill>
                            <a:srgbClr val="38415C"/>
                          </a:solidFill>
                          <a:latin typeface="Fira Sans"/>
                          <a:ea typeface="Fira Sans"/>
                          <a:cs typeface="Fira Sans"/>
                        </a:rPr>
                        <a:t>129</a:t>
                      </a:r>
                    </a:p>
                  </a:txBody>
                  <a:tcPr marL="45720" marR="45720" marT="22860" marB="22860" anchor="ctr"/>
                </a:tc>
                <a:tc>
                  <a:txBody>
                    <a:bodyPr/>
                    <a:lstStyle/>
                    <a:p>
                      <a:pPr algn="ctr">
                        <a:buNone/>
                      </a:pPr>
                      <a:r>
                        <a:rPr sz="713" b="0">
                          <a:solidFill>
                            <a:srgbClr val="38415C"/>
                          </a:solidFill>
                          <a:latin typeface="Fira Sans"/>
                          <a:ea typeface="Fira Sans"/>
                          <a:cs typeface="Fira Sans"/>
                        </a:rPr>
                        <a:t>Base + equações</a:t>
                      </a:r>
                    </a:p>
                  </a:txBody>
                  <a:tcPr marL="45720" marR="45720" marT="22860" marB="22860" anchor="ctr"/>
                </a:tc>
                <a:tc>
                  <a:txBody>
                    <a:bodyPr/>
                    <a:lstStyle/>
                    <a:p>
                      <a:pPr algn="ctr">
                        <a:buNone/>
                      </a:pPr>
                      <a:r>
                        <a:rPr sz="713" b="0">
                          <a:solidFill>
                            <a:srgbClr val="38415C"/>
                          </a:solidFill>
                          <a:latin typeface="Fira Sans"/>
                          <a:ea typeface="Fira Sans"/>
                          <a:cs typeface="Fira Sans"/>
                        </a:rPr>
                        <a:t>Definição das buscas</a:t>
                      </a:r>
                    </a:p>
                  </a:txBody>
                  <a:tcPr marL="45720" marR="45720" marT="22860" marB="22860" anchor="ctr"/>
                </a:tc>
              </a:tr>
              <a:tr h="300000">
                <a:tc>
                  <a:txBody>
                    <a:bodyPr/>
                    <a:lstStyle/>
                    <a:p>
                      <a:pPr algn="ctr">
                        <a:buNone/>
                      </a:pPr>
                      <a:r>
                        <a:rPr sz="713" b="1">
                          <a:solidFill>
                            <a:srgbClr val="38415C"/>
                          </a:solidFill>
                          <a:latin typeface="Fira Sans"/>
                          <a:ea typeface="Fira Sans"/>
                          <a:cs typeface="Fira Sans"/>
                        </a:rPr>
                        <a:t>Deduplicação</a:t>
                      </a:r>
                    </a:p>
                  </a:txBody>
                  <a:tcPr marL="45720" marR="45720" marT="22860" marB="22860" anchor="ctr"/>
                </a:tc>
                <a:tc>
                  <a:txBody>
                    <a:bodyPr/>
                    <a:lstStyle/>
                    <a:p>
                      <a:pPr algn="l">
                        <a:buNone/>
                      </a:pPr>
                      <a:r>
                        <a:rPr sz="713" b="0">
                          <a:solidFill>
                            <a:srgbClr val="38415C"/>
                          </a:solidFill>
                          <a:latin typeface="Fira Sans"/>
                          <a:ea typeface="Fira Sans"/>
                          <a:cs typeface="Fira Sans"/>
                        </a:rPr>
                        <a:t>129</a:t>
                      </a:r>
                    </a:p>
                  </a:txBody>
                  <a:tcPr marL="45720" marR="45720" marT="22860" marB="22860" anchor="ctr"/>
                </a:tc>
                <a:tc>
                  <a:txBody>
                    <a:bodyPr/>
                    <a:lstStyle/>
                    <a:p>
                      <a:pPr algn="ctr">
                        <a:buNone/>
                      </a:pPr>
                      <a:r>
                        <a:rPr sz="713" b="0">
                          <a:solidFill>
                            <a:srgbClr val="38415C"/>
                          </a:solidFill>
                          <a:latin typeface="Fira Sans"/>
                          <a:ea typeface="Fira Sans"/>
                          <a:cs typeface="Fira Sans"/>
                        </a:rPr>
                        <a:t>15</a:t>
                      </a:r>
                    </a:p>
                  </a:txBody>
                  <a:tcPr marL="45720" marR="45720" marT="22860" marB="22860" anchor="ctr"/>
                </a:tc>
                <a:tc>
                  <a:txBody>
                    <a:bodyPr/>
                    <a:lstStyle/>
                    <a:p>
                      <a:pPr algn="ctr">
                        <a:buNone/>
                      </a:pPr>
                      <a:r>
                        <a:rPr sz="713" b="0">
                          <a:solidFill>
                            <a:srgbClr val="38415C"/>
                          </a:solidFill>
                          <a:latin typeface="Fira Sans"/>
                          <a:ea typeface="Fira Sans"/>
                          <a:cs typeface="Fira Sans"/>
                        </a:rPr>
                        <a:t>114</a:t>
                      </a:r>
                    </a:p>
                  </a:txBody>
                  <a:tcPr marL="45720" marR="45720" marT="22860" marB="22860" anchor="ctr"/>
                </a:tc>
                <a:tc>
                  <a:txBody>
                    <a:bodyPr/>
                    <a:lstStyle/>
                    <a:p>
                      <a:pPr algn="ctr">
                        <a:buNone/>
                      </a:pPr>
                      <a:r>
                        <a:rPr sz="713" b="0">
                          <a:solidFill>
                            <a:srgbClr val="38415C"/>
                          </a:solidFill>
                          <a:latin typeface="Fira Sans"/>
                          <a:ea typeface="Fira Sans"/>
                          <a:cs typeface="Fira Sans"/>
                        </a:rPr>
                        <a:t>Duplicatas/não validados</a:t>
                      </a:r>
                    </a:p>
                  </a:txBody>
                  <a:tcPr marL="45720" marR="45720" marT="22860" marB="22860" anchor="ctr"/>
                </a:tc>
                <a:tc>
                  <a:txBody>
                    <a:bodyPr/>
                    <a:lstStyle/>
                    <a:p>
                      <a:pPr algn="ctr">
                        <a:buNone/>
                      </a:pPr>
                      <a:r>
                        <a:rPr sz="713" b="0">
                          <a:solidFill>
                            <a:srgbClr val="38415C"/>
                          </a:solidFill>
                          <a:latin typeface="Fira Sans"/>
                          <a:ea typeface="Fira Sans"/>
                          <a:cs typeface="Fira Sans"/>
                        </a:rPr>
                        <a:t>Auditoria dos registros</a:t>
                      </a:r>
                    </a:p>
                  </a:txBody>
                  <a:tcPr marL="45720" marR="45720" marT="22860" marB="22860" anchor="ctr"/>
                </a:tc>
              </a:tr>
              <a:tr h="300000">
                <a:tc>
                  <a:txBody>
                    <a:bodyPr/>
                    <a:lstStyle/>
                    <a:p>
                      <a:pPr algn="ctr">
                        <a:buNone/>
                      </a:pPr>
                      <a:r>
                        <a:rPr sz="713" b="1">
                          <a:solidFill>
                            <a:srgbClr val="38415C"/>
                          </a:solidFill>
                          <a:latin typeface="Fira Sans"/>
                          <a:ea typeface="Fira Sans"/>
                          <a:cs typeface="Fira Sans"/>
                        </a:rPr>
                        <a:t>Acesso integral</a:t>
                      </a:r>
                    </a:p>
                  </a:txBody>
                  <a:tcPr marL="45720" marR="45720" marT="22860" marB="22860" anchor="ctr"/>
                </a:tc>
                <a:tc>
                  <a:txBody>
                    <a:bodyPr/>
                    <a:lstStyle/>
                    <a:p>
                      <a:pPr algn="l">
                        <a:buNone/>
                      </a:pPr>
                      <a:r>
                        <a:rPr sz="713" b="0">
                          <a:solidFill>
                            <a:srgbClr val="38415C"/>
                          </a:solidFill>
                          <a:latin typeface="Fira Sans"/>
                          <a:ea typeface="Fira Sans"/>
                          <a:cs typeface="Fira Sans"/>
                        </a:rPr>
                        <a:t>114</a:t>
                      </a:r>
                    </a:p>
                  </a:txBody>
                  <a:tcPr marL="45720" marR="45720" marT="22860" marB="22860" anchor="ctr"/>
                </a:tc>
                <a:tc>
                  <a:txBody>
                    <a:bodyPr/>
                    <a:lstStyle/>
                    <a:p>
                      <a:pPr algn="ctr">
                        <a:buNone/>
                      </a:pPr>
                      <a:r>
                        <a:rPr sz="713" b="0">
                          <a:solidFill>
                            <a:srgbClr val="38415C"/>
                          </a:solidFill>
                          <a:latin typeface="Fira Sans"/>
                          <a:ea typeface="Fira Sans"/>
                          <a:cs typeface="Fira Sans"/>
                        </a:rPr>
                        <a:t>21</a:t>
                      </a:r>
                    </a:p>
                  </a:txBody>
                  <a:tcPr marL="45720" marR="45720" marT="22860" marB="22860" anchor="ctr"/>
                </a:tc>
                <a:tc>
                  <a:txBody>
                    <a:bodyPr/>
                    <a:lstStyle/>
                    <a:p>
                      <a:pPr algn="ctr">
                        <a:buNone/>
                      </a:pPr>
                      <a:r>
                        <a:rPr sz="713" b="0">
                          <a:solidFill>
                            <a:srgbClr val="38415C"/>
                          </a:solidFill>
                          <a:latin typeface="Fira Sans"/>
                          <a:ea typeface="Fira Sans"/>
                          <a:cs typeface="Fira Sans"/>
                        </a:rPr>
                        <a:t>93</a:t>
                      </a:r>
                    </a:p>
                  </a:txBody>
                  <a:tcPr marL="45720" marR="45720" marT="22860" marB="22860" anchor="ctr"/>
                </a:tc>
                <a:tc>
                  <a:txBody>
                    <a:bodyPr/>
                    <a:lstStyle/>
                    <a:p>
                      <a:pPr algn="ctr">
                        <a:buNone/>
                      </a:pPr>
                      <a:r>
                        <a:rPr sz="713" b="0">
                          <a:solidFill>
                            <a:srgbClr val="38415C"/>
                          </a:solidFill>
                          <a:latin typeface="Fira Sans"/>
                          <a:ea typeface="Fira Sans"/>
                          <a:cs typeface="Fira Sans"/>
                        </a:rPr>
                        <a:t>PDF completo</a:t>
                      </a:r>
                    </a:p>
                  </a:txBody>
                  <a:tcPr marL="45720" marR="45720" marT="22860" marB="22860" anchor="ctr"/>
                </a:tc>
                <a:tc>
                  <a:txBody>
                    <a:bodyPr/>
                    <a:lstStyle/>
                    <a:p>
                      <a:pPr algn="ctr">
                        <a:buNone/>
                      </a:pPr>
                      <a:r>
                        <a:rPr sz="713" b="0">
                          <a:solidFill>
                            <a:srgbClr val="38415C"/>
                          </a:solidFill>
                          <a:latin typeface="Fira Sans"/>
                          <a:ea typeface="Fira Sans"/>
                          <a:cs typeface="Fira Sans"/>
                        </a:rPr>
                        <a:t>Revisão de acesso</a:t>
                      </a:r>
                    </a:p>
                  </a:txBody>
                  <a:tcPr marL="45720" marR="45720" marT="22860" marB="22860" anchor="ctr"/>
                </a:tc>
              </a:tr>
              <a:tr h="300000">
                <a:tc>
                  <a:txBody>
                    <a:bodyPr/>
                    <a:lstStyle/>
                    <a:p>
                      <a:pPr algn="ctr">
                        <a:buNone/>
                      </a:pPr>
                      <a:r>
                        <a:rPr sz="713" b="1">
                          <a:solidFill>
                            <a:srgbClr val="38415C"/>
                          </a:solidFill>
                          <a:latin typeface="Fira Sans"/>
                          <a:ea typeface="Fira Sans"/>
                          <a:cs typeface="Fira Sans"/>
                        </a:rPr>
                        <a:t>Curadoria conceitual</a:t>
                      </a:r>
                    </a:p>
                  </a:txBody>
                  <a:tcPr marL="45720" marR="45720" marT="22860" marB="22860" anchor="ctr"/>
                </a:tc>
                <a:tc>
                  <a:txBody>
                    <a:bodyPr/>
                    <a:lstStyle/>
                    <a:p>
                      <a:pPr algn="l">
                        <a:buNone/>
                      </a:pPr>
                      <a:r>
                        <a:rPr sz="713" b="0">
                          <a:solidFill>
                            <a:srgbClr val="38415C"/>
                          </a:solidFill>
                          <a:latin typeface="Fira Sans"/>
                          <a:ea typeface="Fira Sans"/>
                          <a:cs typeface="Fira Sans"/>
                        </a:rPr>
                        <a:t>93</a:t>
                      </a:r>
                    </a:p>
                  </a:txBody>
                  <a:tcPr marL="45720" marR="45720" marT="22860" marB="22860" anchor="ctr"/>
                </a:tc>
                <a:tc>
                  <a:txBody>
                    <a:bodyPr/>
                    <a:lstStyle/>
                    <a:p>
                      <a:pPr algn="ctr">
                        <a:buNone/>
                      </a:pPr>
                      <a:r>
                        <a:rPr sz="713" b="0">
                          <a:solidFill>
                            <a:srgbClr val="38415C"/>
                          </a:solidFill>
                          <a:latin typeface="Fira Sans"/>
                          <a:ea typeface="Fira Sans"/>
                          <a:cs typeface="Fira Sans"/>
                        </a:rPr>
                        <a:t>73</a:t>
                      </a:r>
                    </a:p>
                  </a:txBody>
                  <a:tcPr marL="45720" marR="45720" marT="22860" marB="22860" anchor="ctr"/>
                </a:tc>
                <a:tc>
                  <a:txBody>
                    <a:bodyPr/>
                    <a:lstStyle/>
                    <a:p>
                      <a:pPr algn="ctr">
                        <a:buNone/>
                      </a:pPr>
                      <a:r>
                        <a:rPr sz="713" b="0">
                          <a:solidFill>
                            <a:srgbClr val="38415C"/>
                          </a:solidFill>
                          <a:latin typeface="Fira Sans"/>
                          <a:ea typeface="Fira Sans"/>
                          <a:cs typeface="Fira Sans"/>
                        </a:rPr>
                        <a:t>20</a:t>
                      </a:r>
                    </a:p>
                  </a:txBody>
                  <a:tcPr marL="45720" marR="45720" marT="22860" marB="22860" anchor="ctr"/>
                </a:tc>
                <a:tc>
                  <a:txBody>
                    <a:bodyPr/>
                    <a:lstStyle/>
                    <a:p>
                      <a:pPr algn="ctr">
                        <a:buNone/>
                      </a:pPr>
                      <a:r>
                        <a:rPr sz="713" b="0">
                          <a:solidFill>
                            <a:srgbClr val="38415C"/>
                          </a:solidFill>
                          <a:latin typeface="Fira Sans"/>
                          <a:ea typeface="Fira Sans"/>
                          <a:cs typeface="Fira Sans"/>
                        </a:rPr>
                        <a:t>Aderência, centralidade e cobertura</a:t>
                      </a:r>
                    </a:p>
                  </a:txBody>
                  <a:tcPr marL="45720" marR="45720" marT="22860" marB="22860" anchor="ctr"/>
                </a:tc>
                <a:tc>
                  <a:txBody>
                    <a:bodyPr/>
                    <a:lstStyle/>
                    <a:p>
                      <a:pPr algn="ctr">
                        <a:buNone/>
                      </a:pPr>
                      <a:r>
                        <a:rPr sz="713" b="0">
                          <a:solidFill>
                            <a:srgbClr val="38415C"/>
                          </a:solidFill>
                          <a:latin typeface="Fira Sans"/>
                          <a:ea typeface="Fira Sans"/>
                          <a:cs typeface="Fira Sans"/>
                        </a:rPr>
                        <a:t>Seleção final</a:t>
                      </a:r>
                    </a:p>
                  </a:txBody>
                  <a:tcPr marL="45720" marR="45720" marT="22860" marB="22860" anchor="ctr"/>
                </a:tc>
              </a:tr>
            </a:tbl>
          </a:graphicData>
        </a:graphic>
      </p:graphicFrame>
      <p:sp>
        <p:nvSpPr>
          <p:cNvPr id="5" name="Destaque Resultado">
            <a:extLst xmlns:a="http://schemas.openxmlformats.org/drawingml/2006/main">
              <a:ext uri="{FF2B5EF4-FFF2-40B4-BE49-F238E27FC236}">
                <a16:creationId xmlns:a16="http://schemas.microsoft.com/office/drawing/2014/main" id="{215C4499-6FD1-4AA3-9075-64A1090E022A}"/>
              </a:ext>
            </a:extLst>
          </p:cNvPr>
          <p:cNvSpPr>
            <a:spLocks xmlns:a="http://schemas.openxmlformats.org/drawingml/2006/main" noGrp="1"/>
          </p:cNvSpPr>
          <p:nvPr/>
        </p:nvSpPr>
        <p:spPr>
          <a:xfrm xmlns:a="http://schemas.openxmlformats.org/drawingml/2006/main">
            <a:off x="117417" y="4570000"/>
            <a:ext cx="8900000" cy="1500000"/>
          </a:xfrm>
          <a:prstGeom xmlns:a="http://schemas.openxmlformats.org/drawingml/2006/main" prst="roundRect">
            <a:avLst>
              <a:gd name="adj" fmla="val 6000"/>
            </a:avLst>
          </a:prstGeom>
          <a:solidFill xmlns:a="http://schemas.openxmlformats.org/drawingml/2006/main">
            <a:srgbClr val="F2F2F4"/>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6" name="Stat 93">
            <a:extLst xmlns:a="http://schemas.openxmlformats.org/drawingml/2006/main">
              <a:ext uri="{FF2B5EF4-FFF2-40B4-BE49-F238E27FC236}">
                <a16:creationId xmlns:a16="http://schemas.microsoft.com/office/drawing/2014/main" id="{A8ED8048-47E3-454F-BE56-9D408622BF9A}"/>
              </a:ext>
            </a:extLst>
          </p:cNvPr>
          <p:cNvSpPr>
            <a:spLocks xmlns:a="http://schemas.openxmlformats.org/drawingml/2006/main" noGrp="1"/>
          </p:cNvSpPr>
          <p:nvPr/>
        </p:nvSpPr>
        <p:spPr>
          <a:xfrm xmlns:a="http://schemas.openxmlformats.org/drawingml/2006/main">
            <a:off x="449961" y="4670012"/>
            <a:ext cx="3649980" cy="1238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buNone/>
            </a:pPr>
            <a:r>
              <a:rPr sz="1425" b="1" i="0">
                <a:solidFill>
                  <a:srgbClr val="38415C"/>
                </a:solidFill>
                <a:latin typeface="Fira Sans"/>
                <a:ea typeface="Fira Sans"/>
                <a:cs typeface="Fira Sans"/>
              </a:rPr>
              <a:t>93</a:t>
            </a:r>
          </a:p>
          <a:p xmlns:a="http://schemas.openxmlformats.org/drawingml/2006/main">
            <a:pPr algn="ctr">
              <a:buNone/>
            </a:pPr>
            <a:r>
              <a:rPr sz="1425" b="1" i="0">
                <a:solidFill>
                  <a:srgbClr val="38415C"/>
                </a:solidFill>
                <a:latin typeface="Fira Sans"/>
                <a:ea typeface="Fira Sans"/>
                <a:cs typeface="Fira Sans"/>
              </a:rPr>
              <a:t>artigos com texto integral</a:t>
            </a:r>
          </a:p>
        </p:txBody>
      </p:sp>
      <p:sp>
        <p:nvSpPr>
          <p:cNvPr id="7" name="Seta Resultado">
            <a:extLst xmlns:a="http://schemas.openxmlformats.org/drawingml/2006/main">
              <a:ext uri="{FF2B5EF4-FFF2-40B4-BE49-F238E27FC236}">
                <a16:creationId xmlns:a16="http://schemas.microsoft.com/office/drawing/2014/main" id="{A684A6B4-A22A-455B-B888-A336D6BDAD6E}"/>
              </a:ext>
            </a:extLst>
          </p:cNvPr>
          <p:cNvSpPr>
            <a:spLocks xmlns:a="http://schemas.openxmlformats.org/drawingml/2006/main" noGrp="1"/>
          </p:cNvSpPr>
          <p:nvPr/>
        </p:nvSpPr>
        <p:spPr>
          <a:xfrm xmlns:a="http://schemas.openxmlformats.org/drawingml/2006/main">
            <a:off x="4249960" y="4670012"/>
            <a:ext cx="619125" cy="1238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buNone/>
            </a:pPr>
            <a:r>
              <a:rPr sz="2550" b="1" i="0">
                <a:solidFill>
                  <a:srgbClr val="EB976D"/>
                </a:solidFill>
                <a:latin typeface="Fira Sans"/>
                <a:ea typeface="Fira Sans"/>
                <a:cs typeface="Fira Sans"/>
              </a:rPr>
              <a:t>→</a:t>
            </a:r>
          </a:p>
        </p:txBody>
      </p:sp>
      <p:sp>
        <p:nvSpPr>
          <p:cNvPr id="8" name="Stat 20">
            <a:extLst xmlns:a="http://schemas.openxmlformats.org/drawingml/2006/main">
              <a:ext uri="{FF2B5EF4-FFF2-40B4-BE49-F238E27FC236}">
                <a16:creationId xmlns:a16="http://schemas.microsoft.com/office/drawing/2014/main" id="{E80B7D5B-81E2-4485-A0CF-243E3D41D871}"/>
              </a:ext>
            </a:extLst>
          </p:cNvPr>
          <p:cNvSpPr>
            <a:spLocks xmlns:a="http://schemas.openxmlformats.org/drawingml/2006/main" noGrp="1"/>
          </p:cNvSpPr>
          <p:nvPr/>
        </p:nvSpPr>
        <p:spPr>
          <a:xfrm xmlns:a="http://schemas.openxmlformats.org/drawingml/2006/main">
            <a:off x="5143500" y="4670012"/>
            <a:ext cx="3454718" cy="1238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buNone/>
            </a:pPr>
            <a:r>
              <a:rPr sz="1425" b="1" i="0">
                <a:solidFill>
                  <a:srgbClr val="2D7A4A"/>
                </a:solidFill>
                <a:latin typeface="Fira Sans"/>
                <a:ea typeface="Fira Sans"/>
                <a:cs typeface="Fira Sans"/>
              </a:rPr>
              <a:t>20</a:t>
            </a:r>
          </a:p>
          <a:p xmlns:a="http://schemas.openxmlformats.org/drawingml/2006/main">
            <a:pPr algn="ctr">
              <a:buNone/>
            </a:pPr>
            <a:r>
              <a:rPr sz="1425" b="1" i="0">
                <a:solidFill>
                  <a:srgbClr val="2D7A4A"/>
                </a:solidFill>
                <a:latin typeface="Fira Sans"/>
                <a:ea typeface="Fira Sans"/>
                <a:cs typeface="Fira Sans"/>
              </a:rPr>
              <a:t>referências centrais ao retrofit</a:t>
            </a:r>
          </a:p>
        </p:txBody>
      </p:sp>
    </p:spTree>
    <p:extLst>
      <p:ext uri="{BB962C8B-B14F-4D97-AF65-F5344CB8AC3E}">
        <p14:creationId xmlns:p14="http://schemas.microsoft.com/office/powerpoint/2010/main" val="121520972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A6C849-8EEA-4804-903C-EFE4F920EEC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Protocolo de revisão e síntese</a:t>
            </a:r>
          </a:p>
        </p:txBody>
      </p:sp>
      <p:sp>
        <p:nvSpPr>
          <p:cNvPr id="3" name="Content Placeholder 2">
            <a:extLst xmlns:a="http://schemas.openxmlformats.org/drawingml/2006/main">
              <a:ext uri="{FF2B5EF4-FFF2-40B4-BE49-F238E27FC236}">
                <a16:creationId xmlns:a16="http://schemas.microsoft.com/office/drawing/2014/main" id="{795AC24E-1677-402B-8EAF-0FFAC3CBC4F8}"/>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1. Busca: </a:t>
            </a:r>
            <a:r>
              <a:rPr sz="1050" i="0">
                <a:solidFill>
                  <a:srgbClr val="38415C"/>
                </a:solidFill>
                <a:latin typeface="Fira Sans"/>
                <a:ea typeface="Fira Sans"/>
                <a:cs typeface="Fira Sans"/>
              </a:rPr>
              <a:t>base inicial e equações temáticas documentadas.</a:t>
            </a:r>
          </a:p>
          <a:p xmlns:a="http://schemas.openxmlformats.org/drawingml/2006/main">
            <a:pPr marL="18" indent="-10">
              <a:spcAft>
                <a:spcPts val="7"/>
              </a:spcAft>
              <a:buChar char="•"/>
            </a:pPr>
            <a:r>
              <a:rPr sz="1050" b="1" i="0">
                <a:solidFill>
                  <a:srgbClr val="EB976D"/>
                </a:solidFill>
                <a:latin typeface="Fira Sans"/>
                <a:ea typeface="Fira Sans"/>
                <a:cs typeface="Fira Sans"/>
              </a:rPr>
              <a:t>2. Deduplicação e acesso: </a:t>
            </a:r>
            <a:r>
              <a:rPr sz="1050" b="1" i="0">
                <a:solidFill>
                  <a:srgbClr val="38415C"/>
                </a:solidFill>
                <a:latin typeface="Fira Sans"/>
                <a:ea typeface="Fira Sans"/>
                <a:cs typeface="Fira Sans"/>
              </a:rPr>
              <a:t>registros únicos e verificação de texto integral.</a:t>
            </a:r>
          </a:p>
          <a:p xmlns:a="http://schemas.openxmlformats.org/drawingml/2006/main">
            <a:pPr marL="18" indent="-10">
              <a:spcAft>
                <a:spcPts val="7"/>
              </a:spcAft>
              <a:buChar char="•"/>
            </a:pPr>
            <a:r>
              <a:rPr sz="1050" b="1" i="0">
                <a:solidFill>
                  <a:srgbClr val="EB976D"/>
                </a:solidFill>
                <a:latin typeface="Fira Sans"/>
                <a:ea typeface="Fira Sans"/>
                <a:cs typeface="Fira Sans"/>
              </a:rPr>
              <a:t>3. Triagem assistida: </a:t>
            </a:r>
            <a:r>
              <a:rPr sz="1050" b="1" i="0">
                <a:solidFill>
                  <a:srgbClr val="38415C"/>
                </a:solidFill>
                <a:latin typeface="Fira Sans"/>
                <a:ea typeface="Fira Sans"/>
                <a:cs typeface="Fira Sans"/>
              </a:rPr>
              <a:t>recuperação semântica e classificação por LLM.</a:t>
            </a:r>
          </a:p>
          <a:p xmlns:a="http://schemas.openxmlformats.org/drawingml/2006/main">
            <a:pPr marL="18" indent="-10">
              <a:spcAft>
                <a:spcPts val="7"/>
              </a:spcAft>
              <a:buChar char="•"/>
            </a:pPr>
            <a:r>
              <a:rPr sz="1050" b="1" i="0">
                <a:solidFill>
                  <a:srgbClr val="EB976D"/>
                </a:solidFill>
                <a:latin typeface="Fira Sans"/>
                <a:ea typeface="Fira Sans"/>
                <a:cs typeface="Fira Sans"/>
              </a:rPr>
              <a:t>4. Curadoria humana: </a:t>
            </a:r>
            <a:r>
              <a:rPr sz="1050" b="1" i="0">
                <a:solidFill>
                  <a:srgbClr val="38415C"/>
                </a:solidFill>
                <a:latin typeface="Fira Sans"/>
                <a:ea typeface="Fira Sans"/>
                <a:cs typeface="Fira Sans"/>
              </a:rPr>
              <a:t>decisão final sobre aderência e centralidade teórica.</a:t>
            </a:r>
          </a:p>
          <a:p xmlns:a="http://schemas.openxmlformats.org/drawingml/2006/main">
            <a:pPr marL="18" indent="-10">
              <a:spcAft>
                <a:spcPts val="7"/>
              </a:spcAft>
              <a:buChar char="•"/>
            </a:pPr>
            <a:r>
              <a:rPr sz="1050" b="1" i="0">
                <a:solidFill>
                  <a:srgbClr val="EB976D"/>
                </a:solidFill>
                <a:latin typeface="Fira Sans"/>
                <a:ea typeface="Fira Sans"/>
                <a:cs typeface="Fira Sans"/>
              </a:rPr>
              <a:t>5. Síntese auditável: </a:t>
            </a:r>
            <a:r>
              <a:rPr sz="1050" b="1" i="0">
                <a:solidFill>
                  <a:srgbClr val="38415C"/>
                </a:solidFill>
                <a:latin typeface="Fira Sans"/>
                <a:ea typeface="Fira Sans"/>
                <a:cs typeface="Fira Sans"/>
              </a:rPr>
              <a:t>fichas estruturadas e rastreabilidade das referências.</a:t>
            </a:r>
          </a:p>
          <a:p xmlns:a="http://schemas.openxmlformats.org/drawingml/2006/main">
            <a:pPr marL="18" indent="-10">
              <a:spcAft>
                <a:spcPts val="7"/>
              </a:spcAft>
              <a:buNone/>
            </a:pPr>
            <a:r>
              <a:rPr sz="900" b="1" i="0">
                <a:solidFill>
                  <a:srgbClr val="EB976D"/>
                </a:solidFill>
                <a:latin typeface="Fira Sans"/>
                <a:ea typeface="Fira Sans"/>
                <a:cs typeface="Fira Sans"/>
              </a:rPr>
              <a:t>Princípio: </a:t>
            </a:r>
            <a:r>
              <a:rPr sz="900" b="1" i="1">
                <a:solidFill>
                  <a:srgbClr val="8C8C96"/>
                </a:solidFill>
                <a:latin typeface="Fira Sans"/>
                <a:ea typeface="Fira Sans"/>
                <a:cs typeface="Fira Sans"/>
              </a:rPr>
              <a:t>automação apoia a revisão; não substitui o julgamento dos autores.</a:t>
            </a:r>
          </a:p>
        </p:txBody>
      </p:sp>
    </p:spTree>
    <p:extLst>
      <p:ext uri="{BB962C8B-B14F-4D97-AF65-F5344CB8AC3E}">
        <p14:creationId xmlns:p14="http://schemas.microsoft.com/office/powerpoint/2010/main" val="201759921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F55CBF3-4FA5-40B2-9A4F-DF729ED9DD4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Estratégia de retrofit e avaliação</a:t>
            </a:r>
          </a:p>
        </p:txBody>
      </p:sp>
      <p:sp>
        <p:nvSpPr>
          <p:cNvPr id="3" name="Content Placeholder 2">
            <a:extLst xmlns:a="http://schemas.openxmlformats.org/drawingml/2006/main">
              <a:ext uri="{FF2B5EF4-FFF2-40B4-BE49-F238E27FC236}">
                <a16:creationId xmlns:a16="http://schemas.microsoft.com/office/drawing/2014/main" id="{2CF5DB59-D3B4-4404-8420-A3ECA861A639}"/>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Unidade de análise: </a:t>
            </a:r>
            <a:r>
              <a:rPr sz="1050" b="1" i="0">
                <a:solidFill>
                  <a:srgbClr val="38415C"/>
                </a:solidFill>
                <a:latin typeface="Fira Sans"/>
                <a:ea typeface="Fira Sans"/>
                <a:cs typeface="Fira Sans"/>
              </a:rPr>
              <a:t>arquiteturas conceituais de Universidade Corporativa.</a:t>
            </a:r>
          </a:p>
          <a:p xmlns:a="http://schemas.openxmlformats.org/drawingml/2006/main">
            <a:pPr marL="18" indent="-10">
              <a:spcAft>
                <a:spcPts val="7"/>
              </a:spcAft>
              <a:buChar char="•"/>
            </a:pPr>
            <a:r>
              <a:rPr sz="1050" b="1" i="0">
                <a:solidFill>
                  <a:srgbClr val="EB976D"/>
                </a:solidFill>
                <a:latin typeface="Fira Sans"/>
                <a:ea typeface="Fira Sans"/>
                <a:cs typeface="Fira Sans"/>
              </a:rPr>
              <a:t>Operação do retrofit: </a:t>
            </a:r>
            <a:r>
              <a:rPr sz="1050" b="1" i="0">
                <a:solidFill>
                  <a:srgbClr val="38415C"/>
                </a:solidFill>
                <a:latin typeface="Fira Sans"/>
                <a:ea typeface="Fira Sans"/>
                <a:cs typeface="Fira Sans"/>
              </a:rPr>
              <a:t>preservar Motive, Model e Moment e adicionar capacidades de IA e governança.</a:t>
            </a:r>
          </a:p>
          <a:p xmlns:a="http://schemas.openxmlformats.org/drawingml/2006/main">
            <a:pPr marL="18" indent="-10">
              <a:spcAft>
                <a:spcPts val="7"/>
              </a:spcAft>
              <a:buChar char="•"/>
            </a:pPr>
            <a:r>
              <a:rPr sz="1050" b="1" i="0">
                <a:solidFill>
                  <a:srgbClr val="EB976D"/>
                </a:solidFill>
                <a:latin typeface="Fira Sans"/>
                <a:ea typeface="Fira Sans"/>
                <a:cs typeface="Fira Sans"/>
              </a:rPr>
              <a:t>Cinco dimensões: </a:t>
            </a:r>
            <a:r>
              <a:rPr sz="1050" b="1" i="0">
                <a:solidFill>
                  <a:srgbClr val="38415C"/>
                </a:solidFill>
                <a:latin typeface="Fira Sans"/>
                <a:ea typeface="Fira Sans"/>
                <a:cs typeface="Fira Sans"/>
              </a:rPr>
              <a:t>agência, simbiose, ciclo de GC, governança/integridade e aprendizagem no fluxo.</a:t>
            </a:r>
          </a:p>
          <a:p xmlns:a="http://schemas.openxmlformats.org/drawingml/2006/main">
            <a:pPr marL="18" indent="-10">
              <a:spcAft>
                <a:spcPts val="7"/>
              </a:spcAft>
              <a:buChar char="•"/>
            </a:pPr>
            <a:r>
              <a:rPr sz="1050" b="1" i="0">
                <a:solidFill>
                  <a:srgbClr val="EB976D"/>
                </a:solidFill>
                <a:latin typeface="Fira Sans"/>
                <a:ea typeface="Fira Sans"/>
                <a:cs typeface="Fira Sans"/>
              </a:rPr>
              <a:t>Rubrica ordinal: </a:t>
            </a:r>
            <a:r>
              <a:rPr sz="1050" b="1" i="0">
                <a:solidFill>
                  <a:srgbClr val="38415C"/>
                </a:solidFill>
                <a:latin typeface="Fira Sans"/>
                <a:ea typeface="Fira Sans"/>
                <a:cs typeface="Fira Sans"/>
              </a:rPr>
              <a:t>Ausente, Parcial ou Pleno, conforme centralidade explícita no modelo.</a:t>
            </a:r>
          </a:p>
          <a:p xmlns:a="http://schemas.openxmlformats.org/drawingml/2006/main">
            <a:pPr marL="18" indent="-10">
              <a:spcAft>
                <a:spcPts val="7"/>
              </a:spcAft>
              <a:buChar char="•"/>
            </a:pPr>
            <a:r>
              <a:rPr sz="1050" b="1" i="0">
                <a:solidFill>
                  <a:srgbClr val="EB976D"/>
                </a:solidFill>
                <a:latin typeface="Fira Sans"/>
                <a:ea typeface="Fira Sans"/>
                <a:cs typeface="Fira Sans"/>
              </a:rPr>
              <a:t>Evidência: </a:t>
            </a:r>
            <a:r>
              <a:rPr sz="1050" b="1" i="0">
                <a:solidFill>
                  <a:srgbClr val="38415C"/>
                </a:solidFill>
                <a:latin typeface="Fira Sans"/>
                <a:ea typeface="Fira Sans"/>
                <a:cs typeface="Fira Sans"/>
              </a:rPr>
              <a:t>descrições dos 19 modelos catalogados e literatura de ancoragem.</a:t>
            </a:r>
          </a:p>
          <a:p xmlns:a="http://schemas.openxmlformats.org/drawingml/2006/main">
            <a:pPr marL="18" indent="-10">
              <a:spcAft>
                <a:spcPts val="7"/>
              </a:spcAft>
              <a:buNone/>
            </a:pPr>
            <a:r>
              <a:rPr sz="900" b="1" i="0">
                <a:solidFill>
                  <a:srgbClr val="EB976D"/>
                </a:solidFill>
                <a:latin typeface="Fira Sans"/>
                <a:ea typeface="Fira Sans"/>
                <a:cs typeface="Fira Sans"/>
              </a:rPr>
              <a:t>Limite: </a:t>
            </a:r>
            <a:r>
              <a:rPr sz="900" b="1" i="1">
                <a:solidFill>
                  <a:srgbClr val="8C8C96"/>
                </a:solidFill>
                <a:latin typeface="Fira Sans"/>
                <a:ea typeface="Fira Sans"/>
                <a:cs typeface="Fira Sans"/>
              </a:rPr>
              <a:t>classificação atribuída pelos autores, sem avaliadores independentes.</a:t>
            </a:r>
          </a:p>
        </p:txBody>
      </p:sp>
    </p:spTree>
    <p:extLst>
      <p:ext uri="{BB962C8B-B14F-4D97-AF65-F5344CB8AC3E}">
        <p14:creationId xmlns:p14="http://schemas.microsoft.com/office/powerpoint/2010/main" val="140080915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87A190-9059-4085-A03A-593A121DB48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Modelo 3M 5.0 proposto</a:t>
            </a:r>
          </a:p>
        </p:txBody>
      </p:sp>
      <p:graphicFrame>
        <p:nvGraphicFramePr>
          <p:cNvPr id="3" name="Tabela Sintese Retrofit"/>
          <p:cNvGraphicFramePr/>
          <p:nvPr/>
        </p:nvGraphicFramePr>
        <p:xfrm>
          <a:off xmlns:a="http://schemas.openxmlformats.org/drawingml/2006/main" x="117417" y="1420000"/>
          <a:ext xmlns:a="http://schemas.openxmlformats.org/drawingml/2006/main" cx="8900000" cy="4820000"/>
        </p:xfrm>
        <a:graphic xmlns:a="http://schemas.openxmlformats.org/drawingml/2006/main">
          <a:graphicData uri="http://schemas.openxmlformats.org/drawingml/2006/table">
            <a:tbl>
              <a:tblPr firstRow="1">
                <a:tableStyleId>{5C22544A-7EE6-4342-B048-85BDC9FD1C3A}</a:tableStyleId>
              </a:tblPr>
              <a:tblGrid>
                <a:gridCol w="1285875"/>
                <a:gridCol w="2333625"/>
                <a:gridCol w="2333625"/>
                <a:gridCol w="2714625"/>
              </a:tblGrid>
              <a:tr h="250000">
                <a:tc>
                  <a:txBody>
                    <a:bodyPr/>
                    <a:lstStyle/>
                    <a:p>
                      <a:pPr algn="ctr">
                        <a:buNone/>
                      </a:pPr>
                      <a:r>
                        <a:rPr sz="788" b="1">
                          <a:solidFill>
                            <a:srgbClr val="38415C"/>
                          </a:solidFill>
                          <a:latin typeface="Fira Sans"/>
                          <a:ea typeface="Fira Sans"/>
                          <a:cs typeface="Fira Sans"/>
                        </a:rPr>
                        <a:t>Dimensão</a:t>
                      </a:r>
                    </a:p>
                  </a:txBody>
                  <a:tcPr marL="45720" marR="45720" marT="22860" marB="22860" anchor="ctr"/>
                </a:tc>
                <a:tc>
                  <a:txBody>
                    <a:bodyPr/>
                    <a:lstStyle/>
                    <a:p>
                      <a:pPr algn="ctr">
                        <a:buNone/>
                      </a:pPr>
                      <a:r>
                        <a:rPr sz="788" b="1">
                          <a:solidFill>
                            <a:srgbClr val="38415C"/>
                          </a:solidFill>
                          <a:latin typeface="Fira Sans"/>
                          <a:ea typeface="Fira Sans"/>
                          <a:cs typeface="Fira Sans"/>
                        </a:rPr>
                        <a:t>Modelo 3M original</a:t>
                      </a:r>
                    </a:p>
                  </a:txBody>
                  <a:tcPr marL="45720" marR="45720" marT="22860" marB="22860" anchor="ctr"/>
                </a:tc>
                <a:tc>
                  <a:txBody>
                    <a:bodyPr/>
                    <a:lstStyle/>
                    <a:p>
                      <a:pPr algn="ctr">
                        <a:buNone/>
                      </a:pPr>
                      <a:r>
                        <a:rPr sz="788" b="1">
                          <a:solidFill>
                            <a:srgbClr val="38415C"/>
                          </a:solidFill>
                          <a:latin typeface="Fira Sans"/>
                          <a:ea typeface="Fira Sans"/>
                          <a:cs typeface="Fira Sans"/>
                        </a:rPr>
                        <a:t>IA como ferramenta</a:t>
                      </a:r>
                    </a:p>
                  </a:txBody>
                  <a:tcPr marL="45720" marR="45720" marT="22860" marB="22860" anchor="ctr"/>
                </a:tc>
                <a:tc>
                  <a:txBody>
                    <a:bodyPr/>
                    <a:lstStyle/>
                    <a:p>
                      <a:pPr algn="ctr">
                        <a:buNone/>
                      </a:pPr>
                      <a:r>
                        <a:rPr sz="788" b="1">
                          <a:solidFill>
                            <a:srgbClr val="38415C"/>
                          </a:solidFill>
                          <a:latin typeface="Fira Sans"/>
                          <a:ea typeface="Fira Sans"/>
                          <a:cs typeface="Fira Sans"/>
                        </a:rPr>
                        <a:t>IA como agente operacional</a:t>
                      </a:r>
                    </a:p>
                  </a:txBody>
                  <a:tcPr marL="45720" marR="45720" marT="22860" marB="22860" anchor="ctr"/>
                </a:tc>
              </a:tr>
              <a:tr h="1050000">
                <a:tc>
                  <a:txBody>
                    <a:bodyPr/>
                    <a:lstStyle/>
                    <a:p>
                      <a:pPr algn="ctr">
                        <a:buNone/>
                      </a:pPr>
                      <a:r>
                        <a:rPr sz="713" b="1">
                          <a:solidFill>
                            <a:srgbClr val="38415C"/>
                          </a:solidFill>
                          <a:latin typeface="Fira Sans"/>
                          <a:ea typeface="Fira Sans"/>
                          <a:cs typeface="Fira Sans"/>
                        </a:rPr>
                        <a:t>Motive</a:t>
                      </a:r>
                    </a:p>
                  </a:txBody>
                  <a:tcPr marL="45720" marR="45720" marT="22860" marB="22860" anchor="ctr"/>
                </a:tc>
                <a:tc>
                  <a:txBody>
                    <a:bodyPr/>
                    <a:lstStyle/>
                    <a:p>
                      <a:pPr algn="l">
                        <a:buNone/>
                      </a:pPr>
                      <a:r>
                        <a:rPr sz="713" b="0">
                          <a:solidFill>
                            <a:srgbClr val="38415C"/>
                          </a:solidFill>
                          <a:latin typeface="Fira Sans"/>
                          <a:ea typeface="Fira Sans"/>
                          <a:cs typeface="Fira Sans"/>
                        </a:rPr>
                        <a:t>Alinhar estratégia e competências</a:t>
                      </a:r>
                    </a:p>
                  </a:txBody>
                  <a:tcPr marL="45720" marR="45720" marT="22860" marB="22860" anchor="ctr"/>
                </a:tc>
                <a:tc>
                  <a:txBody>
                    <a:bodyPr/>
                    <a:lstStyle/>
                    <a:p>
                      <a:pPr algn="l">
                        <a:buNone/>
                      </a:pPr>
                      <a:r>
                        <a:rPr sz="713" b="0">
                          <a:solidFill>
                            <a:srgbClr val="38415C"/>
                          </a:solidFill>
                          <a:latin typeface="Fira Sans"/>
                          <a:ea typeface="Fira Sans"/>
                          <a:cs typeface="Fira Sans"/>
                        </a:rPr>
                        <a:t>Analisar sinais e lacunas</a:t>
                      </a:r>
                    </a:p>
                  </a:txBody>
                  <a:tcPr marL="45720" marR="45720" marT="22860" marB="22860" anchor="ctr"/>
                </a:tc>
                <a:tc>
                  <a:txBody>
                    <a:bodyPr/>
                    <a:lstStyle/>
                    <a:p>
                      <a:pPr algn="l">
                        <a:buNone/>
                      </a:pPr>
                      <a:r>
                        <a:rPr sz="713" b="0">
                          <a:solidFill>
                            <a:srgbClr val="38415C"/>
                          </a:solidFill>
                          <a:latin typeface="Fira Sans"/>
                          <a:ea typeface="Fira Sans"/>
                          <a:cs typeface="Fira Sans"/>
                        </a:rPr>
                        <a:t>Sugerir prioridades sob decisão humana</a:t>
                      </a:r>
                    </a:p>
                  </a:txBody>
                  <a:tcPr marL="45720" marR="45720" marT="22860" marB="22860" anchor="ctr"/>
                </a:tc>
              </a:tr>
              <a:tr h="1050000">
                <a:tc>
                  <a:txBody>
                    <a:bodyPr/>
                    <a:lstStyle/>
                    <a:p>
                      <a:pPr algn="ctr">
                        <a:buNone/>
                      </a:pPr>
                      <a:r>
                        <a:rPr sz="713" b="1">
                          <a:solidFill>
                            <a:srgbClr val="38415C"/>
                          </a:solidFill>
                          <a:latin typeface="Fira Sans"/>
                          <a:ea typeface="Fira Sans"/>
                          <a:cs typeface="Fira Sans"/>
                        </a:rPr>
                        <a:t>Model</a:t>
                      </a:r>
                    </a:p>
                  </a:txBody>
                  <a:tcPr marL="45720" marR="45720" marT="22860" marB="22860" anchor="ctr"/>
                </a:tc>
                <a:tc>
                  <a:txBody>
                    <a:bodyPr/>
                    <a:lstStyle/>
                    <a:p>
                      <a:pPr algn="l">
                        <a:buNone/>
                      </a:pPr>
                      <a:r>
                        <a:rPr sz="713" b="0">
                          <a:solidFill>
                            <a:srgbClr val="38415C"/>
                          </a:solidFill>
                          <a:latin typeface="Fira Sans"/>
                          <a:ea typeface="Fira Sans"/>
                          <a:cs typeface="Fira Sans"/>
                        </a:rPr>
                        <a:t>Estruturar programas e métodos</a:t>
                      </a:r>
                    </a:p>
                  </a:txBody>
                  <a:tcPr marL="45720" marR="45720" marT="22860" marB="22860" anchor="ctr"/>
                </a:tc>
                <a:tc>
                  <a:txBody>
                    <a:bodyPr/>
                    <a:lstStyle/>
                    <a:p>
                      <a:pPr algn="l">
                        <a:buNone/>
                      </a:pPr>
                      <a:r>
                        <a:rPr sz="713" b="0">
                          <a:solidFill>
                            <a:srgbClr val="38415C"/>
                          </a:solidFill>
                          <a:latin typeface="Fira Sans"/>
                          <a:ea typeface="Fira Sans"/>
                          <a:cs typeface="Fira Sans"/>
                        </a:rPr>
                        <a:t>RAG, LLMs e grafos</a:t>
                      </a:r>
                    </a:p>
                  </a:txBody>
                  <a:tcPr marL="45720" marR="45720" marT="22860" marB="22860" anchor="ctr"/>
                </a:tc>
                <a:tc>
                  <a:txBody>
                    <a:bodyPr/>
                    <a:lstStyle/>
                    <a:p>
                      <a:pPr algn="l">
                        <a:buNone/>
                      </a:pPr>
                      <a:r>
                        <a:rPr sz="713" b="0">
                          <a:solidFill>
                            <a:srgbClr val="38415C"/>
                          </a:solidFill>
                          <a:latin typeface="Fira Sans"/>
                          <a:ea typeface="Fira Sans"/>
                          <a:cs typeface="Fira Sans"/>
                        </a:rPr>
                        <a:t>Apoiar prática, registrar e sintetizar</a:t>
                      </a:r>
                    </a:p>
                  </a:txBody>
                  <a:tcPr marL="45720" marR="45720" marT="22860" marB="22860" anchor="ctr"/>
                </a:tc>
              </a:tr>
              <a:tr h="1050000">
                <a:tc>
                  <a:txBody>
                    <a:bodyPr/>
                    <a:lstStyle/>
                    <a:p>
                      <a:pPr algn="ctr">
                        <a:buNone/>
                      </a:pPr>
                      <a:r>
                        <a:rPr sz="713" b="1">
                          <a:solidFill>
                            <a:srgbClr val="38415C"/>
                          </a:solidFill>
                          <a:latin typeface="Fira Sans"/>
                          <a:ea typeface="Fira Sans"/>
                          <a:cs typeface="Fira Sans"/>
                        </a:rPr>
                        <a:t>Moment</a:t>
                      </a:r>
                    </a:p>
                  </a:txBody>
                  <a:tcPr marL="45720" marR="45720" marT="22860" marB="22860" anchor="ctr"/>
                </a:tc>
                <a:tc>
                  <a:txBody>
                    <a:bodyPr/>
                    <a:lstStyle/>
                    <a:p>
                      <a:pPr algn="l">
                        <a:buNone/>
                      </a:pPr>
                      <a:r>
                        <a:rPr sz="713" b="0">
                          <a:solidFill>
                            <a:srgbClr val="38415C"/>
                          </a:solidFill>
                          <a:latin typeface="Fira Sans"/>
                          <a:ea typeface="Fira Sans"/>
                          <a:cs typeface="Fira Sans"/>
                        </a:rPr>
                        <a:t>Responder às mudanças do ambiente</a:t>
                      </a:r>
                    </a:p>
                  </a:txBody>
                  <a:tcPr marL="45720" marR="45720" marT="22860" marB="22860" anchor="ctr"/>
                </a:tc>
                <a:tc>
                  <a:txBody>
                    <a:bodyPr/>
                    <a:lstStyle/>
                    <a:p>
                      <a:pPr algn="l">
                        <a:buNone/>
                      </a:pPr>
                      <a:r>
                        <a:rPr sz="713" b="0">
                          <a:solidFill>
                            <a:srgbClr val="38415C"/>
                          </a:solidFill>
                          <a:latin typeface="Fira Sans"/>
                          <a:ea typeface="Fira Sans"/>
                          <a:cs typeface="Fira Sans"/>
                        </a:rPr>
                        <a:t>Monitorar riscos e desempenho</a:t>
                      </a:r>
                    </a:p>
                  </a:txBody>
                  <a:tcPr marL="45720" marR="45720" marT="22860" marB="22860" anchor="ctr"/>
                </a:tc>
                <a:tc>
                  <a:txBody>
                    <a:bodyPr/>
                    <a:lstStyle/>
                    <a:p>
                      <a:pPr algn="l">
                        <a:buNone/>
                      </a:pPr>
                      <a:r>
                        <a:rPr sz="713" b="0">
                          <a:solidFill>
                            <a:srgbClr val="38415C"/>
                          </a:solidFill>
                          <a:latin typeface="Fira Sans"/>
                          <a:ea typeface="Fira Sans"/>
                          <a:cs typeface="Fira Sans"/>
                        </a:rPr>
                        <a:t>Acionar controles e contestação</a:t>
                      </a:r>
                    </a:p>
                  </a:txBody>
                  <a:tcPr marL="45720" marR="45720" marT="22860" marB="22860" anchor="ctr"/>
                </a:tc>
              </a:tr>
              <a:tr h="1050000">
                <a:tc>
                  <a:txBody>
                    <a:bodyPr/>
                    <a:lstStyle/>
                    <a:p>
                      <a:pPr algn="ctr">
                        <a:buNone/>
                      </a:pPr>
                      <a:r>
                        <a:rPr sz="713" b="1">
                          <a:solidFill>
                            <a:srgbClr val="38415C"/>
                          </a:solidFill>
                          <a:latin typeface="Fira Sans"/>
                          <a:ea typeface="Fira Sans"/>
                          <a:cs typeface="Fira Sans"/>
                        </a:rPr>
                        <a:t>Transversal</a:t>
                      </a:r>
                    </a:p>
                  </a:txBody>
                  <a:tcPr marL="45720" marR="45720" marT="22860" marB="22860" anchor="ctr"/>
                </a:tc>
                <a:tc>
                  <a:txBody>
                    <a:bodyPr/>
                    <a:lstStyle/>
                    <a:p>
                      <a:pPr algn="l">
                        <a:buNone/>
                      </a:pPr>
                      <a:r>
                        <a:rPr sz="713" b="0">
                          <a:solidFill>
                            <a:srgbClr val="38415C"/>
                          </a:solidFill>
                          <a:latin typeface="Fira Sans"/>
                          <a:ea typeface="Fira Sans"/>
                          <a:cs typeface="Fira Sans"/>
                        </a:rPr>
                        <a:t>Tecnologia como variável contextual</a:t>
                      </a:r>
                    </a:p>
                  </a:txBody>
                  <a:tcPr marL="45720" marR="45720" marT="22860" marB="22860" anchor="ctr"/>
                </a:tc>
                <a:tc>
                  <a:txBody>
                    <a:bodyPr/>
                    <a:lstStyle/>
                    <a:p>
                      <a:pPr algn="l">
                        <a:buNone/>
                      </a:pPr>
                      <a:r>
                        <a:rPr sz="713" b="0">
                          <a:solidFill>
                            <a:srgbClr val="38415C"/>
                          </a:solidFill>
                          <a:latin typeface="Fira Sans"/>
                          <a:ea typeface="Fira Sans"/>
                          <a:cs typeface="Fira Sans"/>
                        </a:rPr>
                        <a:t>Infraestrutura sociotécnica</a:t>
                      </a:r>
                    </a:p>
                  </a:txBody>
                  <a:tcPr marL="45720" marR="45720" marT="22860" marB="22860" anchor="ctr"/>
                </a:tc>
                <a:tc>
                  <a:txBody>
                    <a:bodyPr/>
                    <a:lstStyle/>
                    <a:p>
                      <a:pPr algn="l">
                        <a:buNone/>
                      </a:pPr>
                      <a:r>
                        <a:rPr sz="713" b="0">
                          <a:solidFill>
                            <a:srgbClr val="38415C"/>
                          </a:solidFill>
                          <a:latin typeface="Fira Sans"/>
                          <a:ea typeface="Fira Sans"/>
                          <a:cs typeface="Fira Sans"/>
                        </a:rPr>
                        <a:t>Agência limitada por governança</a:t>
                      </a:r>
                    </a:p>
                  </a:txBody>
                  <a:tcPr marL="45720" marR="45720" marT="22860" marB="22860" anchor="ctr"/>
                </a:tc>
              </a:tr>
            </a:tbl>
          </a:graphicData>
        </a:graphic>
      </p:graphicFrame>
    </p:spTree>
    <p:extLst>
      <p:ext uri="{BB962C8B-B14F-4D97-AF65-F5344CB8AC3E}">
        <p14:creationId xmlns:p14="http://schemas.microsoft.com/office/powerpoint/2010/main" val="30671166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1F9B81-B4EF-4862-BFAB-1947CB358A8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Cobertura conceitual exploratória (classificação autoral)</a:t>
            </a:r>
          </a:p>
        </p:txBody>
      </p:sp>
      <p:graphicFrame>
        <p:nvGraphicFramePr>
          <p:cNvPr id="3" name="Tabela Comparativo Modelos"/>
          <p:cNvGraphicFramePr/>
          <p:nvPr/>
        </p:nvGraphicFramePr>
        <p:xfrm>
          <a:off xmlns:a="http://schemas.openxmlformats.org/drawingml/2006/main" x="117417" y="1420000"/>
          <a:ext xmlns:a="http://schemas.openxmlformats.org/drawingml/2006/main" cx="8900000" cy="4850000"/>
        </p:xfrm>
        <a:graphic xmlns:a="http://schemas.openxmlformats.org/drawingml/2006/main">
          <a:graphicData uri="http://schemas.openxmlformats.org/drawingml/2006/table">
            <a:tbl>
              <a:tblPr firstRow="1">
                <a:tableStyleId>{5C22544A-7EE6-4342-B048-85BDC9FD1C3A}</a:tableStyleId>
              </a:tblPr>
              <a:tblGrid>
                <a:gridCol w="1952625"/>
                <a:gridCol w="2238375"/>
                <a:gridCol w="1952625"/>
                <a:gridCol w="2524125"/>
              </a:tblGrid>
              <a:tr h="200000">
                <a:tc>
                  <a:txBody>
                    <a:bodyPr/>
                    <a:lstStyle/>
                    <a:p>
                      <a:pPr algn="ctr">
                        <a:buNone/>
                      </a:pPr>
                      <a:r>
                        <a:rPr sz="750" b="1">
                          <a:solidFill>
                            <a:srgbClr val="38415C"/>
                          </a:solidFill>
                          <a:latin typeface="Fira Sans"/>
                          <a:ea typeface="Fira Sans"/>
                          <a:cs typeface="Fira Sans"/>
                        </a:rPr>
                        <a:t>Dimensão</a:t>
                      </a:r>
                    </a:p>
                  </a:txBody>
                  <a:tcPr marL="45720" marR="45720" marT="22860" marB="22860" anchor="ctr"/>
                </a:tc>
                <a:tc>
                  <a:txBody>
                    <a:bodyPr/>
                    <a:lstStyle/>
                    <a:p>
                      <a:pPr algn="ctr">
                        <a:buNone/>
                      </a:pPr>
                      <a:r>
                        <a:rPr sz="750" b="1">
                          <a:solidFill>
                            <a:srgbClr val="38415C"/>
                          </a:solidFill>
                          <a:latin typeface="Fira Sans"/>
                          <a:ea typeface="Fira Sans"/>
                          <a:cs typeface="Fira Sans"/>
                        </a:rPr>
                        <a:t>19 modelos anteriores</a:t>
                      </a:r>
                    </a:p>
                  </a:txBody>
                  <a:tcPr marL="45720" marR="45720" marT="22860" marB="22860" anchor="ctr"/>
                </a:tc>
                <a:tc>
                  <a:txBody>
                    <a:bodyPr/>
                    <a:lstStyle/>
                    <a:p>
                      <a:pPr algn="ctr">
                        <a:buNone/>
                      </a:pPr>
                      <a:r>
                        <a:rPr sz="750" b="1">
                          <a:solidFill>
                            <a:srgbClr val="38415C"/>
                          </a:solidFill>
                          <a:latin typeface="Fira Sans"/>
                          <a:ea typeface="Fira Sans"/>
                          <a:cs typeface="Fira Sans"/>
                        </a:rPr>
                        <a:t>IA como ferramenta</a:t>
                      </a:r>
                    </a:p>
                  </a:txBody>
                  <a:tcPr marL="45720" marR="45720" marT="22860" marB="22860" anchor="ctr"/>
                </a:tc>
                <a:tc>
                  <a:txBody>
                    <a:bodyPr/>
                    <a:lstStyle/>
                    <a:p>
                      <a:pPr algn="ctr">
                        <a:buNone/>
                      </a:pPr>
                      <a:r>
                        <a:rPr sz="750" b="1">
                          <a:solidFill>
                            <a:srgbClr val="38415C"/>
                          </a:solidFill>
                          <a:latin typeface="Fira Sans"/>
                          <a:ea typeface="Fira Sans"/>
                          <a:cs typeface="Fira Sans"/>
                        </a:rPr>
                        <a:t>IA como agente</a:t>
                      </a:r>
                    </a:p>
                  </a:txBody>
                  <a:tcPr marL="45720" marR="45720" marT="22860" marB="22860" anchor="ctr"/>
                </a:tc>
              </a:tr>
              <a:tr h="850000">
                <a:tc>
                  <a:txBody>
                    <a:bodyPr/>
                    <a:lstStyle/>
                    <a:p>
                      <a:pPr algn="ctr">
                        <a:buNone/>
                      </a:pPr>
                      <a:r>
                        <a:rPr sz="675" b="1">
                          <a:solidFill>
                            <a:srgbClr val="38415C"/>
                          </a:solidFill>
                          <a:latin typeface="Fira Sans"/>
                          <a:ea typeface="Fira Sans"/>
                          <a:cs typeface="Fira Sans"/>
                        </a:rPr>
                        <a:t>Agência ativa</a:t>
                      </a:r>
                    </a:p>
                  </a:txBody>
                  <a:tcPr marL="45720" marR="45720" marT="22860" marB="22860" anchor="ctr"/>
                </a:tc>
                <a:tc>
                  <a:txBody>
                    <a:bodyPr/>
                    <a:lstStyle/>
                    <a:p>
                      <a:pPr algn="l">
                        <a:buNone/>
                      </a:pPr>
                      <a:r>
                        <a:rPr sz="675" b="0">
                          <a:solidFill>
                            <a:srgbClr val="38415C"/>
                          </a:solidFill>
                          <a:latin typeface="Fira Sans"/>
                          <a:ea typeface="Fira Sans"/>
                          <a:cs typeface="Fira Sans"/>
                        </a:rPr>
                        <a:t>Não explicitada</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Prevista no desenho</a:t>
                      </a:r>
                    </a:p>
                  </a:txBody>
                  <a:tcPr marL="45720" marR="45720" marT="22860" marB="22860" anchor="ctr"/>
                </a:tc>
              </a:tr>
              <a:tr h="850000">
                <a:tc>
                  <a:txBody>
                    <a:bodyPr/>
                    <a:lstStyle/>
                    <a:p>
                      <a:pPr algn="ctr">
                        <a:buNone/>
                      </a:pPr>
                      <a:r>
                        <a:rPr sz="675" b="1">
                          <a:solidFill>
                            <a:srgbClr val="38415C"/>
                          </a:solidFill>
                          <a:latin typeface="Fira Sans"/>
                          <a:ea typeface="Fira Sans"/>
                          <a:cs typeface="Fira Sans"/>
                        </a:rPr>
                        <a:t>Simbiose humano–IA</a:t>
                      </a:r>
                    </a:p>
                  </a:txBody>
                  <a:tcPr marL="45720" marR="45720" marT="22860" marB="22860" anchor="ctr"/>
                </a:tc>
                <a:tc>
                  <a:txBody>
                    <a:bodyPr/>
                    <a:lstStyle/>
                    <a:p>
                      <a:pPr algn="l">
                        <a:buNone/>
                      </a:pPr>
                      <a:r>
                        <a:rPr sz="675" b="0">
                          <a:solidFill>
                            <a:srgbClr val="38415C"/>
                          </a:solidFill>
                          <a:latin typeface="Fira Sans"/>
                          <a:ea typeface="Fira Sans"/>
                          <a:cs typeface="Fira Sans"/>
                        </a:rPr>
                        <a:t>Não explicitada</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Prevista no desenho</a:t>
                      </a:r>
                    </a:p>
                  </a:txBody>
                  <a:tcPr marL="45720" marR="45720" marT="22860" marB="22860" anchor="ctr"/>
                </a:tc>
              </a:tr>
              <a:tr h="850000">
                <a:tc>
                  <a:txBody>
                    <a:bodyPr/>
                    <a:lstStyle/>
                    <a:p>
                      <a:pPr algn="ctr">
                        <a:buNone/>
                      </a:pPr>
                      <a:r>
                        <a:rPr sz="675" b="1">
                          <a:solidFill>
                            <a:srgbClr val="38415C"/>
                          </a:solidFill>
                          <a:latin typeface="Fira Sans"/>
                          <a:ea typeface="Fira Sans"/>
                          <a:cs typeface="Fira Sans"/>
                        </a:rPr>
                        <a:t>Ciclo dinâmico de GC</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Previsto no desenho</a:t>
                      </a:r>
                    </a:p>
                  </a:txBody>
                  <a:tcPr marL="45720" marR="45720" marT="22860" marB="22860" anchor="ctr"/>
                </a:tc>
              </a:tr>
              <a:tr h="850000">
                <a:tc>
                  <a:txBody>
                    <a:bodyPr/>
                    <a:lstStyle/>
                    <a:p>
                      <a:pPr algn="ctr">
                        <a:buNone/>
                      </a:pPr>
                      <a:r>
                        <a:rPr sz="675" b="1">
                          <a:solidFill>
                            <a:srgbClr val="38415C"/>
                          </a:solidFill>
                          <a:latin typeface="Fira Sans"/>
                          <a:ea typeface="Fira Sans"/>
                          <a:cs typeface="Fira Sans"/>
                        </a:rPr>
                        <a:t>Governança e integridade</a:t>
                      </a:r>
                    </a:p>
                  </a:txBody>
                  <a:tcPr marL="45720" marR="45720" marT="22860" marB="22860" anchor="ctr"/>
                </a:tc>
                <a:tc>
                  <a:txBody>
                    <a:bodyPr/>
                    <a:lstStyle/>
                    <a:p>
                      <a:pPr algn="l">
                        <a:buNone/>
                      </a:pPr>
                      <a:r>
                        <a:rPr sz="675" b="0">
                          <a:solidFill>
                            <a:srgbClr val="38415C"/>
                          </a:solidFill>
                          <a:latin typeface="Fira Sans"/>
                          <a:ea typeface="Fira Sans"/>
                          <a:cs typeface="Fira Sans"/>
                        </a:rPr>
                        <a:t>Ausente ou periférica</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Prevista no desenho</a:t>
                      </a:r>
                    </a:p>
                  </a:txBody>
                  <a:tcPr marL="45720" marR="45720" marT="22860" marB="22860" anchor="ctr"/>
                </a:tc>
              </a:tr>
              <a:tr h="850000">
                <a:tc>
                  <a:txBody>
                    <a:bodyPr/>
                    <a:lstStyle/>
                    <a:p>
                      <a:pPr algn="ctr">
                        <a:buNone/>
                      </a:pPr>
                      <a:r>
                        <a:rPr sz="675" b="1">
                          <a:solidFill>
                            <a:srgbClr val="38415C"/>
                          </a:solidFill>
                          <a:latin typeface="Fira Sans"/>
                          <a:ea typeface="Fira Sans"/>
                          <a:cs typeface="Fira Sans"/>
                        </a:rPr>
                        <a:t>Aprendizagem no fluxo</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Prevista no desenho</a:t>
                      </a:r>
                    </a:p>
                  </a:txBody>
                  <a:tcPr marL="45720" marR="45720" marT="22860" marB="22860" anchor="ctr"/>
                </a:tc>
              </a:tr>
            </a:tbl>
          </a:graphicData>
        </a:graphic>
      </p:graphicFrame>
    </p:spTree>
    <p:extLst>
      <p:ext uri="{BB962C8B-B14F-4D97-AF65-F5344CB8AC3E}">
        <p14:creationId xmlns:p14="http://schemas.microsoft.com/office/powerpoint/2010/main" val="88986560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EF36E1-7A15-4A08-8646-044FB1DB137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Discussão: contribuição e tensões</a:t>
            </a:r>
          </a:p>
        </p:txBody>
      </p:sp>
      <p:sp>
        <p:nvSpPr>
          <p:cNvPr id="3" name="Content Placeholder 2">
            <a:extLst xmlns:a="http://schemas.openxmlformats.org/drawingml/2006/main">
              <a:ext uri="{FF2B5EF4-FFF2-40B4-BE49-F238E27FC236}">
                <a16:creationId xmlns:a16="http://schemas.microsoft.com/office/drawing/2014/main" id="{C631AB94-0234-4134-9A7F-4F59ECA788EF}"/>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Contribuição original: </a:t>
            </a:r>
            <a:r>
              <a:rPr sz="1050" b="1" i="0">
                <a:solidFill>
                  <a:srgbClr val="38415C"/>
                </a:solidFill>
                <a:latin typeface="Fira Sans"/>
                <a:ea typeface="Fira Sans"/>
                <a:cs typeface="Fira Sans"/>
              </a:rPr>
              <a:t>integração explícita da dupla perspectiva da IA aos três pilares do Modelo 3M.</a:t>
            </a:r>
          </a:p>
          <a:p xmlns:a="http://schemas.openxmlformats.org/drawingml/2006/main">
            <a:pPr marL="18" indent="-10">
              <a:spcAft>
                <a:spcPts val="7"/>
              </a:spcAft>
              <a:buChar char="•"/>
            </a:pPr>
            <a:r>
              <a:rPr sz="1050" b="1" i="0">
                <a:solidFill>
                  <a:srgbClr val="EB976D"/>
                </a:solidFill>
                <a:latin typeface="Fira Sans"/>
                <a:ea typeface="Fira Sans"/>
                <a:cs typeface="Fira Sans"/>
              </a:rPr>
              <a:t>Contribuição processual: </a:t>
            </a:r>
            <a:r>
              <a:rPr sz="1050" b="1" i="0">
                <a:solidFill>
                  <a:srgbClr val="38415C"/>
                </a:solidFill>
                <a:latin typeface="Fira Sans"/>
                <a:ea typeface="Fira Sans"/>
                <a:cs typeface="Fira Sans"/>
              </a:rPr>
              <a:t>GC, aprendizagem e governança passam a operar como ciclo sociotécnico.</a:t>
            </a:r>
          </a:p>
          <a:p xmlns:a="http://schemas.openxmlformats.org/drawingml/2006/main">
            <a:pPr marL="18" indent="-10">
              <a:spcAft>
                <a:spcPts val="7"/>
              </a:spcAft>
              <a:buChar char="•"/>
            </a:pPr>
            <a:r>
              <a:rPr sz="1050" b="1" i="0">
                <a:solidFill>
                  <a:srgbClr val="EB976D"/>
                </a:solidFill>
                <a:latin typeface="Fira Sans"/>
                <a:ea typeface="Fira Sans"/>
                <a:cs typeface="Fira Sans"/>
              </a:rPr>
              <a:t>Tensão cognitiva: </a:t>
            </a:r>
            <a:r>
              <a:rPr sz="1050" b="1" i="0">
                <a:solidFill>
                  <a:srgbClr val="38415C"/>
                </a:solidFill>
                <a:latin typeface="Fira Sans"/>
                <a:ea typeface="Fira Sans"/>
                <a:cs typeface="Fira Sans"/>
              </a:rPr>
              <a:t>scaffolding e AI literacy devem reduzir dependência e perda de autonomia.</a:t>
            </a:r>
          </a:p>
          <a:p xmlns:a="http://schemas.openxmlformats.org/drawingml/2006/main">
            <a:pPr marL="18" indent="-10">
              <a:spcAft>
                <a:spcPts val="7"/>
              </a:spcAft>
              <a:buChar char="•"/>
            </a:pPr>
            <a:r>
              <a:rPr sz="1050" b="1" i="0">
                <a:solidFill>
                  <a:srgbClr val="EB976D"/>
                </a:solidFill>
                <a:latin typeface="Fira Sans"/>
                <a:ea typeface="Fira Sans"/>
                <a:cs typeface="Fira Sans"/>
              </a:rPr>
              <a:t>Tensão ética: </a:t>
            </a:r>
            <a:r>
              <a:rPr sz="1050" b="1" i="0">
                <a:solidFill>
                  <a:srgbClr val="38415C"/>
                </a:solidFill>
                <a:latin typeface="Fira Sans"/>
                <a:ea typeface="Fira Sans"/>
                <a:cs typeface="Fira Sans"/>
              </a:rPr>
              <a:t>sensing de competências exige finalidade, consentimento, anonimização e separação de usos punitivos.</a:t>
            </a:r>
          </a:p>
          <a:p xmlns:a="http://schemas.openxmlformats.org/drawingml/2006/main">
            <a:pPr marL="18" indent="-10">
              <a:spcAft>
                <a:spcPts val="7"/>
              </a:spcAft>
              <a:buChar char="•"/>
            </a:pPr>
            <a:r>
              <a:rPr sz="1050" b="1" i="0">
                <a:solidFill>
                  <a:srgbClr val="EB976D"/>
                </a:solidFill>
                <a:latin typeface="Fira Sans"/>
                <a:ea typeface="Fira Sans"/>
                <a:cs typeface="Fira Sans"/>
              </a:rPr>
              <a:t>Tensão decisória: </a:t>
            </a:r>
            <a:r>
              <a:rPr sz="1050" b="1" i="0">
                <a:solidFill>
                  <a:srgbClr val="38415C"/>
                </a:solidFill>
                <a:latin typeface="Fira Sans"/>
                <a:ea typeface="Fira Sans"/>
                <a:cs typeface="Fira Sans"/>
              </a:rPr>
              <a:t>nível de supervisão humana deve acompanhar risco, impacto e reversibilidade.</a:t>
            </a:r>
          </a:p>
          <a:p xmlns:a="http://schemas.openxmlformats.org/drawingml/2006/main">
            <a:pPr marL="18" indent="-10">
              <a:spcAft>
                <a:spcPts val="7"/>
              </a:spcAft>
              <a:buNone/>
            </a:pPr>
            <a:r>
              <a:rPr sz="900" b="1" i="0">
                <a:solidFill>
                  <a:srgbClr val="EB976D"/>
                </a:solidFill>
                <a:latin typeface="Fira Sans"/>
                <a:ea typeface="Fira Sans"/>
                <a:cs typeface="Fira Sans"/>
              </a:rPr>
              <a:t>Enquadramento: </a:t>
            </a:r>
            <a:r>
              <a:rPr sz="900" b="1" i="1">
                <a:solidFill>
                  <a:srgbClr val="8C8C96"/>
                </a:solidFill>
                <a:latin typeface="Fira Sans"/>
                <a:ea typeface="Fira Sans"/>
                <a:cs typeface="Fira Sans"/>
              </a:rPr>
              <a:t>o AI Act é referência de governança; não valida nem determina, por si só, o modelo.</a:t>
            </a:r>
          </a:p>
        </p:txBody>
      </p:sp>
    </p:spTree>
    <p:extLst>
      <p:ext uri="{BB962C8B-B14F-4D97-AF65-F5344CB8AC3E}">
        <p14:creationId xmlns:p14="http://schemas.microsoft.com/office/powerpoint/2010/main" val="68618543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5B530F2-A311-404C-ABEA-1D3BE2B281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Limitações e agenda de pesquisa</a:t>
            </a:r>
          </a:p>
        </p:txBody>
      </p:sp>
      <p:sp>
        <p:nvSpPr>
          <p:cNvPr id="3" name="Header Left">
            <a:extLst xmlns:a="http://schemas.openxmlformats.org/drawingml/2006/main">
              <a:ext uri="{FF2B5EF4-FFF2-40B4-BE49-F238E27FC236}">
                <a16:creationId xmlns:a16="http://schemas.microsoft.com/office/drawing/2014/main" id="{C3DD868F-519F-40E9-A4CE-587B3086C92D}"/>
              </a:ext>
            </a:extLst>
          </p:cNvPr>
          <p:cNvSpPr>
            <a:spLocks xmlns:a="http://schemas.openxmlformats.org/drawingml/2006/main" noGrp="1"/>
          </p:cNvSpPr>
          <p:nvPr>
            <p:ph idx="1"/>
          </p:nvPr>
        </p:nvSpPr>
        <p:spPr>
          <a:xfrm xmlns:a="http://schemas.openxmlformats.org/drawingml/2006/main">
            <a:off x="1200150" y="1428750"/>
            <a:ext cx="3429000" cy="333375"/>
          </a:xfrm>
        </p:spPr>
        <p:txBody>
          <a:bodyPr xmlns:a="http://schemas.openxmlformats.org/drawingml/2006/main"/>
          <a:lstStyle xmlns:a="http://schemas.openxmlformats.org/drawingml/2006/main"/>
          <a:p xmlns:a="http://schemas.openxmlformats.org/drawingml/2006/main">
            <a:pPr>
              <a:buNone/>
            </a:pPr>
            <a:r>
              <a:rPr sz="1125" b="1" i="0">
                <a:solidFill>
                  <a:srgbClr val="EB976D"/>
                </a:solidFill>
                <a:latin typeface="Fira Sans"/>
                <a:ea typeface="Fira Sans"/>
                <a:cs typeface="Fira Sans"/>
              </a:rPr>
              <a:t>LIMITAÇÕES</a:t>
            </a:r>
          </a:p>
        </p:txBody>
      </p:sp>
      <p:sp>
        <p:nvSpPr>
          <p:cNvPr id="4" name="Content Left">
            <a:extLst xmlns:a="http://schemas.openxmlformats.org/drawingml/2006/main">
              <a:ext uri="{FF2B5EF4-FFF2-40B4-BE49-F238E27FC236}">
                <a16:creationId xmlns:a16="http://schemas.microsoft.com/office/drawing/2014/main" id="{7ED24810-1531-4CC4-9C4B-7ED724073E54}"/>
              </a:ext>
            </a:extLst>
          </p:cNvPr>
          <p:cNvSpPr>
            <a:spLocks xmlns:a="http://schemas.openxmlformats.org/drawingml/2006/main" noGrp="1"/>
          </p:cNvSpPr>
          <p:nvPr>
            <p:ph idx="2"/>
          </p:nvPr>
        </p:nvSpPr>
        <p:spPr>
          <a:xfrm xmlns:a="http://schemas.openxmlformats.org/drawingml/2006/main">
            <a:off x="1200150" y="1857375"/>
            <a:ext cx="3429000" cy="3714750"/>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975" b="1" i="0">
                <a:solidFill>
                  <a:srgbClr val="EB976D"/>
                </a:solidFill>
                <a:latin typeface="Fira Sans"/>
                <a:ea typeface="Fira Sans"/>
                <a:cs typeface="Fira Sans"/>
              </a:rPr>
              <a:t>Natureza: </a:t>
            </a:r>
            <a:r>
              <a:rPr sz="975" b="1" i="0">
                <a:solidFill>
                  <a:srgbClr val="38415C"/>
                </a:solidFill>
                <a:latin typeface="Fira Sans"/>
                <a:ea typeface="Fira Sans"/>
                <a:cs typeface="Fira Sans"/>
              </a:rPr>
              <a:t>proposta teórico-conceitual.</a:t>
            </a:r>
          </a:p>
          <a:p xmlns:a="http://schemas.openxmlformats.org/drawingml/2006/main">
            <a:pPr marL="18" indent="-10">
              <a:spcAft>
                <a:spcPts val="7"/>
              </a:spcAft>
              <a:buChar char="•"/>
            </a:pPr>
            <a:r>
              <a:rPr sz="975" b="1" i="0">
                <a:solidFill>
                  <a:srgbClr val="EB976D"/>
                </a:solidFill>
                <a:latin typeface="Fira Sans"/>
                <a:ea typeface="Fira Sans"/>
                <a:cs typeface="Fira Sans"/>
              </a:rPr>
              <a:t>Avaliação: </a:t>
            </a:r>
            <a:r>
              <a:rPr sz="975" b="1" i="0">
                <a:solidFill>
                  <a:srgbClr val="38415C"/>
                </a:solidFill>
                <a:latin typeface="Fira Sans"/>
                <a:ea typeface="Fira Sans"/>
                <a:cs typeface="Fira Sans"/>
              </a:rPr>
              <a:t>dimensões e classificações definidas pelos autores.</a:t>
            </a:r>
          </a:p>
          <a:p xmlns:a="http://schemas.openxmlformats.org/drawingml/2006/main">
            <a:pPr marL="18" indent="-10">
              <a:spcAft>
                <a:spcPts val="7"/>
              </a:spcAft>
              <a:buChar char="•"/>
            </a:pPr>
            <a:r>
              <a:rPr sz="975" b="1" i="0">
                <a:solidFill>
                  <a:srgbClr val="EB976D"/>
                </a:solidFill>
                <a:latin typeface="Fira Sans"/>
                <a:ea typeface="Fira Sans"/>
                <a:cs typeface="Fira Sans"/>
              </a:rPr>
              <a:t>Corpus: </a:t>
            </a:r>
            <a:r>
              <a:rPr sz="975" b="1" i="0">
                <a:solidFill>
                  <a:srgbClr val="38415C"/>
                </a:solidFill>
                <a:latin typeface="Fira Sans"/>
                <a:ea typeface="Fira Sans"/>
                <a:cs typeface="Fira Sans"/>
              </a:rPr>
              <a:t>dependência da síntese dos 19 modelos de referência.</a:t>
            </a:r>
          </a:p>
          <a:p xmlns:a="http://schemas.openxmlformats.org/drawingml/2006/main">
            <a:pPr marL="18" indent="-10">
              <a:spcAft>
                <a:spcPts val="7"/>
              </a:spcAft>
              <a:buChar char="•"/>
            </a:pPr>
            <a:r>
              <a:rPr sz="975" b="1" i="0">
                <a:solidFill>
                  <a:srgbClr val="EB976D"/>
                </a:solidFill>
                <a:latin typeface="Fira Sans"/>
                <a:ea typeface="Fira Sans"/>
                <a:cs typeface="Fira Sans"/>
              </a:rPr>
              <a:t>GRAI: </a:t>
            </a:r>
            <a:r>
              <a:rPr sz="975" b="1" i="0">
                <a:solidFill>
                  <a:srgbClr val="38415C"/>
                </a:solidFill>
                <a:latin typeface="Fira Sans"/>
                <a:ea typeface="Fira Sans"/>
                <a:cs typeface="Fira Sans"/>
              </a:rPr>
              <a:t>framework recente, com evidência independente limitada.</a:t>
            </a:r>
          </a:p>
          <a:p xmlns:a="http://schemas.openxmlformats.org/drawingml/2006/main">
            <a:pPr marL="18" indent="-10">
              <a:spcAft>
                <a:spcPts val="7"/>
              </a:spcAft>
              <a:buChar char="•"/>
            </a:pPr>
            <a:r>
              <a:rPr sz="975" b="1" i="0">
                <a:solidFill>
                  <a:srgbClr val="EB976D"/>
                </a:solidFill>
                <a:latin typeface="Fira Sans"/>
                <a:ea typeface="Fira Sans"/>
                <a:cs typeface="Fira Sans"/>
              </a:rPr>
              <a:t>Pipeline: </a:t>
            </a:r>
            <a:r>
              <a:rPr sz="975" b="1" i="0">
                <a:solidFill>
                  <a:srgbClr val="38415C"/>
                </a:solidFill>
                <a:latin typeface="Fira Sans"/>
                <a:ea typeface="Fira Sans"/>
                <a:cs typeface="Fira Sans"/>
              </a:rPr>
              <a:t>triagem assistida por LLM sujeita a erro e viés.</a:t>
            </a:r>
          </a:p>
        </p:txBody>
      </p:sp>
      <p:sp>
        <p:nvSpPr>
          <p:cNvPr id="5" name="Header Right">
            <a:extLst xmlns:a="http://schemas.openxmlformats.org/drawingml/2006/main">
              <a:ext uri="{FF2B5EF4-FFF2-40B4-BE49-F238E27FC236}">
                <a16:creationId xmlns:a16="http://schemas.microsoft.com/office/drawing/2014/main" id="{21C2C2E8-CBC5-423E-8DFF-62F1653157F7}"/>
              </a:ext>
            </a:extLst>
          </p:cNvPr>
          <p:cNvSpPr>
            <a:spLocks xmlns:a="http://schemas.openxmlformats.org/drawingml/2006/main" noGrp="1"/>
          </p:cNvSpPr>
          <p:nvPr>
            <p:ph idx="3"/>
          </p:nvPr>
        </p:nvSpPr>
        <p:spPr>
          <a:xfrm xmlns:a="http://schemas.openxmlformats.org/drawingml/2006/main">
            <a:off x="5191125" y="1428750"/>
            <a:ext cx="3429000" cy="333375"/>
          </a:xfrm>
        </p:spPr>
        <p:txBody>
          <a:bodyPr xmlns:a="http://schemas.openxmlformats.org/drawingml/2006/main"/>
          <a:lstStyle xmlns:a="http://schemas.openxmlformats.org/drawingml/2006/main"/>
          <a:p xmlns:a="http://schemas.openxmlformats.org/drawingml/2006/main">
            <a:pPr>
              <a:buNone/>
            </a:pPr>
            <a:r>
              <a:rPr sz="1125" b="1" i="0">
                <a:solidFill>
                  <a:srgbClr val="EB976D"/>
                </a:solidFill>
                <a:latin typeface="Fira Sans"/>
                <a:ea typeface="Fira Sans"/>
                <a:cs typeface="Fira Sans"/>
              </a:rPr>
              <a:t>PRÓXIMOS PASSOS</a:t>
            </a:r>
          </a:p>
        </p:txBody>
      </p:sp>
      <p:sp>
        <p:nvSpPr>
          <p:cNvPr id="6" name="Content Right">
            <a:extLst xmlns:a="http://schemas.openxmlformats.org/drawingml/2006/main">
              <a:ext uri="{FF2B5EF4-FFF2-40B4-BE49-F238E27FC236}">
                <a16:creationId xmlns:a16="http://schemas.microsoft.com/office/drawing/2014/main" id="{CBF4B5A5-1CFE-4B78-81EB-213F506A1A5F}"/>
              </a:ext>
            </a:extLst>
          </p:cNvPr>
          <p:cNvSpPr>
            <a:spLocks xmlns:a="http://schemas.openxmlformats.org/drawingml/2006/main" noGrp="1"/>
          </p:cNvSpPr>
          <p:nvPr>
            <p:ph idx="4"/>
          </p:nvPr>
        </p:nvSpPr>
        <p:spPr>
          <a:xfrm xmlns:a="http://schemas.openxmlformats.org/drawingml/2006/main">
            <a:off x="5191125" y="1857375"/>
            <a:ext cx="3429000" cy="3714750"/>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975" b="1" i="0">
                <a:solidFill>
                  <a:srgbClr val="EB976D"/>
                </a:solidFill>
                <a:latin typeface="Fira Sans"/>
                <a:ea typeface="Fira Sans"/>
                <a:cs typeface="Fira Sans"/>
              </a:rPr>
              <a:t>Delphi: </a:t>
            </a:r>
            <a:r>
              <a:rPr sz="975" b="1" i="0">
                <a:solidFill>
                  <a:srgbClr val="38415C"/>
                </a:solidFill>
                <a:latin typeface="Fira Sans"/>
                <a:ea typeface="Fira Sans"/>
                <a:cs typeface="Fira Sans"/>
              </a:rPr>
              <a:t>painel independente para revisar dimensões e rubrica.</a:t>
            </a:r>
          </a:p>
          <a:p xmlns:a="http://schemas.openxmlformats.org/drawingml/2006/main">
            <a:pPr marL="18" indent="-10">
              <a:spcAft>
                <a:spcPts val="7"/>
              </a:spcAft>
              <a:buChar char="•"/>
            </a:pPr>
            <a:r>
              <a:rPr sz="975" b="1" i="0">
                <a:solidFill>
                  <a:srgbClr val="EB976D"/>
                </a:solidFill>
                <a:latin typeface="Fira Sans"/>
                <a:ea typeface="Fira Sans"/>
                <a:cs typeface="Fira Sans"/>
              </a:rPr>
              <a:t>Estudos de caso: </a:t>
            </a:r>
            <a:r>
              <a:rPr sz="975" b="1" i="0">
                <a:solidFill>
                  <a:srgbClr val="38415C"/>
                </a:solidFill>
                <a:latin typeface="Fira Sans"/>
                <a:ea typeface="Fira Sans"/>
                <a:cs typeface="Fira Sans"/>
              </a:rPr>
              <a:t>avaliar aplicabilidade em UCs reais.</a:t>
            </a:r>
          </a:p>
          <a:p xmlns:a="http://schemas.openxmlformats.org/drawingml/2006/main">
            <a:pPr marL="18" indent="-10">
              <a:spcAft>
                <a:spcPts val="7"/>
              </a:spcAft>
              <a:buChar char="•"/>
            </a:pPr>
            <a:r>
              <a:rPr sz="975" b="1" i="0">
                <a:solidFill>
                  <a:srgbClr val="EB976D"/>
                </a:solidFill>
                <a:latin typeface="Fira Sans"/>
                <a:ea typeface="Fira Sans"/>
                <a:cs typeface="Fira Sans"/>
              </a:rPr>
              <a:t>Protótipo: </a:t>
            </a:r>
            <a:r>
              <a:rPr sz="975" b="1" i="0">
                <a:solidFill>
                  <a:srgbClr val="38415C"/>
                </a:solidFill>
                <a:latin typeface="Fira Sans"/>
                <a:ea typeface="Fira Sans"/>
                <a:cs typeface="Fira Sans"/>
              </a:rPr>
              <a:t>testar RAG, grafos e controles em contexto delimitado.</a:t>
            </a:r>
          </a:p>
          <a:p xmlns:a="http://schemas.openxmlformats.org/drawingml/2006/main">
            <a:pPr marL="18" indent="-10">
              <a:spcAft>
                <a:spcPts val="7"/>
              </a:spcAft>
              <a:buChar char="•"/>
            </a:pPr>
            <a:r>
              <a:rPr sz="975" b="1" i="0">
                <a:solidFill>
                  <a:srgbClr val="EB976D"/>
                </a:solidFill>
                <a:latin typeface="Fira Sans"/>
                <a:ea typeface="Fira Sans"/>
                <a:cs typeface="Fira Sans"/>
              </a:rPr>
              <a:t>Métricas: </a:t>
            </a:r>
            <a:r>
              <a:rPr sz="975" b="1" i="0">
                <a:solidFill>
                  <a:srgbClr val="38415C"/>
                </a:solidFill>
                <a:latin typeface="Fira Sans"/>
                <a:ea typeface="Fira Sans"/>
                <a:cs typeface="Fira Sans"/>
              </a:rPr>
              <a:t>aprendizagem, qualidade do conhecimento, risco e confiança.</a:t>
            </a:r>
          </a:p>
          <a:p xmlns:a="http://schemas.openxmlformats.org/drawingml/2006/main">
            <a:pPr marL="18" indent="-10">
              <a:spcAft>
                <a:spcPts val="7"/>
              </a:spcAft>
              <a:buChar char="•"/>
            </a:pPr>
            <a:r>
              <a:rPr sz="975" b="1" i="0">
                <a:solidFill>
                  <a:srgbClr val="EB976D"/>
                </a:solidFill>
                <a:latin typeface="Fira Sans"/>
                <a:ea typeface="Fira Sans"/>
                <a:cs typeface="Fira Sans"/>
              </a:rPr>
              <a:t>Comparação: </a:t>
            </a:r>
            <a:r>
              <a:rPr sz="975" b="1" i="0">
                <a:solidFill>
                  <a:srgbClr val="38415C"/>
                </a:solidFill>
                <a:latin typeface="Fira Sans"/>
                <a:ea typeface="Fira Sans"/>
                <a:cs typeface="Fira Sans"/>
              </a:rPr>
              <a:t>replicação por avaliadores e outros modelos de GC.</a:t>
            </a:r>
          </a:p>
        </p:txBody>
      </p:sp>
    </p:spTree>
    <p:extLst>
      <p:ext uri="{BB962C8B-B14F-4D97-AF65-F5344CB8AC3E}">
        <p14:creationId xmlns:p14="http://schemas.microsoft.com/office/powerpoint/2010/main" val="29539649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89012D0-0529-4D72-980B-D7198E5447C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Conclusão</a:t>
            </a:r>
          </a:p>
        </p:txBody>
      </p:sp>
      <p:sp>
        <p:nvSpPr>
          <p:cNvPr id="3" name="Content Placeholder 2">
            <a:extLst xmlns:a="http://schemas.openxmlformats.org/drawingml/2006/main">
              <a:ext uri="{FF2B5EF4-FFF2-40B4-BE49-F238E27FC236}">
                <a16:creationId xmlns:a16="http://schemas.microsoft.com/office/drawing/2014/main" id="{09D8067F-47FC-4DA4-8E60-6014A8E8DAAF}"/>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50" b="1" i="0">
                <a:solidFill>
                  <a:srgbClr val="EB976D"/>
                </a:solidFill>
                <a:latin typeface="Fira Sans"/>
                <a:ea typeface="Fira Sans"/>
                <a:cs typeface="Fira Sans"/>
              </a:rPr>
              <a:t>Resposta à questão: </a:t>
            </a:r>
            <a:r>
              <a:rPr sz="1050" b="1" i="0">
                <a:solidFill>
                  <a:srgbClr val="38415C"/>
                </a:solidFill>
                <a:latin typeface="Fira Sans"/>
                <a:ea typeface="Fira Sans"/>
                <a:cs typeface="Fira Sans"/>
              </a:rPr>
              <a:t>o Modelo 3M pode incorporar IA sem abandonar seus pilares, desde que capacidades e controles sejam reinterpretados conjuntamente.</a:t>
            </a:r>
          </a:p>
          <a:p xmlns:a="http://schemas.openxmlformats.org/drawingml/2006/main">
            <a:pPr marL="18" indent="-10">
              <a:spcAft>
                <a:spcPts val="7"/>
              </a:spcAft>
              <a:buChar char="•"/>
            </a:pPr>
            <a:r>
              <a:rPr sz="1050" b="1" i="0">
                <a:solidFill>
                  <a:srgbClr val="EB976D"/>
                </a:solidFill>
                <a:latin typeface="Fira Sans"/>
                <a:ea typeface="Fira Sans"/>
                <a:cs typeface="Fira Sans"/>
              </a:rPr>
              <a:t>Motive 5.0: </a:t>
            </a:r>
            <a:r>
              <a:rPr sz="1050" b="1" i="0">
                <a:solidFill>
                  <a:srgbClr val="38415C"/>
                </a:solidFill>
                <a:latin typeface="Fira Sans"/>
                <a:ea typeface="Fira Sans"/>
                <a:cs typeface="Fira Sans"/>
              </a:rPr>
              <a:t>sensoriamento de competências com limites éticos e decisão humana.</a:t>
            </a:r>
          </a:p>
          <a:p xmlns:a="http://schemas.openxmlformats.org/drawingml/2006/main">
            <a:pPr marL="18" indent="-10">
              <a:spcAft>
                <a:spcPts val="7"/>
              </a:spcAft>
              <a:buChar char="•"/>
            </a:pPr>
            <a:r>
              <a:rPr sz="1050" b="1" i="0">
                <a:solidFill>
                  <a:srgbClr val="EB976D"/>
                </a:solidFill>
                <a:latin typeface="Fira Sans"/>
                <a:ea typeface="Fira Sans"/>
                <a:cs typeface="Fira Sans"/>
              </a:rPr>
              <a:t>Model 5.0: </a:t>
            </a:r>
            <a:r>
              <a:rPr sz="1050" b="1" i="0">
                <a:solidFill>
                  <a:srgbClr val="38415C"/>
                </a:solidFill>
                <a:latin typeface="Fira Sans"/>
                <a:ea typeface="Fira Sans"/>
                <a:cs typeface="Fira Sans"/>
              </a:rPr>
              <a:t>laboratório vivo com RAG, grafos e aprendizagem no fluxo.</a:t>
            </a:r>
          </a:p>
          <a:p xmlns:a="http://schemas.openxmlformats.org/drawingml/2006/main">
            <a:pPr marL="18" indent="-10">
              <a:spcAft>
                <a:spcPts val="7"/>
              </a:spcAft>
              <a:buChar char="•"/>
            </a:pPr>
            <a:r>
              <a:rPr sz="1050" b="1" i="0">
                <a:solidFill>
                  <a:srgbClr val="EB976D"/>
                </a:solidFill>
                <a:latin typeface="Fira Sans"/>
                <a:ea typeface="Fira Sans"/>
                <a:cs typeface="Fira Sans"/>
              </a:rPr>
              <a:t>Moment 5.0: </a:t>
            </a:r>
            <a:r>
              <a:rPr sz="1050" b="1" i="0">
                <a:solidFill>
                  <a:srgbClr val="38415C"/>
                </a:solidFill>
                <a:latin typeface="Fira Sans"/>
                <a:ea typeface="Fira Sans"/>
                <a:cs typeface="Fira Sans"/>
              </a:rPr>
              <a:t>governança adaptativa, rastreabilidade, contestação e integridade.</a:t>
            </a:r>
          </a:p>
          <a:p xmlns:a="http://schemas.openxmlformats.org/drawingml/2006/main">
            <a:pPr marL="18" indent="-10">
              <a:spcAft>
                <a:spcPts val="7"/>
              </a:spcAft>
              <a:buChar char="•"/>
            </a:pPr>
            <a:r>
              <a:rPr sz="1050" b="1" i="0">
                <a:solidFill>
                  <a:srgbClr val="EB976D"/>
                </a:solidFill>
                <a:latin typeface="Fira Sans"/>
                <a:ea typeface="Fira Sans"/>
                <a:cs typeface="Fira Sans"/>
              </a:rPr>
              <a:t>Contribuição: </a:t>
            </a:r>
            <a:r>
              <a:rPr sz="1050" b="1" i="0">
                <a:solidFill>
                  <a:srgbClr val="38415C"/>
                </a:solidFill>
                <a:latin typeface="Fira Sans"/>
                <a:ea typeface="Fira Sans"/>
                <a:cs typeface="Fira Sans"/>
              </a:rPr>
              <a:t>arquitetura conceitual que conecta estratégia, GC, agência operacional e governança.</a:t>
            </a:r>
          </a:p>
          <a:p xmlns:a="http://schemas.openxmlformats.org/drawingml/2006/main">
            <a:pPr marL="18" indent="-10">
              <a:spcAft>
                <a:spcPts val="7"/>
              </a:spcAft>
              <a:buNone/>
            </a:pPr>
            <a:r>
              <a:rPr sz="900" b="1" i="0">
                <a:solidFill>
                  <a:srgbClr val="EB976D"/>
                </a:solidFill>
                <a:latin typeface="Fira Sans"/>
                <a:ea typeface="Fira Sans"/>
                <a:cs typeface="Fira Sans"/>
              </a:rPr>
              <a:t>Mensagem final: </a:t>
            </a:r>
            <a:r>
              <a:rPr sz="900" b="1" i="1">
                <a:solidFill>
                  <a:srgbClr val="8C8C96"/>
                </a:solidFill>
                <a:latin typeface="Fira Sans"/>
                <a:ea typeface="Fira Sans"/>
                <a:cs typeface="Fira Sans"/>
              </a:rPr>
              <a:t>a evolução responsável da UC depende menos de automatizar o ensino e mais de governar como humanos e IA aprendem e decidem juntos.</a:t>
            </a:r>
          </a:p>
        </p:txBody>
      </p:sp>
    </p:spTree>
    <p:extLst>
      <p:ext uri="{BB962C8B-B14F-4D97-AF65-F5344CB8AC3E}">
        <p14:creationId xmlns:p14="http://schemas.microsoft.com/office/powerpoint/2010/main" val="170931821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A468A5-0558-4700-BB4D-F078A2F8F754}"/>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Obrigado</a:t>
            </a:r>
          </a:p>
        </p:txBody>
      </p:sp>
      <p:sp>
        <p:nvSpPr>
          <p:cNvPr id="3" name="Subtitle 2">
            <a:extLst xmlns:a="http://schemas.openxmlformats.org/drawingml/2006/main">
              <a:ext uri="{FF2B5EF4-FFF2-40B4-BE49-F238E27FC236}">
                <a16:creationId xmlns:a16="http://schemas.microsoft.com/office/drawing/2014/main" id="{12B37123-81B9-484F-AEF2-223371901A42}"/>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pPr algn="ctr">
              <a:buNone/>
            </a:pPr>
            <a:r>
              <a:rPr sz="1275" b="0" i="0">
                <a:solidFill>
                  <a:srgbClr val="38415C"/>
                </a:solidFill>
                <a:latin typeface="Fira Sans"/>
                <a:ea typeface="Fira Sans"/>
                <a:cs typeface="Fira Sans"/>
              </a:rPr>
              <a:t>Perguntas e discussão</a:t>
            </a:r>
          </a:p>
          <a:p xmlns:a="http://schemas.openxmlformats.org/drawingml/2006/main">
            <a:pPr>
              <a:buNone/>
            </a:pPr>
            <a:r>
              <a:rPr sz="1500"/>
              <a:t/>
            </a:r>
          </a:p>
          <a:p xmlns:a="http://schemas.openxmlformats.org/drawingml/2006/main">
            <a:pPr algn="ctr">
              <a:buNone/>
            </a:pPr>
            <a:r>
              <a:rPr sz="1275" b="0" i="0">
                <a:solidFill>
                  <a:srgbClr val="38415C"/>
                </a:solidFill>
                <a:latin typeface="Fira Sans"/>
                <a:ea typeface="Fira Sans"/>
                <a:cs typeface="Fira Sans"/>
              </a:rPr>
              <a:t>João Pedro Barbosa Martins · Viviane Cunha Farias da Costa · Emily Lopes</a:t>
            </a:r>
          </a:p>
          <a:p xmlns:a="http://schemas.openxmlformats.org/drawingml/2006/main">
            <a:pPr algn="ctr">
              <a:buNone/>
            </a:pPr>
            <a:r>
              <a:rPr sz="1275" b="0" i="0">
                <a:solidFill>
                  <a:srgbClr val="38415C"/>
                </a:solidFill>
                <a:latin typeface="Fira Sans"/>
                <a:ea typeface="Fira Sans"/>
                <a:cs typeface="Fira Sans"/>
              </a:rPr>
              <a:t>PESC/COPPE-UFRJ</a:t>
            </a:r>
          </a:p>
        </p:txBody>
      </p:sp>
    </p:spTree>
    <p:extLst>
      <p:ext uri="{BB962C8B-B14F-4D97-AF65-F5344CB8AC3E}">
        <p14:creationId xmlns:p14="http://schemas.microsoft.com/office/powerpoint/2010/main" val="192832015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B88670-A8B0-4F9D-978D-34926F056A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Referências citadas no artigo — 1/4</a:t>
            </a:r>
          </a:p>
        </p:txBody>
      </p:sp>
      <p:sp>
        <p:nvSpPr>
          <p:cNvPr id="3" name="Content Placeholder 2">
            <a:extLst xmlns:a="http://schemas.openxmlformats.org/drawingml/2006/main">
              <a:ext uri="{FF2B5EF4-FFF2-40B4-BE49-F238E27FC236}">
                <a16:creationId xmlns:a16="http://schemas.microsoft.com/office/drawing/2014/main" id="{37088C56-992D-44E4-ACAE-81A4521EA0CA}"/>
              </a:ext>
            </a:extLst>
          </p:cNvPr>
          <p:cNvSpPr>
            <a:spLocks xmlns:a="http://schemas.openxmlformats.org/drawingml/2006/main" noGrp="1"/>
          </p:cNvSpPr>
          <p:nvPr>
            <p:ph idx="1"/>
          </p:nvPr>
        </p:nvSpPr>
        <p:spPr>
          <a:xfrm xmlns:a="http://schemas.openxmlformats.org/drawingml/2006/main">
            <a:off x="1200150" y="1476375"/>
            <a:ext cx="7524750" cy="4429125"/>
          </a:xfrm>
        </p:spPr>
        <p:txBody>
          <a:bodyPr xmlns:a="http://schemas.openxmlformats.org/drawingml/2006/main" anchor="t">
            <a:normAutofit fontScale="100000"/>
          </a:bodyPr>
          <a:lstStyle xmlns:a="http://schemas.openxmlformats.org/drawingml/2006/main"/>
          <a:p xmlns:a="http://schemas.openxmlformats.org/drawingml/2006/main">
            <a:pPr marL="285750" indent="-285750">
              <a:spcAft>
                <a:spcPts val="3"/>
              </a:spcAft>
              <a:buNone/>
            </a:pPr>
            <a:r>
              <a:rPr sz="713" b="1" i="0">
                <a:solidFill>
                  <a:srgbClr val="EB976D"/>
                </a:solidFill>
                <a:latin typeface="Fira Sans"/>
                <a:ea typeface="Fira Sans"/>
                <a:cs typeface="Fira Sans"/>
              </a:rPr>
              <a:t>[1]</a:t>
            </a:r>
            <a:r>
              <a:rPr sz="713" b="0" i="0">
                <a:solidFill>
                  <a:srgbClr val="38415C"/>
                </a:solidFill>
                <a:latin typeface="Fira Sans"/>
                <a:ea typeface="Fira Sans"/>
                <a:cs typeface="Fira Sans"/>
              </a:rPr>
              <a:t> Scarso, E. Corporate universities as knowledge management tools. VINE Journal of Information and Knowledge Management Systems, 2017. DOI: 10.1108/VJIKMS-12-2016-0074.</a:t>
            </a:r>
          </a:p>
          <a:p xmlns:a="http://schemas.openxmlformats.org/drawingml/2006/main">
            <a:pPr marL="285750" indent="-285750">
              <a:spcAft>
                <a:spcPts val="3"/>
              </a:spcAft>
              <a:buNone/>
            </a:pPr>
            <a:r>
              <a:rPr sz="713" b="1" i="0">
                <a:solidFill>
                  <a:srgbClr val="EB976D"/>
                </a:solidFill>
                <a:latin typeface="Fira Sans"/>
                <a:ea typeface="Fira Sans"/>
                <a:cs typeface="Fira Sans"/>
              </a:rPr>
              <a:t>[2]</a:t>
            </a:r>
            <a:r>
              <a:rPr sz="713" b="0" i="0">
                <a:solidFill>
                  <a:srgbClr val="38415C"/>
                </a:solidFill>
                <a:latin typeface="Fira Sans"/>
                <a:ea typeface="Fira Sans"/>
                <a:cs typeface="Fira Sans"/>
              </a:rPr>
              <a:t> Chen, Y.; Xu, Y.; Zhai, Q. The knowledge management functions of corporate university and their evolution: case studies of two Chinese corporate universities. Journal of Knowledge Management, 2019. DOI: 10.1108/JKM-04-2018-0228.</a:t>
            </a:r>
          </a:p>
          <a:p xmlns:a="http://schemas.openxmlformats.org/drawingml/2006/main">
            <a:pPr marL="285750" indent="-285750">
              <a:spcAft>
                <a:spcPts val="3"/>
              </a:spcAft>
              <a:buNone/>
            </a:pPr>
            <a:r>
              <a:rPr sz="713" b="1" i="0">
                <a:solidFill>
                  <a:srgbClr val="EB976D"/>
                </a:solidFill>
                <a:latin typeface="Fira Sans"/>
                <a:ea typeface="Fira Sans"/>
                <a:cs typeface="Fira Sans"/>
              </a:rPr>
              <a:t>[3]</a:t>
            </a:r>
            <a:r>
              <a:rPr sz="713" b="0" i="0">
                <a:solidFill>
                  <a:srgbClr val="38415C"/>
                </a:solidFill>
                <a:latin typeface="Fira Sans"/>
                <a:ea typeface="Fira Sans"/>
                <a:cs typeface="Fira Sans"/>
              </a:rPr>
              <a:t> Farias da Costa, V.C.; Oliveira, J.; Moreira de Souza, J. Conceptual Model for Corporate Universities. Encyclopedia of Knowledge Management, p. 112–120, 2011. DOI: 10.4018/978-1-59904-931-1.ch012.</a:t>
            </a:r>
          </a:p>
          <a:p xmlns:a="http://schemas.openxmlformats.org/drawingml/2006/main">
            <a:pPr marL="285750" indent="-285750">
              <a:spcAft>
                <a:spcPts val="3"/>
              </a:spcAft>
              <a:buNone/>
            </a:pPr>
            <a:r>
              <a:rPr sz="713" b="1" i="0">
                <a:solidFill>
                  <a:srgbClr val="EB976D"/>
                </a:solidFill>
                <a:latin typeface="Fira Sans"/>
                <a:ea typeface="Fira Sans"/>
                <a:cs typeface="Fira Sans"/>
              </a:rPr>
              <a:t>[4]</a:t>
            </a:r>
            <a:r>
              <a:rPr sz="713" b="0" i="0">
                <a:solidFill>
                  <a:srgbClr val="38415C"/>
                </a:solidFill>
                <a:latin typeface="Fira Sans"/>
                <a:ea typeface="Fira Sans"/>
                <a:cs typeface="Fira Sans"/>
              </a:rPr>
              <a:t> Prat, N. A Hierarchical Model for Knowledge Management. Encyclopedia of Knowledge Management, 2011. DOI: 10.4018/978-1-59904-931-1.ch036.</a:t>
            </a:r>
          </a:p>
          <a:p xmlns:a="http://schemas.openxmlformats.org/drawingml/2006/main">
            <a:pPr marL="285750" indent="-285750">
              <a:spcAft>
                <a:spcPts val="3"/>
              </a:spcAft>
              <a:buNone/>
            </a:pPr>
            <a:r>
              <a:rPr sz="713" b="1" i="0">
                <a:solidFill>
                  <a:srgbClr val="EB976D"/>
                </a:solidFill>
                <a:latin typeface="Fira Sans"/>
                <a:ea typeface="Fira Sans"/>
                <a:cs typeface="Fira Sans"/>
              </a:rPr>
              <a:t>[5]</a:t>
            </a:r>
            <a:r>
              <a:rPr sz="713" b="0" i="0">
                <a:solidFill>
                  <a:srgbClr val="38415C"/>
                </a:solidFill>
                <a:latin typeface="Fira Sans"/>
                <a:ea typeface="Fira Sans"/>
                <a:cs typeface="Fira Sans"/>
              </a:rPr>
              <a:t> Alavi, M.; Leidner, D.; Mousavi, R. Knowledge Management Perspective of Generative Artificial Intelligence (GenAI). Journal of the Association for Information Systems, 2024.</a:t>
            </a:r>
          </a:p>
          <a:p xmlns:a="http://schemas.openxmlformats.org/drawingml/2006/main">
            <a:pPr marL="285750" indent="-285750">
              <a:spcAft>
                <a:spcPts val="3"/>
              </a:spcAft>
              <a:buNone/>
            </a:pPr>
            <a:r>
              <a:rPr sz="713" b="1" i="0">
                <a:solidFill>
                  <a:srgbClr val="EB976D"/>
                </a:solidFill>
                <a:latin typeface="Fira Sans"/>
                <a:ea typeface="Fira Sans"/>
                <a:cs typeface="Fira Sans"/>
              </a:rPr>
              <a:t>[6]</a:t>
            </a:r>
            <a:r>
              <a:rPr sz="713" b="0" i="0">
                <a:solidFill>
                  <a:srgbClr val="38415C"/>
                </a:solidFill>
                <a:latin typeface="Fira Sans"/>
                <a:ea typeface="Fira Sans"/>
                <a:cs typeface="Fira Sans"/>
              </a:rPr>
              <a:t> Mora-Mora, D.P.; Bernal-Torres, C.A.; Torres-Guevara, L.E. Corporate university model: Enhancing competitiveness in firms from emerging economies. The Learning Organization, v. 32, n. 7, p. 153–175, 2025. DOI: 10.1108/TLO-10-2023-0193.</a:t>
            </a:r>
          </a:p>
          <a:p xmlns:a="http://schemas.openxmlformats.org/drawingml/2006/main">
            <a:pPr marL="285750" indent="-285750">
              <a:spcAft>
                <a:spcPts val="3"/>
              </a:spcAft>
              <a:buNone/>
            </a:pPr>
            <a:r>
              <a:rPr sz="713" b="1" i="0">
                <a:solidFill>
                  <a:srgbClr val="EB976D"/>
                </a:solidFill>
                <a:latin typeface="Fira Sans"/>
                <a:ea typeface="Fira Sans"/>
                <a:cs typeface="Fira Sans"/>
              </a:rPr>
              <a:t>[7]</a:t>
            </a:r>
            <a:r>
              <a:rPr sz="713" b="0" i="0">
                <a:solidFill>
                  <a:srgbClr val="38415C"/>
                </a:solidFill>
                <a:latin typeface="Fira Sans"/>
                <a:ea typeface="Fira Sans"/>
                <a:cs typeface="Fira Sans"/>
              </a:rPr>
              <a:t> Silva, S.d.; Dandolini, G.; Freire, P.d.S.; Rochadel, W.; Valdati, A.d.B. Purpose of the use of technologies in the contemporary models of Corporate University. International Journal for Innovation Education and Research, 2018. DOI: 10.31686/ijier.Vol6.Iss8.1117.</a:t>
            </a:r>
          </a:p>
          <a:p xmlns:a="http://schemas.openxmlformats.org/drawingml/2006/main">
            <a:pPr marL="285750" indent="-285750">
              <a:spcAft>
                <a:spcPts val="3"/>
              </a:spcAft>
              <a:buNone/>
            </a:pPr>
            <a:r>
              <a:rPr sz="713" b="1" i="0">
                <a:solidFill>
                  <a:srgbClr val="EB976D"/>
                </a:solidFill>
                <a:latin typeface="Fira Sans"/>
                <a:ea typeface="Fira Sans"/>
                <a:cs typeface="Fira Sans"/>
              </a:rPr>
              <a:t>[8]</a:t>
            </a:r>
            <a:r>
              <a:rPr sz="713" b="0" i="0">
                <a:solidFill>
                  <a:srgbClr val="38415C"/>
                </a:solidFill>
                <a:latin typeface="Fira Sans"/>
                <a:ea typeface="Fira Sans"/>
                <a:cs typeface="Fira Sans"/>
              </a:rPr>
              <a:t> Islam, A.; Ajmal, M. Agentic AI and the Co-Evolution of Organizational Knowledge. Policy Journal of Social Science Review, 2025.</a:t>
            </a:r>
          </a:p>
          <a:p xmlns:a="http://schemas.openxmlformats.org/drawingml/2006/main">
            <a:pPr marL="285750" indent="-285750">
              <a:spcAft>
                <a:spcPts val="3"/>
              </a:spcAft>
              <a:buNone/>
            </a:pPr>
            <a:r>
              <a:rPr sz="713" b="1" i="0">
                <a:solidFill>
                  <a:srgbClr val="EB976D"/>
                </a:solidFill>
                <a:latin typeface="Fira Sans"/>
                <a:ea typeface="Fira Sans"/>
                <a:cs typeface="Fira Sans"/>
              </a:rPr>
              <a:t>[9]</a:t>
            </a:r>
            <a:r>
              <a:rPr sz="713" b="0" i="0">
                <a:solidFill>
                  <a:srgbClr val="38415C"/>
                </a:solidFill>
                <a:latin typeface="Fira Sans"/>
                <a:ea typeface="Fira Sans"/>
                <a:cs typeface="Fira Sans"/>
              </a:rPr>
              <a:t> Jarrahi, M.H.; Askay, D.; Eshraghi, A.; Smith, P. Artificial intelligence and knowledge management: A partnership between human and AI. Business Horizons, v. 66, n. 1, p. 87–99, 2023. DOI: 10.1016/j.bushor.2022.03.002.</a:t>
            </a:r>
          </a:p>
          <a:p xmlns:a="http://schemas.openxmlformats.org/drawingml/2006/main">
            <a:pPr marL="285750" indent="-285750">
              <a:spcAft>
                <a:spcPts val="3"/>
              </a:spcAft>
              <a:buNone/>
            </a:pPr>
            <a:r>
              <a:rPr sz="713" b="1" i="0">
                <a:solidFill>
                  <a:srgbClr val="EB976D"/>
                </a:solidFill>
                <a:latin typeface="Fira Sans"/>
                <a:ea typeface="Fira Sans"/>
                <a:cs typeface="Fira Sans"/>
              </a:rPr>
              <a:t>[10]</a:t>
            </a:r>
            <a:r>
              <a:rPr sz="713" b="0" i="0">
                <a:solidFill>
                  <a:srgbClr val="38415C"/>
                </a:solidFill>
                <a:latin typeface="Fira Sans"/>
                <a:ea typeface="Fira Sans"/>
                <a:cs typeface="Fira Sans"/>
              </a:rPr>
              <a:t> Stollenwerk, M.F.L. Gestão do Conhecimento: conceitos e modelos. Inteligência Organizacional e Competitiva, p. 143–163, 2001.</a:t>
            </a:r>
          </a:p>
          <a:p xmlns:a="http://schemas.openxmlformats.org/drawingml/2006/main">
            <a:pPr marL="285750" indent="-285750">
              <a:spcAft>
                <a:spcPts val="3"/>
              </a:spcAft>
              <a:buNone/>
            </a:pPr>
            <a:r>
              <a:rPr sz="713" b="1" i="0">
                <a:solidFill>
                  <a:srgbClr val="EB976D"/>
                </a:solidFill>
                <a:latin typeface="Fira Sans"/>
                <a:ea typeface="Fira Sans"/>
                <a:cs typeface="Fira Sans"/>
              </a:rPr>
              <a:t>[11]</a:t>
            </a:r>
            <a:r>
              <a:rPr sz="713" b="0" i="0">
                <a:solidFill>
                  <a:srgbClr val="38415C"/>
                </a:solidFill>
                <a:latin typeface="Fira Sans"/>
                <a:ea typeface="Fira Sans"/>
                <a:cs typeface="Fira Sans"/>
              </a:rPr>
              <a:t> Faraj, S.; Perez-Torrents, J.; Mantere, S.; Bhardwaj, A. A time for monsters: Organizational knowing after large language models. Strategic Organization, 2026. DOI: 10.1177/14761270251410675.</a:t>
            </a:r>
          </a:p>
          <a:p xmlns:a="http://schemas.openxmlformats.org/drawingml/2006/main">
            <a:pPr marL="285750" indent="-285750">
              <a:spcAft>
                <a:spcPts val="3"/>
              </a:spcAft>
              <a:buNone/>
            </a:pPr>
            <a:r>
              <a:rPr sz="713" b="1" i="0">
                <a:solidFill>
                  <a:srgbClr val="EB976D"/>
                </a:solidFill>
                <a:latin typeface="Fira Sans"/>
                <a:ea typeface="Fira Sans"/>
                <a:cs typeface="Fira Sans"/>
              </a:rPr>
              <a:t>[12]</a:t>
            </a:r>
            <a:r>
              <a:rPr sz="713" b="0" i="0">
                <a:solidFill>
                  <a:srgbClr val="38415C"/>
                </a:solidFill>
                <a:latin typeface="Fira Sans"/>
                <a:ea typeface="Fira Sans"/>
                <a:cs typeface="Fira Sans"/>
              </a:rPr>
              <a:t> Meister, J.C. Corporate Universities: Lessons in Building a World-Class Work Force. McGraw-Hill, 1998.</a:t>
            </a:r>
          </a:p>
        </p:txBody>
      </p:sp>
    </p:spTree>
    <p:extLst>
      <p:ext uri="{BB962C8B-B14F-4D97-AF65-F5344CB8AC3E}">
        <p14:creationId xmlns:p14="http://schemas.microsoft.com/office/powerpoint/2010/main" val="61505594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B88670-A8B0-4F9D-978D-34926F056A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Referências citadas no artigo — 2/4</a:t>
            </a:r>
          </a:p>
        </p:txBody>
      </p:sp>
      <p:sp>
        <p:nvSpPr>
          <p:cNvPr id="3" name="Content Placeholder 2">
            <a:extLst xmlns:a="http://schemas.openxmlformats.org/drawingml/2006/main">
              <a:ext uri="{FF2B5EF4-FFF2-40B4-BE49-F238E27FC236}">
                <a16:creationId xmlns:a16="http://schemas.microsoft.com/office/drawing/2014/main" id="{37088C56-992D-44E4-ACAE-81A4521EA0CA}"/>
              </a:ext>
            </a:extLst>
          </p:cNvPr>
          <p:cNvSpPr>
            <a:spLocks xmlns:a="http://schemas.openxmlformats.org/drawingml/2006/main" noGrp="1"/>
          </p:cNvSpPr>
          <p:nvPr>
            <p:ph idx="1"/>
          </p:nvPr>
        </p:nvSpPr>
        <p:spPr>
          <a:xfrm xmlns:a="http://schemas.openxmlformats.org/drawingml/2006/main">
            <a:off x="1200150" y="1476375"/>
            <a:ext cx="7524750" cy="4429125"/>
          </a:xfrm>
        </p:spPr>
        <p:txBody>
          <a:bodyPr xmlns:a="http://schemas.openxmlformats.org/drawingml/2006/main" anchor="t">
            <a:normAutofit fontScale="100000"/>
          </a:bodyPr>
          <a:lstStyle xmlns:a="http://schemas.openxmlformats.org/drawingml/2006/main"/>
          <a:p xmlns:a="http://schemas.openxmlformats.org/drawingml/2006/main">
            <a:pPr marL="285750" indent="-285750">
              <a:spcAft>
                <a:spcPts val="3"/>
              </a:spcAft>
              <a:buNone/>
            </a:pPr>
            <a:r>
              <a:rPr sz="713" b="1" i="0">
                <a:solidFill>
                  <a:srgbClr val="EB976D"/>
                </a:solidFill>
                <a:latin typeface="Fira Sans"/>
                <a:ea typeface="Fira Sans"/>
                <a:cs typeface="Fira Sans"/>
              </a:rPr>
              <a:t>[13]</a:t>
            </a:r>
            <a:r>
              <a:rPr sz="713" b="0" i="0">
                <a:solidFill>
                  <a:srgbClr val="38415C"/>
                </a:solidFill>
                <a:latin typeface="Fira Sans"/>
                <a:ea typeface="Fira Sans"/>
                <a:cs typeface="Fira Sans"/>
              </a:rPr>
              <a:t> Han, Y.; Zhou, Y.; Carr, S.; Jiang, J. Lifelong learning in the workplace: the knowledge management role of corporate universities in China. Humanities and Social Sciences Communications, 2024. DOI: 10.1057/s41599-024-02693-3.</a:t>
            </a:r>
          </a:p>
          <a:p xmlns:a="http://schemas.openxmlformats.org/drawingml/2006/main">
            <a:pPr marL="285750" indent="-285750">
              <a:spcAft>
                <a:spcPts val="3"/>
              </a:spcAft>
              <a:buNone/>
            </a:pPr>
            <a:r>
              <a:rPr sz="713" b="1" i="0">
                <a:solidFill>
                  <a:srgbClr val="EB976D"/>
                </a:solidFill>
                <a:latin typeface="Fira Sans"/>
                <a:ea typeface="Fira Sans"/>
                <a:cs typeface="Fira Sans"/>
              </a:rPr>
              <a:t>[14]</a:t>
            </a:r>
            <a:r>
              <a:rPr sz="713" b="0" i="0">
                <a:solidFill>
                  <a:srgbClr val="38415C"/>
                </a:solidFill>
                <a:latin typeface="Fira Sans"/>
                <a:ea typeface="Fira Sans"/>
                <a:cs typeface="Fira Sans"/>
              </a:rPr>
              <a:t> Storey, V. Knowledge Management in a World of Generative AI: Impact and Implications. ACM Transactions on Management Information Systems, 2025. DOI: 10.1145/3719209.</a:t>
            </a:r>
          </a:p>
          <a:p xmlns:a="http://schemas.openxmlformats.org/drawingml/2006/main">
            <a:pPr marL="285750" indent="-285750">
              <a:spcAft>
                <a:spcPts val="3"/>
              </a:spcAft>
              <a:buNone/>
            </a:pPr>
            <a:r>
              <a:rPr sz="713" b="1" i="0">
                <a:solidFill>
                  <a:srgbClr val="EB976D"/>
                </a:solidFill>
                <a:latin typeface="Fira Sans"/>
                <a:ea typeface="Fira Sans"/>
                <a:cs typeface="Fira Sans"/>
              </a:rPr>
              <a:t>[15]</a:t>
            </a:r>
            <a:r>
              <a:rPr sz="713" b="0" i="0">
                <a:solidFill>
                  <a:srgbClr val="38415C"/>
                </a:solidFill>
                <a:latin typeface="Fira Sans"/>
                <a:ea typeface="Fira Sans"/>
                <a:cs typeface="Fira Sans"/>
              </a:rPr>
              <a:t> Uchihira, N. Tacit Knowledge Management with Generative AI: Proposal of the GenAI SECI Model. arXiv preprint (JAIST), 2026.</a:t>
            </a:r>
          </a:p>
          <a:p xmlns:a="http://schemas.openxmlformats.org/drawingml/2006/main">
            <a:pPr marL="285750" indent="-285750">
              <a:spcAft>
                <a:spcPts val="3"/>
              </a:spcAft>
              <a:buNone/>
            </a:pPr>
            <a:r>
              <a:rPr sz="713" b="1" i="0">
                <a:solidFill>
                  <a:srgbClr val="EB976D"/>
                </a:solidFill>
                <a:latin typeface="Fira Sans"/>
                <a:ea typeface="Fira Sans"/>
                <a:cs typeface="Fira Sans"/>
              </a:rPr>
              <a:t>[16]</a:t>
            </a:r>
            <a:r>
              <a:rPr sz="713" b="0" i="0">
                <a:solidFill>
                  <a:srgbClr val="38415C"/>
                </a:solidFill>
                <a:latin typeface="Fira Sans"/>
                <a:ea typeface="Fira Sans"/>
                <a:cs typeface="Fira Sans"/>
              </a:rPr>
              <a:t> Böhm, K.; Durst, S. Knowledge management in the age of generative artificial intelligence – from SECI to GRAI. VINE Journal of Information and Knowledge Management Systems, 2025. DOI: 10.1108/VJIKMS-10-2024-0357.</a:t>
            </a:r>
          </a:p>
          <a:p xmlns:a="http://schemas.openxmlformats.org/drawingml/2006/main">
            <a:pPr marL="285750" indent="-285750">
              <a:spcAft>
                <a:spcPts val="3"/>
              </a:spcAft>
              <a:buNone/>
            </a:pPr>
            <a:r>
              <a:rPr sz="713" b="1" i="0">
                <a:solidFill>
                  <a:srgbClr val="EB976D"/>
                </a:solidFill>
                <a:latin typeface="Fira Sans"/>
                <a:ea typeface="Fira Sans"/>
                <a:cs typeface="Fira Sans"/>
              </a:rPr>
              <a:t>[17]</a:t>
            </a:r>
            <a:r>
              <a:rPr sz="713" b="0" i="0">
                <a:solidFill>
                  <a:srgbClr val="38415C"/>
                </a:solidFill>
                <a:latin typeface="Fira Sans"/>
                <a:ea typeface="Fira Sans"/>
                <a:cs typeface="Fira Sans"/>
              </a:rPr>
              <a:t> Kirchner, K.; Bolisani, E.; Kassaneh, T.; Scarso, E.; Taraghi, N. Generative AI Meets Knowledge Management: Insights From Software Development Practices. Knowledge and Process Management, 2025.</a:t>
            </a:r>
          </a:p>
          <a:p xmlns:a="http://schemas.openxmlformats.org/drawingml/2006/main">
            <a:pPr marL="285750" indent="-285750">
              <a:spcAft>
                <a:spcPts val="3"/>
              </a:spcAft>
              <a:buNone/>
            </a:pPr>
            <a:r>
              <a:rPr sz="713" b="1" i="0">
                <a:solidFill>
                  <a:srgbClr val="EB976D"/>
                </a:solidFill>
                <a:latin typeface="Fira Sans"/>
                <a:ea typeface="Fira Sans"/>
                <a:cs typeface="Fira Sans"/>
              </a:rPr>
              <a:t>[18]</a:t>
            </a:r>
            <a:r>
              <a:rPr sz="713" b="0" i="0">
                <a:solidFill>
                  <a:srgbClr val="38415C"/>
                </a:solidFill>
                <a:latin typeface="Fira Sans"/>
                <a:ea typeface="Fira Sans"/>
                <a:cs typeface="Fira Sans"/>
              </a:rPr>
              <a:t> O'Leary, D. Enterprise large language models: Knowledge characteristics, risks, and organizational activities. Intelligent Systems in Accounting, Finance and Management, 2023. DOI: 10.1002/isaf.1541.</a:t>
            </a:r>
          </a:p>
          <a:p xmlns:a="http://schemas.openxmlformats.org/drawingml/2006/main">
            <a:pPr marL="285750" indent="-285750">
              <a:spcAft>
                <a:spcPts val="3"/>
              </a:spcAft>
              <a:buNone/>
            </a:pPr>
            <a:r>
              <a:rPr sz="713" b="1" i="0">
                <a:solidFill>
                  <a:srgbClr val="EB976D"/>
                </a:solidFill>
                <a:latin typeface="Fira Sans"/>
                <a:ea typeface="Fira Sans"/>
                <a:cs typeface="Fira Sans"/>
              </a:rPr>
              <a:t>[19]</a:t>
            </a:r>
            <a:r>
              <a:rPr sz="713" b="0" i="0">
                <a:solidFill>
                  <a:srgbClr val="38415C"/>
                </a:solidFill>
                <a:latin typeface="Fira Sans"/>
                <a:ea typeface="Fira Sans"/>
                <a:cs typeface="Fira Sans"/>
              </a:rPr>
              <a:t> Nakash, M. Learning in the Flow of Work: Navigating the Convergence of Organizational Learning and Knowledge Management. InSITE Conference, 2024. DOI: 10.28945/5270.</a:t>
            </a:r>
          </a:p>
          <a:p xmlns:a="http://schemas.openxmlformats.org/drawingml/2006/main">
            <a:pPr marL="285750" indent="-285750">
              <a:spcAft>
                <a:spcPts val="3"/>
              </a:spcAft>
              <a:buNone/>
            </a:pPr>
            <a:r>
              <a:rPr sz="713" b="1" i="0">
                <a:solidFill>
                  <a:srgbClr val="EB976D"/>
                </a:solidFill>
                <a:latin typeface="Fira Sans"/>
                <a:ea typeface="Fira Sans"/>
                <a:cs typeface="Fira Sans"/>
              </a:rPr>
              <a:t>[20]</a:t>
            </a:r>
            <a:r>
              <a:rPr sz="713" b="0" i="0">
                <a:solidFill>
                  <a:srgbClr val="38415C"/>
                </a:solidFill>
                <a:latin typeface="Fira Sans"/>
                <a:ea typeface="Fira Sans"/>
                <a:cs typeface="Fira Sans"/>
              </a:rPr>
              <a:t> Lombardozzi, C. Challenges of Learning in the Flow of Work: Scaffolding Self-Direction. International Journal of Human Resource Development: Practice, Policy &amp; Research, 2016. DOI: 10.22324/ijhrdppr.1.114.</a:t>
            </a:r>
          </a:p>
          <a:p xmlns:a="http://schemas.openxmlformats.org/drawingml/2006/main">
            <a:pPr marL="285750" indent="-285750">
              <a:spcAft>
                <a:spcPts val="3"/>
              </a:spcAft>
              <a:buNone/>
            </a:pPr>
            <a:r>
              <a:rPr sz="713" b="1" i="0">
                <a:solidFill>
                  <a:srgbClr val="EB976D"/>
                </a:solidFill>
                <a:latin typeface="Fira Sans"/>
                <a:ea typeface="Fira Sans"/>
                <a:cs typeface="Fira Sans"/>
              </a:rPr>
              <a:t>[21]</a:t>
            </a:r>
            <a:r>
              <a:rPr sz="713" b="0" i="0">
                <a:solidFill>
                  <a:srgbClr val="38415C"/>
                </a:solidFill>
                <a:latin typeface="Fira Sans"/>
                <a:ea typeface="Fira Sans"/>
                <a:cs typeface="Fira Sans"/>
              </a:rPr>
              <a:t> Callari, T.; Puppione, L. Can generative artificial intelligence productivity tools support workplace learning? A qualitative study on employee perceptions in a multinational corporation. Journal of Workplace Learning, 2025. DOI: 10.1108/jwl-11-2024-0258.</a:t>
            </a:r>
          </a:p>
          <a:p xmlns:a="http://schemas.openxmlformats.org/drawingml/2006/main">
            <a:pPr marL="285750" indent="-285750">
              <a:spcAft>
                <a:spcPts val="3"/>
              </a:spcAft>
              <a:buNone/>
            </a:pPr>
            <a:r>
              <a:rPr sz="713" b="1" i="0">
                <a:solidFill>
                  <a:srgbClr val="EB976D"/>
                </a:solidFill>
                <a:latin typeface="Fira Sans"/>
                <a:ea typeface="Fira Sans"/>
                <a:cs typeface="Fira Sans"/>
              </a:rPr>
              <a:t>[22]</a:t>
            </a:r>
            <a:r>
              <a:rPr sz="713" b="0" i="0">
                <a:solidFill>
                  <a:srgbClr val="38415C"/>
                </a:solidFill>
                <a:latin typeface="Fira Sans"/>
                <a:ea typeface="Fira Sans"/>
                <a:cs typeface="Fira Sans"/>
              </a:rPr>
              <a:t> Rausch, A. Artificial intelligence for informal workplace learning: a problem-solving perspective. Frontiers in Organizational Psychology, 2025. DOI: 10.3389/forgp.2025.1555429.</a:t>
            </a:r>
          </a:p>
          <a:p xmlns:a="http://schemas.openxmlformats.org/drawingml/2006/main">
            <a:pPr marL="285750" indent="-285750">
              <a:spcAft>
                <a:spcPts val="3"/>
              </a:spcAft>
              <a:buNone/>
            </a:pPr>
            <a:r>
              <a:rPr sz="713" b="1" i="0">
                <a:solidFill>
                  <a:srgbClr val="EB976D"/>
                </a:solidFill>
                <a:latin typeface="Fira Sans"/>
                <a:ea typeface="Fira Sans"/>
                <a:cs typeface="Fira Sans"/>
              </a:rPr>
              <a:t>[23]</a:t>
            </a:r>
            <a:r>
              <a:rPr sz="713" b="0" i="0">
                <a:solidFill>
                  <a:srgbClr val="38415C"/>
                </a:solidFill>
                <a:latin typeface="Fira Sans"/>
                <a:ea typeface="Fira Sans"/>
                <a:cs typeface="Fira Sans"/>
              </a:rPr>
              <a:t> Yabanova, E. Artificial Intelligence-Supported Workplace Education: A Systematic Review of Learning Outcomes, Opportunities, and Challenges. Educational Process International Journal, 2025. DOI: 10.22521/edupij.2025.19.602.</a:t>
            </a:r>
          </a:p>
          <a:p xmlns:a="http://schemas.openxmlformats.org/drawingml/2006/main">
            <a:pPr marL="285750" indent="-285750">
              <a:spcAft>
                <a:spcPts val="3"/>
              </a:spcAft>
              <a:buNone/>
            </a:pPr>
            <a:r>
              <a:rPr sz="713" b="1" i="0">
                <a:solidFill>
                  <a:srgbClr val="EB976D"/>
                </a:solidFill>
                <a:latin typeface="Fira Sans"/>
                <a:ea typeface="Fira Sans"/>
                <a:cs typeface="Fira Sans"/>
              </a:rPr>
              <a:t>[24]</a:t>
            </a:r>
            <a:r>
              <a:rPr sz="713" b="0" i="0">
                <a:solidFill>
                  <a:srgbClr val="38415C"/>
                </a:solidFill>
                <a:latin typeface="Fira Sans"/>
                <a:ea typeface="Fira Sans"/>
                <a:cs typeface="Fira Sans"/>
              </a:rPr>
              <a:t> Morandini, S.; Fraboni, F.; Angelis, M.D.; Puzzo, G.; Giusino, D.; Pietrantoni, L. The Impact of Artificial Intelligence on Workers' Skills: Upskilling and Reskilling in Organisations. Informing Science: The International Journal of an Emerging Transdiscipline, 2023. DOI: 10.28945/5078.</a:t>
            </a:r>
          </a:p>
        </p:txBody>
      </p:sp>
    </p:spTree>
    <p:extLst>
      <p:ext uri="{BB962C8B-B14F-4D97-AF65-F5344CB8AC3E}">
        <p14:creationId xmlns:p14="http://schemas.microsoft.com/office/powerpoint/2010/main" val="61505594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B88670-A8B0-4F9D-978D-34926F056A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Referências citadas no artigo — 3/4</a:t>
            </a:r>
          </a:p>
        </p:txBody>
      </p:sp>
      <p:sp>
        <p:nvSpPr>
          <p:cNvPr id="3" name="Content Placeholder 2">
            <a:extLst xmlns:a="http://schemas.openxmlformats.org/drawingml/2006/main">
              <a:ext uri="{FF2B5EF4-FFF2-40B4-BE49-F238E27FC236}">
                <a16:creationId xmlns:a16="http://schemas.microsoft.com/office/drawing/2014/main" id="{37088C56-992D-44E4-ACAE-81A4521EA0CA}"/>
              </a:ext>
            </a:extLst>
          </p:cNvPr>
          <p:cNvSpPr>
            <a:spLocks xmlns:a="http://schemas.openxmlformats.org/drawingml/2006/main" noGrp="1"/>
          </p:cNvSpPr>
          <p:nvPr>
            <p:ph idx="1"/>
          </p:nvPr>
        </p:nvSpPr>
        <p:spPr>
          <a:xfrm xmlns:a="http://schemas.openxmlformats.org/drawingml/2006/main">
            <a:off x="1200150" y="1476375"/>
            <a:ext cx="7524750" cy="4429125"/>
          </a:xfrm>
        </p:spPr>
        <p:txBody>
          <a:bodyPr xmlns:a="http://schemas.openxmlformats.org/drawingml/2006/main" anchor="t">
            <a:normAutofit fontScale="100000"/>
          </a:bodyPr>
          <a:lstStyle xmlns:a="http://schemas.openxmlformats.org/drawingml/2006/main"/>
          <a:p xmlns:a="http://schemas.openxmlformats.org/drawingml/2006/main">
            <a:pPr marL="285750" indent="-285750">
              <a:spcAft>
                <a:spcPts val="3"/>
              </a:spcAft>
              <a:buNone/>
            </a:pPr>
            <a:r>
              <a:rPr sz="713" b="1" i="0">
                <a:solidFill>
                  <a:srgbClr val="EB976D"/>
                </a:solidFill>
                <a:latin typeface="Fira Sans"/>
                <a:ea typeface="Fira Sans"/>
                <a:cs typeface="Fira Sans"/>
              </a:rPr>
              <a:t>[25]</a:t>
            </a:r>
            <a:r>
              <a:rPr sz="713" b="0" i="0">
                <a:solidFill>
                  <a:srgbClr val="38415C"/>
                </a:solidFill>
                <a:latin typeface="Fira Sans"/>
                <a:ea typeface="Fira Sans"/>
                <a:cs typeface="Fira Sans"/>
              </a:rPr>
              <a:t> Li, L. Reskilling and Upskilling the Future-ready Workforce for Industry 4.0 and Beyond. Information Systems Frontiers, 2024. DOI: 10.1007/s10796-022-10308-y.</a:t>
            </a:r>
          </a:p>
          <a:p xmlns:a="http://schemas.openxmlformats.org/drawingml/2006/main">
            <a:pPr marL="285750" indent="-285750">
              <a:spcAft>
                <a:spcPts val="3"/>
              </a:spcAft>
              <a:buNone/>
            </a:pPr>
            <a:r>
              <a:rPr sz="713" b="1" i="0">
                <a:solidFill>
                  <a:srgbClr val="EB976D"/>
                </a:solidFill>
                <a:latin typeface="Fira Sans"/>
                <a:ea typeface="Fira Sans"/>
                <a:cs typeface="Fira Sans"/>
              </a:rPr>
              <a:t>[26]</a:t>
            </a:r>
            <a:r>
              <a:rPr sz="713" b="0" i="0">
                <a:solidFill>
                  <a:srgbClr val="38415C"/>
                </a:solidFill>
                <a:latin typeface="Fira Sans"/>
                <a:ea typeface="Fira Sans"/>
                <a:cs typeface="Fira Sans"/>
              </a:rPr>
              <a:t> He, X.; Burger-Helmchen, T. Evolving Knowledge Management: Artificial Intelligence and the Dynamics of Social Interactions. IEEE Engineering Management Review, 2025. DOI: 10.1109/EMR.2024.3519342.</a:t>
            </a:r>
          </a:p>
          <a:p xmlns:a="http://schemas.openxmlformats.org/drawingml/2006/main">
            <a:pPr marL="285750" indent="-285750">
              <a:spcAft>
                <a:spcPts val="3"/>
              </a:spcAft>
              <a:buNone/>
            </a:pPr>
            <a:r>
              <a:rPr sz="713" b="1" i="0">
                <a:solidFill>
                  <a:srgbClr val="EB976D"/>
                </a:solidFill>
                <a:latin typeface="Fira Sans"/>
                <a:ea typeface="Fira Sans"/>
                <a:cs typeface="Fira Sans"/>
              </a:rPr>
              <a:t>[27]</a:t>
            </a:r>
            <a:r>
              <a:rPr sz="713" b="0" i="0">
                <a:solidFill>
                  <a:srgbClr val="38415C"/>
                </a:solidFill>
                <a:latin typeface="Fira Sans"/>
                <a:ea typeface="Fira Sans"/>
                <a:cs typeface="Fira Sans"/>
              </a:rPr>
              <a:t> Birkstedt, T.; Minkkinen, M.; Tandon, A.; Mäntymäki, M. AI governance: Themes, knowledge gaps and future agendas. Internet Research, v. 33, n. 7, p. 133–167, 2023. DOI: 10.1108/INTR-01-2022-0042.</a:t>
            </a:r>
          </a:p>
          <a:p xmlns:a="http://schemas.openxmlformats.org/drawingml/2006/main">
            <a:pPr marL="285750" indent="-285750">
              <a:spcAft>
                <a:spcPts val="3"/>
              </a:spcAft>
              <a:buNone/>
            </a:pPr>
            <a:r>
              <a:rPr sz="713" b="1" i="0">
                <a:solidFill>
                  <a:srgbClr val="EB976D"/>
                </a:solidFill>
                <a:latin typeface="Fira Sans"/>
                <a:ea typeface="Fira Sans"/>
                <a:cs typeface="Fira Sans"/>
              </a:rPr>
              <a:t>[28]</a:t>
            </a:r>
            <a:r>
              <a:rPr sz="713" b="0" i="0">
                <a:solidFill>
                  <a:srgbClr val="38415C"/>
                </a:solidFill>
                <a:latin typeface="Fira Sans"/>
                <a:ea typeface="Fira Sans"/>
                <a:cs typeface="Fira Sans"/>
              </a:rPr>
              <a:t> Benjamins, R. A choices framework for the responsible use of AI. AI and Ethics, 2021. DOI: 10.1007/s43681-020-00012-5.</a:t>
            </a:r>
          </a:p>
          <a:p xmlns:a="http://schemas.openxmlformats.org/drawingml/2006/main">
            <a:pPr marL="285750" indent="-285750">
              <a:spcAft>
                <a:spcPts val="3"/>
              </a:spcAft>
              <a:buNone/>
            </a:pPr>
            <a:r>
              <a:rPr sz="713" b="1" i="0">
                <a:solidFill>
                  <a:srgbClr val="EB976D"/>
                </a:solidFill>
                <a:latin typeface="Fira Sans"/>
                <a:ea typeface="Fira Sans"/>
                <a:cs typeface="Fira Sans"/>
              </a:rPr>
              <a:t>[29]</a:t>
            </a:r>
            <a:r>
              <a:rPr sz="713" b="0" i="0">
                <a:solidFill>
                  <a:srgbClr val="38415C"/>
                </a:solidFill>
                <a:latin typeface="Fira Sans"/>
                <a:ea typeface="Fira Sans"/>
                <a:cs typeface="Fira Sans"/>
              </a:rPr>
              <a:t> Sprongl, I. The AI Integration Framework - An Original Blueprint for Responsible AI Adoption and Governance. SSRN Electronic Journal, 2025. DOI: 10.2139/ssrn.5372870.</a:t>
            </a:r>
          </a:p>
          <a:p xmlns:a="http://schemas.openxmlformats.org/drawingml/2006/main">
            <a:pPr marL="285750" indent="-285750">
              <a:spcAft>
                <a:spcPts val="3"/>
              </a:spcAft>
              <a:buNone/>
            </a:pPr>
            <a:r>
              <a:rPr sz="713" b="1" i="0">
                <a:solidFill>
                  <a:srgbClr val="EB976D"/>
                </a:solidFill>
                <a:latin typeface="Fira Sans"/>
                <a:ea typeface="Fira Sans"/>
                <a:cs typeface="Fira Sans"/>
              </a:rPr>
              <a:t>[30]</a:t>
            </a:r>
            <a:r>
              <a:rPr sz="713" b="0" i="0">
                <a:solidFill>
                  <a:srgbClr val="38415C"/>
                </a:solidFill>
                <a:latin typeface="Fira Sans"/>
                <a:ea typeface="Fira Sans"/>
                <a:cs typeface="Fira Sans"/>
              </a:rPr>
              <a:t> Joshi, H. AI Governance by Design for Agentic Systems: A Framework for Responsible Development and Deployment. Preprints.org, 2025. DOI: 10.20944/preprints202504.1707.v1.</a:t>
            </a:r>
          </a:p>
          <a:p xmlns:a="http://schemas.openxmlformats.org/drawingml/2006/main">
            <a:pPr marL="285750" indent="-285750">
              <a:spcAft>
                <a:spcPts val="3"/>
              </a:spcAft>
              <a:buNone/>
            </a:pPr>
            <a:r>
              <a:rPr sz="713" b="1" i="0">
                <a:solidFill>
                  <a:srgbClr val="EB976D"/>
                </a:solidFill>
                <a:latin typeface="Fira Sans"/>
                <a:ea typeface="Fira Sans"/>
                <a:cs typeface="Fira Sans"/>
              </a:rPr>
              <a:t>[31]</a:t>
            </a:r>
            <a:r>
              <a:rPr sz="713" b="0" i="0">
                <a:solidFill>
                  <a:srgbClr val="38415C"/>
                </a:solidFill>
                <a:latin typeface="Fira Sans"/>
                <a:ea typeface="Fira Sans"/>
                <a:cs typeface="Fira Sans"/>
              </a:rPr>
              <a:t> Yang, B.; Sun, Y.; Zeng, Z.; Li, Q. Deskilling, reskilling, or upskilling? Unpacking the pathways of student adaptation to generative artificial intelligence. International Journal of Information Management, 2026. DOI: 10.1016/j.ijinfomgt.2025.103002.</a:t>
            </a:r>
          </a:p>
          <a:p xmlns:a="http://schemas.openxmlformats.org/drawingml/2006/main">
            <a:pPr marL="285750" indent="-285750">
              <a:spcAft>
                <a:spcPts val="3"/>
              </a:spcAft>
              <a:buNone/>
            </a:pPr>
            <a:r>
              <a:rPr sz="713" b="1" i="0">
                <a:solidFill>
                  <a:srgbClr val="EB976D"/>
                </a:solidFill>
                <a:latin typeface="Fira Sans"/>
                <a:ea typeface="Fira Sans"/>
                <a:cs typeface="Fira Sans"/>
              </a:rPr>
              <a:t>[32]</a:t>
            </a:r>
            <a:r>
              <a:rPr sz="713" b="0" i="0">
                <a:solidFill>
                  <a:srgbClr val="38415C"/>
                </a:solidFill>
                <a:latin typeface="Fira Sans"/>
                <a:ea typeface="Fira Sans"/>
                <a:cs typeface="Fira Sans"/>
              </a:rPr>
              <a:t> Pan, S.; Luo, L.; Wang, Y.; Chen, C.; Wang, J.; Wu, X. Unifying large language models and knowledge graphs: A roadmap. IEEE Transactions on Knowledge and Data Engineering, 2024. DOI: 10.1109/TKDE.2024.3352100.</a:t>
            </a:r>
          </a:p>
          <a:p xmlns:a="http://schemas.openxmlformats.org/drawingml/2006/main">
            <a:pPr marL="285750" indent="-285750">
              <a:spcAft>
                <a:spcPts val="3"/>
              </a:spcAft>
              <a:buNone/>
            </a:pPr>
            <a:r>
              <a:rPr sz="713" b="1" i="0">
                <a:solidFill>
                  <a:srgbClr val="EB976D"/>
                </a:solidFill>
                <a:latin typeface="Fira Sans"/>
                <a:ea typeface="Fira Sans"/>
                <a:cs typeface="Fira Sans"/>
              </a:rPr>
              <a:t>[33]</a:t>
            </a:r>
            <a:r>
              <a:rPr sz="713" b="0" i="0">
                <a:solidFill>
                  <a:srgbClr val="38415C"/>
                </a:solidFill>
                <a:latin typeface="Fira Sans"/>
                <a:ea typeface="Fira Sans"/>
                <a:cs typeface="Fira Sans"/>
              </a:rPr>
              <a:t> Al-Fawareh, H. Human-Centric AI Governance in Digital HRM: A Conceptual Framework for Responsible Digital Business. SSRN Electronic Journal, 2026. DOI: 10.2139/ssrn.6466703.</a:t>
            </a:r>
          </a:p>
          <a:p xmlns:a="http://schemas.openxmlformats.org/drawingml/2006/main">
            <a:pPr marL="285750" indent="-285750">
              <a:spcAft>
                <a:spcPts val="3"/>
              </a:spcAft>
              <a:buNone/>
            </a:pPr>
            <a:r>
              <a:rPr sz="713" b="1" i="0">
                <a:solidFill>
                  <a:srgbClr val="EB976D"/>
                </a:solidFill>
                <a:latin typeface="Fira Sans"/>
                <a:ea typeface="Fira Sans"/>
                <a:cs typeface="Fira Sans"/>
              </a:rPr>
              <a:t>[34]</a:t>
            </a:r>
            <a:r>
              <a:rPr sz="713" b="0" i="0">
                <a:solidFill>
                  <a:srgbClr val="38415C"/>
                </a:solidFill>
                <a:latin typeface="Fira Sans"/>
                <a:ea typeface="Fira Sans"/>
                <a:cs typeface="Fira Sans"/>
              </a:rPr>
              <a:t> Garzón Castrillón, M.A. Proposed model of corporate university. Visión de Futuro, 2019. DOI: 10.36995/j.visiondefuturo.2019.23.01.006.en.</a:t>
            </a:r>
          </a:p>
          <a:p xmlns:a="http://schemas.openxmlformats.org/drawingml/2006/main">
            <a:pPr marL="285750" indent="-285750">
              <a:spcAft>
                <a:spcPts val="3"/>
              </a:spcAft>
              <a:buNone/>
            </a:pPr>
            <a:r>
              <a:rPr sz="713" b="1" i="0">
                <a:solidFill>
                  <a:srgbClr val="EB976D"/>
                </a:solidFill>
                <a:latin typeface="Fira Sans"/>
                <a:ea typeface="Fira Sans"/>
                <a:cs typeface="Fira Sans"/>
              </a:rPr>
              <a:t>[35]</a:t>
            </a:r>
            <a:r>
              <a:rPr sz="713" b="0" i="0">
                <a:solidFill>
                  <a:srgbClr val="38415C"/>
                </a:solidFill>
                <a:latin typeface="Fira Sans"/>
                <a:ea typeface="Fira Sans"/>
                <a:cs typeface="Fira Sans"/>
              </a:rPr>
              <a:t> Chen, Y.; Zhou, L.; Wang, Y. The role and evolution of knowledge network-based intellectual capital in the corporate university. Journal of Intellectual Capital, 2023. DOI: 10.1108/JIC-12-2022-0238.</a:t>
            </a:r>
          </a:p>
        </p:txBody>
      </p:sp>
    </p:spTree>
    <p:extLst>
      <p:ext uri="{BB962C8B-B14F-4D97-AF65-F5344CB8AC3E}">
        <p14:creationId xmlns:p14="http://schemas.microsoft.com/office/powerpoint/2010/main" val="61505594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B88670-A8B0-4F9D-978D-34926F056A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Referências citadas no artigo — 4/4</a:t>
            </a:r>
          </a:p>
        </p:txBody>
      </p:sp>
      <p:sp>
        <p:nvSpPr>
          <p:cNvPr id="3" name="Content Placeholder 2">
            <a:extLst xmlns:a="http://schemas.openxmlformats.org/drawingml/2006/main">
              <a:ext uri="{FF2B5EF4-FFF2-40B4-BE49-F238E27FC236}">
                <a16:creationId xmlns:a16="http://schemas.microsoft.com/office/drawing/2014/main" id="{37088C56-992D-44E4-ACAE-81A4521EA0CA}"/>
              </a:ext>
            </a:extLst>
          </p:cNvPr>
          <p:cNvSpPr>
            <a:spLocks xmlns:a="http://schemas.openxmlformats.org/drawingml/2006/main" noGrp="1"/>
          </p:cNvSpPr>
          <p:nvPr>
            <p:ph idx="1"/>
          </p:nvPr>
        </p:nvSpPr>
        <p:spPr>
          <a:xfrm xmlns:a="http://schemas.openxmlformats.org/drawingml/2006/main">
            <a:off x="1200150" y="1476375"/>
            <a:ext cx="7524750" cy="4429125"/>
          </a:xfrm>
        </p:spPr>
        <p:txBody>
          <a:bodyPr xmlns:a="http://schemas.openxmlformats.org/drawingml/2006/main" anchor="t">
            <a:normAutofit fontScale="100000"/>
          </a:bodyPr>
          <a:lstStyle xmlns:a="http://schemas.openxmlformats.org/drawingml/2006/main"/>
          <a:p xmlns:a="http://schemas.openxmlformats.org/drawingml/2006/main">
            <a:pPr marL="285750" indent="-285750">
              <a:spcAft>
                <a:spcPts val="3"/>
              </a:spcAft>
              <a:buNone/>
            </a:pPr>
            <a:r>
              <a:rPr sz="713" b="1" i="0">
                <a:solidFill>
                  <a:srgbClr val="EB976D"/>
                </a:solidFill>
                <a:latin typeface="Fira Sans"/>
                <a:ea typeface="Fira Sans"/>
                <a:cs typeface="Fira Sans"/>
              </a:rPr>
              <a:t>[36]</a:t>
            </a:r>
            <a:r>
              <a:rPr sz="713" b="0" i="0">
                <a:solidFill>
                  <a:srgbClr val="38415C"/>
                </a:solidFill>
                <a:latin typeface="Fira Sans"/>
                <a:ea typeface="Fira Sans"/>
                <a:cs typeface="Fira Sans"/>
              </a:rPr>
              <a:t> Zhou, Y. Path of corporate university to enable enterprises: Based on the best corporate universities in China. University of Otago, 2023.</a:t>
            </a:r>
          </a:p>
          <a:p xmlns:a="http://schemas.openxmlformats.org/drawingml/2006/main">
            <a:pPr marL="285750" indent="-285750">
              <a:spcAft>
                <a:spcPts val="3"/>
              </a:spcAft>
              <a:buNone/>
            </a:pPr>
            <a:r>
              <a:rPr sz="713" b="1" i="0">
                <a:solidFill>
                  <a:srgbClr val="EB976D"/>
                </a:solidFill>
                <a:latin typeface="Fira Sans"/>
                <a:ea typeface="Fira Sans"/>
                <a:cs typeface="Fira Sans"/>
              </a:rPr>
              <a:t>[37]</a:t>
            </a:r>
            <a:r>
              <a:rPr sz="713" b="0" i="0">
                <a:solidFill>
                  <a:srgbClr val="38415C"/>
                </a:solidFill>
                <a:latin typeface="Fira Sans"/>
                <a:ea typeface="Fira Sans"/>
                <a:cs typeface="Fira Sans"/>
              </a:rPr>
              <a:t> Singh, V.; Verma, S.; Chaurasia, S.S. Mapping the themes and intellectual structure of corporate university: co-citation and cluster analyses. Scientometrics, 2019. DOI: 10.1007/s11192-019-03328-0.</a:t>
            </a:r>
          </a:p>
          <a:p xmlns:a="http://schemas.openxmlformats.org/drawingml/2006/main">
            <a:pPr marL="285750" indent="-285750">
              <a:spcAft>
                <a:spcPts val="3"/>
              </a:spcAft>
              <a:buNone/>
            </a:pPr>
            <a:r>
              <a:rPr sz="713" b="1" i="0">
                <a:solidFill>
                  <a:srgbClr val="EB976D"/>
                </a:solidFill>
                <a:latin typeface="Fira Sans"/>
                <a:ea typeface="Fira Sans"/>
                <a:cs typeface="Fira Sans"/>
              </a:rPr>
              <a:t>[38]</a:t>
            </a:r>
            <a:r>
              <a:rPr sz="713" b="0" i="0">
                <a:solidFill>
                  <a:srgbClr val="38415C"/>
                </a:solidFill>
                <a:latin typeface="Fira Sans"/>
                <a:ea typeface="Fira Sans"/>
                <a:cs typeface="Fira Sans"/>
              </a:rPr>
              <a:t> Bender, E.M.; Gebru, T.; McMillan-Major, A.; Shmitchell, S. On the Dangers of Stochastic Parrots: Can Language Models Be Too Big?. Proceedings of the 2021 ACM Conference on Fairness, Accountability, and Transparency, p. 610–623, 2021. DOI: 10.1145/3442188.3445922.</a:t>
            </a:r>
          </a:p>
          <a:p xmlns:a="http://schemas.openxmlformats.org/drawingml/2006/main">
            <a:pPr marL="285750" indent="-285750">
              <a:spcAft>
                <a:spcPts val="3"/>
              </a:spcAft>
              <a:buNone/>
            </a:pPr>
            <a:r>
              <a:rPr sz="713" b="1" i="0">
                <a:solidFill>
                  <a:srgbClr val="EB976D"/>
                </a:solidFill>
                <a:latin typeface="Fira Sans"/>
                <a:ea typeface="Fira Sans"/>
                <a:cs typeface="Fira Sans"/>
              </a:rPr>
              <a:t>[39]</a:t>
            </a:r>
            <a:r>
              <a:rPr sz="713" b="0" i="0">
                <a:solidFill>
                  <a:srgbClr val="38415C"/>
                </a:solidFill>
                <a:latin typeface="Fira Sans"/>
                <a:ea typeface="Fira Sans"/>
                <a:cs typeface="Fira Sans"/>
              </a:rPr>
              <a:t> Orlikowski, W.J. Sociomaterial Practices: Exploring Technology at Work. Organization Studies, v. 28, n. 9, p. 1435–1448, 2007. DOI: 10.1177/0170840607081138.</a:t>
            </a:r>
          </a:p>
          <a:p xmlns:a="http://schemas.openxmlformats.org/drawingml/2006/main">
            <a:pPr marL="285750" indent="-285750">
              <a:spcAft>
                <a:spcPts val="3"/>
              </a:spcAft>
              <a:buNone/>
            </a:pPr>
            <a:r>
              <a:rPr sz="713" b="1" i="0">
                <a:solidFill>
                  <a:srgbClr val="EB976D"/>
                </a:solidFill>
                <a:latin typeface="Fira Sans"/>
                <a:ea typeface="Fira Sans"/>
                <a:cs typeface="Fira Sans"/>
              </a:rPr>
              <a:t>[40]</a:t>
            </a:r>
            <a:r>
              <a:rPr sz="713" b="0" i="0">
                <a:solidFill>
                  <a:srgbClr val="38415C"/>
                </a:solidFill>
                <a:latin typeface="Fira Sans"/>
                <a:ea typeface="Fira Sans"/>
                <a:cs typeface="Fira Sans"/>
              </a:rPr>
              <a:t> Commission, E. Industry 5.0: Towards a sustainable, human-centric and resilient European industry. Directorate-General for Research and Innovation, 2021. DOI: 10.2777/308407.</a:t>
            </a:r>
          </a:p>
          <a:p xmlns:a="http://schemas.openxmlformats.org/drawingml/2006/main">
            <a:pPr marL="285750" indent="-285750">
              <a:spcAft>
                <a:spcPts val="3"/>
              </a:spcAft>
              <a:buNone/>
            </a:pPr>
            <a:r>
              <a:rPr sz="713" b="1" i="0">
                <a:solidFill>
                  <a:srgbClr val="EB976D"/>
                </a:solidFill>
                <a:latin typeface="Fira Sans"/>
                <a:ea typeface="Fira Sans"/>
                <a:cs typeface="Fira Sans"/>
              </a:rPr>
              <a:t>[41]</a:t>
            </a:r>
            <a:r>
              <a:rPr sz="713" b="0" i="0">
                <a:solidFill>
                  <a:srgbClr val="38415C"/>
                </a:solidFill>
                <a:latin typeface="Fira Sans"/>
                <a:ea typeface="Fira Sans"/>
                <a:cs typeface="Fira Sans"/>
              </a:rPr>
              <a:t> Dell'Acqua, F.; McFowland, E.; Mollick, E.R.; Lifshitz-Assaf, H.; Kellogg, K.; Rajendran, S.; Krayer, L.; Candelon, F.; Lakhani, K.R. Navigating the Jagged Technological Frontier: Field Experimental Evidence of the Effects of AI on Knowledge Worker Productivity and Quality. Harvard Business School, n. 24-013, 2023. DOI: 10.2139/ssrn.4573321.</a:t>
            </a:r>
          </a:p>
          <a:p xmlns:a="http://schemas.openxmlformats.org/drawingml/2006/main">
            <a:pPr marL="285750" indent="-285750">
              <a:spcAft>
                <a:spcPts val="3"/>
              </a:spcAft>
              <a:buNone/>
            </a:pPr>
            <a:r>
              <a:rPr sz="713" b="1" i="0">
                <a:solidFill>
                  <a:srgbClr val="EB976D"/>
                </a:solidFill>
                <a:latin typeface="Fira Sans"/>
                <a:ea typeface="Fira Sans"/>
                <a:cs typeface="Fira Sans"/>
              </a:rPr>
              <a:t>[42]</a:t>
            </a:r>
            <a:r>
              <a:rPr sz="713" b="0" i="0">
                <a:solidFill>
                  <a:srgbClr val="38415C"/>
                </a:solidFill>
                <a:latin typeface="Fira Sans"/>
                <a:ea typeface="Fira Sans"/>
                <a:cs typeface="Fira Sans"/>
              </a:rPr>
              <a:t> Ng, D.T.K.; Leung, J.K.L.; Chu, S.K.W.; Qiao, M.S. Conceptualizing AI Literacy: An Exploratory Review. Computers and Education: Artificial Intelligence, v. 2, p. 100041, 2021. DOI: 10.1016/j.caeai.2021.100041.</a:t>
            </a:r>
          </a:p>
          <a:p xmlns:a="http://schemas.openxmlformats.org/drawingml/2006/main">
            <a:pPr marL="285750" indent="-285750">
              <a:spcAft>
                <a:spcPts val="3"/>
              </a:spcAft>
              <a:buNone/>
            </a:pPr>
            <a:r>
              <a:rPr sz="713" b="1" i="0">
                <a:solidFill>
                  <a:srgbClr val="EB976D"/>
                </a:solidFill>
                <a:latin typeface="Fira Sans"/>
                <a:ea typeface="Fira Sans"/>
                <a:cs typeface="Fira Sans"/>
              </a:rPr>
              <a:t>[43]</a:t>
            </a:r>
            <a:r>
              <a:rPr sz="713" b="0" i="0">
                <a:solidFill>
                  <a:srgbClr val="38415C"/>
                </a:solidFill>
                <a:latin typeface="Fira Sans"/>
                <a:ea typeface="Fira Sans"/>
                <a:cs typeface="Fira Sans"/>
              </a:rPr>
              <a:t> Edmondson, A. Psychological Safety and Learning Behavior in Work Teams. Administrative Science Quarterly, v. 44, n. 2, p. 350–383, 1999. DOI: 10.2307/2666999.</a:t>
            </a:r>
          </a:p>
          <a:p xmlns:a="http://schemas.openxmlformats.org/drawingml/2006/main">
            <a:pPr marL="285750" indent="-285750">
              <a:spcAft>
                <a:spcPts val="3"/>
              </a:spcAft>
              <a:buNone/>
            </a:pPr>
            <a:r>
              <a:rPr sz="713" b="1" i="0">
                <a:solidFill>
                  <a:srgbClr val="EB976D"/>
                </a:solidFill>
                <a:latin typeface="Fira Sans"/>
                <a:ea typeface="Fira Sans"/>
                <a:cs typeface="Fira Sans"/>
              </a:rPr>
              <a:t>[44]</a:t>
            </a:r>
            <a:r>
              <a:rPr sz="713" b="0" i="0">
                <a:solidFill>
                  <a:srgbClr val="38415C"/>
                </a:solidFill>
                <a:latin typeface="Fira Sans"/>
                <a:ea typeface="Fira Sans"/>
                <a:cs typeface="Fira Sans"/>
              </a:rPr>
              <a:t> Foucault, M. Surveiller et Punir: Naissance de la Prison. Gallimard, 1975.</a:t>
            </a:r>
          </a:p>
          <a:p xmlns:a="http://schemas.openxmlformats.org/drawingml/2006/main">
            <a:pPr marL="285750" indent="-285750">
              <a:spcAft>
                <a:spcPts val="3"/>
              </a:spcAft>
              <a:buNone/>
            </a:pPr>
            <a:r>
              <a:rPr sz="713" b="1" i="0">
                <a:solidFill>
                  <a:srgbClr val="EB976D"/>
                </a:solidFill>
                <a:latin typeface="Fira Sans"/>
                <a:ea typeface="Fira Sans"/>
                <a:cs typeface="Fira Sans"/>
              </a:rPr>
              <a:t>[45]</a:t>
            </a:r>
            <a:r>
              <a:rPr sz="713" b="0" i="0">
                <a:solidFill>
                  <a:srgbClr val="38415C"/>
                </a:solidFill>
                <a:latin typeface="Fira Sans"/>
                <a:ea typeface="Fira Sans"/>
                <a:cs typeface="Fira Sans"/>
              </a:rPr>
              <a:t> Argyris, C.; Schön, D.A. Organizational Learning: A Theory of Action Perspective. Addison-Wesley, 1978.</a:t>
            </a:r>
          </a:p>
          <a:p xmlns:a="http://schemas.openxmlformats.org/drawingml/2006/main">
            <a:pPr marL="285750" indent="-285750">
              <a:spcAft>
                <a:spcPts val="3"/>
              </a:spcAft>
              <a:buNone/>
            </a:pPr>
            <a:r>
              <a:rPr sz="713" b="1" i="0">
                <a:solidFill>
                  <a:srgbClr val="EB976D"/>
                </a:solidFill>
                <a:latin typeface="Fira Sans"/>
                <a:ea typeface="Fira Sans"/>
                <a:cs typeface="Fira Sans"/>
              </a:rPr>
              <a:t>[46]</a:t>
            </a:r>
            <a:r>
              <a:rPr sz="713" b="0" i="0">
                <a:solidFill>
                  <a:srgbClr val="38415C"/>
                </a:solidFill>
                <a:latin typeface="Fira Sans"/>
                <a:ea typeface="Fira Sans"/>
                <a:cs typeface="Fira Sans"/>
              </a:rPr>
              <a:t> Parliament, E.; Union, C.o.t.E. Regulation (EU) 2024/1689 of the European Parliament and of the Council of 13 June 2024 laying down harmonised rules on artificial intelligence (Artificial Intelligence Act). Official Journal of the European Union, L, 2024/1689, 2024.</a:t>
            </a:r>
          </a:p>
        </p:txBody>
      </p:sp>
    </p:spTree>
    <p:extLst>
      <p:ext uri="{BB962C8B-B14F-4D97-AF65-F5344CB8AC3E}">
        <p14:creationId xmlns:p14="http://schemas.microsoft.com/office/powerpoint/2010/main" val="61505594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A6C849-8EEA-4804-903C-EFE4F920EEC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100" b="1">
                <a:solidFill>
                  <a:srgbClr val="38415C"/>
                </a:solidFill>
                <a:latin typeface="Fira Sans"/>
                <a:ea typeface="Fira Sans"/>
                <a:cs typeface="Fira Sans"/>
              </a:rPr>
              <a:t>Apêndice — controles do pipeline SLR-RAG</a:t>
            </a:r>
          </a:p>
        </p:txBody>
      </p:sp>
      <p:sp>
        <p:nvSpPr>
          <p:cNvPr id="3" name="Content Placeholder 2">
            <a:extLst xmlns:a="http://schemas.openxmlformats.org/drawingml/2006/main">
              <a:ext uri="{FF2B5EF4-FFF2-40B4-BE49-F238E27FC236}">
                <a16:creationId xmlns:a16="http://schemas.microsoft.com/office/drawing/2014/main" id="{795AC24E-1677-402B-8EAF-0FFAC3CBC4F8}"/>
              </a:ext>
            </a:extLst>
          </p:cNvPr>
          <p:cNvSpPr>
            <a:spLocks xmlns:a="http://schemas.openxmlformats.org/drawingml/2006/main" noGrp="1"/>
          </p:cNvSpPr>
          <p:nvPr>
            <p:ph idx="1"/>
          </p:nvPr>
        </p:nvSpPr>
        <p:spPr>
          <a:xfrm xmlns:a="http://schemas.openxmlformats.org/drawingml/2006/main">
            <a:off x="1200150" y="1428750"/>
            <a:ext cx="7524750" cy="4238625"/>
          </a:xfrm>
        </p:spPr>
        <p:txBody>
          <a:bodyPr xmlns:a="http://schemas.openxmlformats.org/drawingml/2006/main" anchor="t">
            <a:normAutofit fontScale="100000"/>
          </a:bodyPr>
          <a:lstStyle xmlns:a="http://schemas.openxmlformats.org/drawingml/2006/main"/>
          <a:p xmlns:a="http://schemas.openxmlformats.org/drawingml/2006/main">
            <a:pPr marL="18" indent="-10">
              <a:spcAft>
                <a:spcPts val="7"/>
              </a:spcAft>
              <a:buChar char="•"/>
            </a:pPr>
            <a:r>
              <a:rPr sz="1013" b="1" i="0">
                <a:solidFill>
                  <a:srgbClr val="EB976D"/>
                </a:solidFill>
                <a:latin typeface="Fira Sans"/>
                <a:ea typeface="Fira Sans"/>
                <a:cs typeface="Fira Sans"/>
              </a:rPr>
              <a:t>Recuperação: </a:t>
            </a:r>
            <a:r>
              <a:rPr sz="1013" i="0">
                <a:solidFill>
                  <a:srgbClr val="38415C"/>
                </a:solidFill>
                <a:latin typeface="Fira Sans"/>
                <a:ea typeface="Fira Sans"/>
                <a:cs typeface="Fira Sans"/>
              </a:rPr>
              <a:t>busca híbrida, documentos locais e metadados das fontes.</a:t>
            </a:r>
          </a:p>
          <a:p xmlns:a="http://schemas.openxmlformats.org/drawingml/2006/main">
            <a:pPr marL="18" indent="-10">
              <a:spcAft>
                <a:spcPts val="7"/>
              </a:spcAft>
              <a:buChar char="•"/>
            </a:pPr>
            <a:r>
              <a:rPr sz="1013" b="1" i="0">
                <a:solidFill>
                  <a:srgbClr val="EB976D"/>
                </a:solidFill>
                <a:latin typeface="Fira Sans"/>
                <a:ea typeface="Fira Sans"/>
                <a:cs typeface="Fira Sans"/>
              </a:rPr>
              <a:t>Triagem: </a:t>
            </a:r>
            <a:r>
              <a:rPr sz="1013" b="1" i="0">
                <a:solidFill>
                  <a:srgbClr val="38415C"/>
                </a:solidFill>
                <a:latin typeface="Fira Sans"/>
                <a:ea typeface="Fira Sans"/>
                <a:cs typeface="Fira Sans"/>
              </a:rPr>
              <a:t>saída estruturada por eixo temático, com temperatura determinística.</a:t>
            </a:r>
          </a:p>
          <a:p xmlns:a="http://schemas.openxmlformats.org/drawingml/2006/main">
            <a:pPr marL="18" indent="-10">
              <a:spcAft>
                <a:spcPts val="7"/>
              </a:spcAft>
              <a:buChar char="•"/>
            </a:pPr>
            <a:r>
              <a:rPr sz="1013" b="1" i="0">
                <a:solidFill>
                  <a:srgbClr val="EB976D"/>
                </a:solidFill>
                <a:latin typeface="Fira Sans"/>
                <a:ea typeface="Fira Sans"/>
                <a:cs typeface="Fira Sans"/>
              </a:rPr>
              <a:t>Validação: </a:t>
            </a:r>
            <a:r>
              <a:rPr sz="1013" b="1" i="0">
                <a:solidFill>
                  <a:srgbClr val="38415C"/>
                </a:solidFill>
                <a:latin typeface="Fira Sans"/>
                <a:ea typeface="Fira Sans"/>
                <a:cs typeface="Fira Sans"/>
              </a:rPr>
              <a:t>schema Pydantic, enumerações restritas e justificativa mínima.</a:t>
            </a:r>
          </a:p>
          <a:p xmlns:a="http://schemas.openxmlformats.org/drawingml/2006/main">
            <a:pPr marL="18" indent="-10">
              <a:spcAft>
                <a:spcPts val="7"/>
              </a:spcAft>
              <a:buChar char="•"/>
            </a:pPr>
            <a:r>
              <a:rPr sz="1013" b="1" i="0">
                <a:solidFill>
                  <a:srgbClr val="EB976D"/>
                </a:solidFill>
                <a:latin typeface="Fira Sans"/>
                <a:ea typeface="Fira Sans"/>
                <a:cs typeface="Fira Sans"/>
              </a:rPr>
              <a:t>Defesa em profundidade: </a:t>
            </a:r>
          </a:p>
          <a:p xmlns:a="http://schemas.openxmlformats.org/drawingml/2006/main">
            <a:pPr marL="30" indent="-10">
              <a:spcAft>
                <a:spcPts val="3"/>
              </a:spcAft>
              <a:buChar char="–"/>
            </a:pPr>
            <a:r>
              <a:rPr sz="900" b="1" i="0">
                <a:solidFill>
                  <a:srgbClr val="EB976D"/>
                </a:solidFill>
                <a:latin typeface="Fira Sans"/>
                <a:ea typeface="Fira Sans"/>
                <a:cs typeface="Fira Sans"/>
              </a:rPr>
              <a:t>Camada 1 — entrada: </a:t>
            </a:r>
            <a:r>
              <a:rPr sz="900" b="1" i="0">
                <a:solidFill>
                  <a:srgbClr val="38415C"/>
                </a:solidFill>
                <a:latin typeface="Fira Sans"/>
                <a:ea typeface="Fira Sans"/>
                <a:cs typeface="Fira Sans"/>
              </a:rPr>
              <a:t>normalização e delimitação do conteúdo recuperado.</a:t>
            </a:r>
          </a:p>
          <a:p xmlns:a="http://schemas.openxmlformats.org/drawingml/2006/main">
            <a:pPr marL="30" indent="-10">
              <a:spcAft>
                <a:spcPts val="3"/>
              </a:spcAft>
              <a:buChar char="–"/>
            </a:pPr>
            <a:r>
              <a:rPr sz="900" b="1" i="0">
                <a:solidFill>
                  <a:srgbClr val="EB976D"/>
                </a:solidFill>
                <a:latin typeface="Fira Sans"/>
                <a:ea typeface="Fira Sans"/>
                <a:cs typeface="Fira Sans"/>
              </a:rPr>
              <a:t>Camada 2 — instrução: </a:t>
            </a:r>
            <a:r>
              <a:rPr sz="900" b="1" i="0">
                <a:solidFill>
                  <a:srgbClr val="38415C"/>
                </a:solidFill>
                <a:latin typeface="Fira Sans"/>
                <a:ea typeface="Fira Sans"/>
                <a:cs typeface="Fira Sans"/>
              </a:rPr>
              <a:t>prompt separa evidência documental de comandos.</a:t>
            </a:r>
          </a:p>
          <a:p xmlns:a="http://schemas.openxmlformats.org/drawingml/2006/main">
            <a:pPr marL="30" indent="-10">
              <a:spcAft>
                <a:spcPts val="3"/>
              </a:spcAft>
              <a:buChar char="–"/>
            </a:pPr>
            <a:r>
              <a:rPr sz="900" b="1" i="0">
                <a:solidFill>
                  <a:srgbClr val="EB976D"/>
                </a:solidFill>
                <a:latin typeface="Fira Sans"/>
                <a:ea typeface="Fira Sans"/>
                <a:cs typeface="Fira Sans"/>
              </a:rPr>
              <a:t>Camada 3 — saída: </a:t>
            </a:r>
            <a:r>
              <a:rPr sz="900" b="1" i="0">
                <a:solidFill>
                  <a:srgbClr val="38415C"/>
                </a:solidFill>
                <a:latin typeface="Fira Sans"/>
                <a:ea typeface="Fira Sans"/>
                <a:cs typeface="Fira Sans"/>
              </a:rPr>
              <a:t>validação pós-geração e rejeição de respostas inconsistentes.</a:t>
            </a:r>
          </a:p>
          <a:p xmlns:a="http://schemas.openxmlformats.org/drawingml/2006/main">
            <a:pPr marL="18" indent="-10">
              <a:spcAft>
                <a:spcPts val="7"/>
              </a:spcAft>
              <a:buChar char="•"/>
            </a:pPr>
            <a:r>
              <a:rPr sz="1013" b="1" i="0">
                <a:solidFill>
                  <a:srgbClr val="EB976D"/>
                </a:solidFill>
                <a:latin typeface="Fira Sans"/>
                <a:ea typeface="Fira Sans"/>
                <a:cs typeface="Fira Sans"/>
              </a:rPr>
              <a:t>Rastreabilidade: </a:t>
            </a:r>
            <a:r>
              <a:rPr sz="1013" b="1" i="0">
                <a:solidFill>
                  <a:srgbClr val="38415C"/>
                </a:solidFill>
                <a:latin typeface="Fira Sans"/>
                <a:ea typeface="Fira Sans"/>
                <a:cs typeface="Fira Sans"/>
              </a:rPr>
              <a:t>fichas de leitura, RIS/Zotero e repositório de trabalho.</a:t>
            </a:r>
          </a:p>
          <a:p xmlns:a="http://schemas.openxmlformats.org/drawingml/2006/main">
            <a:pPr marL="18" indent="-10">
              <a:spcAft>
                <a:spcPts val="7"/>
              </a:spcAft>
              <a:buNone/>
            </a:pPr>
            <a:r>
              <a:rPr sz="900" b="1" i="0">
                <a:solidFill>
                  <a:srgbClr val="EB976D"/>
                </a:solidFill>
                <a:latin typeface="Fira Sans"/>
                <a:ea typeface="Fira Sans"/>
                <a:cs typeface="Fira Sans"/>
              </a:rPr>
              <a:t>Limite: </a:t>
            </a:r>
            <a:r>
              <a:rPr sz="900" b="1" i="1">
                <a:solidFill>
                  <a:srgbClr val="8C8C96"/>
                </a:solidFill>
                <a:latin typeface="Fira Sans"/>
                <a:ea typeface="Fira Sans"/>
                <a:cs typeface="Fira Sans"/>
              </a:rPr>
              <a:t>os controles reduzem, mas não eliminam, erro, viés ou prompt injection.</a:t>
            </a:r>
          </a:p>
        </p:txBody>
      </p:sp>
    </p:spTree>
    <p:extLst>
      <p:ext uri="{BB962C8B-B14F-4D97-AF65-F5344CB8AC3E}">
        <p14:creationId xmlns:p14="http://schemas.microsoft.com/office/powerpoint/2010/main" val="201759921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2026-06-12T13:59:10.6410000Z</dcterms:created>
  <dcterms:modified xsi:type="dcterms:W3CDTF">2026-06-12T13:59:10.6410000Z</dcterms:modified>
</coreProperties>
</file>