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Fira Sans" panose="020B05030500000200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48"/>
    <p:restoredTop sz="77877"/>
  </p:normalViewPr>
  <p:slideViewPr>
    <p:cSldViewPr snapToGrid="0">
      <p:cViewPr varScale="1">
        <p:scale>
          <a:sx n="97" d="100"/>
          <a:sy n="97" d="100"/>
        </p:scale>
        <p:origin x="768" y="200"/>
      </p:cViewPr>
      <p:guideLst/>
    </p:cSldViewPr>
  </p:slideViewPr>
  <p:outlineViewPr>
    <p:cViewPr>
      <p:scale>
        <a:sx n="33" d="100"/>
        <a:sy n="33" d="100"/>
      </p:scale>
      <p:origin x="-48"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Bom dia. Apresento o trabalho final: um retrofit conceitual do Modelo 3M de Universidade Corporativa à luz da IA Generativa. Vou percorrer o problema, o referencial, a metodologia, a proposta dos três pilares 5.0, a análise comparativa, a discussão e as conclusões.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Roteiro em sete partes. Começo pelo contexto e o problema, passo pelo referencial e a metodologia, apresento a proposta dos três pilares 5.0, a análise comparativa e fecho com discussão, limitações e conclusão.</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 Modelo 3M de Costa, Oliveira e Souza (2011) organiza a UC em três visões interdependentes — Motive, Model e Moment — explicitamente ancoradas nos processos de Gestão do Conhecimento de Prat. Seu diferencial é esse mapeamento. Mas ele foi formulado num regime de tecnologia passiva: a TI só armazena e distribui. É exatamente essa premissa que vamos reconfigurar.</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Mora-Mora e colegas catalogaram 19 modelos de UC entre 2000 e 2023. O resultado é o gap central: embora 16 tratem GC como fator crítico e 15 incorporem TI, nenhum integra IA agêntica — a tecnologia aparece sempre como infraestrutura passiva: LMS, portais, repositórios. É esse vácuo teórico que o 3M 5.0 preenche.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 questão de pesquisa é como reconfigurar o 3M para integrar a IA sob dupla perspectiva — ferramenta e agente — alinhada à GC e com governança algorítmica. Dela derivam quatro objetivos: desenvolver o retrofit dos três pilares, mapear os processos de GC, incorporar a governança no Moment, e avaliar a cobertura conceitual contra os 19 modelos.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Primeiro eixo: a IA Generativa muda a natureza do suporte tecnológico. Alavi e colegas mostram que ela atua nas quatro fases do ciclo de conhecimento, mas introduz alucinações. Böhm e Durst propõem a transição do SECI para o GRAI. Storey aponta que a competência migra para o know-why. O'Leary lembra a curadoria de LLMs corporativos. E Jarrahi fundamenta a simbiose humano-IA, que é a lente central do trabalho.</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Segundo eixo: a aprendizagem deixa de ser evento separado e passa para o fluxo de trabalho. Nakash funde AO e GC. Lombardozzi alerta que isso exige andaimes — e a UC passa a curá-los. Callari e Rausch mostram dois lados da IA: muleta cognitiva ou parceiro socrático. Morandini e Li indicam a migração de competências rumo à Indústria 5.0.</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Terceiro eixo, o coração teórico: a IA como agente. Islam e Ajmal descrevem a coevolução humano-IA. Faraj e colegas, com a metáfora dos monstros de Haraway, mostram que o saber pós-LLM é distribuído em redes sociotécnicas. He e Burger-Helmchen tratam da autoridade epistêmica e da necessidade de preservar a contestação humana.</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Quarto eixo: governança. Birkstedt define quatro pilares — ética, accountability, transparência, controle — e aponta a capacitação como principal mitigador, o que é tarefa da UC. Benjamins traz a matriz de escolhas e os níveis human-in/on/out-of-the-loop. Sprongl cobre o ciclo de vida do artefato. Joshi mostra que IA agêntica exige governança por design, não auditoria estática.</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 virada conceitual e transversal aos três pilares: mantemos a IA como ferramenta — RAG, automação, curadoria — e adicionamos a camada de IA como agente organizacional, que co-define estratégia, gera conhecimento e coevolui com as pessoas. A UC vira um ecossistema sociotécnico.</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 metodologia é conceitual-construtiva, em quatro fases: identificar o gap, selecionar as lentes teóricas, projetar o retrofit dos três pilares e avaliar a cobertura. A estratégia de retrofit é uma modernização aditiva: insere a IA sem descartar a fundação do 3M — como na engenharia.</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Para tratar um volume denso de referências, desenvolvi um pipeline agêntico SLR-RAG em três módulos: busca e ingestão assíncrona; um avaliador semântico com defesa anti-prompt-injection em três camadas; e persistência em Postgres com sincronização para Zotero e Obsidian. Da triagem: 129 triados, 93 consolidados com PDF, e 20 curados para o modelo.</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Esta é a síntese da proposta. Cada pilar é lido em três camadas: o original de 2011, a IA como ferramenta e a IA como agente. Motive vai do alinhamento estático ao sensing que co-define a estratégia; Model, do currículo rígido ao laboratório vivo; Moment, do timing reativo à governança adaptativa. A linha transversal é a agência da IA, que vai de passiva a agente coevolucionário.</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Motive 5.0 troca o diagnóstico episódico e anual por um sensing semântico contínuo: a IA lê fluxos informais — chats, logs, tickets, código — e mapeia gaps de competência em tempo real, antecipando obsolescência. O humano segue decidindo a estratégia. Em termos de GC, reconfigura identificação e geração.</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Model 5.0 converte o currículo estático em laboratório vivo. A convergência de LLMs, RAG e grafos de conhecimento embarca a IA no fluxo de trabalho: ela sugere soluções, codifica lições aprendidas e atualiza o acervo continuamente. Trabalhar e aprender deixam de ser separados. Reconfigura codificação, armazenamento, distribuição e aplicação.</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Moment 5.0 redefine o timing como governança algorítmica adaptativa. A UC vira o locus onde a governança é pedagógica: audita logs, vieses e alucinações, e habilita a contestabilidade ativa dos colaboradores. Reconfigura controle e descarte — incluindo o desaprendizado organizacional de conhecimento obsoleto ou enviesado.</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 proposta não é acrítica: há quatro tensões interdependentes. Vigilância versus privacidade no Motive; dependência cognitiva no Model; autonomia da IA versus supervisão no Moment; e a questão epistemológica do saber não-humano. Elas são parcialmente mitigadas pela própria governança do Moment 5.0.</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Este é o principal resultado. Avaliei cinco dimensões numa escala Ausente/Parcial/Pleno. Os modelos tradicionais são Ausentes em agência de IA, simbiose e governança. A perspectiva de ferramenta avança para Parcial. É na perspectiva de agente que o 3M 5.0 atinge Pleno em todas — com ganhos exclusivos em Agência Ativa de IA e Governança Algorítmica, justamente os pontos cegos da literatura. Importante: é cobertura conceitual, não efetividade empírica.</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 discussão tem quatro frentes. Teórica: a aceitação da agência material não-humana e a transição SECI-GRAI. Trabalho: o risco de deskilling, mitigado por scaffolding e letramento crítico em IA. Vigilância: o sensing exige salvaguardas — anonimização, opt-in, sem uso punitivo — para preservar a segurança psicológica. E a governança pedagógica: contestabilidade ativa e aprendizagem de duplo ciclo, alinhada ao AI Act.</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Sou transparente quanto às limitações. O trabalho é teórico-conceitual, sem validação empírica. As dimensões e a escala foram definidas por nós — há risco de viés, a corrigir com um painel Delphi. O GRAI é recente, mas o modelo não depende dele. A triagem por LLM tem vieses e faltou dupla triagem humana com kappa. E há os limites técnicos dos próprios LLMs.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Concluindo: a contribuição teórica é o deslocamento do instrumentalismo para a agência material da IA, com coevolução GRAI. A gerencial são os antídotos ao deskilling — scaffolding e letramento — e as salvaguardas éticas. A metodológica é o retrofit como estratégia replicável e o pipeline reutilizável. A mensagem final: a evolução responsável da UC depende menos de automatizar o ensino e mais de governar como humanos e IA aprendem e decidem juntos. Obrigado.</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Slide de apêndice — referências citadas no artigo (backup, não apresentado no tempo principal).</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Slide de apêndice — referências citadas no artigo (backup, não apresentado no tempo principal).</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
          <p:cNvSpPr txBox="1">
            <a:spLocks noGrp="1"/>
          </p:cNvSpPr>
          <p:nvPr>
            <p:ph type="ctrTitle"/>
          </p:nvPr>
        </p:nvSpPr>
        <p:spPr>
          <a:xfrm>
            <a:off x="2835445" y="800861"/>
            <a:ext cx="6191137" cy="346351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38415C"/>
              </a:buClr>
              <a:buSzPts val="6000"/>
              <a:buFont typeface="Fira Sans"/>
              <a:buNone/>
              <a:defRPr sz="4500">
                <a:solidFill>
                  <a:srgbClr val="3841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
          <p:cNvSpPr txBox="1">
            <a:spLocks noGrp="1"/>
          </p:cNvSpPr>
          <p:nvPr>
            <p:ph type="subTitle" idx="1"/>
          </p:nvPr>
        </p:nvSpPr>
        <p:spPr>
          <a:xfrm>
            <a:off x="2835445" y="4414058"/>
            <a:ext cx="6217114" cy="90134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rgbClr val="38415C"/>
              </a:buClr>
              <a:buSzPts val="2400"/>
              <a:buNone/>
              <a:defRPr sz="1800">
                <a:solidFill>
                  <a:srgbClr val="38415C"/>
                </a:solidFill>
              </a:defRPr>
            </a:lvl1pPr>
            <a:lvl2pPr lvl="1" algn="ctr">
              <a:lnSpc>
                <a:spcPct val="90000"/>
              </a:lnSpc>
              <a:spcBef>
                <a:spcPts val="375"/>
              </a:spcBef>
              <a:spcAft>
                <a:spcPts val="0"/>
              </a:spcAft>
              <a:buClr>
                <a:srgbClr val="38415C"/>
              </a:buClr>
              <a:buSzPts val="2000"/>
              <a:buNone/>
              <a:defRPr sz="1500"/>
            </a:lvl2pPr>
            <a:lvl3pPr lvl="2" algn="ctr">
              <a:lnSpc>
                <a:spcPct val="90000"/>
              </a:lnSpc>
              <a:spcBef>
                <a:spcPts val="375"/>
              </a:spcBef>
              <a:spcAft>
                <a:spcPts val="0"/>
              </a:spcAft>
              <a:buClr>
                <a:srgbClr val="38415C"/>
              </a:buClr>
              <a:buSzPts val="1800"/>
              <a:buNone/>
              <a:defRPr sz="1350"/>
            </a:lvl3pPr>
            <a:lvl4pPr lvl="3" algn="ctr">
              <a:lnSpc>
                <a:spcPct val="90000"/>
              </a:lnSpc>
              <a:spcBef>
                <a:spcPts val="375"/>
              </a:spcBef>
              <a:spcAft>
                <a:spcPts val="0"/>
              </a:spcAft>
              <a:buClr>
                <a:srgbClr val="38415C"/>
              </a:buClr>
              <a:buSzPts val="1600"/>
              <a:buNone/>
              <a:defRPr sz="1200"/>
            </a:lvl4pPr>
            <a:lvl5pPr lvl="4" algn="ctr">
              <a:lnSpc>
                <a:spcPct val="90000"/>
              </a:lnSpc>
              <a:spcBef>
                <a:spcPts val="375"/>
              </a:spcBef>
              <a:spcAft>
                <a:spcPts val="0"/>
              </a:spcAft>
              <a:buClr>
                <a:srgbClr val="38415C"/>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pic>
        <p:nvPicPr>
          <p:cNvPr id="21" name="Google Shape;21;p2" descr="A picture containing drawing  Description automatically generated"/>
          <p:cNvPicPr preferRelativeResize="0"/>
          <p:nvPr/>
        </p:nvPicPr>
        <p:blipFill rotWithShape="1">
          <a:blip r:embed="rId2">
            <a:alphaModFix/>
          </a:blip>
          <a:srcRect/>
          <a:stretch/>
        </p:blipFill>
        <p:spPr>
          <a:xfrm>
            <a:off x="6119096" y="219583"/>
            <a:ext cx="1350000" cy="777718"/>
          </a:xfrm>
          <a:prstGeom prst="rect">
            <a:avLst/>
          </a:prstGeom>
          <a:noFill/>
          <a:ln>
            <a:noFill/>
          </a:ln>
        </p:spPr>
      </p:pic>
      <p:pic>
        <p:nvPicPr>
          <p:cNvPr id="22" name="Google Shape;22;p2" descr="A picture containing diagram  Description automatically generated"/>
          <p:cNvPicPr preferRelativeResize="0"/>
          <p:nvPr/>
        </p:nvPicPr>
        <p:blipFill rotWithShape="1">
          <a:blip r:embed="rId3">
            <a:alphaModFix/>
          </a:blip>
          <a:srcRect/>
          <a:stretch/>
        </p:blipFill>
        <p:spPr>
          <a:xfrm>
            <a:off x="91442" y="219583"/>
            <a:ext cx="3229658" cy="5515718"/>
          </a:xfrm>
          <a:prstGeom prst="rect">
            <a:avLst/>
          </a:prstGeom>
          <a:noFill/>
          <a:ln>
            <a:noFill/>
          </a:ln>
        </p:spPr>
      </p:pic>
      <p:pic>
        <p:nvPicPr>
          <p:cNvPr id="23" name="Google Shape;23;p2" descr="Logo  Description automatically generated"/>
          <p:cNvPicPr preferRelativeResize="0"/>
          <p:nvPr/>
        </p:nvPicPr>
        <p:blipFill rotWithShape="1">
          <a:blip r:embed="rId4">
            <a:alphaModFix/>
          </a:blip>
          <a:srcRect/>
          <a:stretch/>
        </p:blipFill>
        <p:spPr>
          <a:xfrm>
            <a:off x="7519689" y="-45213"/>
            <a:ext cx="1624312" cy="13073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0"/>
        <p:cNvGrpSpPr/>
        <p:nvPr/>
      </p:nvGrpSpPr>
      <p:grpSpPr>
        <a:xfrm>
          <a:off x="0" y="0"/>
          <a:ext cx="0" cy="0"/>
          <a:chOff x="0" y="0"/>
          <a:chExt cx="0" cy="0"/>
        </a:xfrm>
      </p:grpSpPr>
      <p:sp>
        <p:nvSpPr>
          <p:cNvPr id="31" name="Google Shape;31;p4"/>
          <p:cNvSpPr txBox="1">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rgbClr val="38415C"/>
              </a:buClr>
              <a:buSzPts val="3200"/>
              <a:buChar char="•"/>
              <a:defRPr sz="2400">
                <a:solidFill>
                  <a:srgbClr val="38415C"/>
                </a:solidFill>
              </a:defRPr>
            </a:lvl1pPr>
            <a:lvl2pPr marL="685800" lvl="1" indent="-304800" algn="l">
              <a:lnSpc>
                <a:spcPct val="90000"/>
              </a:lnSpc>
              <a:spcBef>
                <a:spcPts val="375"/>
              </a:spcBef>
              <a:spcAft>
                <a:spcPts val="0"/>
              </a:spcAft>
              <a:buClr>
                <a:srgbClr val="38415C"/>
              </a:buClr>
              <a:buSzPts val="2800"/>
              <a:buChar char="•"/>
              <a:defRPr sz="2100">
                <a:solidFill>
                  <a:srgbClr val="38415C"/>
                </a:solidFill>
              </a:defRPr>
            </a:lvl2pPr>
            <a:lvl3pPr marL="1028700" lvl="2" indent="-285750" algn="l">
              <a:lnSpc>
                <a:spcPct val="90000"/>
              </a:lnSpc>
              <a:spcBef>
                <a:spcPts val="375"/>
              </a:spcBef>
              <a:spcAft>
                <a:spcPts val="0"/>
              </a:spcAft>
              <a:buClr>
                <a:srgbClr val="38415C"/>
              </a:buClr>
              <a:buSzPts val="2400"/>
              <a:buChar char="•"/>
              <a:defRPr sz="1800">
                <a:solidFill>
                  <a:srgbClr val="38415C"/>
                </a:solidFill>
              </a:defRPr>
            </a:lvl3pPr>
            <a:lvl4pPr marL="1371600" lvl="3" indent="-266700" algn="l">
              <a:lnSpc>
                <a:spcPct val="90000"/>
              </a:lnSpc>
              <a:spcBef>
                <a:spcPts val="375"/>
              </a:spcBef>
              <a:spcAft>
                <a:spcPts val="0"/>
              </a:spcAft>
              <a:buClr>
                <a:srgbClr val="38415C"/>
              </a:buClr>
              <a:buSzPts val="2000"/>
              <a:buChar char="•"/>
              <a:defRPr sz="1500">
                <a:solidFill>
                  <a:srgbClr val="38415C"/>
                </a:solidFill>
              </a:defRPr>
            </a:lvl4pPr>
            <a:lvl5pPr marL="1714500" lvl="4" indent="-266700" algn="l">
              <a:lnSpc>
                <a:spcPct val="90000"/>
              </a:lnSpc>
              <a:spcBef>
                <a:spcPts val="375"/>
              </a:spcBef>
              <a:spcAft>
                <a:spcPts val="0"/>
              </a:spcAft>
              <a:buClr>
                <a:srgbClr val="38415C"/>
              </a:buClr>
              <a:buSzPts val="2000"/>
              <a:buChar char="•"/>
              <a:defRPr sz="1500">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2" name="Google Shape;32;p4"/>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 name="Google Shape;83;p11">
            <a:extLst>
              <a:ext uri="{FF2B5EF4-FFF2-40B4-BE49-F238E27FC236}">
                <a16:creationId xmlns:a16="http://schemas.microsoft.com/office/drawing/2014/main" id="{701370BF-C132-A715-D273-78D75983D631}"/>
              </a:ext>
            </a:extLst>
          </p:cNvPr>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9" name="Google Shape;14;p1">
            <a:extLst>
              <a:ext uri="{FF2B5EF4-FFF2-40B4-BE49-F238E27FC236}">
                <a16:creationId xmlns:a16="http://schemas.microsoft.com/office/drawing/2014/main" id="{94E57D7B-F424-A53D-4E48-4083B901B5B3}"/>
              </a:ext>
            </a:extLst>
          </p:cNvPr>
          <p:cNvSpPr txBox="1">
            <a:spLocks/>
          </p:cNvSpPr>
          <p:nvPr userDrawn="1"/>
        </p:nvSpPr>
        <p:spPr>
          <a:xfrm>
            <a:off x="2715758" y="6368185"/>
            <a:ext cx="30861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2200" b="0" i="1" u="none" strike="noStrike" cap="none" dirty="0">
                <a:solidFill>
                  <a:srgbClr val="38415C"/>
                </a:solidFill>
                <a:latin typeface="Fira Sans"/>
                <a:ea typeface="Fira Sans"/>
                <a:cs typeface="Fira Sans"/>
                <a:sym typeface="Fira Sans"/>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9pPr>
          </a:lstStyle>
          <a:p>
            <a:endParaRPr/>
          </a:p>
        </p:txBody>
      </p:sp>
      <p:sp>
        <p:nvSpPr>
          <p:cNvPr id="3" name="Google Shape;14;p1">
            <a:extLst>
              <a:ext uri="{FF2B5EF4-FFF2-40B4-BE49-F238E27FC236}">
                <a16:creationId xmlns:a16="http://schemas.microsoft.com/office/drawing/2014/main" id="{583F7DEA-E226-7876-6CFC-0BA1284D3CB9}"/>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5400"/>
              <a:buFont typeface="Fira Sans"/>
              <a:buNone/>
              <a:defRPr>
                <a:solidFill>
                  <a:srgbClr val="3841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body" idx="1"/>
          </p:nvPr>
        </p:nvSpPr>
        <p:spPr>
          <a:xfrm>
            <a:off x="156408" y="1500884"/>
            <a:ext cx="4320000" cy="4680000"/>
          </a:xfrm>
          <a:prstGeom prst="rect">
            <a:avLst/>
          </a:prstGeom>
          <a:noFill/>
          <a:ln>
            <a:noFill/>
          </a:ln>
        </p:spPr>
        <p:txBody>
          <a:bodyPr spcFirstLastPara="1" wrap="square" lIns="91425" tIns="45700" rIns="91425" bIns="45700" anchor="t" anchorCtr="0">
            <a:normAutofit/>
          </a:bodyPr>
          <a:lstStyle>
            <a:lvl1pPr marL="342900" lvl="0" indent="-304800" algn="l">
              <a:lnSpc>
                <a:spcPct val="90000"/>
              </a:lnSpc>
              <a:spcBef>
                <a:spcPts val="750"/>
              </a:spcBef>
              <a:spcAft>
                <a:spcPts val="0"/>
              </a:spcAft>
              <a:buClr>
                <a:srgbClr val="38415C"/>
              </a:buClr>
              <a:buSzPts val="2800"/>
              <a:buChar char="•"/>
              <a:defRPr>
                <a:solidFill>
                  <a:srgbClr val="38415C"/>
                </a:solidFill>
              </a:defRPr>
            </a:lvl1pPr>
            <a:lvl2pPr marL="685800" lvl="1" indent="-285750" algn="l">
              <a:lnSpc>
                <a:spcPct val="90000"/>
              </a:lnSpc>
              <a:spcBef>
                <a:spcPts val="375"/>
              </a:spcBef>
              <a:spcAft>
                <a:spcPts val="0"/>
              </a:spcAft>
              <a:buClr>
                <a:srgbClr val="38415C"/>
              </a:buClr>
              <a:buSzPts val="2400"/>
              <a:buChar char="•"/>
              <a:defRPr>
                <a:solidFill>
                  <a:srgbClr val="38415C"/>
                </a:solidFill>
              </a:defRPr>
            </a:lvl2pPr>
            <a:lvl3pPr marL="1028700" lvl="2" indent="-266700" algn="l">
              <a:lnSpc>
                <a:spcPct val="90000"/>
              </a:lnSpc>
              <a:spcBef>
                <a:spcPts val="375"/>
              </a:spcBef>
              <a:spcAft>
                <a:spcPts val="0"/>
              </a:spcAft>
              <a:buClr>
                <a:srgbClr val="38415C"/>
              </a:buClr>
              <a:buSzPts val="2000"/>
              <a:buChar char="•"/>
              <a:defRPr>
                <a:solidFill>
                  <a:srgbClr val="38415C"/>
                </a:solidFill>
              </a:defRPr>
            </a:lvl3pPr>
            <a:lvl4pPr marL="1371600" lvl="3" indent="-257175" algn="l">
              <a:lnSpc>
                <a:spcPct val="90000"/>
              </a:lnSpc>
              <a:spcBef>
                <a:spcPts val="375"/>
              </a:spcBef>
              <a:spcAft>
                <a:spcPts val="0"/>
              </a:spcAft>
              <a:buClr>
                <a:srgbClr val="38415C"/>
              </a:buClr>
              <a:buSzPts val="1800"/>
              <a:buChar char="•"/>
              <a:defRPr>
                <a:solidFill>
                  <a:srgbClr val="38415C"/>
                </a:solidFill>
              </a:defRPr>
            </a:lvl4pPr>
            <a:lvl5pPr marL="1714500" lvl="4" indent="-257175" algn="l">
              <a:lnSpc>
                <a:spcPct val="90000"/>
              </a:lnSpc>
              <a:spcBef>
                <a:spcPts val="375"/>
              </a:spcBef>
              <a:spcAft>
                <a:spcPts val="0"/>
              </a:spcAft>
              <a:buClr>
                <a:srgbClr val="38415C"/>
              </a:buClr>
              <a:buSzPts val="1800"/>
              <a:buChar char="•"/>
              <a:defRPr>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5" name="Google Shape;45;p6"/>
          <p:cNvSpPr txBox="1">
            <a:spLocks noGrp="1"/>
          </p:cNvSpPr>
          <p:nvPr>
            <p:ph type="body" idx="2"/>
          </p:nvPr>
        </p:nvSpPr>
        <p:spPr>
          <a:xfrm>
            <a:off x="4732559" y="1500884"/>
            <a:ext cx="4320000" cy="46800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rgbClr val="38415C"/>
              </a:buClr>
              <a:buSzPts val="1800"/>
              <a:buChar char="•"/>
              <a:defRPr/>
            </a:lvl1pPr>
            <a:lvl2pPr marL="685800" lvl="1" indent="-257175" algn="l">
              <a:lnSpc>
                <a:spcPct val="90000"/>
              </a:lnSpc>
              <a:spcBef>
                <a:spcPts val="375"/>
              </a:spcBef>
              <a:spcAft>
                <a:spcPts val="0"/>
              </a:spcAft>
              <a:buClr>
                <a:srgbClr val="38415C"/>
              </a:buClr>
              <a:buSzPts val="1800"/>
              <a:buChar char="•"/>
              <a:defRPr/>
            </a:lvl2pPr>
            <a:lvl3pPr marL="1028700" lvl="2" indent="-257175" algn="l">
              <a:lnSpc>
                <a:spcPct val="90000"/>
              </a:lnSpc>
              <a:spcBef>
                <a:spcPts val="375"/>
              </a:spcBef>
              <a:spcAft>
                <a:spcPts val="0"/>
              </a:spcAft>
              <a:buClr>
                <a:srgbClr val="38415C"/>
              </a:buClr>
              <a:buSzPts val="1800"/>
              <a:buChar char="•"/>
              <a:defRPr/>
            </a:lvl3pPr>
            <a:lvl4pPr marL="1371600" lvl="3" indent="-257175" algn="l">
              <a:lnSpc>
                <a:spcPct val="90000"/>
              </a:lnSpc>
              <a:spcBef>
                <a:spcPts val="375"/>
              </a:spcBef>
              <a:spcAft>
                <a:spcPts val="0"/>
              </a:spcAft>
              <a:buClr>
                <a:srgbClr val="38415C"/>
              </a:buClr>
              <a:buSzPts val="1800"/>
              <a:buChar char="•"/>
              <a:defRPr/>
            </a:lvl4pPr>
            <a:lvl5pPr marL="1714500" lvl="4" indent="-257175" algn="l">
              <a:lnSpc>
                <a:spcPct val="90000"/>
              </a:lnSpc>
              <a:spcBef>
                <a:spcPts val="375"/>
              </a:spcBef>
              <a:spcAft>
                <a:spcPts val="0"/>
              </a:spcAft>
              <a:buClr>
                <a:srgbClr val="38415C"/>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 name="Google Shape;83;p11">
            <a:extLst>
              <a:ext uri="{FF2B5EF4-FFF2-40B4-BE49-F238E27FC236}">
                <a16:creationId xmlns:a16="http://schemas.microsoft.com/office/drawing/2014/main" id="{0762D070-8A19-B8CB-B343-A2D04F195B48}"/>
              </a:ext>
            </a:extLst>
          </p:cNvPr>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3" name="Google Shape;14;p1">
            <a:extLst>
              <a:ext uri="{FF2B5EF4-FFF2-40B4-BE49-F238E27FC236}">
                <a16:creationId xmlns:a16="http://schemas.microsoft.com/office/drawing/2014/main" id="{AEBE20A7-6D9B-E1AE-348A-9D78BCF6CAE2}"/>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5400"/>
              <a:buFont typeface="Fira Sans"/>
              <a:buNone/>
              <a:defRPr>
                <a:solidFill>
                  <a:srgbClr val="3841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body" idx="1"/>
          </p:nvPr>
        </p:nvSpPr>
        <p:spPr>
          <a:xfrm>
            <a:off x="4732559" y="1500884"/>
            <a:ext cx="4320000" cy="46800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rgbClr val="38415C"/>
              </a:buClr>
              <a:buSzPts val="1800"/>
              <a:buChar char="•"/>
              <a:defRPr/>
            </a:lvl1pPr>
            <a:lvl2pPr marL="685800" lvl="1" indent="-257175" algn="l">
              <a:lnSpc>
                <a:spcPct val="90000"/>
              </a:lnSpc>
              <a:spcBef>
                <a:spcPts val="375"/>
              </a:spcBef>
              <a:spcAft>
                <a:spcPts val="0"/>
              </a:spcAft>
              <a:buClr>
                <a:srgbClr val="38415C"/>
              </a:buClr>
              <a:buSzPts val="1800"/>
              <a:buChar char="•"/>
              <a:defRPr/>
            </a:lvl2pPr>
            <a:lvl3pPr marL="1028700" lvl="2" indent="-257175" algn="l">
              <a:lnSpc>
                <a:spcPct val="90000"/>
              </a:lnSpc>
              <a:spcBef>
                <a:spcPts val="375"/>
              </a:spcBef>
              <a:spcAft>
                <a:spcPts val="0"/>
              </a:spcAft>
              <a:buClr>
                <a:srgbClr val="38415C"/>
              </a:buClr>
              <a:buSzPts val="1800"/>
              <a:buChar char="•"/>
              <a:defRPr/>
            </a:lvl3pPr>
            <a:lvl4pPr marL="1371600" lvl="3" indent="-257175" algn="l">
              <a:lnSpc>
                <a:spcPct val="90000"/>
              </a:lnSpc>
              <a:spcBef>
                <a:spcPts val="375"/>
              </a:spcBef>
              <a:spcAft>
                <a:spcPts val="0"/>
              </a:spcAft>
              <a:buClr>
                <a:srgbClr val="38415C"/>
              </a:buClr>
              <a:buSzPts val="1800"/>
              <a:buChar char="•"/>
              <a:defRPr/>
            </a:lvl4pPr>
            <a:lvl5pPr marL="1714500" lvl="4" indent="-257175" algn="l">
              <a:lnSpc>
                <a:spcPct val="90000"/>
              </a:lnSpc>
              <a:spcBef>
                <a:spcPts val="375"/>
              </a:spcBef>
              <a:spcAft>
                <a:spcPts val="0"/>
              </a:spcAft>
              <a:buClr>
                <a:srgbClr val="38415C"/>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4" name="Google Shape;54;p7"/>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7" name="Google Shape;14;p1">
            <a:extLst>
              <a:ext uri="{FF2B5EF4-FFF2-40B4-BE49-F238E27FC236}">
                <a16:creationId xmlns:a16="http://schemas.microsoft.com/office/drawing/2014/main" id="{48418DDF-1F9D-531B-3102-29C0A10FC449}"/>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5"/>
        <p:cNvGrpSpPr/>
        <p:nvPr/>
      </p:nvGrpSpPr>
      <p:grpSpPr>
        <a:xfrm>
          <a:off x="0" y="0"/>
          <a:ext cx="0" cy="0"/>
          <a:chOff x="0" y="0"/>
          <a:chExt cx="0" cy="0"/>
        </a:xfrm>
      </p:grpSpPr>
      <p:sp>
        <p:nvSpPr>
          <p:cNvPr id="56" name="Google Shape;56;p8"/>
          <p:cNvSpPr txBox="1">
            <a:spLocks noGrp="1"/>
          </p:cNvSpPr>
          <p:nvPr>
            <p:ph type="body" idx="1"/>
          </p:nvPr>
        </p:nvSpPr>
        <p:spPr>
          <a:xfrm>
            <a:off x="172394" y="1530777"/>
            <a:ext cx="4320000" cy="504000"/>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rgbClr val="38415C"/>
              </a:buClr>
              <a:buSzPts val="2400"/>
              <a:buNone/>
              <a:defRPr sz="1800" b="1">
                <a:solidFill>
                  <a:srgbClr val="38415C"/>
                </a:solidFill>
              </a:defRPr>
            </a:lvl1pPr>
            <a:lvl2pPr marL="685800" lvl="1" indent="-171450" algn="l">
              <a:lnSpc>
                <a:spcPct val="90000"/>
              </a:lnSpc>
              <a:spcBef>
                <a:spcPts val="375"/>
              </a:spcBef>
              <a:spcAft>
                <a:spcPts val="0"/>
              </a:spcAft>
              <a:buClr>
                <a:srgbClr val="38415C"/>
              </a:buClr>
              <a:buSzPts val="2000"/>
              <a:buNone/>
              <a:defRPr sz="1500" b="1"/>
            </a:lvl2pPr>
            <a:lvl3pPr marL="1028700" lvl="2" indent="-171450" algn="l">
              <a:lnSpc>
                <a:spcPct val="90000"/>
              </a:lnSpc>
              <a:spcBef>
                <a:spcPts val="375"/>
              </a:spcBef>
              <a:spcAft>
                <a:spcPts val="0"/>
              </a:spcAft>
              <a:buClr>
                <a:srgbClr val="38415C"/>
              </a:buClr>
              <a:buSzPts val="1800"/>
              <a:buNone/>
              <a:defRPr sz="1350" b="1"/>
            </a:lvl3pPr>
            <a:lvl4pPr marL="1371600" lvl="3" indent="-171450" algn="l">
              <a:lnSpc>
                <a:spcPct val="90000"/>
              </a:lnSpc>
              <a:spcBef>
                <a:spcPts val="375"/>
              </a:spcBef>
              <a:spcAft>
                <a:spcPts val="0"/>
              </a:spcAft>
              <a:buClr>
                <a:srgbClr val="38415C"/>
              </a:buClr>
              <a:buSzPts val="1600"/>
              <a:buNone/>
              <a:defRPr sz="1200" b="1"/>
            </a:lvl4pPr>
            <a:lvl5pPr marL="1714500" lvl="4" indent="-171450" algn="l">
              <a:lnSpc>
                <a:spcPct val="90000"/>
              </a:lnSpc>
              <a:spcBef>
                <a:spcPts val="375"/>
              </a:spcBef>
              <a:spcAft>
                <a:spcPts val="0"/>
              </a:spcAft>
              <a:buClr>
                <a:srgbClr val="38415C"/>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7" name="Google Shape;57;p8"/>
          <p:cNvSpPr txBox="1">
            <a:spLocks noGrp="1"/>
          </p:cNvSpPr>
          <p:nvPr>
            <p:ph type="body" idx="2"/>
          </p:nvPr>
        </p:nvSpPr>
        <p:spPr>
          <a:xfrm>
            <a:off x="172394" y="2184437"/>
            <a:ext cx="4320000" cy="3932614"/>
          </a:xfrm>
          <a:prstGeom prst="rect">
            <a:avLst/>
          </a:prstGeom>
          <a:noFill/>
          <a:ln>
            <a:noFill/>
          </a:ln>
        </p:spPr>
        <p:txBody>
          <a:bodyPr spcFirstLastPara="1" wrap="square" lIns="91425" tIns="45700" rIns="91425" bIns="45700" anchor="t" anchorCtr="0">
            <a:normAutofit/>
          </a:bodyPr>
          <a:lstStyle>
            <a:lvl1pPr marL="342900" lvl="0" indent="-304800" algn="l">
              <a:lnSpc>
                <a:spcPct val="90000"/>
              </a:lnSpc>
              <a:spcBef>
                <a:spcPts val="750"/>
              </a:spcBef>
              <a:spcAft>
                <a:spcPts val="0"/>
              </a:spcAft>
              <a:buClr>
                <a:srgbClr val="38415C"/>
              </a:buClr>
              <a:buSzPts val="2800"/>
              <a:buChar char="•"/>
              <a:defRPr b="0">
                <a:solidFill>
                  <a:srgbClr val="38415C"/>
                </a:solidFill>
              </a:defRPr>
            </a:lvl1pPr>
            <a:lvl2pPr marL="685800" lvl="1" indent="-285750" algn="l">
              <a:lnSpc>
                <a:spcPct val="90000"/>
              </a:lnSpc>
              <a:spcBef>
                <a:spcPts val="375"/>
              </a:spcBef>
              <a:spcAft>
                <a:spcPts val="0"/>
              </a:spcAft>
              <a:buClr>
                <a:srgbClr val="38415C"/>
              </a:buClr>
              <a:buSzPts val="2400"/>
              <a:buChar char="•"/>
              <a:defRPr b="0">
                <a:solidFill>
                  <a:srgbClr val="38415C"/>
                </a:solidFill>
              </a:defRPr>
            </a:lvl2pPr>
            <a:lvl3pPr marL="1028700" lvl="2" indent="-266700" algn="l">
              <a:lnSpc>
                <a:spcPct val="90000"/>
              </a:lnSpc>
              <a:spcBef>
                <a:spcPts val="375"/>
              </a:spcBef>
              <a:spcAft>
                <a:spcPts val="0"/>
              </a:spcAft>
              <a:buClr>
                <a:srgbClr val="38415C"/>
              </a:buClr>
              <a:buSzPts val="2000"/>
              <a:buChar char="•"/>
              <a:defRPr b="0">
                <a:solidFill>
                  <a:srgbClr val="38415C"/>
                </a:solidFill>
              </a:defRPr>
            </a:lvl3pPr>
            <a:lvl4pPr marL="1371600" lvl="3" indent="-257175" algn="l">
              <a:lnSpc>
                <a:spcPct val="90000"/>
              </a:lnSpc>
              <a:spcBef>
                <a:spcPts val="375"/>
              </a:spcBef>
              <a:spcAft>
                <a:spcPts val="0"/>
              </a:spcAft>
              <a:buClr>
                <a:srgbClr val="38415C"/>
              </a:buClr>
              <a:buSzPts val="1800"/>
              <a:buChar char="•"/>
              <a:defRPr b="0">
                <a:solidFill>
                  <a:srgbClr val="38415C"/>
                </a:solidFill>
              </a:defRPr>
            </a:lvl4pPr>
            <a:lvl5pPr marL="1714500" lvl="4" indent="-257175" algn="l">
              <a:lnSpc>
                <a:spcPct val="90000"/>
              </a:lnSpc>
              <a:spcBef>
                <a:spcPts val="375"/>
              </a:spcBef>
              <a:spcAft>
                <a:spcPts val="0"/>
              </a:spcAft>
              <a:buClr>
                <a:srgbClr val="38415C"/>
              </a:buClr>
              <a:buSzPts val="1800"/>
              <a:buChar char="•"/>
              <a:defRPr b="0">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8" name="Google Shape;58;p8"/>
          <p:cNvSpPr txBox="1">
            <a:spLocks noGrp="1"/>
          </p:cNvSpPr>
          <p:nvPr>
            <p:ph type="body" idx="3"/>
          </p:nvPr>
        </p:nvSpPr>
        <p:spPr>
          <a:xfrm>
            <a:off x="4732559" y="1535885"/>
            <a:ext cx="4320000" cy="504000"/>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rgbClr val="38415C"/>
              </a:buClr>
              <a:buSzPts val="2400"/>
              <a:buNone/>
              <a:defRPr sz="1800" b="1">
                <a:solidFill>
                  <a:srgbClr val="38415C"/>
                </a:solidFill>
              </a:defRPr>
            </a:lvl1pPr>
            <a:lvl2pPr marL="685800" lvl="1" indent="-171450" algn="l">
              <a:lnSpc>
                <a:spcPct val="90000"/>
              </a:lnSpc>
              <a:spcBef>
                <a:spcPts val="375"/>
              </a:spcBef>
              <a:spcAft>
                <a:spcPts val="0"/>
              </a:spcAft>
              <a:buClr>
                <a:srgbClr val="38415C"/>
              </a:buClr>
              <a:buSzPts val="2000"/>
              <a:buNone/>
              <a:defRPr sz="1500" b="1"/>
            </a:lvl2pPr>
            <a:lvl3pPr marL="1028700" lvl="2" indent="-171450" algn="l">
              <a:lnSpc>
                <a:spcPct val="90000"/>
              </a:lnSpc>
              <a:spcBef>
                <a:spcPts val="375"/>
              </a:spcBef>
              <a:spcAft>
                <a:spcPts val="0"/>
              </a:spcAft>
              <a:buClr>
                <a:srgbClr val="38415C"/>
              </a:buClr>
              <a:buSzPts val="1800"/>
              <a:buNone/>
              <a:defRPr sz="1350" b="1"/>
            </a:lvl3pPr>
            <a:lvl4pPr marL="1371600" lvl="3" indent="-171450" algn="l">
              <a:lnSpc>
                <a:spcPct val="90000"/>
              </a:lnSpc>
              <a:spcBef>
                <a:spcPts val="375"/>
              </a:spcBef>
              <a:spcAft>
                <a:spcPts val="0"/>
              </a:spcAft>
              <a:buClr>
                <a:srgbClr val="38415C"/>
              </a:buClr>
              <a:buSzPts val="1600"/>
              <a:buNone/>
              <a:defRPr sz="1200" b="1"/>
            </a:lvl4pPr>
            <a:lvl5pPr marL="1714500" lvl="4" indent="-171450" algn="l">
              <a:lnSpc>
                <a:spcPct val="90000"/>
              </a:lnSpc>
              <a:spcBef>
                <a:spcPts val="375"/>
              </a:spcBef>
              <a:spcAft>
                <a:spcPts val="0"/>
              </a:spcAft>
              <a:buClr>
                <a:srgbClr val="38415C"/>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9" name="Google Shape;59;p8"/>
          <p:cNvSpPr txBox="1">
            <a:spLocks noGrp="1"/>
          </p:cNvSpPr>
          <p:nvPr>
            <p:ph type="body" idx="4"/>
          </p:nvPr>
        </p:nvSpPr>
        <p:spPr>
          <a:xfrm>
            <a:off x="4732559" y="2184437"/>
            <a:ext cx="4320000" cy="3932615"/>
          </a:xfrm>
          <a:prstGeom prst="rect">
            <a:avLst/>
          </a:prstGeom>
          <a:noFill/>
          <a:ln>
            <a:noFill/>
          </a:ln>
        </p:spPr>
        <p:txBody>
          <a:bodyPr spcFirstLastPara="1" wrap="square" lIns="91425" tIns="45700" rIns="91425" bIns="45700" anchor="t" anchorCtr="0">
            <a:normAutofit/>
          </a:bodyPr>
          <a:lstStyle>
            <a:lvl1pPr marL="342900" lvl="0" indent="-304800" algn="l">
              <a:lnSpc>
                <a:spcPct val="90000"/>
              </a:lnSpc>
              <a:spcBef>
                <a:spcPts val="750"/>
              </a:spcBef>
              <a:spcAft>
                <a:spcPts val="0"/>
              </a:spcAft>
              <a:buClr>
                <a:srgbClr val="38415C"/>
              </a:buClr>
              <a:buSzPts val="2800"/>
              <a:buChar char="•"/>
              <a:defRPr>
                <a:solidFill>
                  <a:srgbClr val="38415C"/>
                </a:solidFill>
              </a:defRPr>
            </a:lvl1pPr>
            <a:lvl2pPr marL="685800" lvl="1" indent="-285750" algn="l">
              <a:lnSpc>
                <a:spcPct val="90000"/>
              </a:lnSpc>
              <a:spcBef>
                <a:spcPts val="375"/>
              </a:spcBef>
              <a:spcAft>
                <a:spcPts val="0"/>
              </a:spcAft>
              <a:buClr>
                <a:srgbClr val="38415C"/>
              </a:buClr>
              <a:buSzPts val="2400"/>
              <a:buChar char="•"/>
              <a:defRPr>
                <a:solidFill>
                  <a:srgbClr val="38415C"/>
                </a:solidFill>
              </a:defRPr>
            </a:lvl2pPr>
            <a:lvl3pPr marL="1028700" lvl="2" indent="-266700" algn="l">
              <a:lnSpc>
                <a:spcPct val="90000"/>
              </a:lnSpc>
              <a:spcBef>
                <a:spcPts val="375"/>
              </a:spcBef>
              <a:spcAft>
                <a:spcPts val="0"/>
              </a:spcAft>
              <a:buClr>
                <a:srgbClr val="38415C"/>
              </a:buClr>
              <a:buSzPts val="2000"/>
              <a:buChar char="•"/>
              <a:defRPr>
                <a:solidFill>
                  <a:srgbClr val="38415C"/>
                </a:solidFill>
              </a:defRPr>
            </a:lvl3pPr>
            <a:lvl4pPr marL="1371600" lvl="3" indent="-257175" algn="l">
              <a:lnSpc>
                <a:spcPct val="90000"/>
              </a:lnSpc>
              <a:spcBef>
                <a:spcPts val="375"/>
              </a:spcBef>
              <a:spcAft>
                <a:spcPts val="0"/>
              </a:spcAft>
              <a:buClr>
                <a:srgbClr val="38415C"/>
              </a:buClr>
              <a:buSzPts val="1800"/>
              <a:buChar char="•"/>
              <a:defRPr>
                <a:solidFill>
                  <a:srgbClr val="38415C"/>
                </a:solidFill>
              </a:defRPr>
            </a:lvl4pPr>
            <a:lvl5pPr marL="1714500" lvl="4" indent="-257175" algn="l">
              <a:lnSpc>
                <a:spcPct val="90000"/>
              </a:lnSpc>
              <a:spcBef>
                <a:spcPts val="375"/>
              </a:spcBef>
              <a:spcAft>
                <a:spcPts val="0"/>
              </a:spcAft>
              <a:buClr>
                <a:srgbClr val="38415C"/>
              </a:buClr>
              <a:buSzPts val="1800"/>
              <a:buChar char="•"/>
              <a:defRPr>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60" name="Google Shape;60;p8"/>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5400"/>
              <a:buFont typeface="Fira Sans"/>
              <a:buNone/>
              <a:defRPr>
                <a:solidFill>
                  <a:srgbClr val="3841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83;p11">
            <a:extLst>
              <a:ext uri="{FF2B5EF4-FFF2-40B4-BE49-F238E27FC236}">
                <a16:creationId xmlns:a16="http://schemas.microsoft.com/office/drawing/2014/main" id="{B0388D56-D47A-FC41-3073-20A543FD148E}"/>
              </a:ext>
            </a:extLst>
          </p:cNvPr>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2" name="Google Shape;14;p1">
            <a:extLst>
              <a:ext uri="{FF2B5EF4-FFF2-40B4-BE49-F238E27FC236}">
                <a16:creationId xmlns:a16="http://schemas.microsoft.com/office/drawing/2014/main" id="{59B2D424-DA76-C5F2-36D0-60F6359AEDD4}"/>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64"/>
        <p:cNvGrpSpPr/>
        <p:nvPr/>
      </p:nvGrpSpPr>
      <p:grpSpPr>
        <a:xfrm>
          <a:off x="0" y="0"/>
          <a:ext cx="0" cy="0"/>
          <a:chOff x="0" y="0"/>
          <a:chExt cx="0" cy="0"/>
        </a:xfrm>
      </p:grpSpPr>
      <p:sp>
        <p:nvSpPr>
          <p:cNvPr id="65" name="Google Shape;65;p9"/>
          <p:cNvSpPr txBox="1">
            <a:spLocks noGrp="1"/>
          </p:cNvSpPr>
          <p:nvPr>
            <p:ph type="body" idx="1"/>
          </p:nvPr>
        </p:nvSpPr>
        <p:spPr>
          <a:xfrm>
            <a:off x="172394" y="1530777"/>
            <a:ext cx="4320000" cy="504000"/>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rgbClr val="38415C"/>
              </a:buClr>
              <a:buSzPts val="2400"/>
              <a:buNone/>
              <a:defRPr sz="1800" b="1">
                <a:solidFill>
                  <a:srgbClr val="38415C"/>
                </a:solidFill>
              </a:defRPr>
            </a:lvl1pPr>
            <a:lvl2pPr marL="685800" lvl="1" indent="-171450" algn="l">
              <a:lnSpc>
                <a:spcPct val="90000"/>
              </a:lnSpc>
              <a:spcBef>
                <a:spcPts val="375"/>
              </a:spcBef>
              <a:spcAft>
                <a:spcPts val="0"/>
              </a:spcAft>
              <a:buClr>
                <a:srgbClr val="38415C"/>
              </a:buClr>
              <a:buSzPts val="2000"/>
              <a:buNone/>
              <a:defRPr sz="1500" b="1"/>
            </a:lvl2pPr>
            <a:lvl3pPr marL="1028700" lvl="2" indent="-171450" algn="l">
              <a:lnSpc>
                <a:spcPct val="90000"/>
              </a:lnSpc>
              <a:spcBef>
                <a:spcPts val="375"/>
              </a:spcBef>
              <a:spcAft>
                <a:spcPts val="0"/>
              </a:spcAft>
              <a:buClr>
                <a:srgbClr val="38415C"/>
              </a:buClr>
              <a:buSzPts val="1800"/>
              <a:buNone/>
              <a:defRPr sz="1350" b="1"/>
            </a:lvl3pPr>
            <a:lvl4pPr marL="1371600" lvl="3" indent="-171450" algn="l">
              <a:lnSpc>
                <a:spcPct val="90000"/>
              </a:lnSpc>
              <a:spcBef>
                <a:spcPts val="375"/>
              </a:spcBef>
              <a:spcAft>
                <a:spcPts val="0"/>
              </a:spcAft>
              <a:buClr>
                <a:srgbClr val="38415C"/>
              </a:buClr>
              <a:buSzPts val="1600"/>
              <a:buNone/>
              <a:defRPr sz="1200" b="1"/>
            </a:lvl4pPr>
            <a:lvl5pPr marL="1714500" lvl="4" indent="-171450" algn="l">
              <a:lnSpc>
                <a:spcPct val="90000"/>
              </a:lnSpc>
              <a:spcBef>
                <a:spcPts val="375"/>
              </a:spcBef>
              <a:spcAft>
                <a:spcPts val="0"/>
              </a:spcAft>
              <a:buClr>
                <a:srgbClr val="38415C"/>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66" name="Google Shape;66;p9"/>
          <p:cNvSpPr txBox="1">
            <a:spLocks noGrp="1"/>
          </p:cNvSpPr>
          <p:nvPr>
            <p:ph type="body" idx="2"/>
          </p:nvPr>
        </p:nvSpPr>
        <p:spPr>
          <a:xfrm>
            <a:off x="172394" y="2184437"/>
            <a:ext cx="4320000" cy="3932614"/>
          </a:xfrm>
          <a:prstGeom prst="rect">
            <a:avLst/>
          </a:prstGeom>
          <a:noFill/>
          <a:ln>
            <a:noFill/>
          </a:ln>
        </p:spPr>
        <p:txBody>
          <a:bodyPr spcFirstLastPara="1" wrap="square" lIns="91425" tIns="45700" rIns="91425" bIns="45700" anchor="t" anchorCtr="0">
            <a:normAutofit/>
          </a:bodyPr>
          <a:lstStyle>
            <a:lvl1pPr marL="342900" lvl="0" indent="-304800" algn="l">
              <a:lnSpc>
                <a:spcPct val="90000"/>
              </a:lnSpc>
              <a:spcBef>
                <a:spcPts val="750"/>
              </a:spcBef>
              <a:spcAft>
                <a:spcPts val="0"/>
              </a:spcAft>
              <a:buClr>
                <a:srgbClr val="38415C"/>
              </a:buClr>
              <a:buSzPts val="2800"/>
              <a:buChar char="•"/>
              <a:defRPr b="0">
                <a:solidFill>
                  <a:srgbClr val="38415C"/>
                </a:solidFill>
              </a:defRPr>
            </a:lvl1pPr>
            <a:lvl2pPr marL="685800" lvl="1" indent="-285750" algn="l">
              <a:lnSpc>
                <a:spcPct val="90000"/>
              </a:lnSpc>
              <a:spcBef>
                <a:spcPts val="375"/>
              </a:spcBef>
              <a:spcAft>
                <a:spcPts val="0"/>
              </a:spcAft>
              <a:buClr>
                <a:srgbClr val="38415C"/>
              </a:buClr>
              <a:buSzPts val="2400"/>
              <a:buChar char="•"/>
              <a:defRPr b="0">
                <a:solidFill>
                  <a:srgbClr val="38415C"/>
                </a:solidFill>
              </a:defRPr>
            </a:lvl2pPr>
            <a:lvl3pPr marL="1028700" lvl="2" indent="-266700" algn="l">
              <a:lnSpc>
                <a:spcPct val="90000"/>
              </a:lnSpc>
              <a:spcBef>
                <a:spcPts val="375"/>
              </a:spcBef>
              <a:spcAft>
                <a:spcPts val="0"/>
              </a:spcAft>
              <a:buClr>
                <a:srgbClr val="38415C"/>
              </a:buClr>
              <a:buSzPts val="2000"/>
              <a:buChar char="•"/>
              <a:defRPr b="0">
                <a:solidFill>
                  <a:srgbClr val="38415C"/>
                </a:solidFill>
              </a:defRPr>
            </a:lvl3pPr>
            <a:lvl4pPr marL="1371600" lvl="3" indent="-257175" algn="l">
              <a:lnSpc>
                <a:spcPct val="90000"/>
              </a:lnSpc>
              <a:spcBef>
                <a:spcPts val="375"/>
              </a:spcBef>
              <a:spcAft>
                <a:spcPts val="0"/>
              </a:spcAft>
              <a:buClr>
                <a:srgbClr val="38415C"/>
              </a:buClr>
              <a:buSzPts val="1800"/>
              <a:buChar char="•"/>
              <a:defRPr b="0">
                <a:solidFill>
                  <a:srgbClr val="38415C"/>
                </a:solidFill>
              </a:defRPr>
            </a:lvl4pPr>
            <a:lvl5pPr marL="1714500" lvl="4" indent="-257175" algn="l">
              <a:lnSpc>
                <a:spcPct val="90000"/>
              </a:lnSpc>
              <a:spcBef>
                <a:spcPts val="375"/>
              </a:spcBef>
              <a:spcAft>
                <a:spcPts val="0"/>
              </a:spcAft>
              <a:buClr>
                <a:srgbClr val="38415C"/>
              </a:buClr>
              <a:buSzPts val="1800"/>
              <a:buChar char="•"/>
              <a:defRPr b="0">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67" name="Google Shape;67;p9"/>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5400"/>
              <a:buFont typeface="Fira Sans"/>
              <a:buNone/>
              <a:defRPr>
                <a:solidFill>
                  <a:srgbClr val="3841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 name="Google Shape;83;p11">
            <a:extLst>
              <a:ext uri="{FF2B5EF4-FFF2-40B4-BE49-F238E27FC236}">
                <a16:creationId xmlns:a16="http://schemas.microsoft.com/office/drawing/2014/main" id="{9DA6CF24-B0F2-AF5A-856B-1EA966B0FFD8}"/>
              </a:ext>
            </a:extLst>
          </p:cNvPr>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2" name="Google Shape;14;p1">
            <a:extLst>
              <a:ext uri="{FF2B5EF4-FFF2-40B4-BE49-F238E27FC236}">
                <a16:creationId xmlns:a16="http://schemas.microsoft.com/office/drawing/2014/main" id="{33846682-B834-08F5-C5BE-B66108FF041A}"/>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omparison">
  <p:cSld name="2_Comparison">
    <p:spTree>
      <p:nvGrpSpPr>
        <p:cNvPr id="1" name="Shape 71"/>
        <p:cNvGrpSpPr/>
        <p:nvPr/>
      </p:nvGrpSpPr>
      <p:grpSpPr>
        <a:xfrm>
          <a:off x="0" y="0"/>
          <a:ext cx="0" cy="0"/>
          <a:chOff x="0" y="0"/>
          <a:chExt cx="0" cy="0"/>
        </a:xfrm>
      </p:grpSpPr>
      <p:sp>
        <p:nvSpPr>
          <p:cNvPr id="72" name="Google Shape;72;p10"/>
          <p:cNvSpPr txBox="1">
            <a:spLocks noGrp="1"/>
          </p:cNvSpPr>
          <p:nvPr>
            <p:ph type="body" idx="1"/>
          </p:nvPr>
        </p:nvSpPr>
        <p:spPr>
          <a:xfrm>
            <a:off x="4732559" y="1535885"/>
            <a:ext cx="4320000" cy="504000"/>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rgbClr val="38415C"/>
              </a:buClr>
              <a:buSzPts val="2400"/>
              <a:buNone/>
              <a:defRPr sz="1800" b="1">
                <a:solidFill>
                  <a:srgbClr val="38415C"/>
                </a:solidFill>
              </a:defRPr>
            </a:lvl1pPr>
            <a:lvl2pPr marL="685800" lvl="1" indent="-171450" algn="l">
              <a:lnSpc>
                <a:spcPct val="90000"/>
              </a:lnSpc>
              <a:spcBef>
                <a:spcPts val="375"/>
              </a:spcBef>
              <a:spcAft>
                <a:spcPts val="0"/>
              </a:spcAft>
              <a:buClr>
                <a:srgbClr val="38415C"/>
              </a:buClr>
              <a:buSzPts val="2000"/>
              <a:buNone/>
              <a:defRPr sz="1500" b="1"/>
            </a:lvl2pPr>
            <a:lvl3pPr marL="1028700" lvl="2" indent="-171450" algn="l">
              <a:lnSpc>
                <a:spcPct val="90000"/>
              </a:lnSpc>
              <a:spcBef>
                <a:spcPts val="375"/>
              </a:spcBef>
              <a:spcAft>
                <a:spcPts val="0"/>
              </a:spcAft>
              <a:buClr>
                <a:srgbClr val="38415C"/>
              </a:buClr>
              <a:buSzPts val="1800"/>
              <a:buNone/>
              <a:defRPr sz="1350" b="1"/>
            </a:lvl3pPr>
            <a:lvl4pPr marL="1371600" lvl="3" indent="-171450" algn="l">
              <a:lnSpc>
                <a:spcPct val="90000"/>
              </a:lnSpc>
              <a:spcBef>
                <a:spcPts val="375"/>
              </a:spcBef>
              <a:spcAft>
                <a:spcPts val="0"/>
              </a:spcAft>
              <a:buClr>
                <a:srgbClr val="38415C"/>
              </a:buClr>
              <a:buSzPts val="1600"/>
              <a:buNone/>
              <a:defRPr sz="1200" b="1"/>
            </a:lvl4pPr>
            <a:lvl5pPr marL="1714500" lvl="4" indent="-171450" algn="l">
              <a:lnSpc>
                <a:spcPct val="90000"/>
              </a:lnSpc>
              <a:spcBef>
                <a:spcPts val="375"/>
              </a:spcBef>
              <a:spcAft>
                <a:spcPts val="0"/>
              </a:spcAft>
              <a:buClr>
                <a:srgbClr val="38415C"/>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73" name="Google Shape;73;p10"/>
          <p:cNvSpPr txBox="1">
            <a:spLocks noGrp="1"/>
          </p:cNvSpPr>
          <p:nvPr>
            <p:ph type="body" idx="2"/>
          </p:nvPr>
        </p:nvSpPr>
        <p:spPr>
          <a:xfrm>
            <a:off x="4732559" y="2184437"/>
            <a:ext cx="4320000" cy="3932615"/>
          </a:xfrm>
          <a:prstGeom prst="rect">
            <a:avLst/>
          </a:prstGeom>
          <a:noFill/>
          <a:ln>
            <a:noFill/>
          </a:ln>
        </p:spPr>
        <p:txBody>
          <a:bodyPr spcFirstLastPara="1" wrap="square" lIns="91425" tIns="45700" rIns="91425" bIns="45700" anchor="t" anchorCtr="0">
            <a:normAutofit/>
          </a:bodyPr>
          <a:lstStyle>
            <a:lvl1pPr marL="342900" lvl="0" indent="-304800" algn="l">
              <a:lnSpc>
                <a:spcPct val="90000"/>
              </a:lnSpc>
              <a:spcBef>
                <a:spcPts val="750"/>
              </a:spcBef>
              <a:spcAft>
                <a:spcPts val="0"/>
              </a:spcAft>
              <a:buClr>
                <a:srgbClr val="38415C"/>
              </a:buClr>
              <a:buSzPts val="2800"/>
              <a:buChar char="•"/>
              <a:defRPr>
                <a:solidFill>
                  <a:srgbClr val="38415C"/>
                </a:solidFill>
              </a:defRPr>
            </a:lvl1pPr>
            <a:lvl2pPr marL="685800" lvl="1" indent="-285750" algn="l">
              <a:lnSpc>
                <a:spcPct val="90000"/>
              </a:lnSpc>
              <a:spcBef>
                <a:spcPts val="375"/>
              </a:spcBef>
              <a:spcAft>
                <a:spcPts val="0"/>
              </a:spcAft>
              <a:buClr>
                <a:srgbClr val="38415C"/>
              </a:buClr>
              <a:buSzPts val="2400"/>
              <a:buChar char="•"/>
              <a:defRPr>
                <a:solidFill>
                  <a:srgbClr val="38415C"/>
                </a:solidFill>
              </a:defRPr>
            </a:lvl2pPr>
            <a:lvl3pPr marL="1028700" lvl="2" indent="-266700" algn="l">
              <a:lnSpc>
                <a:spcPct val="90000"/>
              </a:lnSpc>
              <a:spcBef>
                <a:spcPts val="375"/>
              </a:spcBef>
              <a:spcAft>
                <a:spcPts val="0"/>
              </a:spcAft>
              <a:buClr>
                <a:srgbClr val="38415C"/>
              </a:buClr>
              <a:buSzPts val="2000"/>
              <a:buChar char="•"/>
              <a:defRPr>
                <a:solidFill>
                  <a:srgbClr val="38415C"/>
                </a:solidFill>
              </a:defRPr>
            </a:lvl3pPr>
            <a:lvl4pPr marL="1371600" lvl="3" indent="-257175" algn="l">
              <a:lnSpc>
                <a:spcPct val="90000"/>
              </a:lnSpc>
              <a:spcBef>
                <a:spcPts val="375"/>
              </a:spcBef>
              <a:spcAft>
                <a:spcPts val="0"/>
              </a:spcAft>
              <a:buClr>
                <a:srgbClr val="38415C"/>
              </a:buClr>
              <a:buSzPts val="1800"/>
              <a:buChar char="•"/>
              <a:defRPr>
                <a:solidFill>
                  <a:srgbClr val="38415C"/>
                </a:solidFill>
              </a:defRPr>
            </a:lvl4pPr>
            <a:lvl5pPr marL="1714500" lvl="4" indent="-257175" algn="l">
              <a:lnSpc>
                <a:spcPct val="90000"/>
              </a:lnSpc>
              <a:spcBef>
                <a:spcPts val="375"/>
              </a:spcBef>
              <a:spcAft>
                <a:spcPts val="0"/>
              </a:spcAft>
              <a:buClr>
                <a:srgbClr val="38415C"/>
              </a:buClr>
              <a:buSzPts val="1800"/>
              <a:buChar char="•"/>
              <a:defRPr>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4" name="Google Shape;74;p10"/>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5400"/>
              <a:buFont typeface="Fira Sans"/>
              <a:buNone/>
              <a:defRPr>
                <a:solidFill>
                  <a:srgbClr val="3841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 name="Google Shape;83;p11">
            <a:extLst>
              <a:ext uri="{FF2B5EF4-FFF2-40B4-BE49-F238E27FC236}">
                <a16:creationId xmlns:a16="http://schemas.microsoft.com/office/drawing/2014/main" id="{CA122395-EAF2-42E9-C7F2-8364D3F6D7B0}"/>
              </a:ext>
            </a:extLst>
          </p:cNvPr>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dirty="0"/>
          </a:p>
        </p:txBody>
      </p:sp>
      <p:sp>
        <p:nvSpPr>
          <p:cNvPr id="2" name="Google Shape;14;p1">
            <a:extLst>
              <a:ext uri="{FF2B5EF4-FFF2-40B4-BE49-F238E27FC236}">
                <a16:creationId xmlns:a16="http://schemas.microsoft.com/office/drawing/2014/main" id="{D26776D2-5810-E31D-735F-F5DCD913C9D8}"/>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inição">
  <p:cSld name="Definição">
    <p:spTree>
      <p:nvGrpSpPr>
        <p:cNvPr id="1" name="Shape 78"/>
        <p:cNvGrpSpPr/>
        <p:nvPr/>
      </p:nvGrpSpPr>
      <p:grpSpPr>
        <a:xfrm>
          <a:off x="0" y="0"/>
          <a:ext cx="0" cy="0"/>
          <a:chOff x="0" y="0"/>
          <a:chExt cx="0" cy="0"/>
        </a:xfrm>
      </p:grpSpPr>
      <p:sp>
        <p:nvSpPr>
          <p:cNvPr id="79" name="Google Shape;79;p11"/>
          <p:cNvSpPr txBox="1">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ctr" anchorCtr="0">
            <a:normAutofit/>
          </a:bodyPr>
          <a:lstStyle>
            <a:lvl1pPr marL="342900" lvl="0" indent="-171450" algn="ctr">
              <a:lnSpc>
                <a:spcPct val="100000"/>
              </a:lnSpc>
              <a:spcBef>
                <a:spcPts val="0"/>
              </a:spcBef>
              <a:spcAft>
                <a:spcPts val="0"/>
              </a:spcAft>
              <a:buClr>
                <a:srgbClr val="38415C"/>
              </a:buClr>
              <a:buSzPts val="4800"/>
              <a:buNone/>
              <a:defRPr sz="3600" b="1">
                <a:solidFill>
                  <a:srgbClr val="38415C"/>
                </a:solidFill>
              </a:defRPr>
            </a:lvl1pPr>
            <a:lvl2pPr marL="685800" lvl="1" indent="-171450" algn="ctr">
              <a:lnSpc>
                <a:spcPct val="100000"/>
              </a:lnSpc>
              <a:spcBef>
                <a:spcPts val="0"/>
              </a:spcBef>
              <a:spcAft>
                <a:spcPts val="0"/>
              </a:spcAft>
              <a:buClr>
                <a:srgbClr val="38415C"/>
              </a:buClr>
              <a:buSzPts val="3200"/>
              <a:buNone/>
              <a:defRPr sz="2400" b="0">
                <a:solidFill>
                  <a:srgbClr val="38415C"/>
                </a:solidFill>
              </a:defRPr>
            </a:lvl2pPr>
            <a:lvl3pPr marL="1028700" lvl="2" indent="-171450" algn="ctr">
              <a:lnSpc>
                <a:spcPct val="100000"/>
              </a:lnSpc>
              <a:spcBef>
                <a:spcPts val="0"/>
              </a:spcBef>
              <a:spcAft>
                <a:spcPts val="0"/>
              </a:spcAft>
              <a:buClr>
                <a:srgbClr val="38415C"/>
              </a:buClr>
              <a:buSzPts val="2800"/>
              <a:buNone/>
              <a:defRPr sz="2100" b="0">
                <a:solidFill>
                  <a:srgbClr val="38415C"/>
                </a:solidFill>
              </a:defRPr>
            </a:lvl3pPr>
            <a:lvl4pPr marL="1371600" lvl="3" indent="-171450" algn="ctr">
              <a:lnSpc>
                <a:spcPct val="100000"/>
              </a:lnSpc>
              <a:spcBef>
                <a:spcPts val="0"/>
              </a:spcBef>
              <a:spcAft>
                <a:spcPts val="0"/>
              </a:spcAft>
              <a:buClr>
                <a:srgbClr val="38415C"/>
              </a:buClr>
              <a:buSzPts val="2400"/>
              <a:buNone/>
              <a:defRPr sz="1800" b="0">
                <a:solidFill>
                  <a:srgbClr val="38415C"/>
                </a:solidFill>
              </a:defRPr>
            </a:lvl4pPr>
            <a:lvl5pPr marL="1714500" lvl="4" indent="-171450" algn="ctr">
              <a:lnSpc>
                <a:spcPct val="100000"/>
              </a:lnSpc>
              <a:spcBef>
                <a:spcPts val="0"/>
              </a:spcBef>
              <a:spcAft>
                <a:spcPts val="0"/>
              </a:spcAft>
              <a:buClr>
                <a:srgbClr val="38415C"/>
              </a:buClr>
              <a:buSzPts val="2400"/>
              <a:buNone/>
              <a:defRPr sz="1800" b="0">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0" name="Google Shape;80;p11"/>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 name="Google Shape;17;p1">
            <a:extLst>
              <a:ext uri="{FF2B5EF4-FFF2-40B4-BE49-F238E27FC236}">
                <a16:creationId xmlns:a16="http://schemas.microsoft.com/office/drawing/2014/main" id="{C780B7C7-BF3B-09ED-7D49-9212BC9FBF81}"/>
              </a:ext>
            </a:extLst>
          </p:cNvPr>
          <p:cNvSpPr txBox="1"/>
          <p:nvPr userDrawn="1"/>
        </p:nvSpPr>
        <p:spPr>
          <a:xfrm>
            <a:off x="8470669" y="6309681"/>
            <a:ext cx="555913" cy="482136"/>
          </a:xfrm>
          <a:prstGeom prst="rect">
            <a:avLst/>
          </a:prstGeom>
          <a:noFill/>
          <a:ln w="12700" cap="flat" cmpd="sng">
            <a:solidFill>
              <a:srgbClr val="38415C"/>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rtl="0">
              <a:spcBef>
                <a:spcPts val="0"/>
              </a:spcBef>
              <a:spcAft>
                <a:spcPts val="0"/>
              </a:spcAft>
              <a:buNone/>
            </a:pPr>
            <a:r>
              <a:rPr lang="pt-BR" sz="2100" b="1" i="0" u="none" strike="noStrike" cap="none" dirty="0">
                <a:solidFill>
                  <a:srgbClr val="EB976D"/>
                </a:solidFill>
                <a:latin typeface="Calibri"/>
                <a:ea typeface="Calibri"/>
                <a:cs typeface="Calibri"/>
                <a:sym typeface="Calibri"/>
              </a:rPr>
              <a:t>/23</a:t>
            </a:r>
            <a:endParaRPr sz="1050" dirty="0"/>
          </a:p>
        </p:txBody>
      </p:sp>
      <p:sp>
        <p:nvSpPr>
          <p:cNvPr id="83" name="Google Shape;83;p11"/>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2" name="Google Shape;14;p1">
            <a:extLst>
              <a:ext uri="{FF2B5EF4-FFF2-40B4-BE49-F238E27FC236}">
                <a16:creationId xmlns:a16="http://schemas.microsoft.com/office/drawing/2014/main" id="{F3444352-CC16-9B7A-EA21-52415543F83C}"/>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ista de Definições">
  <p:cSld name="Lista de Definições">
    <p:spTree>
      <p:nvGrpSpPr>
        <p:cNvPr id="1" name="Shape 84"/>
        <p:cNvGrpSpPr/>
        <p:nvPr/>
      </p:nvGrpSpPr>
      <p:grpSpPr>
        <a:xfrm>
          <a:off x="0" y="0"/>
          <a:ext cx="0" cy="0"/>
          <a:chOff x="0" y="0"/>
          <a:chExt cx="0" cy="0"/>
        </a:xfrm>
      </p:grpSpPr>
      <p:sp>
        <p:nvSpPr>
          <p:cNvPr id="85" name="Google Shape;85;p12"/>
          <p:cNvSpPr txBox="1">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rgbClr val="38415C"/>
              </a:buClr>
              <a:buSzPts val="3200"/>
              <a:buChar char="•"/>
              <a:defRPr sz="2400" b="1">
                <a:solidFill>
                  <a:srgbClr val="38415C"/>
                </a:solidFill>
              </a:defRPr>
            </a:lvl1pPr>
            <a:lvl2pPr marL="685800" lvl="1" indent="-304800" algn="l">
              <a:lnSpc>
                <a:spcPct val="90000"/>
              </a:lnSpc>
              <a:spcBef>
                <a:spcPts val="375"/>
              </a:spcBef>
              <a:spcAft>
                <a:spcPts val="0"/>
              </a:spcAft>
              <a:buClr>
                <a:srgbClr val="38415C"/>
              </a:buClr>
              <a:buSzPts val="2800"/>
              <a:buChar char="•"/>
              <a:defRPr sz="2100">
                <a:solidFill>
                  <a:srgbClr val="38415C"/>
                </a:solidFill>
              </a:defRPr>
            </a:lvl2pPr>
            <a:lvl3pPr marL="1028700" lvl="2" indent="-285750" algn="l">
              <a:lnSpc>
                <a:spcPct val="90000"/>
              </a:lnSpc>
              <a:spcBef>
                <a:spcPts val="375"/>
              </a:spcBef>
              <a:spcAft>
                <a:spcPts val="0"/>
              </a:spcAft>
              <a:buClr>
                <a:srgbClr val="38415C"/>
              </a:buClr>
              <a:buSzPts val="2400"/>
              <a:buChar char="•"/>
              <a:defRPr sz="1800">
                <a:solidFill>
                  <a:srgbClr val="38415C"/>
                </a:solidFill>
              </a:defRPr>
            </a:lvl3pPr>
            <a:lvl4pPr marL="1371600" lvl="3" indent="-266700" algn="l">
              <a:lnSpc>
                <a:spcPct val="90000"/>
              </a:lnSpc>
              <a:spcBef>
                <a:spcPts val="375"/>
              </a:spcBef>
              <a:spcAft>
                <a:spcPts val="0"/>
              </a:spcAft>
              <a:buClr>
                <a:srgbClr val="38415C"/>
              </a:buClr>
              <a:buSzPts val="2000"/>
              <a:buChar char="•"/>
              <a:defRPr sz="1500">
                <a:solidFill>
                  <a:srgbClr val="38415C"/>
                </a:solidFill>
              </a:defRPr>
            </a:lvl4pPr>
            <a:lvl5pPr marL="1714500" lvl="4" indent="-266700" algn="l">
              <a:lnSpc>
                <a:spcPct val="90000"/>
              </a:lnSpc>
              <a:spcBef>
                <a:spcPts val="375"/>
              </a:spcBef>
              <a:spcAft>
                <a:spcPts val="0"/>
              </a:spcAft>
              <a:buClr>
                <a:srgbClr val="38415C"/>
              </a:buClr>
              <a:buSzPts val="2000"/>
              <a:buChar char="•"/>
              <a:defRPr sz="1500">
                <a:solidFill>
                  <a:srgbClr val="38415C"/>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6" name="Google Shape;86;p12"/>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 name="Google Shape;83;p11">
            <a:extLst>
              <a:ext uri="{FF2B5EF4-FFF2-40B4-BE49-F238E27FC236}">
                <a16:creationId xmlns:a16="http://schemas.microsoft.com/office/drawing/2014/main" id="{23AA0777-A0AA-857E-E4DD-23723AA80730}"/>
              </a:ext>
            </a:extLst>
          </p:cNvPr>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2" name="Google Shape;14;p1">
            <a:extLst>
              <a:ext uri="{FF2B5EF4-FFF2-40B4-BE49-F238E27FC236}">
                <a16:creationId xmlns:a16="http://schemas.microsoft.com/office/drawing/2014/main" id="{65473137-DE2F-D128-33D3-97EDB891E424}"/>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8415C"/>
              </a:buClr>
              <a:buSzPts val="5400"/>
              <a:buFont typeface="Fira Sans"/>
              <a:buNone/>
              <a:defRPr>
                <a:solidFill>
                  <a:srgbClr val="3841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 name="Google Shape;83;p11">
            <a:extLst>
              <a:ext uri="{FF2B5EF4-FFF2-40B4-BE49-F238E27FC236}">
                <a16:creationId xmlns:a16="http://schemas.microsoft.com/office/drawing/2014/main" id="{112471AE-902F-88F5-FB83-1C4E1D519B05}"/>
              </a:ext>
            </a:extLst>
          </p:cNvPr>
          <p:cNvSpPr txBox="1">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pt-BR" smtClean="0"/>
              <a:pPr/>
              <a:t>‹#›</a:t>
            </a:fld>
            <a:endParaRPr lang="pt-BR" sz="2400"/>
          </a:p>
        </p:txBody>
      </p:sp>
      <p:sp>
        <p:nvSpPr>
          <p:cNvPr id="2" name="Google Shape;14;p1">
            <a:extLst>
              <a:ext uri="{FF2B5EF4-FFF2-40B4-BE49-F238E27FC236}">
                <a16:creationId xmlns:a16="http://schemas.microsoft.com/office/drawing/2014/main" id="{B444778C-DB80-B9D3-95AF-D725783107DE}"/>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5" name="Google Shape;15;p1">
            <a:extLst>
              <a:ext uri="{FF2B5EF4-FFF2-40B4-BE49-F238E27FC236}">
                <a16:creationId xmlns:a16="http://schemas.microsoft.com/office/drawing/2014/main" id="{62DC56A7-0483-871C-AAB8-9B1C94E3007F}"/>
              </a:ext>
            </a:extLst>
          </p:cNvPr>
          <p:cNvSpPr txBox="1">
            <a:spLocks/>
          </p:cNvSpPr>
          <p:nvPr userDrawn="1"/>
        </p:nvSpPr>
        <p:spPr>
          <a:xfrm>
            <a:off x="6295851" y="6368186"/>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Font typeface="Arial"/>
              <a:buNone/>
              <a:defRPr sz="5400" b="1" i="0" u="none" strike="noStrike" cap="none">
                <a:solidFill>
                  <a:srgbClr val="EB976D"/>
                </a:solidFill>
                <a:latin typeface="Fira Sans"/>
                <a:ea typeface="Fira Sans"/>
                <a:cs typeface="Fira Sans"/>
                <a:sym typeface="Fira Sans"/>
              </a:defRPr>
            </a:lvl9pPr>
          </a:lstStyle>
          <a:p>
            <a:fld id="{46B270FB-0C54-A54F-867B-58A7B95C958C}" type="slidenum">
              <a:rPr lang="pt-BR" smtClean="0"/>
              <a:pPr/>
              <a:t>‹#›</a:t>
            </a:fld>
            <a:endParaRPr lang="pt-BR" sz="2400" dirty="0"/>
          </a:p>
        </p:txBody>
      </p:sp>
      <p:sp>
        <p:nvSpPr>
          <p:cNvPr id="7" name="Google Shape;14;p1">
            <a:extLst>
              <a:ext uri="{FF2B5EF4-FFF2-40B4-BE49-F238E27FC236}">
                <a16:creationId xmlns:a16="http://schemas.microsoft.com/office/drawing/2014/main" id="{7B6F8A51-ABB8-F6B2-9E1F-C7BED53D7466}"/>
              </a:ext>
            </a:extLst>
          </p:cNvPr>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Full_Blank">
  <p:cSld name="Full_Blank">
    <p:spTree>
      <p:nvGrpSpPr>
        <p:cNvPr id="1" name="Shape 99"/>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Logo50">
  <p:cSld name="Logo50">
    <p:spTree>
      <p:nvGrpSpPr>
        <p:cNvPr id="1" name="Shape 100"/>
        <p:cNvGrpSpPr/>
        <p:nvPr/>
      </p:nvGrpSpPr>
      <p:grpSpPr>
        <a:xfrm>
          <a:off x="0" y="0"/>
          <a:ext cx="0" cy="0"/>
          <a:chOff x="0" y="0"/>
          <a:chExt cx="0" cy="0"/>
        </a:xfrm>
      </p:grpSpPr>
      <p:pic>
        <p:nvPicPr>
          <p:cNvPr id="101" name="Google Shape;101;p16"/>
          <p:cNvPicPr preferRelativeResize="0"/>
          <p:nvPr/>
        </p:nvPicPr>
        <p:blipFill rotWithShape="1">
          <a:blip r:embed="rId2">
            <a:alphaModFix/>
          </a:blip>
          <a:srcRect/>
          <a:stretch/>
        </p:blipFill>
        <p:spPr>
          <a:xfrm>
            <a:off x="1228725" y="52388"/>
            <a:ext cx="6686550" cy="67532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6211798"/>
            <a:ext cx="9144000" cy="646203"/>
          </a:xfrm>
          <a:prstGeom prst="rect">
            <a:avLst/>
          </a:prstGeom>
          <a:solidFill>
            <a:srgbClr val="38415C"/>
          </a:solidFill>
          <a:ln w="12700" cap="flat" cmpd="sng">
            <a:solidFill>
              <a:srgbClr val="38415C"/>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1" name="Google Shape;11;p1"/>
          <p:cNvSpPr txBox="1">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8415C"/>
              </a:buClr>
              <a:buSzPts val="5400"/>
              <a:buFont typeface="Fira Sans"/>
              <a:buNone/>
              <a:defRPr sz="5400" b="1" i="0" u="none" strike="noStrike" cap="none">
                <a:solidFill>
                  <a:srgbClr val="38415C"/>
                </a:solidFill>
                <a:latin typeface="Fira Sans"/>
                <a:ea typeface="Fira Sans"/>
                <a:cs typeface="Fira Sans"/>
                <a:sym typeface="Fir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38415C"/>
              </a:buClr>
              <a:buSzPts val="2800"/>
              <a:buFont typeface="Arial"/>
              <a:buChar char="•"/>
              <a:defRPr sz="2800" b="0" i="0" u="none" strike="noStrike" cap="none">
                <a:solidFill>
                  <a:srgbClr val="38415C"/>
                </a:solidFill>
                <a:latin typeface="Fira Sans"/>
                <a:ea typeface="Fira Sans"/>
                <a:cs typeface="Fira Sans"/>
                <a:sym typeface="Fira Sans"/>
              </a:defRPr>
            </a:lvl1pPr>
            <a:lvl2pPr marL="914400" marR="0" lvl="1" indent="-381000" algn="l" rtl="0">
              <a:lnSpc>
                <a:spcPct val="90000"/>
              </a:lnSpc>
              <a:spcBef>
                <a:spcPts val="500"/>
              </a:spcBef>
              <a:spcAft>
                <a:spcPts val="0"/>
              </a:spcAft>
              <a:buClr>
                <a:srgbClr val="38415C"/>
              </a:buClr>
              <a:buSzPts val="2400"/>
              <a:buFont typeface="Arial"/>
              <a:buChar char="•"/>
              <a:defRPr sz="2400" b="0" i="0" u="none" strike="noStrike" cap="none">
                <a:solidFill>
                  <a:srgbClr val="38415C"/>
                </a:solidFill>
                <a:latin typeface="Fira Sans"/>
                <a:ea typeface="Fira Sans"/>
                <a:cs typeface="Fira Sans"/>
                <a:sym typeface="Fira Sans"/>
              </a:defRPr>
            </a:lvl2pPr>
            <a:lvl3pPr marL="1371600" marR="0" lvl="2" indent="-355600" algn="l" rtl="0">
              <a:lnSpc>
                <a:spcPct val="90000"/>
              </a:lnSpc>
              <a:spcBef>
                <a:spcPts val="500"/>
              </a:spcBef>
              <a:spcAft>
                <a:spcPts val="0"/>
              </a:spcAft>
              <a:buClr>
                <a:srgbClr val="38415C"/>
              </a:buClr>
              <a:buSzPts val="2000"/>
              <a:buFont typeface="Arial"/>
              <a:buChar char="•"/>
              <a:defRPr sz="2000" b="0" i="0" u="none" strike="noStrike" cap="none">
                <a:solidFill>
                  <a:srgbClr val="38415C"/>
                </a:solidFill>
                <a:latin typeface="Fira Sans"/>
                <a:ea typeface="Fira Sans"/>
                <a:cs typeface="Fira Sans"/>
                <a:sym typeface="Fira Sans"/>
              </a:defRPr>
            </a:lvl3pPr>
            <a:lvl4pPr marL="1828800" marR="0" lvl="3" indent="-342900" algn="l" rtl="0">
              <a:lnSpc>
                <a:spcPct val="90000"/>
              </a:lnSpc>
              <a:spcBef>
                <a:spcPts val="500"/>
              </a:spcBef>
              <a:spcAft>
                <a:spcPts val="0"/>
              </a:spcAft>
              <a:buClr>
                <a:srgbClr val="38415C"/>
              </a:buClr>
              <a:buSzPts val="1800"/>
              <a:buFont typeface="Arial"/>
              <a:buChar char="•"/>
              <a:defRPr sz="1800" b="0" i="0" u="none" strike="noStrike" cap="none">
                <a:solidFill>
                  <a:srgbClr val="38415C"/>
                </a:solidFill>
                <a:latin typeface="Fira Sans"/>
                <a:ea typeface="Fira Sans"/>
                <a:cs typeface="Fira Sans"/>
                <a:sym typeface="Fira Sans"/>
              </a:defRPr>
            </a:lvl4pPr>
            <a:lvl5pPr marL="2286000" marR="0" lvl="4" indent="-342900" algn="l" rtl="0">
              <a:lnSpc>
                <a:spcPct val="90000"/>
              </a:lnSpc>
              <a:spcBef>
                <a:spcPts val="500"/>
              </a:spcBef>
              <a:spcAft>
                <a:spcPts val="0"/>
              </a:spcAft>
              <a:buClr>
                <a:srgbClr val="38415C"/>
              </a:buClr>
              <a:buSzPts val="1800"/>
              <a:buFont typeface="Arial"/>
              <a:buChar char="•"/>
              <a:defRPr sz="1800" b="0" i="0" u="none" strike="noStrike" cap="none">
                <a:solidFill>
                  <a:srgbClr val="38415C"/>
                </a:solidFill>
                <a:latin typeface="Fira Sans"/>
                <a:ea typeface="Fira Sans"/>
                <a:cs typeface="Fira Sans"/>
                <a:sym typeface="Fira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pic>
        <p:nvPicPr>
          <p:cNvPr id="16" name="Google Shape;16;p1" descr="A picture containing orange, light  Description automatically generated"/>
          <p:cNvPicPr preferRelativeResize="0"/>
          <p:nvPr/>
        </p:nvPicPr>
        <p:blipFill rotWithShape="1">
          <a:blip r:embed="rId15">
            <a:alphaModFix/>
          </a:blip>
          <a:srcRect/>
          <a:stretch/>
        </p:blipFill>
        <p:spPr>
          <a:xfrm>
            <a:off x="117418" y="91016"/>
            <a:ext cx="775161" cy="1324688"/>
          </a:xfrm>
          <a:prstGeom prst="rect">
            <a:avLst/>
          </a:prstGeom>
          <a:noFill/>
          <a:ln>
            <a:noFill/>
          </a:ln>
        </p:spPr>
      </p:pic>
      <p:sp>
        <p:nvSpPr>
          <p:cNvPr id="17" name="Google Shape;17;p1"/>
          <p:cNvSpPr txBox="1"/>
          <p:nvPr/>
        </p:nvSpPr>
        <p:spPr>
          <a:xfrm>
            <a:off x="8470669" y="6309681"/>
            <a:ext cx="555913" cy="482136"/>
          </a:xfrm>
          <a:prstGeom prst="rect">
            <a:avLst/>
          </a:prstGeom>
          <a:noFill/>
          <a:ln w="12700" cap="flat" cmpd="sng">
            <a:solidFill>
              <a:srgbClr val="38415C"/>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rtl="0">
              <a:spcBef>
                <a:spcPts val="0"/>
              </a:spcBef>
              <a:spcAft>
                <a:spcPts val="0"/>
              </a:spcAft>
              <a:buNone/>
            </a:pPr>
            <a:r>
              <a:rPr lang="pt-BR" sz="2100" b="1" i="0" u="none" strike="noStrike" cap="none">
                <a:solidFill>
                  <a:srgbClr val="EB976D"/>
                </a:solidFill>
                <a:latin typeface="Calibri"/>
                <a:ea typeface="Calibri"/>
                <a:cs typeface="Calibri"/>
                <a:sym typeface="Calibri"/>
              </a:rPr>
              <a:t>/23</a:t>
            </a:r>
            <a:endParaRPr sz="1050" dirty="0"/>
          </a:p>
        </p:txBody>
      </p:sp>
      <p:sp>
        <p:nvSpPr>
          <p:cNvPr id="15" name="Google Shape;15;p1"/>
          <p:cNvSpPr txBox="1">
            <a:spLocks noGrp="1"/>
          </p:cNvSpPr>
          <p:nvPr>
            <p:ph type="sldNum" idx="12"/>
          </p:nvPr>
        </p:nvSpPr>
        <p:spPr>
          <a:xfrm>
            <a:off x="6295851" y="6368186"/>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400" b="1" i="0" u="none" strike="noStrike" cap="none">
                <a:solidFill>
                  <a:srgbClr val="EB976D"/>
                </a:solidFill>
                <a:latin typeface="Fira Sans"/>
                <a:ea typeface="Fira Sans"/>
                <a:cs typeface="Fira Sans"/>
                <a:sym typeface="Fira Sans"/>
              </a:defRPr>
            </a:lvl1pPr>
            <a:lvl2pPr marL="0" marR="0" lvl="1" indent="0" algn="r" rtl="0">
              <a:spcBef>
                <a:spcPts val="0"/>
              </a:spcBef>
              <a:buNone/>
              <a:defRPr sz="5400" b="1" i="0" u="none" strike="noStrike" cap="none">
                <a:solidFill>
                  <a:srgbClr val="EB976D"/>
                </a:solidFill>
                <a:latin typeface="Fira Sans"/>
                <a:ea typeface="Fira Sans"/>
                <a:cs typeface="Fira Sans"/>
                <a:sym typeface="Fira Sans"/>
              </a:defRPr>
            </a:lvl2pPr>
            <a:lvl3pPr marL="0" marR="0" lvl="2" indent="0" algn="r" rtl="0">
              <a:spcBef>
                <a:spcPts val="0"/>
              </a:spcBef>
              <a:buNone/>
              <a:defRPr sz="5400" b="1" i="0" u="none" strike="noStrike" cap="none">
                <a:solidFill>
                  <a:srgbClr val="EB976D"/>
                </a:solidFill>
                <a:latin typeface="Fira Sans"/>
                <a:ea typeface="Fira Sans"/>
                <a:cs typeface="Fira Sans"/>
                <a:sym typeface="Fira Sans"/>
              </a:defRPr>
            </a:lvl3pPr>
            <a:lvl4pPr marL="0" marR="0" lvl="3" indent="0" algn="r" rtl="0">
              <a:spcBef>
                <a:spcPts val="0"/>
              </a:spcBef>
              <a:buNone/>
              <a:defRPr sz="5400" b="1" i="0" u="none" strike="noStrike" cap="none">
                <a:solidFill>
                  <a:srgbClr val="EB976D"/>
                </a:solidFill>
                <a:latin typeface="Fira Sans"/>
                <a:ea typeface="Fira Sans"/>
                <a:cs typeface="Fira Sans"/>
                <a:sym typeface="Fira Sans"/>
              </a:defRPr>
            </a:lvl4pPr>
            <a:lvl5pPr marL="0" marR="0" lvl="4" indent="0" algn="r" rtl="0">
              <a:spcBef>
                <a:spcPts val="0"/>
              </a:spcBef>
              <a:buNone/>
              <a:defRPr sz="5400" b="1" i="0" u="none" strike="noStrike" cap="none">
                <a:solidFill>
                  <a:srgbClr val="EB976D"/>
                </a:solidFill>
                <a:latin typeface="Fira Sans"/>
                <a:ea typeface="Fira Sans"/>
                <a:cs typeface="Fira Sans"/>
                <a:sym typeface="Fira Sans"/>
              </a:defRPr>
            </a:lvl5pPr>
            <a:lvl6pPr marL="0" marR="0" lvl="5" indent="0" algn="r" rtl="0">
              <a:spcBef>
                <a:spcPts val="0"/>
              </a:spcBef>
              <a:buNone/>
              <a:defRPr sz="5400" b="1" i="0" u="none" strike="noStrike" cap="none">
                <a:solidFill>
                  <a:srgbClr val="EB976D"/>
                </a:solidFill>
                <a:latin typeface="Fira Sans"/>
                <a:ea typeface="Fira Sans"/>
                <a:cs typeface="Fira Sans"/>
                <a:sym typeface="Fira Sans"/>
              </a:defRPr>
            </a:lvl6pPr>
            <a:lvl7pPr marL="0" marR="0" lvl="6" indent="0" algn="r" rtl="0">
              <a:spcBef>
                <a:spcPts val="0"/>
              </a:spcBef>
              <a:buNone/>
              <a:defRPr sz="5400" b="1" i="0" u="none" strike="noStrike" cap="none">
                <a:solidFill>
                  <a:srgbClr val="EB976D"/>
                </a:solidFill>
                <a:latin typeface="Fira Sans"/>
                <a:ea typeface="Fira Sans"/>
                <a:cs typeface="Fira Sans"/>
                <a:sym typeface="Fira Sans"/>
              </a:defRPr>
            </a:lvl7pPr>
            <a:lvl8pPr marL="0" marR="0" lvl="7" indent="0" algn="r" rtl="0">
              <a:spcBef>
                <a:spcPts val="0"/>
              </a:spcBef>
              <a:buNone/>
              <a:defRPr sz="5400" b="1" i="0" u="none" strike="noStrike" cap="none">
                <a:solidFill>
                  <a:srgbClr val="EB976D"/>
                </a:solidFill>
                <a:latin typeface="Fira Sans"/>
                <a:ea typeface="Fira Sans"/>
                <a:cs typeface="Fira Sans"/>
                <a:sym typeface="Fira Sans"/>
              </a:defRPr>
            </a:lvl8pPr>
            <a:lvl9pPr marL="0" marR="0" lvl="8" indent="0" algn="r" rtl="0">
              <a:spcBef>
                <a:spcPts val="0"/>
              </a:spcBef>
              <a:buNone/>
              <a:defRPr sz="5400" b="1" i="0" u="none" strike="noStrike" cap="none">
                <a:solidFill>
                  <a:srgbClr val="EB976D"/>
                </a:solidFill>
                <a:latin typeface="Fira Sans"/>
                <a:ea typeface="Fira Sans"/>
                <a:cs typeface="Fira Sans"/>
                <a:sym typeface="Fira Sans"/>
              </a:defRPr>
            </a:lvl9pPr>
          </a:lstStyle>
          <a:p>
            <a:fld id="{00000000-1234-1234-1234-123412341234}" type="slidenum">
              <a:rPr lang="en-BR" smtClean="0"/>
              <a:pPr/>
              <a:t>‹#›</a:t>
            </a:fld>
            <a:endParaRPr lang="pt-BR" sz="2400" dirty="0"/>
          </a:p>
        </p:txBody>
      </p:sp>
      <p:sp>
        <p:nvSpPr>
          <p:cNvPr id="2" name="Google Shape;13;p1">
            <a:extLst>
              <a:ext uri="{FF2B5EF4-FFF2-40B4-BE49-F238E27FC236}">
                <a16:creationId xmlns:a16="http://schemas.microsoft.com/office/drawing/2014/main" id="{E0933F68-5D77-CD1F-6994-22DF803D7A60}"/>
              </a:ext>
            </a:extLst>
          </p:cNvPr>
          <p:cNvSpPr txBox="1">
            <a:spLocks/>
          </p:cNvSpPr>
          <p:nvPr userDrawn="1"/>
        </p:nvSpPr>
        <p:spPr>
          <a:xfrm>
            <a:off x="172583" y="6368185"/>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rgbClr val="EB976D"/>
                </a:solidFill>
                <a:latin typeface="Fira Sans"/>
                <a:ea typeface="Fira Sans"/>
                <a:cs typeface="Fira Sans"/>
                <a:sym typeface="Fira Sans"/>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9pPr>
          </a:lstStyle>
          <a:p>
            <a:r>
              <a:rPr lang="pt-BR" dirty="0"/>
              <a:t>João Pedro Barbosa Martins</a:t>
            </a:r>
            <a:br>
              <a:rPr lang="pt-BR" dirty="0"/>
            </a:br>
            <a:r>
              <a:rPr lang="pt-BR" dirty="0" err="1"/>
              <a:t>joaopedro@cos.ufrj.br</a:t>
            </a:r>
            <a:endParaRPr lang="pt-BR" dirty="0"/>
          </a:p>
        </p:txBody>
      </p:sp>
      <p:sp>
        <p:nvSpPr>
          <p:cNvPr id="14" name="Google Shape;14;p1"/>
          <p:cNvSpPr txBox="1">
            <a:spLocks noGrp="1"/>
          </p:cNvSpPr>
          <p:nvPr>
            <p:ph type="ftr" idx="11"/>
          </p:nvPr>
        </p:nvSpPr>
        <p:spPr>
          <a:xfrm>
            <a:off x="2778576" y="6368186"/>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lang="en-US" sz="900" b="0" i="0" u="none" strike="noStrike" cap="none" dirty="0" smtClean="0">
                <a:solidFill>
                  <a:srgbClr val="EB976D"/>
                </a:solidFill>
                <a:latin typeface="Fira Sans"/>
                <a:ea typeface="Fira Sans"/>
                <a:cs typeface="Fira Sans"/>
                <a:sym typeface="Fira Sans"/>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dirty="0"/>
              <a:t>Retrofit do Modelo 3M de </a:t>
            </a:r>
            <a:r>
              <a:rPr lang="en-US" dirty="0" err="1"/>
              <a:t>Universidade</a:t>
            </a:r>
            <a:r>
              <a:rPr lang="en-US" dirty="0"/>
              <a:t> </a:t>
            </a:r>
            <a:r>
              <a:rPr lang="en-US" dirty="0" err="1"/>
              <a:t>Corporativa</a:t>
            </a:r>
            <a:r>
              <a:rPr lang="en-US" dirty="0"/>
              <a:t> à Luz da </a:t>
            </a:r>
            <a:r>
              <a:rPr lang="en-US" dirty="0" err="1"/>
              <a:t>Inteligência</a:t>
            </a:r>
            <a:r>
              <a:rPr lang="en-US" dirty="0"/>
              <a:t> Artificial</a:t>
            </a: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00" b="0" i="0" u="none" strike="noStrike" cap="none" dirty="0">
          <a:solidFill>
            <a:srgbClr val="EB976D"/>
          </a:solidFill>
          <a:latin typeface="Fira Sans"/>
          <a:ea typeface="Fira Sans"/>
          <a:cs typeface="Arial"/>
          <a:sym typeface="Fira Sans"/>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2600" b="1" dirty="0">
                <a:solidFill>
                  <a:srgbClr val="38415C"/>
                </a:solidFill>
                <a:latin typeface="Arial"/>
              </a:rPr>
              <a:t>Retrofit do Modelo 3M de </a:t>
            </a:r>
            <a:r>
              <a:rPr sz="2600" b="1" dirty="0" err="1">
                <a:solidFill>
                  <a:srgbClr val="38415C"/>
                </a:solidFill>
                <a:latin typeface="Arial"/>
              </a:rPr>
              <a:t>Universidade</a:t>
            </a:r>
            <a:r>
              <a:rPr sz="2600" b="1" dirty="0">
                <a:solidFill>
                  <a:srgbClr val="38415C"/>
                </a:solidFill>
                <a:latin typeface="Arial"/>
              </a:rPr>
              <a:t> </a:t>
            </a:r>
            <a:r>
              <a:rPr sz="2600" b="1" dirty="0" err="1">
                <a:solidFill>
                  <a:srgbClr val="38415C"/>
                </a:solidFill>
                <a:latin typeface="Arial"/>
              </a:rPr>
              <a:t>Corporativa</a:t>
            </a:r>
            <a:r>
              <a:rPr sz="2600" b="1" dirty="0">
                <a:solidFill>
                  <a:srgbClr val="38415C"/>
                </a:solidFill>
                <a:latin typeface="Arial"/>
              </a:rPr>
              <a:t> à Luz da </a:t>
            </a:r>
            <a:r>
              <a:rPr sz="2600" b="1" dirty="0" err="1">
                <a:solidFill>
                  <a:srgbClr val="38415C"/>
                </a:solidFill>
                <a:latin typeface="Arial"/>
              </a:rPr>
              <a:t>Inteligência</a:t>
            </a:r>
            <a:r>
              <a:rPr sz="2600" b="1" dirty="0">
                <a:solidFill>
                  <a:srgbClr val="38415C"/>
                </a:solidFill>
                <a:latin typeface="Arial"/>
              </a:rPr>
              <a:t> Artificial</a:t>
            </a:r>
          </a:p>
        </p:txBody>
      </p:sp>
      <p:sp>
        <p:nvSpPr>
          <p:cNvPr id="3" name="Subtitle 2"/>
          <p:cNvSpPr>
            <a:spLocks noGrp="1"/>
          </p:cNvSpPr>
          <p:nvPr>
            <p:ph type="subTitle" idx="1"/>
          </p:nvPr>
        </p:nvSpPr>
        <p:spPr/>
        <p:txBody>
          <a:bodyPr>
            <a:normAutofit fontScale="92500" lnSpcReduction="20000"/>
          </a:bodyPr>
          <a:lstStyle/>
          <a:p>
            <a:pPr algn="l">
              <a:spcBef>
                <a:spcPts val="0"/>
              </a:spcBef>
              <a:spcAft>
                <a:spcPts val="0"/>
              </a:spcAft>
              <a:buNone/>
            </a:pPr>
            <a:r>
              <a:rPr sz="1400" b="0" i="0">
                <a:solidFill>
                  <a:srgbClr val="38415C"/>
                </a:solidFill>
                <a:latin typeface="Arial"/>
              </a:rPr>
              <a:t>Apresentação Final — CPS831 · Gestão Aumentada do Conhecimento 5.0</a:t>
            </a:r>
          </a:p>
          <a:p>
            <a:pPr algn="l">
              <a:spcBef>
                <a:spcPts val="1000"/>
              </a:spcBef>
              <a:spcAft>
                <a:spcPts val="0"/>
              </a:spcAft>
              <a:buNone/>
            </a:pPr>
            <a:r>
              <a:rPr sz="1300" b="1" i="0">
                <a:solidFill>
                  <a:srgbClr val="38415C"/>
                </a:solidFill>
                <a:latin typeface="Arial"/>
              </a:rPr>
              <a:t>João Pedro Barbosa Martins</a:t>
            </a:r>
          </a:p>
          <a:p>
            <a:pPr algn="l">
              <a:spcBef>
                <a:spcPts val="200"/>
              </a:spcBef>
              <a:spcAft>
                <a:spcPts val="0"/>
              </a:spcAft>
              <a:buNone/>
            </a:pPr>
            <a:r>
              <a:rPr sz="1200" b="0" i="1">
                <a:solidFill>
                  <a:srgbClr val="8C8C96"/>
                </a:solidFill>
                <a:latin typeface="Arial"/>
              </a:rPr>
              <a:t>Orientadoras: Viviane Cunha Farias da Costa · Emily Lopes</a:t>
            </a:r>
          </a:p>
          <a:p>
            <a:pPr algn="l">
              <a:spcBef>
                <a:spcPts val="1000"/>
              </a:spcBef>
              <a:spcAft>
                <a:spcPts val="0"/>
              </a:spcAft>
              <a:buNone/>
            </a:pPr>
            <a:r>
              <a:rPr sz="1100" b="0" i="0">
                <a:solidFill>
                  <a:srgbClr val="8C8C96"/>
                </a:solidFill>
                <a:latin typeface="Arial"/>
              </a:rPr>
              <a:t>PESC / COPPE-UFRJ · Junho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Agenda</a:t>
            </a:r>
          </a:p>
        </p:txBody>
      </p:sp>
      <p:sp>
        <p:nvSpPr>
          <p:cNvPr id="4" name="TextBox 3"/>
          <p:cNvSpPr txBox="1"/>
          <p:nvPr/>
        </p:nvSpPr>
        <p:spPr>
          <a:xfrm>
            <a:off x="640080" y="1737360"/>
            <a:ext cx="7863840" cy="3749039"/>
          </a:xfrm>
          <a:prstGeom prst="rect">
            <a:avLst/>
          </a:prstGeom>
          <a:noFill/>
        </p:spPr>
        <p:txBody>
          <a:bodyPr wrap="square" lIns="45720" tIns="27432" rIns="45720" bIns="27432" anchor="t">
            <a:spAutoFit/>
          </a:bodyPr>
          <a:lstStyle/>
          <a:p>
            <a:pPr algn="l">
              <a:spcBef>
                <a:spcPts val="0"/>
              </a:spcBef>
              <a:spcAft>
                <a:spcPts val="0"/>
              </a:spcAft>
              <a:buNone/>
            </a:pPr>
            <a:r>
              <a:rPr sz="1800" b="1" i="0">
                <a:solidFill>
                  <a:srgbClr val="EB976D"/>
                </a:solidFill>
                <a:latin typeface="Arial"/>
              </a:rPr>
              <a:t>1. Contexto  —  </a:t>
            </a:r>
            <a:r>
              <a:rPr sz="1800" b="0" i="0">
                <a:solidFill>
                  <a:srgbClr val="38415C"/>
                </a:solidFill>
                <a:latin typeface="Arial"/>
              </a:rPr>
              <a:t>Universidades Corporativas e o Modelo 3M</a:t>
            </a:r>
          </a:p>
          <a:p>
            <a:pPr algn="l">
              <a:spcBef>
                <a:spcPts val="2300"/>
              </a:spcBef>
              <a:spcAft>
                <a:spcPts val="0"/>
              </a:spcAft>
              <a:buNone/>
            </a:pPr>
            <a:r>
              <a:rPr sz="1800" b="1" i="0">
                <a:solidFill>
                  <a:srgbClr val="EB976D"/>
                </a:solidFill>
                <a:latin typeface="Arial"/>
              </a:rPr>
              <a:t>2. O problema  —  </a:t>
            </a:r>
            <a:r>
              <a:rPr sz="1800" b="0" i="0">
                <a:solidFill>
                  <a:srgbClr val="38415C"/>
                </a:solidFill>
                <a:latin typeface="Arial"/>
              </a:rPr>
              <a:t>19 modelos de UC — nenhum integra IA agêntica</a:t>
            </a:r>
          </a:p>
          <a:p>
            <a:pPr algn="l">
              <a:spcBef>
                <a:spcPts val="2300"/>
              </a:spcBef>
              <a:spcAft>
                <a:spcPts val="0"/>
              </a:spcAft>
              <a:buNone/>
            </a:pPr>
            <a:r>
              <a:rPr sz="1800" b="1" i="0">
                <a:solidFill>
                  <a:srgbClr val="EB976D"/>
                </a:solidFill>
                <a:latin typeface="Arial"/>
              </a:rPr>
              <a:t>3. Referencial  —  </a:t>
            </a:r>
            <a:r>
              <a:rPr sz="1800" b="0" i="0">
                <a:solidFill>
                  <a:srgbClr val="38415C"/>
                </a:solidFill>
                <a:latin typeface="Arial"/>
              </a:rPr>
              <a:t>GC e IA Generativa, aprendizagem no fluxo, agência, governança</a:t>
            </a:r>
          </a:p>
          <a:p>
            <a:pPr algn="l">
              <a:spcBef>
                <a:spcPts val="2300"/>
              </a:spcBef>
              <a:spcAft>
                <a:spcPts val="0"/>
              </a:spcAft>
              <a:buNone/>
            </a:pPr>
            <a:r>
              <a:rPr sz="1800" b="1" i="0">
                <a:solidFill>
                  <a:srgbClr val="EB976D"/>
                </a:solidFill>
                <a:latin typeface="Arial"/>
              </a:rPr>
              <a:t>4. Metodologia  —  </a:t>
            </a:r>
            <a:r>
              <a:rPr sz="1800" b="0" i="0">
                <a:solidFill>
                  <a:srgbClr val="38415C"/>
                </a:solidFill>
                <a:latin typeface="Arial"/>
              </a:rPr>
              <a:t>abordagem conceitual-construtiva + pipeline SLR-RAG</a:t>
            </a:r>
          </a:p>
          <a:p>
            <a:pPr algn="l">
              <a:spcBef>
                <a:spcPts val="2300"/>
              </a:spcBef>
              <a:spcAft>
                <a:spcPts val="0"/>
              </a:spcAft>
              <a:buNone/>
            </a:pPr>
            <a:r>
              <a:rPr sz="1800" b="1" i="0">
                <a:solidFill>
                  <a:srgbClr val="EB976D"/>
                </a:solidFill>
                <a:latin typeface="Arial"/>
              </a:rPr>
              <a:t>5. Proposta  —  </a:t>
            </a:r>
            <a:r>
              <a:rPr sz="1800" b="0" i="0">
                <a:solidFill>
                  <a:srgbClr val="38415C"/>
                </a:solidFill>
                <a:latin typeface="Arial"/>
              </a:rPr>
              <a:t>Modelo 3M 5.0 — Motive, Model e Moment reinterpretados</a:t>
            </a:r>
          </a:p>
          <a:p>
            <a:pPr algn="l">
              <a:spcBef>
                <a:spcPts val="2300"/>
              </a:spcBef>
              <a:spcAft>
                <a:spcPts val="0"/>
              </a:spcAft>
              <a:buNone/>
            </a:pPr>
            <a:r>
              <a:rPr sz="1800" b="1" i="0">
                <a:solidFill>
                  <a:srgbClr val="EB976D"/>
                </a:solidFill>
                <a:latin typeface="Arial"/>
              </a:rPr>
              <a:t>6. Análise  —  </a:t>
            </a:r>
            <a:r>
              <a:rPr sz="1800" b="0" i="0">
                <a:solidFill>
                  <a:srgbClr val="38415C"/>
                </a:solidFill>
                <a:latin typeface="Arial"/>
              </a:rPr>
              <a:t>cobertura conceitual em 5 dimensões vs. modelos clássicos</a:t>
            </a:r>
          </a:p>
          <a:p>
            <a:pPr algn="l">
              <a:spcBef>
                <a:spcPts val="2300"/>
              </a:spcBef>
              <a:spcAft>
                <a:spcPts val="0"/>
              </a:spcAft>
              <a:buNone/>
            </a:pPr>
            <a:r>
              <a:rPr sz="1800" b="1" i="0">
                <a:solidFill>
                  <a:srgbClr val="EB976D"/>
                </a:solidFill>
                <a:latin typeface="Arial"/>
              </a:rPr>
              <a:t>7. Discussão, limitações e conclusão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Contexto: Universidades Corporativas e o Modelo 3M</a:t>
            </a:r>
          </a:p>
        </p:txBody>
      </p:sp>
      <p:sp>
        <p:nvSpPr>
          <p:cNvPr id="4" name="TextBox 3"/>
          <p:cNvSpPr txBox="1"/>
          <p:nvPr/>
        </p:nvSpPr>
        <p:spPr>
          <a:xfrm>
            <a:off x="457200" y="1325880"/>
            <a:ext cx="8229600" cy="411480"/>
          </a:xfrm>
          <a:prstGeom prst="rect">
            <a:avLst/>
          </a:prstGeom>
          <a:noFill/>
        </p:spPr>
        <p:txBody>
          <a:bodyPr wrap="square" lIns="45720" tIns="27432" rIns="45720" bIns="27432" anchor="t">
            <a:spAutoFit/>
          </a:bodyPr>
          <a:lstStyle/>
          <a:p>
            <a:pPr algn="l">
              <a:spcBef>
                <a:spcPts val="0"/>
              </a:spcBef>
              <a:spcAft>
                <a:spcPts val="0"/>
              </a:spcAft>
              <a:buNone/>
            </a:pPr>
            <a:r>
              <a:rPr sz="1250" b="0" i="1">
                <a:solidFill>
                  <a:srgbClr val="8C8C96"/>
                </a:solidFill>
                <a:latin typeface="Arial"/>
              </a:rPr>
              <a:t>UCs evoluíram de centros de treinamento para o locus estratégico da Gestão do Conhecimento (Scarso; Chen et al.)</a:t>
            </a:r>
          </a:p>
        </p:txBody>
      </p:sp>
      <p:graphicFrame>
        <p:nvGraphicFramePr>
          <p:cNvPr id="5" name="Table 4"/>
          <p:cNvGraphicFramePr>
            <a:graphicFrameLocks noGrp="1"/>
          </p:cNvGraphicFramePr>
          <p:nvPr/>
        </p:nvGraphicFramePr>
        <p:xfrm>
          <a:off x="365760" y="1828800"/>
          <a:ext cx="8412477" cy="2743200"/>
        </p:xfrm>
        <a:graphic>
          <a:graphicData uri="http://schemas.openxmlformats.org/drawingml/2006/table">
            <a:tbl>
              <a:tblPr>
                <a:tableStyleId>{5C22544A-7EE6-4342-B048-85BDC9FD1C3A}</a:tableStyleId>
              </a:tblPr>
              <a:tblGrid>
                <a:gridCol w="1156716">
                  <a:extLst>
                    <a:ext uri="{9D8B030D-6E8A-4147-A177-3AD203B41FA5}">
                      <a16:colId xmlns:a16="http://schemas.microsoft.com/office/drawing/2014/main" val="20000"/>
                    </a:ext>
                  </a:extLst>
                </a:gridCol>
                <a:gridCol w="946403">
                  <a:extLst>
                    <a:ext uri="{9D8B030D-6E8A-4147-A177-3AD203B41FA5}">
                      <a16:colId xmlns:a16="http://schemas.microsoft.com/office/drawing/2014/main" val="20001"/>
                    </a:ext>
                  </a:extLst>
                </a:gridCol>
                <a:gridCol w="3154679">
                  <a:extLst>
                    <a:ext uri="{9D8B030D-6E8A-4147-A177-3AD203B41FA5}">
                      <a16:colId xmlns:a16="http://schemas.microsoft.com/office/drawing/2014/main" val="20002"/>
                    </a:ext>
                  </a:extLst>
                </a:gridCol>
                <a:gridCol w="3154679">
                  <a:extLst>
                    <a:ext uri="{9D8B030D-6E8A-4147-A177-3AD203B41FA5}">
                      <a16:colId xmlns:a16="http://schemas.microsoft.com/office/drawing/2014/main" val="20003"/>
                    </a:ext>
                  </a:extLst>
                </a:gridCol>
              </a:tblGrid>
              <a:tr h="685800">
                <a:tc>
                  <a:txBody>
                    <a:bodyPr/>
                    <a:lstStyle/>
                    <a:p>
                      <a:pPr algn="l"/>
                      <a:r>
                        <a:rPr sz="1200" b="1">
                          <a:solidFill>
                            <a:srgbClr val="FFFFFF"/>
                          </a:solidFill>
                          <a:latin typeface="Arial"/>
                        </a:rPr>
                        <a:t>Pilar (Costa et al., 2011)</a:t>
                      </a:r>
                    </a:p>
                  </a:txBody>
                  <a:tcPr marL="54864" marR="54864" marT="27432" marB="27432" anchor="ctr">
                    <a:solidFill>
                      <a:srgbClr val="2B364F"/>
                    </a:solidFill>
                  </a:tcPr>
                </a:tc>
                <a:tc>
                  <a:txBody>
                    <a:bodyPr/>
                    <a:lstStyle/>
                    <a:p>
                      <a:pPr algn="l"/>
                      <a:r>
                        <a:rPr sz="1200" b="1">
                          <a:solidFill>
                            <a:srgbClr val="FFFFFF"/>
                          </a:solidFill>
                          <a:latin typeface="Arial"/>
                        </a:rPr>
                        <a:t>Pergunta</a:t>
                      </a:r>
                    </a:p>
                  </a:txBody>
                  <a:tcPr marL="54864" marR="54864" marT="27432" marB="27432" anchor="ctr">
                    <a:solidFill>
                      <a:srgbClr val="2B364F"/>
                    </a:solidFill>
                  </a:tcPr>
                </a:tc>
                <a:tc>
                  <a:txBody>
                    <a:bodyPr/>
                    <a:lstStyle/>
                    <a:p>
                      <a:pPr algn="l"/>
                      <a:r>
                        <a:rPr sz="1200" b="1">
                          <a:solidFill>
                            <a:srgbClr val="FFFFFF"/>
                          </a:solidFill>
                          <a:latin typeface="Arial"/>
                        </a:rPr>
                        <a:t>Foco estratégico</a:t>
                      </a:r>
                    </a:p>
                  </a:txBody>
                  <a:tcPr marL="54864" marR="54864" marT="27432" marB="27432" anchor="ctr">
                    <a:solidFill>
                      <a:srgbClr val="2B364F"/>
                    </a:solidFill>
                  </a:tcPr>
                </a:tc>
                <a:tc>
                  <a:txBody>
                    <a:bodyPr/>
                    <a:lstStyle/>
                    <a:p>
                      <a:pPr algn="l"/>
                      <a:r>
                        <a:rPr sz="1200" b="1">
                          <a:solidFill>
                            <a:srgbClr val="FFFFFF"/>
                          </a:solidFill>
                          <a:latin typeface="Arial"/>
                        </a:rPr>
                        <a:t>Processos de GC (Prat)</a:t>
                      </a:r>
                    </a:p>
                  </a:txBody>
                  <a:tcPr marL="54864" marR="54864" marT="27432" marB="27432" anchor="ctr">
                    <a:solidFill>
                      <a:srgbClr val="2B364F"/>
                    </a:solidFill>
                  </a:tcPr>
                </a:tc>
                <a:extLst>
                  <a:ext uri="{0D108BD9-81ED-4DB2-BD59-A6C34878D82A}">
                    <a16:rowId xmlns:a16="http://schemas.microsoft.com/office/drawing/2014/main" val="10000"/>
                  </a:ext>
                </a:extLst>
              </a:tr>
              <a:tr h="685800">
                <a:tc>
                  <a:txBody>
                    <a:bodyPr/>
                    <a:lstStyle/>
                    <a:p>
                      <a:pPr algn="l"/>
                      <a:r>
                        <a:rPr sz="1200" b="1">
                          <a:solidFill>
                            <a:srgbClr val="38415C"/>
                          </a:solidFill>
                          <a:latin typeface="Arial"/>
                        </a:rPr>
                        <a:t>Motive</a:t>
                      </a:r>
                    </a:p>
                  </a:txBody>
                  <a:tcPr marL="54864" marR="54864" marT="27432" marB="27432" anchor="ctr">
                    <a:solidFill>
                      <a:srgbClr val="FFFFFF"/>
                    </a:solidFill>
                  </a:tcPr>
                </a:tc>
                <a:tc>
                  <a:txBody>
                    <a:bodyPr/>
                    <a:lstStyle/>
                    <a:p>
                      <a:pPr algn="l"/>
                      <a:r>
                        <a:rPr sz="1200" b="0">
                          <a:solidFill>
                            <a:srgbClr val="38415C"/>
                          </a:solidFill>
                          <a:latin typeface="Arial"/>
                        </a:rPr>
                        <a:t>Por quê?</a:t>
                      </a:r>
                    </a:p>
                  </a:txBody>
                  <a:tcPr marL="54864" marR="54864" marT="27432" marB="27432" anchor="ctr">
                    <a:solidFill>
                      <a:srgbClr val="FFFFFF"/>
                    </a:solidFill>
                  </a:tcPr>
                </a:tc>
                <a:tc>
                  <a:txBody>
                    <a:bodyPr/>
                    <a:lstStyle/>
                    <a:p>
                      <a:pPr algn="l"/>
                      <a:r>
                        <a:rPr sz="1200" b="0">
                          <a:solidFill>
                            <a:srgbClr val="38415C"/>
                          </a:solidFill>
                          <a:latin typeface="Arial"/>
                        </a:rPr>
                        <a:t>Alinhar aprendizagem à estratégia; competências críticas</a:t>
                      </a:r>
                    </a:p>
                  </a:txBody>
                  <a:tcPr marL="54864" marR="54864" marT="27432" marB="27432" anchor="ctr">
                    <a:solidFill>
                      <a:srgbClr val="FFFFFF"/>
                    </a:solidFill>
                  </a:tcPr>
                </a:tc>
                <a:tc>
                  <a:txBody>
                    <a:bodyPr/>
                    <a:lstStyle/>
                    <a:p>
                      <a:pPr algn="l"/>
                      <a:r>
                        <a:rPr sz="1200" b="0">
                          <a:solidFill>
                            <a:srgbClr val="38415C"/>
                          </a:solidFill>
                          <a:latin typeface="Arial"/>
                        </a:rPr>
                        <a:t>Identificação, avaliação, atualização, proteção</a:t>
                      </a:r>
                    </a:p>
                  </a:txBody>
                  <a:tcPr marL="54864" marR="54864" marT="27432" marB="27432" anchor="ctr">
                    <a:solidFill>
                      <a:srgbClr val="FFFFFF"/>
                    </a:solidFill>
                  </a:tcPr>
                </a:tc>
                <a:extLst>
                  <a:ext uri="{0D108BD9-81ED-4DB2-BD59-A6C34878D82A}">
                    <a16:rowId xmlns:a16="http://schemas.microsoft.com/office/drawing/2014/main" val="10001"/>
                  </a:ext>
                </a:extLst>
              </a:tr>
              <a:tr h="685800">
                <a:tc>
                  <a:txBody>
                    <a:bodyPr/>
                    <a:lstStyle/>
                    <a:p>
                      <a:pPr algn="l"/>
                      <a:r>
                        <a:rPr sz="1200" b="1" dirty="0">
                          <a:solidFill>
                            <a:srgbClr val="38415C"/>
                          </a:solidFill>
                          <a:latin typeface="Arial"/>
                        </a:rPr>
                        <a:t>Model</a:t>
                      </a:r>
                    </a:p>
                  </a:txBody>
                  <a:tcPr marL="54864" marR="54864" marT="27432" marB="27432" anchor="ctr">
                    <a:solidFill>
                      <a:srgbClr val="F2F2F4"/>
                    </a:solidFill>
                  </a:tcPr>
                </a:tc>
                <a:tc>
                  <a:txBody>
                    <a:bodyPr/>
                    <a:lstStyle/>
                    <a:p>
                      <a:pPr algn="l"/>
                      <a:r>
                        <a:rPr sz="1200" b="0">
                          <a:solidFill>
                            <a:srgbClr val="38415C"/>
                          </a:solidFill>
                          <a:latin typeface="Arial"/>
                        </a:rPr>
                        <a:t>Como?</a:t>
                      </a:r>
                    </a:p>
                  </a:txBody>
                  <a:tcPr marL="54864" marR="54864" marT="27432" marB="27432" anchor="ctr">
                    <a:solidFill>
                      <a:srgbClr val="F2F2F4"/>
                    </a:solidFill>
                  </a:tcPr>
                </a:tc>
                <a:tc>
                  <a:txBody>
                    <a:bodyPr/>
                    <a:lstStyle/>
                    <a:p>
                      <a:pPr algn="l"/>
                      <a:r>
                        <a:rPr sz="1200" b="0">
                          <a:solidFill>
                            <a:srgbClr val="38415C"/>
                          </a:solidFill>
                          <a:latin typeface="Arial"/>
                        </a:rPr>
                        <a:t>Currículos, metodologias, programas e públicos-alvo</a:t>
                      </a:r>
                    </a:p>
                  </a:txBody>
                  <a:tcPr marL="54864" marR="54864" marT="27432" marB="27432" anchor="ctr">
                    <a:solidFill>
                      <a:srgbClr val="F2F2F4"/>
                    </a:solidFill>
                  </a:tcPr>
                </a:tc>
                <a:tc>
                  <a:txBody>
                    <a:bodyPr/>
                    <a:lstStyle/>
                    <a:p>
                      <a:pPr algn="l"/>
                      <a:r>
                        <a:rPr sz="1200" b="0">
                          <a:solidFill>
                            <a:srgbClr val="38415C"/>
                          </a:solidFill>
                          <a:latin typeface="Arial"/>
                        </a:rPr>
                        <a:t>Aquisição, transferência, armazenamento, utilização</a:t>
                      </a:r>
                    </a:p>
                  </a:txBody>
                  <a:tcPr marL="54864" marR="54864" marT="27432" marB="27432" anchor="ctr">
                    <a:solidFill>
                      <a:srgbClr val="F2F2F4"/>
                    </a:solidFill>
                  </a:tcPr>
                </a:tc>
                <a:extLst>
                  <a:ext uri="{0D108BD9-81ED-4DB2-BD59-A6C34878D82A}">
                    <a16:rowId xmlns:a16="http://schemas.microsoft.com/office/drawing/2014/main" val="10002"/>
                  </a:ext>
                </a:extLst>
              </a:tr>
              <a:tr h="685800">
                <a:tc>
                  <a:txBody>
                    <a:bodyPr/>
                    <a:lstStyle/>
                    <a:p>
                      <a:pPr algn="l"/>
                      <a:r>
                        <a:rPr sz="1200" b="1">
                          <a:solidFill>
                            <a:srgbClr val="38415C"/>
                          </a:solidFill>
                          <a:latin typeface="Arial"/>
                        </a:rPr>
                        <a:t>Moment</a:t>
                      </a:r>
                    </a:p>
                  </a:txBody>
                  <a:tcPr marL="54864" marR="54864" marT="27432" marB="27432" anchor="ctr">
                    <a:solidFill>
                      <a:srgbClr val="FFFFFF"/>
                    </a:solidFill>
                  </a:tcPr>
                </a:tc>
                <a:tc>
                  <a:txBody>
                    <a:bodyPr/>
                    <a:lstStyle/>
                    <a:p>
                      <a:pPr algn="l"/>
                      <a:r>
                        <a:rPr sz="1200" b="0">
                          <a:solidFill>
                            <a:srgbClr val="38415C"/>
                          </a:solidFill>
                          <a:latin typeface="Arial"/>
                        </a:rPr>
                        <a:t>Quando?</a:t>
                      </a:r>
                    </a:p>
                  </a:txBody>
                  <a:tcPr marL="54864" marR="54864" marT="27432" marB="27432" anchor="ctr">
                    <a:solidFill>
                      <a:srgbClr val="FFFFFF"/>
                    </a:solidFill>
                  </a:tcPr>
                </a:tc>
                <a:tc>
                  <a:txBody>
                    <a:bodyPr/>
                    <a:lstStyle/>
                    <a:p>
                      <a:pPr algn="l"/>
                      <a:r>
                        <a:rPr sz="1200" b="0">
                          <a:solidFill>
                            <a:srgbClr val="38415C"/>
                          </a:solidFill>
                          <a:latin typeface="Arial"/>
                        </a:rPr>
                        <a:t>Adaptação temporal às mudanças do ambiente competitivo</a:t>
                      </a:r>
                    </a:p>
                  </a:txBody>
                  <a:tcPr marL="54864" marR="54864" marT="27432" marB="27432" anchor="ctr">
                    <a:solidFill>
                      <a:srgbClr val="FFFFFF"/>
                    </a:solidFill>
                  </a:tcPr>
                </a:tc>
                <a:tc>
                  <a:txBody>
                    <a:bodyPr/>
                    <a:lstStyle/>
                    <a:p>
                      <a:pPr algn="l"/>
                      <a:r>
                        <a:rPr sz="1200" b="0" dirty="0" err="1">
                          <a:solidFill>
                            <a:srgbClr val="38415C"/>
                          </a:solidFill>
                          <a:latin typeface="Arial"/>
                        </a:rPr>
                        <a:t>Variáveis</a:t>
                      </a:r>
                      <a:r>
                        <a:rPr sz="1200" b="0" dirty="0">
                          <a:solidFill>
                            <a:srgbClr val="38415C"/>
                          </a:solidFill>
                          <a:latin typeface="Arial"/>
                        </a:rPr>
                        <a:t> de </a:t>
                      </a:r>
                      <a:r>
                        <a:rPr sz="1200" b="0" dirty="0" err="1">
                          <a:solidFill>
                            <a:srgbClr val="38415C"/>
                          </a:solidFill>
                          <a:latin typeface="Arial"/>
                        </a:rPr>
                        <a:t>contexto</a:t>
                      </a:r>
                      <a:r>
                        <a:rPr sz="1200" b="0" dirty="0">
                          <a:solidFill>
                            <a:srgbClr val="38415C"/>
                          </a:solidFill>
                          <a:latin typeface="Arial"/>
                        </a:rPr>
                        <a:t>: </a:t>
                      </a:r>
                      <a:r>
                        <a:rPr sz="1200" b="0" dirty="0" err="1">
                          <a:solidFill>
                            <a:srgbClr val="38415C"/>
                          </a:solidFill>
                          <a:latin typeface="Arial"/>
                        </a:rPr>
                        <a:t>liderança</a:t>
                      </a:r>
                      <a:r>
                        <a:rPr sz="1200" b="0" dirty="0">
                          <a:solidFill>
                            <a:srgbClr val="38415C"/>
                          </a:solidFill>
                          <a:latin typeface="Arial"/>
                        </a:rPr>
                        <a:t>, </a:t>
                      </a:r>
                      <a:r>
                        <a:rPr sz="1200" b="0" dirty="0" err="1">
                          <a:solidFill>
                            <a:srgbClr val="38415C"/>
                          </a:solidFill>
                          <a:latin typeface="Arial"/>
                        </a:rPr>
                        <a:t>cultura</a:t>
                      </a:r>
                      <a:r>
                        <a:rPr sz="1200" b="0" dirty="0">
                          <a:solidFill>
                            <a:srgbClr val="38415C"/>
                          </a:solidFill>
                          <a:latin typeface="Arial"/>
                        </a:rPr>
                        <a:t>, </a:t>
                      </a:r>
                      <a:r>
                        <a:rPr sz="1200" b="0" dirty="0" err="1">
                          <a:solidFill>
                            <a:srgbClr val="38415C"/>
                          </a:solidFill>
                          <a:latin typeface="Arial"/>
                        </a:rPr>
                        <a:t>tecnologia</a:t>
                      </a:r>
                      <a:endParaRPr sz="1200" b="0" dirty="0">
                        <a:solidFill>
                          <a:srgbClr val="38415C"/>
                        </a:solidFill>
                        <a:latin typeface="Arial"/>
                      </a:endParaRP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Premissa original: a tecnologia (TI) é </a:t>
            </a:r>
            <a:r>
              <a:rPr sz="1250" b="1">
                <a:solidFill>
                  <a:srgbClr val="EB976D"/>
                </a:solidFill>
                <a:latin typeface="Arial"/>
              </a:rPr>
              <a:t>infraestrutura passiva</a:t>
            </a:r>
            <a:r>
              <a:rPr sz="1250" b="0">
                <a:solidFill>
                  <a:srgbClr val="FFFFFF"/>
                </a:solidFill>
                <a:latin typeface="Arial"/>
              </a:rPr>
              <a:t> — é isso que o retrofit reconfigura.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O Problema: 19 Modelos de UC, Nenhum Integra IA Agêntica</a:t>
            </a:r>
          </a:p>
        </p:txBody>
      </p:sp>
      <p:sp>
        <p:nvSpPr>
          <p:cNvPr id="4" name="TextBox 3"/>
          <p:cNvSpPr txBox="1"/>
          <p:nvPr/>
        </p:nvSpPr>
        <p:spPr>
          <a:xfrm>
            <a:off x="457200" y="1325880"/>
            <a:ext cx="8229600" cy="411480"/>
          </a:xfrm>
          <a:prstGeom prst="rect">
            <a:avLst/>
          </a:prstGeom>
          <a:noFill/>
        </p:spPr>
        <p:txBody>
          <a:bodyPr wrap="square" lIns="45720" tIns="27432" rIns="45720" bIns="27432" anchor="t">
            <a:spAutoFit/>
          </a:bodyPr>
          <a:lstStyle/>
          <a:p>
            <a:pPr algn="l">
              <a:spcBef>
                <a:spcPts val="0"/>
              </a:spcBef>
              <a:spcAft>
                <a:spcPts val="0"/>
              </a:spcAft>
              <a:buNone/>
            </a:pPr>
            <a:r>
              <a:rPr sz="1250" b="0" i="1">
                <a:solidFill>
                  <a:srgbClr val="8C8C96"/>
                </a:solidFill>
                <a:latin typeface="Arial"/>
              </a:rPr>
              <a:t>Mora-Mora et al. (2025) — revisão sistemática de 19 modelos de UC (2000–2023)</a:t>
            </a:r>
          </a:p>
        </p:txBody>
      </p:sp>
      <p:graphicFrame>
        <p:nvGraphicFramePr>
          <p:cNvPr id="5" name="Table 4"/>
          <p:cNvGraphicFramePr>
            <a:graphicFrameLocks noGrp="1"/>
          </p:cNvGraphicFramePr>
          <p:nvPr/>
        </p:nvGraphicFramePr>
        <p:xfrm>
          <a:off x="822960" y="1828800"/>
          <a:ext cx="6949437" cy="2743200"/>
        </p:xfrm>
        <a:graphic>
          <a:graphicData uri="http://schemas.openxmlformats.org/drawingml/2006/table">
            <a:tbl>
              <a:tblPr>
                <a:tableStyleId>{5C22544A-7EE6-4342-B048-85BDC9FD1C3A}</a:tableStyleId>
              </a:tblPr>
              <a:tblGrid>
                <a:gridCol w="3176886">
                  <a:extLst>
                    <a:ext uri="{9D8B030D-6E8A-4147-A177-3AD203B41FA5}">
                      <a16:colId xmlns:a16="http://schemas.microsoft.com/office/drawing/2014/main" val="20000"/>
                    </a:ext>
                  </a:extLst>
                </a:gridCol>
                <a:gridCol w="1191332">
                  <a:extLst>
                    <a:ext uri="{9D8B030D-6E8A-4147-A177-3AD203B41FA5}">
                      <a16:colId xmlns:a16="http://schemas.microsoft.com/office/drawing/2014/main" val="20001"/>
                    </a:ext>
                  </a:extLst>
                </a:gridCol>
                <a:gridCol w="1191332">
                  <a:extLst>
                    <a:ext uri="{9D8B030D-6E8A-4147-A177-3AD203B41FA5}">
                      <a16:colId xmlns:a16="http://schemas.microsoft.com/office/drawing/2014/main" val="20002"/>
                    </a:ext>
                  </a:extLst>
                </a:gridCol>
                <a:gridCol w="1389887">
                  <a:extLst>
                    <a:ext uri="{9D8B030D-6E8A-4147-A177-3AD203B41FA5}">
                      <a16:colId xmlns:a16="http://schemas.microsoft.com/office/drawing/2014/main" val="20003"/>
                    </a:ext>
                  </a:extLst>
                </a:gridCol>
              </a:tblGrid>
              <a:tr h="457200">
                <a:tc>
                  <a:txBody>
                    <a:bodyPr/>
                    <a:lstStyle/>
                    <a:p>
                      <a:pPr algn="l"/>
                      <a:r>
                        <a:rPr sz="1150" b="1">
                          <a:solidFill>
                            <a:srgbClr val="FFFFFF"/>
                          </a:solidFill>
                          <a:latin typeface="Arial"/>
                        </a:rPr>
                        <a:t>Modelo</a:t>
                      </a:r>
                    </a:p>
                  </a:txBody>
                  <a:tcPr marL="54864" marR="54864" marT="27432" marB="27432" anchor="ctr">
                    <a:solidFill>
                      <a:srgbClr val="2B364F"/>
                    </a:solidFill>
                  </a:tcPr>
                </a:tc>
                <a:tc>
                  <a:txBody>
                    <a:bodyPr/>
                    <a:lstStyle/>
                    <a:p>
                      <a:pPr algn="l"/>
                      <a:r>
                        <a:rPr sz="1150" b="1">
                          <a:solidFill>
                            <a:srgbClr val="FFFFFF"/>
                          </a:solidFill>
                          <a:latin typeface="Arial"/>
                        </a:rPr>
                        <a:t>GC como fator</a:t>
                      </a:r>
                    </a:p>
                  </a:txBody>
                  <a:tcPr marL="54864" marR="54864" marT="27432" marB="27432" anchor="ctr">
                    <a:solidFill>
                      <a:srgbClr val="2B364F"/>
                    </a:solidFill>
                  </a:tcPr>
                </a:tc>
                <a:tc>
                  <a:txBody>
                    <a:bodyPr/>
                    <a:lstStyle/>
                    <a:p>
                      <a:pPr algn="l"/>
                      <a:r>
                        <a:rPr sz="1150" b="1">
                          <a:solidFill>
                            <a:srgbClr val="FFFFFF"/>
                          </a:solidFill>
                          <a:latin typeface="Arial"/>
                        </a:rPr>
                        <a:t>TI como variável</a:t>
                      </a:r>
                    </a:p>
                  </a:txBody>
                  <a:tcPr marL="54864" marR="54864" marT="27432" marB="27432" anchor="ctr">
                    <a:solidFill>
                      <a:srgbClr val="2B364F"/>
                    </a:solidFill>
                  </a:tcPr>
                </a:tc>
                <a:tc>
                  <a:txBody>
                    <a:bodyPr/>
                    <a:lstStyle/>
                    <a:p>
                      <a:pPr algn="l"/>
                      <a:r>
                        <a:rPr sz="1150" b="1">
                          <a:solidFill>
                            <a:srgbClr val="FFFFFF"/>
                          </a:solidFill>
                          <a:latin typeface="Arial"/>
                        </a:rPr>
                        <a:t>Integra IA agêntica</a:t>
                      </a:r>
                    </a:p>
                  </a:txBody>
                  <a:tcPr marL="54864" marR="54864" marT="27432" marB="27432" anchor="ctr">
                    <a:solidFill>
                      <a:srgbClr val="2B364F"/>
                    </a:solidFill>
                  </a:tcPr>
                </a:tc>
                <a:extLst>
                  <a:ext uri="{0D108BD9-81ED-4DB2-BD59-A6C34878D82A}">
                    <a16:rowId xmlns:a16="http://schemas.microsoft.com/office/drawing/2014/main" val="10000"/>
                  </a:ext>
                </a:extLst>
              </a:tr>
              <a:tr h="457200">
                <a:tc>
                  <a:txBody>
                    <a:bodyPr/>
                    <a:lstStyle/>
                    <a:p>
                      <a:pPr algn="l"/>
                      <a:r>
                        <a:rPr sz="1200" b="1">
                          <a:solidFill>
                            <a:srgbClr val="38415C"/>
                          </a:solidFill>
                          <a:latin typeface="Arial"/>
                        </a:rPr>
                        <a:t>Meister (1998) — UC clássica</a:t>
                      </a:r>
                    </a:p>
                  </a:txBody>
                  <a:tcPr marL="54864" marR="54864" marT="27432" marB="27432" anchor="ctr">
                    <a:solidFill>
                      <a:srgbClr val="FFFFFF"/>
                    </a:solidFill>
                  </a:tcPr>
                </a:tc>
                <a:tc>
                  <a:txBody>
                    <a:bodyPr/>
                    <a:lstStyle/>
                    <a:p>
                      <a:pPr algn="l"/>
                      <a:r>
                        <a:rPr sz="1200" b="0">
                          <a:solidFill>
                            <a:srgbClr val="4E7C4E"/>
                          </a:solidFill>
                          <a:latin typeface="Arial"/>
                        </a:rPr>
                        <a:t>✓</a:t>
                      </a:r>
                    </a:p>
                  </a:txBody>
                  <a:tcPr marL="54864" marR="54864" marT="27432" marB="27432" anchor="ctr">
                    <a:solidFill>
                      <a:srgbClr val="FFFFFF"/>
                    </a:solidFill>
                  </a:tcPr>
                </a:tc>
                <a:tc>
                  <a:txBody>
                    <a:bodyPr/>
                    <a:lstStyle/>
                    <a:p>
                      <a:pPr algn="l"/>
                      <a:r>
                        <a:rPr sz="1200" b="0">
                          <a:solidFill>
                            <a:srgbClr val="4E7C4E"/>
                          </a:solidFill>
                          <a:latin typeface="Arial"/>
                        </a:rPr>
                        <a:t>✓</a:t>
                      </a:r>
                    </a:p>
                  </a:txBody>
                  <a:tcPr marL="54864" marR="54864" marT="27432" marB="27432" anchor="ctr">
                    <a:solidFill>
                      <a:srgbClr val="FFFFFF"/>
                    </a:solidFill>
                  </a:tcPr>
                </a:tc>
                <a:tc>
                  <a:txBody>
                    <a:bodyPr/>
                    <a:lstStyle/>
                    <a:p>
                      <a:pPr algn="l"/>
                      <a:r>
                        <a:rPr sz="1200" b="0">
                          <a:solidFill>
                            <a:srgbClr val="B33A3A"/>
                          </a:solidFill>
                          <a:latin typeface="Arial"/>
                        </a:rPr>
                        <a:t>✗</a:t>
                      </a:r>
                    </a:p>
                  </a:txBody>
                  <a:tcPr marL="54864" marR="54864" marT="27432" marB="27432" anchor="ctr">
                    <a:solidFill>
                      <a:srgbClr val="FFFFFF"/>
                    </a:solidFill>
                  </a:tcPr>
                </a:tc>
                <a:extLst>
                  <a:ext uri="{0D108BD9-81ED-4DB2-BD59-A6C34878D82A}">
                    <a16:rowId xmlns:a16="http://schemas.microsoft.com/office/drawing/2014/main" val="10001"/>
                  </a:ext>
                </a:extLst>
              </a:tr>
              <a:tr h="457200">
                <a:tc>
                  <a:txBody>
                    <a:bodyPr/>
                    <a:lstStyle/>
                    <a:p>
                      <a:pPr algn="l"/>
                      <a:r>
                        <a:rPr sz="1200" b="1">
                          <a:solidFill>
                            <a:srgbClr val="38415C"/>
                          </a:solidFill>
                          <a:latin typeface="Arial"/>
                        </a:rPr>
                        <a:t>Costa, Oliveira &amp; Souza (2011) — 3M</a:t>
                      </a:r>
                    </a:p>
                  </a:txBody>
                  <a:tcPr marL="54864" marR="54864" marT="27432" marB="27432" anchor="ctr">
                    <a:solidFill>
                      <a:srgbClr val="F2F2F4"/>
                    </a:solidFill>
                  </a:tcPr>
                </a:tc>
                <a:tc>
                  <a:txBody>
                    <a:bodyPr/>
                    <a:lstStyle/>
                    <a:p>
                      <a:pPr algn="l"/>
                      <a:r>
                        <a:rPr sz="1200" b="0">
                          <a:solidFill>
                            <a:srgbClr val="4E7C4E"/>
                          </a:solidFill>
                          <a:latin typeface="Arial"/>
                        </a:rPr>
                        <a:t>✓</a:t>
                      </a:r>
                    </a:p>
                  </a:txBody>
                  <a:tcPr marL="54864" marR="54864" marT="27432" marB="27432" anchor="ctr">
                    <a:solidFill>
                      <a:srgbClr val="F2F2F4"/>
                    </a:solidFill>
                  </a:tcPr>
                </a:tc>
                <a:tc>
                  <a:txBody>
                    <a:bodyPr/>
                    <a:lstStyle/>
                    <a:p>
                      <a:pPr algn="l"/>
                      <a:r>
                        <a:rPr sz="1200" b="0">
                          <a:solidFill>
                            <a:srgbClr val="4E7C4E"/>
                          </a:solidFill>
                          <a:latin typeface="Arial"/>
                        </a:rPr>
                        <a:t>✓</a:t>
                      </a:r>
                    </a:p>
                  </a:txBody>
                  <a:tcPr marL="54864" marR="54864" marT="27432" marB="27432" anchor="ctr">
                    <a:solidFill>
                      <a:srgbClr val="F2F2F4"/>
                    </a:solidFill>
                  </a:tcPr>
                </a:tc>
                <a:tc>
                  <a:txBody>
                    <a:bodyPr/>
                    <a:lstStyle/>
                    <a:p>
                      <a:pPr algn="l"/>
                      <a:r>
                        <a:rPr sz="1200" b="0">
                          <a:solidFill>
                            <a:srgbClr val="B33A3A"/>
                          </a:solidFill>
                          <a:latin typeface="Arial"/>
                        </a:rPr>
                        <a:t>✗</a:t>
                      </a:r>
                    </a:p>
                  </a:txBody>
                  <a:tcPr marL="54864" marR="54864" marT="27432" marB="27432" anchor="ctr">
                    <a:solidFill>
                      <a:srgbClr val="F2F2F4"/>
                    </a:solidFill>
                  </a:tcPr>
                </a:tc>
                <a:extLst>
                  <a:ext uri="{0D108BD9-81ED-4DB2-BD59-A6C34878D82A}">
                    <a16:rowId xmlns:a16="http://schemas.microsoft.com/office/drawing/2014/main" val="10002"/>
                  </a:ext>
                </a:extLst>
              </a:tr>
              <a:tr h="457200">
                <a:tc>
                  <a:txBody>
                    <a:bodyPr/>
                    <a:lstStyle/>
                    <a:p>
                      <a:pPr algn="l"/>
                      <a:r>
                        <a:rPr sz="1200" b="1">
                          <a:solidFill>
                            <a:srgbClr val="38415C"/>
                          </a:solidFill>
                          <a:latin typeface="Arial"/>
                        </a:rPr>
                        <a:t>Garzón-Castrillón (2019)</a:t>
                      </a:r>
                    </a:p>
                  </a:txBody>
                  <a:tcPr marL="54864" marR="54864" marT="27432" marB="27432" anchor="ctr">
                    <a:solidFill>
                      <a:srgbClr val="FFFFFF"/>
                    </a:solidFill>
                  </a:tcPr>
                </a:tc>
                <a:tc>
                  <a:txBody>
                    <a:bodyPr/>
                    <a:lstStyle/>
                    <a:p>
                      <a:pPr algn="l"/>
                      <a:r>
                        <a:rPr sz="1200" b="0">
                          <a:solidFill>
                            <a:srgbClr val="4E7C4E"/>
                          </a:solidFill>
                          <a:latin typeface="Arial"/>
                        </a:rPr>
                        <a:t>✓</a:t>
                      </a:r>
                    </a:p>
                  </a:txBody>
                  <a:tcPr marL="54864" marR="54864" marT="27432" marB="27432" anchor="ctr">
                    <a:solidFill>
                      <a:srgbClr val="FFFFFF"/>
                    </a:solidFill>
                  </a:tcPr>
                </a:tc>
                <a:tc>
                  <a:txBody>
                    <a:bodyPr/>
                    <a:lstStyle/>
                    <a:p>
                      <a:pPr algn="l"/>
                      <a:r>
                        <a:rPr sz="1200" b="0">
                          <a:solidFill>
                            <a:srgbClr val="4E7C4E"/>
                          </a:solidFill>
                          <a:latin typeface="Arial"/>
                        </a:rPr>
                        <a:t>✓</a:t>
                      </a:r>
                    </a:p>
                  </a:txBody>
                  <a:tcPr marL="54864" marR="54864" marT="27432" marB="27432" anchor="ctr">
                    <a:solidFill>
                      <a:srgbClr val="FFFFFF"/>
                    </a:solidFill>
                  </a:tcPr>
                </a:tc>
                <a:tc>
                  <a:txBody>
                    <a:bodyPr/>
                    <a:lstStyle/>
                    <a:p>
                      <a:pPr algn="l"/>
                      <a:r>
                        <a:rPr sz="1200" b="0">
                          <a:solidFill>
                            <a:srgbClr val="B33A3A"/>
                          </a:solidFill>
                          <a:latin typeface="Arial"/>
                        </a:rPr>
                        <a:t>✗</a:t>
                      </a:r>
                    </a:p>
                  </a:txBody>
                  <a:tcPr marL="54864" marR="54864" marT="27432" marB="27432" anchor="ctr">
                    <a:solidFill>
                      <a:srgbClr val="FFFFFF"/>
                    </a:solidFill>
                  </a:tcPr>
                </a:tc>
                <a:extLst>
                  <a:ext uri="{0D108BD9-81ED-4DB2-BD59-A6C34878D82A}">
                    <a16:rowId xmlns:a16="http://schemas.microsoft.com/office/drawing/2014/main" val="10003"/>
                  </a:ext>
                </a:extLst>
              </a:tr>
              <a:tr h="457200">
                <a:tc>
                  <a:txBody>
                    <a:bodyPr/>
                    <a:lstStyle/>
                    <a:p>
                      <a:pPr algn="l"/>
                      <a:r>
                        <a:rPr sz="1200" b="1">
                          <a:solidFill>
                            <a:srgbClr val="38415C"/>
                          </a:solidFill>
                          <a:latin typeface="Arial"/>
                        </a:rPr>
                        <a:t>… +16 modelos catalogados (2000–2023)</a:t>
                      </a:r>
                    </a:p>
                  </a:txBody>
                  <a:tcPr marL="54864" marR="54864" marT="27432" marB="27432" anchor="ctr">
                    <a:solidFill>
                      <a:srgbClr val="F2F2F4"/>
                    </a:solidFill>
                  </a:tcPr>
                </a:tc>
                <a:tc>
                  <a:txBody>
                    <a:bodyPr/>
                    <a:lstStyle/>
                    <a:p>
                      <a:pPr algn="l"/>
                      <a:r>
                        <a:rPr sz="1200" b="0">
                          <a:solidFill>
                            <a:srgbClr val="38415C"/>
                          </a:solidFill>
                          <a:latin typeface="Arial"/>
                        </a:rPr>
                        <a:t>16/19</a:t>
                      </a:r>
                    </a:p>
                  </a:txBody>
                  <a:tcPr marL="54864" marR="54864" marT="27432" marB="27432" anchor="ctr">
                    <a:solidFill>
                      <a:srgbClr val="F2F2F4"/>
                    </a:solidFill>
                  </a:tcPr>
                </a:tc>
                <a:tc>
                  <a:txBody>
                    <a:bodyPr/>
                    <a:lstStyle/>
                    <a:p>
                      <a:pPr algn="l"/>
                      <a:r>
                        <a:rPr sz="1200" b="0">
                          <a:solidFill>
                            <a:srgbClr val="38415C"/>
                          </a:solidFill>
                          <a:latin typeface="Arial"/>
                        </a:rPr>
                        <a:t>15/19</a:t>
                      </a:r>
                    </a:p>
                  </a:txBody>
                  <a:tcPr marL="54864" marR="54864" marT="27432" marB="27432" anchor="ctr">
                    <a:solidFill>
                      <a:srgbClr val="F2F2F4"/>
                    </a:solidFill>
                  </a:tcPr>
                </a:tc>
                <a:tc>
                  <a:txBody>
                    <a:bodyPr/>
                    <a:lstStyle/>
                    <a:p>
                      <a:pPr algn="l"/>
                      <a:r>
                        <a:rPr sz="1200" b="0">
                          <a:solidFill>
                            <a:srgbClr val="B33A3A"/>
                          </a:solidFill>
                          <a:latin typeface="Arial"/>
                        </a:rPr>
                        <a:t>✗</a:t>
                      </a:r>
                    </a:p>
                  </a:txBody>
                  <a:tcPr marL="54864" marR="54864" marT="27432" marB="27432" anchor="ctr">
                    <a:solidFill>
                      <a:srgbClr val="F2F2F4"/>
                    </a:solidFill>
                  </a:tcPr>
                </a:tc>
                <a:extLst>
                  <a:ext uri="{0D108BD9-81ED-4DB2-BD59-A6C34878D82A}">
                    <a16:rowId xmlns:a16="http://schemas.microsoft.com/office/drawing/2014/main" val="10004"/>
                  </a:ext>
                </a:extLst>
              </a:tr>
              <a:tr h="457200">
                <a:tc>
                  <a:txBody>
                    <a:bodyPr/>
                    <a:lstStyle/>
                    <a:p>
                      <a:pPr algn="l"/>
                      <a:r>
                        <a:rPr sz="1200" b="1">
                          <a:solidFill>
                            <a:srgbClr val="FFFFFF"/>
                          </a:solidFill>
                          <a:latin typeface="Arial"/>
                        </a:rPr>
                        <a:t>3M 5.0 — este trabalho</a:t>
                      </a:r>
                    </a:p>
                  </a:txBody>
                  <a:tcPr marL="54864" marR="54864" marT="27432" marB="27432" anchor="ctr">
                    <a:solidFill>
                      <a:srgbClr val="4E7C4E"/>
                    </a:solidFill>
                  </a:tcPr>
                </a:tc>
                <a:tc>
                  <a:txBody>
                    <a:bodyPr/>
                    <a:lstStyle/>
                    <a:p>
                      <a:pPr algn="l"/>
                      <a:r>
                        <a:rPr sz="1200" b="1">
                          <a:solidFill>
                            <a:srgbClr val="FFFFFF"/>
                          </a:solidFill>
                          <a:latin typeface="Arial"/>
                        </a:rPr>
                        <a:t>✓</a:t>
                      </a:r>
                    </a:p>
                  </a:txBody>
                  <a:tcPr marL="54864" marR="54864" marT="27432" marB="27432" anchor="ctr">
                    <a:solidFill>
                      <a:srgbClr val="4E7C4E"/>
                    </a:solidFill>
                  </a:tcPr>
                </a:tc>
                <a:tc>
                  <a:txBody>
                    <a:bodyPr/>
                    <a:lstStyle/>
                    <a:p>
                      <a:pPr algn="l"/>
                      <a:r>
                        <a:rPr sz="1200" b="1">
                          <a:solidFill>
                            <a:srgbClr val="FFFFFF"/>
                          </a:solidFill>
                          <a:latin typeface="Arial"/>
                        </a:rPr>
                        <a:t>✓</a:t>
                      </a:r>
                    </a:p>
                  </a:txBody>
                  <a:tcPr marL="54864" marR="54864" marT="27432" marB="27432" anchor="ctr">
                    <a:solidFill>
                      <a:srgbClr val="4E7C4E"/>
                    </a:solidFill>
                  </a:tcPr>
                </a:tc>
                <a:tc>
                  <a:txBody>
                    <a:bodyPr/>
                    <a:lstStyle/>
                    <a:p>
                      <a:pPr algn="l"/>
                      <a:r>
                        <a:rPr sz="1200" b="1">
                          <a:solidFill>
                            <a:srgbClr val="FFFFFF"/>
                          </a:solidFill>
                          <a:latin typeface="Arial"/>
                        </a:rPr>
                        <a:t>✓</a:t>
                      </a:r>
                    </a:p>
                  </a:txBody>
                  <a:tcPr marL="54864" marR="54864" marT="27432" marB="27432" anchor="ctr">
                    <a:solidFill>
                      <a:srgbClr val="4E7C4E"/>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16/19 tratam GC como crítico e 15/19 citam TI — mas </a:t>
            </a:r>
            <a:r>
              <a:rPr sz="1250" b="1">
                <a:solidFill>
                  <a:srgbClr val="EB976D"/>
                </a:solidFill>
                <a:latin typeface="Arial"/>
              </a:rPr>
              <a:t>todos a tratam como infraestrutura passiva</a:t>
            </a:r>
            <a:r>
              <a:rPr sz="1250" b="0">
                <a:solidFill>
                  <a:srgbClr val="FFFFFF"/>
                </a:solidFill>
                <a:latin typeface="Arial"/>
              </a:rPr>
              <a:t>. Esse é o gap.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Questão de Pesquisa e Objetivos</a:t>
            </a:r>
          </a:p>
        </p:txBody>
      </p:sp>
      <p:sp>
        <p:nvSpPr>
          <p:cNvPr id="4" name="Rectangle 3"/>
          <p:cNvSpPr/>
          <p:nvPr/>
        </p:nvSpPr>
        <p:spPr>
          <a:xfrm>
            <a:off x="365760" y="1691640"/>
            <a:ext cx="8412480" cy="1051560"/>
          </a:xfrm>
          <a:prstGeom prst="rect">
            <a:avLst/>
          </a:prstGeom>
          <a:solidFill>
            <a:srgbClr val="F2F2F4"/>
          </a:solidFill>
          <a:ln w="2540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spcBef>
                <a:spcPts val="0"/>
              </a:spcBef>
              <a:spcAft>
                <a:spcPts val="0"/>
              </a:spcAft>
              <a:buNone/>
            </a:pPr>
            <a:r>
              <a:rPr sz="1500" b="1" i="0">
                <a:solidFill>
                  <a:srgbClr val="EB976D"/>
                </a:solidFill>
                <a:latin typeface="Arial"/>
              </a:rPr>
              <a:t>Questão: </a:t>
            </a:r>
            <a:r>
              <a:rPr sz="1500" b="1" i="1">
                <a:solidFill>
                  <a:srgbClr val="38415C"/>
                </a:solidFill>
                <a:latin typeface="Arial"/>
              </a:rPr>
              <a:t>como reconfigurar o Modelo 3M para integrar a IA Generativa sob dupla perspectiva (ferramenta e agente), alinhada aos processos de GC e incorporando loops de governança algorítmica?</a:t>
            </a:r>
          </a:p>
        </p:txBody>
      </p:sp>
      <p:sp>
        <p:nvSpPr>
          <p:cNvPr id="5" name="TextBox 4"/>
          <p:cNvSpPr txBox="1"/>
          <p:nvPr/>
        </p:nvSpPr>
        <p:spPr>
          <a:xfrm>
            <a:off x="457200" y="2926080"/>
            <a:ext cx="8229600" cy="2560320"/>
          </a:xfrm>
          <a:prstGeom prst="rect">
            <a:avLst/>
          </a:prstGeom>
          <a:noFill/>
        </p:spPr>
        <p:txBody>
          <a:bodyPr wrap="square" lIns="45720" tIns="27432" rIns="45720" bIns="27432" anchor="t">
            <a:spAutoFit/>
          </a:bodyPr>
          <a:lstStyle/>
          <a:p>
            <a:pPr algn="l">
              <a:spcBef>
                <a:spcPts val="0"/>
              </a:spcBef>
              <a:spcAft>
                <a:spcPts val="0"/>
              </a:spcAft>
              <a:buNone/>
            </a:pPr>
            <a:r>
              <a:rPr sz="1600" b="1" i="0">
                <a:solidFill>
                  <a:srgbClr val="38415C"/>
                </a:solidFill>
                <a:latin typeface="Arial"/>
              </a:rPr>
              <a:t>Objetivos específicos</a:t>
            </a:r>
          </a:p>
          <a:p>
            <a:pPr marL="228600" indent="-228600" algn="l">
              <a:spcBef>
                <a:spcPts val="1800"/>
              </a:spcBef>
              <a:spcAft>
                <a:spcPts val="0"/>
              </a:spcAft>
              <a:buFont typeface="Arial"/>
              <a:buChar char="–"/>
            </a:pPr>
            <a:r>
              <a:rPr sz="1550" b="0" i="0">
                <a:solidFill>
                  <a:srgbClr val="38415C"/>
                </a:solidFill>
                <a:latin typeface="Arial"/>
              </a:rPr>
              <a:t>Desenvolver o retrofit conceitual: Motive 5.0, Model 5.0 e Moment 5.0.</a:t>
            </a:r>
          </a:p>
          <a:p>
            <a:pPr marL="228600" indent="-228600" algn="l">
              <a:spcBef>
                <a:spcPts val="1800"/>
              </a:spcBef>
              <a:spcAft>
                <a:spcPts val="0"/>
              </a:spcAft>
              <a:buFont typeface="Arial"/>
              <a:buChar char="–"/>
            </a:pPr>
            <a:r>
              <a:rPr sz="1550" b="0" i="0">
                <a:solidFill>
                  <a:srgbClr val="38415C"/>
                </a:solidFill>
                <a:latin typeface="Arial"/>
              </a:rPr>
              <a:t>Mapear os processos de GC de cada visão (Prat + Stollenwerk).</a:t>
            </a:r>
          </a:p>
          <a:p>
            <a:pPr marL="228600" indent="-228600" algn="l">
              <a:spcBef>
                <a:spcPts val="1800"/>
              </a:spcBef>
              <a:spcAft>
                <a:spcPts val="0"/>
              </a:spcAft>
              <a:buFont typeface="Arial"/>
              <a:buChar char="–"/>
            </a:pPr>
            <a:r>
              <a:rPr sz="1550" b="0" i="0">
                <a:solidFill>
                  <a:srgbClr val="38415C"/>
                </a:solidFill>
                <a:latin typeface="Arial"/>
              </a:rPr>
              <a:t>Incorporar a governança de IA como atribuição institucional central da UC (Moment 5.0).</a:t>
            </a:r>
          </a:p>
          <a:p>
            <a:pPr marL="228600" indent="-228600" algn="l">
              <a:spcBef>
                <a:spcPts val="1800"/>
              </a:spcBef>
              <a:spcAft>
                <a:spcPts val="0"/>
              </a:spcAft>
              <a:buFont typeface="Arial"/>
              <a:buChar char="–"/>
            </a:pPr>
            <a:r>
              <a:rPr sz="1550" b="0" i="0">
                <a:solidFill>
                  <a:srgbClr val="38415C"/>
                </a:solidFill>
                <a:latin typeface="Arial"/>
              </a:rPr>
              <a:t>Avaliar a cobertura conceitual frente aos 19 modelos da literatura.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Referencial (1/4): IA Generativa e Gestão do Conhecimento</a:t>
            </a:r>
          </a:p>
        </p:txBody>
      </p:sp>
      <p:sp>
        <p:nvSpPr>
          <p:cNvPr id="4" name="TextBox 3"/>
          <p:cNvSpPr txBox="1"/>
          <p:nvPr/>
        </p:nvSpPr>
        <p:spPr>
          <a:xfrm>
            <a:off x="457200" y="1737360"/>
            <a:ext cx="8229600" cy="3794760"/>
          </a:xfrm>
          <a:prstGeom prst="rect">
            <a:avLst/>
          </a:prstGeom>
          <a:noFill/>
        </p:spPr>
        <p:txBody>
          <a:bodyPr wrap="square" lIns="45720" tIns="27432" rIns="45720" bIns="27432" anchor="t">
            <a:spAutoFit/>
          </a:bodyPr>
          <a:lstStyle/>
          <a:p>
            <a:pPr marL="228600" indent="-228600" algn="l">
              <a:spcBef>
                <a:spcPts val="0"/>
              </a:spcBef>
              <a:spcAft>
                <a:spcPts val="0"/>
              </a:spcAft>
              <a:buFont typeface="Arial"/>
              <a:buChar char="➜"/>
            </a:pPr>
            <a:r>
              <a:rPr sz="1550" b="1" i="0">
                <a:solidFill>
                  <a:srgbClr val="EB976D"/>
                </a:solidFill>
                <a:latin typeface="Arial"/>
              </a:rPr>
              <a:t>Alavi, Leidner &amp; Mousavi: </a:t>
            </a:r>
            <a:r>
              <a:rPr sz="1550" b="0" i="0">
                <a:solidFill>
                  <a:srgbClr val="38415C"/>
                </a:solidFill>
                <a:latin typeface="Arial"/>
              </a:rPr>
              <a:t>a GenAI cruza a fronteira epistemológica — de repositório estático a parceiro ativo nas 4 fases do ciclo (criação, recuperação, transferência, aplicação); risco de alucinações e “bolhas”.</a:t>
            </a:r>
          </a:p>
          <a:p>
            <a:pPr marL="228600" indent="-228600" algn="l">
              <a:spcBef>
                <a:spcPts val="1900"/>
              </a:spcBef>
              <a:spcAft>
                <a:spcPts val="0"/>
              </a:spcAft>
              <a:buFont typeface="Arial"/>
              <a:buChar char="➜"/>
            </a:pPr>
            <a:r>
              <a:rPr sz="1550" b="1" i="0">
                <a:solidFill>
                  <a:srgbClr val="EB976D"/>
                </a:solidFill>
                <a:latin typeface="Arial"/>
              </a:rPr>
              <a:t>Böhm &amp; Durst — SECI → GRAI: </a:t>
            </a:r>
            <a:r>
              <a:rPr sz="1550" b="0" i="0">
                <a:solidFill>
                  <a:srgbClr val="38415C"/>
                </a:solidFill>
                <a:latin typeface="Arial"/>
              </a:rPr>
              <a:t>Geração, Recuperação, Análise e Integração; o modelo acomoda a cognição de agentes, não só humana.</a:t>
            </a:r>
          </a:p>
          <a:p>
            <a:pPr marL="228600" indent="-228600" algn="l">
              <a:spcBef>
                <a:spcPts val="1900"/>
              </a:spcBef>
              <a:spcAft>
                <a:spcPts val="0"/>
              </a:spcAft>
              <a:buFont typeface="Arial"/>
              <a:buChar char="➜"/>
            </a:pPr>
            <a:r>
              <a:rPr sz="1550" b="1" i="0">
                <a:solidFill>
                  <a:srgbClr val="EB976D"/>
                </a:solidFill>
                <a:latin typeface="Arial"/>
              </a:rPr>
              <a:t>Storey: </a:t>
            </a:r>
            <a:r>
              <a:rPr sz="1550" b="0" i="0">
                <a:solidFill>
                  <a:srgbClr val="38415C"/>
                </a:solidFill>
                <a:latin typeface="Arial"/>
              </a:rPr>
              <a:t>a competência valiosa migra de know-what / know-how para o know-why — formular boas perguntas e avaliar criticamente as respostas.</a:t>
            </a:r>
          </a:p>
          <a:p>
            <a:pPr marL="228600" indent="-228600" algn="l">
              <a:spcBef>
                <a:spcPts val="1900"/>
              </a:spcBef>
              <a:spcAft>
                <a:spcPts val="0"/>
              </a:spcAft>
              <a:buFont typeface="Arial"/>
              <a:buChar char="➜"/>
            </a:pPr>
            <a:r>
              <a:rPr sz="1550" b="1" i="0">
                <a:solidFill>
                  <a:srgbClr val="EB976D"/>
                </a:solidFill>
                <a:latin typeface="Arial"/>
              </a:rPr>
              <a:t>O'Leary: </a:t>
            </a:r>
            <a:r>
              <a:rPr sz="1550" b="0" i="0">
                <a:solidFill>
                  <a:srgbClr val="38415C"/>
                </a:solidFill>
                <a:latin typeface="Arial"/>
              </a:rPr>
              <a:t>LLMs corporativos (RAG + grafos) exigem curadoria contínua das fontes e auditoria das interações.</a:t>
            </a:r>
          </a:p>
          <a:p>
            <a:pPr marL="228600" indent="-228600" algn="l">
              <a:spcBef>
                <a:spcPts val="1900"/>
              </a:spcBef>
              <a:spcAft>
                <a:spcPts val="0"/>
              </a:spcAft>
              <a:buFont typeface="Arial"/>
              <a:buChar char="➜"/>
            </a:pPr>
            <a:r>
              <a:rPr sz="1550" b="1" i="0">
                <a:solidFill>
                  <a:srgbClr val="EB976D"/>
                </a:solidFill>
                <a:latin typeface="Arial"/>
              </a:rPr>
              <a:t>Jarrahi et al. — simbiose humano-IA: </a:t>
            </a:r>
            <a:r>
              <a:rPr sz="1550" b="0" i="0">
                <a:solidFill>
                  <a:srgbClr val="38415C"/>
                </a:solidFill>
                <a:latin typeface="Arial"/>
              </a:rPr>
              <a:t>IA traz escala e síntese; humanos trazem julgamento, ética e intuição. A GC eficaz depende desse equilíbrio.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Referencial (2/4): Aprendizagem no Fluxo de Trabalho</a:t>
            </a:r>
          </a:p>
        </p:txBody>
      </p:sp>
      <p:sp>
        <p:nvSpPr>
          <p:cNvPr id="4" name="TextBox 3"/>
          <p:cNvSpPr txBox="1"/>
          <p:nvPr/>
        </p:nvSpPr>
        <p:spPr>
          <a:xfrm>
            <a:off x="457200" y="1737360"/>
            <a:ext cx="8229600" cy="3794760"/>
          </a:xfrm>
          <a:prstGeom prst="rect">
            <a:avLst/>
          </a:prstGeom>
          <a:noFill/>
        </p:spPr>
        <p:txBody>
          <a:bodyPr wrap="square" lIns="45720" tIns="27432" rIns="45720" bIns="27432" anchor="t">
            <a:spAutoFit/>
          </a:bodyPr>
          <a:lstStyle/>
          <a:p>
            <a:pPr marL="228600" indent="-228600" algn="l">
              <a:spcBef>
                <a:spcPts val="0"/>
              </a:spcBef>
              <a:spcAft>
                <a:spcPts val="0"/>
              </a:spcAft>
              <a:buFont typeface="Arial"/>
              <a:buChar char="➜"/>
            </a:pPr>
            <a:r>
              <a:rPr sz="1550" b="1" i="0">
                <a:solidFill>
                  <a:srgbClr val="EB976D"/>
                </a:solidFill>
                <a:latin typeface="Arial"/>
              </a:rPr>
              <a:t>Nakash — learning in the flow of work: </a:t>
            </a:r>
            <a:r>
              <a:rPr sz="1550" b="0" i="0">
                <a:solidFill>
                  <a:srgbClr val="38415C"/>
                </a:solidFill>
                <a:latin typeface="Arial"/>
              </a:rPr>
              <a:t>converge Aprendizagem Organizacional e GC; o conhecimento certo, no momento e local do problema.</a:t>
            </a:r>
          </a:p>
          <a:p>
            <a:pPr marL="228600" indent="-228600" algn="l">
              <a:spcBef>
                <a:spcPts val="1900"/>
              </a:spcBef>
              <a:spcAft>
                <a:spcPts val="0"/>
              </a:spcAft>
              <a:buFont typeface="Arial"/>
              <a:buChar char="➜"/>
            </a:pPr>
            <a:r>
              <a:rPr sz="1550" b="1" i="0">
                <a:solidFill>
                  <a:srgbClr val="EB976D"/>
                </a:solidFill>
                <a:latin typeface="Arial"/>
              </a:rPr>
              <a:t>Lombardozzi: </a:t>
            </a:r>
            <a:r>
              <a:rPr sz="1550" b="0" i="0">
                <a:solidFill>
                  <a:srgbClr val="38415C"/>
                </a:solidFill>
                <a:latin typeface="Arial"/>
              </a:rPr>
              <a:t>a aprendizagem autodirigida exige “andaimes” (scaffolding); a UC migra de entregar conteúdo a curar andaimes.</a:t>
            </a:r>
          </a:p>
          <a:p>
            <a:pPr marL="228600" indent="-228600" algn="l">
              <a:spcBef>
                <a:spcPts val="1900"/>
              </a:spcBef>
              <a:spcAft>
                <a:spcPts val="0"/>
              </a:spcAft>
              <a:buFont typeface="Arial"/>
              <a:buChar char="➜"/>
            </a:pPr>
            <a:r>
              <a:rPr sz="1550" b="1" i="0">
                <a:solidFill>
                  <a:srgbClr val="EB976D"/>
                </a:solidFill>
                <a:latin typeface="Arial"/>
              </a:rPr>
              <a:t>Callari &amp; Puppione: </a:t>
            </a:r>
            <a:r>
              <a:rPr sz="1550" b="0" i="0">
                <a:solidFill>
                  <a:srgbClr val="38415C"/>
                </a:solidFill>
                <a:latin typeface="Arial"/>
              </a:rPr>
              <a:t>assistentes de IA aceleram, mas exigem treino para não virarem “muletas cognitivas”.</a:t>
            </a:r>
          </a:p>
          <a:p>
            <a:pPr marL="228600" indent="-228600" algn="l">
              <a:spcBef>
                <a:spcPts val="1900"/>
              </a:spcBef>
              <a:spcAft>
                <a:spcPts val="0"/>
              </a:spcAft>
              <a:buFont typeface="Arial"/>
              <a:buChar char="➜"/>
            </a:pPr>
            <a:r>
              <a:rPr sz="1550" b="1" i="0">
                <a:solidFill>
                  <a:srgbClr val="EB976D"/>
                </a:solidFill>
                <a:latin typeface="Arial"/>
              </a:rPr>
              <a:t>Rausch: </a:t>
            </a:r>
            <a:r>
              <a:rPr sz="1550" b="0" i="0">
                <a:solidFill>
                  <a:srgbClr val="38415C"/>
                </a:solidFill>
                <a:latin typeface="Arial"/>
              </a:rPr>
              <a:t>a IA como parceiro socrático — desafia o trabalhador com perguntas e cenários alternativos.</a:t>
            </a:r>
          </a:p>
          <a:p>
            <a:pPr marL="228600" indent="-228600" algn="l">
              <a:spcBef>
                <a:spcPts val="1900"/>
              </a:spcBef>
              <a:spcAft>
                <a:spcPts val="0"/>
              </a:spcAft>
              <a:buFont typeface="Arial"/>
              <a:buChar char="➜"/>
            </a:pPr>
            <a:r>
              <a:rPr sz="1550" b="1" i="0">
                <a:solidFill>
                  <a:srgbClr val="EB976D"/>
                </a:solidFill>
                <a:latin typeface="Arial"/>
              </a:rPr>
              <a:t>Morandini et al. / Li (Indústria 5.0): </a:t>
            </a:r>
            <a:r>
              <a:rPr sz="1550" b="0" i="0">
                <a:solidFill>
                  <a:srgbClr val="38415C"/>
                </a:solidFill>
                <a:latin typeface="Arial"/>
              </a:rPr>
              <a:t>metacompetências (crítica, prompts, ética) superam habilidades operacionais; currículos modulares e dinâmicos.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Referencial (3/4): IA como Agente Organizacional</a:t>
            </a:r>
          </a:p>
        </p:txBody>
      </p:sp>
      <p:sp>
        <p:nvSpPr>
          <p:cNvPr id="4" name="TextBox 3"/>
          <p:cNvSpPr txBox="1"/>
          <p:nvPr/>
        </p:nvSpPr>
        <p:spPr>
          <a:xfrm>
            <a:off x="457200" y="1783080"/>
            <a:ext cx="8229600" cy="3291840"/>
          </a:xfrm>
          <a:prstGeom prst="rect">
            <a:avLst/>
          </a:prstGeom>
          <a:noFill/>
        </p:spPr>
        <p:txBody>
          <a:bodyPr wrap="square" lIns="45720" tIns="27432" rIns="45720" bIns="27432" anchor="t">
            <a:spAutoFit/>
          </a:bodyPr>
          <a:lstStyle/>
          <a:p>
            <a:pPr marL="228600" indent="-228600" algn="l">
              <a:spcBef>
                <a:spcPts val="0"/>
              </a:spcBef>
              <a:spcAft>
                <a:spcPts val="0"/>
              </a:spcAft>
              <a:buFont typeface="Arial"/>
              <a:buChar char="➜"/>
            </a:pPr>
            <a:r>
              <a:rPr sz="1400" b="1" i="0">
                <a:solidFill>
                  <a:srgbClr val="EB976D"/>
                </a:solidFill>
                <a:latin typeface="Arial"/>
              </a:rPr>
              <a:t>Islam &amp; Ajmal — coevolução: </a:t>
            </a:r>
            <a:r>
              <a:rPr sz="1400" b="0" i="0">
                <a:solidFill>
                  <a:srgbClr val="38415C"/>
                </a:solidFill>
                <a:latin typeface="Arial"/>
              </a:rPr>
              <a:t>fluxo bidirecional — humanos treinam agentes; agentes decidem, geram soluções e produzem conhecimento explícito. O saber vira artefato sociotécnico coproduzido.</a:t>
            </a:r>
          </a:p>
          <a:p>
            <a:pPr marL="228600" indent="-228600" algn="l">
              <a:spcBef>
                <a:spcPts val="1200"/>
              </a:spcBef>
              <a:spcAft>
                <a:spcPts val="0"/>
              </a:spcAft>
              <a:buFont typeface="Arial"/>
              <a:buChar char="➜"/>
            </a:pPr>
            <a:r>
              <a:rPr sz="1400" b="1" i="0">
                <a:solidFill>
                  <a:srgbClr val="EB976D"/>
                </a:solidFill>
                <a:latin typeface="Arial"/>
              </a:rPr>
              <a:t>Faraj et al. — “monstros de Haraway”: </a:t>
            </a:r>
            <a:r>
              <a:rPr sz="1400" b="0" i="0">
                <a:solidFill>
                  <a:srgbClr val="38415C"/>
                </a:solidFill>
                <a:latin typeface="Arial"/>
              </a:rPr>
              <a:t>entidades híbridas que desestabilizam a fronteira humano/máquina; o saber pós-LLM é distribuído em redes sociotécnicas.</a:t>
            </a:r>
          </a:p>
          <a:p>
            <a:pPr marL="228600" indent="-228600" algn="l">
              <a:spcBef>
                <a:spcPts val="1200"/>
              </a:spcBef>
              <a:spcAft>
                <a:spcPts val="0"/>
              </a:spcAft>
              <a:buFont typeface="Arial"/>
              <a:buChar char="➜"/>
            </a:pPr>
            <a:r>
              <a:rPr sz="1400" b="1" i="0">
                <a:solidFill>
                  <a:srgbClr val="EB976D"/>
                </a:solidFill>
                <a:latin typeface="Arial"/>
              </a:rPr>
              <a:t>He &amp; Burger-Helmchen: </a:t>
            </a:r>
            <a:r>
              <a:rPr sz="1400" b="0" i="0">
                <a:solidFill>
                  <a:srgbClr val="38415C"/>
                </a:solidFill>
                <a:latin typeface="Arial"/>
              </a:rPr>
              <a:t>a IA como parceira de equipe redefine confiança e legitimidade — o desafio é gerir a autoridade epistêmica preservando a contestação humana.</a:t>
            </a:r>
          </a:p>
        </p:txBody>
      </p:sp>
      <p:sp>
        <p:nvSpPr>
          <p:cNvPr id="5" name="Rectangle 4"/>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Da taxonomia instrumental (ferramenta passiva) à </a:t>
            </a:r>
            <a:r>
              <a:rPr sz="1250" b="1">
                <a:solidFill>
                  <a:srgbClr val="EB976D"/>
                </a:solidFill>
                <a:latin typeface="Arial"/>
              </a:rPr>
              <a:t>agência material não-humana</a:t>
            </a:r>
            <a:r>
              <a:rPr sz="1250" b="0">
                <a:solidFill>
                  <a:srgbClr val="FFFFFF"/>
                </a:solidFill>
                <a:latin typeface="Arial"/>
              </a:rPr>
              <a:t> nos processos organizacionais.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Referencial (4/4): Governança de IA na Organização</a:t>
            </a:r>
          </a:p>
        </p:txBody>
      </p:sp>
      <p:sp>
        <p:nvSpPr>
          <p:cNvPr id="4" name="TextBox 3"/>
          <p:cNvSpPr txBox="1"/>
          <p:nvPr/>
        </p:nvSpPr>
        <p:spPr>
          <a:xfrm>
            <a:off x="457200" y="1783080"/>
            <a:ext cx="8229600" cy="3291840"/>
          </a:xfrm>
          <a:prstGeom prst="rect">
            <a:avLst/>
          </a:prstGeom>
          <a:noFill/>
        </p:spPr>
        <p:txBody>
          <a:bodyPr wrap="square" lIns="45720" tIns="27432" rIns="45720" bIns="27432" anchor="t">
            <a:spAutoFit/>
          </a:bodyPr>
          <a:lstStyle/>
          <a:p>
            <a:pPr marL="228600" indent="-228600" algn="l">
              <a:spcBef>
                <a:spcPts val="0"/>
              </a:spcBef>
              <a:spcAft>
                <a:spcPts val="0"/>
              </a:spcAft>
              <a:buFont typeface="Arial"/>
              <a:buChar char="➜"/>
            </a:pPr>
            <a:r>
              <a:rPr sz="1400" b="1" i="0">
                <a:solidFill>
                  <a:srgbClr val="EB976D"/>
                </a:solidFill>
                <a:latin typeface="Arial"/>
              </a:rPr>
              <a:t>Birkstedt et al. — 4 pilares: </a:t>
            </a:r>
            <a:r>
              <a:rPr sz="1400" b="0" i="0">
                <a:solidFill>
                  <a:srgbClr val="38415C"/>
                </a:solidFill>
                <a:latin typeface="Arial"/>
              </a:rPr>
              <a:t>ética, accountability, transparência e controle. Capacitação contínua é o principal mitigador — responsabilidade da UC.</a:t>
            </a:r>
          </a:p>
          <a:p>
            <a:pPr marL="228600" indent="-228600" algn="l">
              <a:spcBef>
                <a:spcPts val="1200"/>
              </a:spcBef>
              <a:spcAft>
                <a:spcPts val="0"/>
              </a:spcAft>
              <a:buFont typeface="Arial"/>
              <a:buChar char="➜"/>
            </a:pPr>
            <a:r>
              <a:rPr sz="1400" b="1" i="0">
                <a:solidFill>
                  <a:srgbClr val="EB976D"/>
                </a:solidFill>
                <a:latin typeface="Arial"/>
              </a:rPr>
              <a:t>Benjamins — choices framework: </a:t>
            </a:r>
            <a:r>
              <a:rPr sz="1400" b="0" i="0">
                <a:solidFill>
                  <a:srgbClr val="38415C"/>
                </a:solidFill>
                <a:latin typeface="Arial"/>
              </a:rPr>
              <a:t>matriz ética para definir o que delegar e em que nível de supervisão (human-in / on / out-of-the-loop).</a:t>
            </a:r>
          </a:p>
          <a:p>
            <a:pPr marL="228600" indent="-228600" algn="l">
              <a:spcBef>
                <a:spcPts val="1200"/>
              </a:spcBef>
              <a:spcAft>
                <a:spcPts val="0"/>
              </a:spcAft>
              <a:buFont typeface="Arial"/>
              <a:buChar char="➜"/>
            </a:pPr>
            <a:r>
              <a:rPr sz="1400" b="1" i="0">
                <a:solidFill>
                  <a:srgbClr val="EB976D"/>
                </a:solidFill>
                <a:latin typeface="Arial"/>
              </a:rPr>
              <a:t>Sprongl — AI Integration Framework: </a:t>
            </a:r>
            <a:r>
              <a:rPr sz="1400" b="0" i="0">
                <a:solidFill>
                  <a:srgbClr val="38415C"/>
                </a:solidFill>
                <a:latin typeface="Arial"/>
              </a:rPr>
              <a:t>ciclo de vida completo: viabilidade, validação de fontes, segurança, drift analysis e desativação segura.</a:t>
            </a:r>
          </a:p>
          <a:p>
            <a:pPr marL="228600" indent="-228600" algn="l">
              <a:spcBef>
                <a:spcPts val="1200"/>
              </a:spcBef>
              <a:spcAft>
                <a:spcPts val="0"/>
              </a:spcAft>
              <a:buFont typeface="Arial"/>
              <a:buChar char="➜"/>
            </a:pPr>
            <a:r>
              <a:rPr sz="1400" b="1" i="0">
                <a:solidFill>
                  <a:srgbClr val="EB976D"/>
                </a:solidFill>
                <a:latin typeface="Arial"/>
              </a:rPr>
              <a:t>Joshi — governança por design: </a:t>
            </a:r>
            <a:r>
              <a:rPr sz="1400" b="0" i="0">
                <a:solidFill>
                  <a:srgbClr val="38415C"/>
                </a:solidFill>
                <a:latin typeface="Arial"/>
              </a:rPr>
              <a:t>para IA agêntica, auditoria estática não basta: guardrails programáticos, contenção de erros e rastreabilidade em tempo real.</a:t>
            </a:r>
          </a:p>
        </p:txBody>
      </p:sp>
      <p:sp>
        <p:nvSpPr>
          <p:cNvPr id="5" name="Rectangle 4"/>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Governança de IA = função de </a:t>
            </a:r>
            <a:r>
              <a:rPr sz="1250" b="1">
                <a:solidFill>
                  <a:srgbClr val="EB976D"/>
                </a:solidFill>
                <a:latin typeface="Arial"/>
              </a:rPr>
              <a:t>aprendizagem organizacional</a:t>
            </a:r>
            <a:r>
              <a:rPr sz="1250" b="0">
                <a:solidFill>
                  <a:srgbClr val="FFFFFF"/>
                </a:solidFill>
                <a:latin typeface="Arial"/>
              </a:rPr>
              <a:t>, não apenas conformidade técnica de TI.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A Virada Conceitual: IA como Agente, não apenas Ferramenta</a:t>
            </a:r>
          </a:p>
        </p:txBody>
      </p:sp>
      <p:sp>
        <p:nvSpPr>
          <p:cNvPr id="4" name="Rectangle 3"/>
          <p:cNvSpPr/>
          <p:nvPr/>
        </p:nvSpPr>
        <p:spPr>
          <a:xfrm>
            <a:off x="365760" y="1783080"/>
            <a:ext cx="3977639" cy="356616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783080"/>
            <a:ext cx="3977639" cy="384048"/>
          </a:xfrm>
          <a:prstGeom prst="rect">
            <a:avLst/>
          </a:prstGeom>
          <a:solidFill>
            <a:srgbClr val="8C8C96"/>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IA COMO FERRAMENTA  (infraestrutura)</a:t>
            </a:r>
          </a:p>
        </p:txBody>
      </p:sp>
      <p:sp>
        <p:nvSpPr>
          <p:cNvPr id="6" name="TextBox 5"/>
          <p:cNvSpPr txBox="1"/>
          <p:nvPr/>
        </p:nvSpPr>
        <p:spPr>
          <a:xfrm>
            <a:off x="475488" y="2240280"/>
            <a:ext cx="3758183" cy="301752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38415C"/>
                </a:solidFill>
                <a:latin typeface="Arial"/>
              </a:rPr>
              <a:t>Sensing de competências por IA</a:t>
            </a:r>
          </a:p>
          <a:p>
            <a:pPr marL="228600" indent="-228600" algn="l">
              <a:spcBef>
                <a:spcPts val="1800"/>
              </a:spcBef>
              <a:spcAft>
                <a:spcPts val="0"/>
              </a:spcAft>
              <a:buFont typeface="Arial"/>
              <a:buChar char="➜"/>
            </a:pPr>
            <a:r>
              <a:rPr sz="1300" b="0" i="0">
                <a:solidFill>
                  <a:srgbClr val="38415C"/>
                </a:solidFill>
                <a:latin typeface="Arial"/>
              </a:rPr>
              <a:t>RAG corporativo e busca semântica</a:t>
            </a:r>
          </a:p>
          <a:p>
            <a:pPr marL="228600" indent="-228600" algn="l">
              <a:spcBef>
                <a:spcPts val="1800"/>
              </a:spcBef>
              <a:spcAft>
                <a:spcPts val="0"/>
              </a:spcAft>
              <a:buFont typeface="Arial"/>
              <a:buChar char="➜"/>
            </a:pPr>
            <a:r>
              <a:rPr sz="1300" b="0" i="0">
                <a:solidFill>
                  <a:srgbClr val="38415C"/>
                </a:solidFill>
                <a:latin typeface="Arial"/>
              </a:rPr>
              <a:t>Assistentes embarcados no fluxo</a:t>
            </a:r>
          </a:p>
          <a:p>
            <a:pPr marL="228600" indent="-228600" algn="l">
              <a:spcBef>
                <a:spcPts val="1800"/>
              </a:spcBef>
              <a:spcAft>
                <a:spcPts val="0"/>
              </a:spcAft>
              <a:buFont typeface="Arial"/>
              <a:buChar char="➜"/>
            </a:pPr>
            <a:r>
              <a:rPr sz="1300" b="0" i="0">
                <a:solidFill>
                  <a:srgbClr val="38415C"/>
                </a:solidFill>
                <a:latin typeface="Arial"/>
              </a:rPr>
              <a:t>Curadoria automatizada de conteúdo</a:t>
            </a:r>
          </a:p>
          <a:p>
            <a:pPr marL="228600" indent="-228600" algn="l">
              <a:spcBef>
                <a:spcPts val="1800"/>
              </a:spcBef>
              <a:spcAft>
                <a:spcPts val="0"/>
              </a:spcAft>
              <a:buFont typeface="Arial"/>
              <a:buChar char="➜"/>
            </a:pPr>
            <a:r>
              <a:rPr sz="1300" b="0" i="0">
                <a:solidFill>
                  <a:srgbClr val="38415C"/>
                </a:solidFill>
                <a:latin typeface="Arial"/>
              </a:rPr>
              <a:t>Bancos vetoriais e grafos de conhecimento</a:t>
            </a:r>
          </a:p>
        </p:txBody>
      </p:sp>
      <p:sp>
        <p:nvSpPr>
          <p:cNvPr id="7" name="Rectangle 6"/>
          <p:cNvSpPr/>
          <p:nvPr/>
        </p:nvSpPr>
        <p:spPr>
          <a:xfrm>
            <a:off x="4800600" y="1783080"/>
            <a:ext cx="3977639" cy="3566160"/>
          </a:xfrm>
          <a:prstGeom prst="rect">
            <a:avLst/>
          </a:prstGeom>
          <a:solidFill>
            <a:srgbClr val="2B364F"/>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00600" y="1783080"/>
            <a:ext cx="3977639" cy="384048"/>
          </a:xfrm>
          <a:prstGeom prst="rect">
            <a:avLst/>
          </a:prstGeom>
          <a:solidFill>
            <a:srgbClr val="EB976D"/>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IA COMO AGENTE ORGANIZACIONAL</a:t>
            </a:r>
          </a:p>
        </p:txBody>
      </p:sp>
      <p:sp>
        <p:nvSpPr>
          <p:cNvPr id="9" name="TextBox 8"/>
          <p:cNvSpPr txBox="1"/>
          <p:nvPr/>
        </p:nvSpPr>
        <p:spPr>
          <a:xfrm>
            <a:off x="4910328" y="2240280"/>
            <a:ext cx="3758183" cy="301752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FFFFFF"/>
                </a:solidFill>
                <a:latin typeface="Arial"/>
              </a:rPr>
              <a:t>Co-define a estratégia de aprendizagem</a:t>
            </a:r>
          </a:p>
          <a:p>
            <a:pPr marL="228600" indent="-228600" algn="l">
              <a:spcBef>
                <a:spcPts val="1800"/>
              </a:spcBef>
              <a:spcAft>
                <a:spcPts val="0"/>
              </a:spcAft>
              <a:buFont typeface="Arial"/>
              <a:buChar char="➜"/>
            </a:pPr>
            <a:r>
              <a:rPr sz="1300" b="0" i="0">
                <a:solidFill>
                  <a:srgbClr val="FFFFFF"/>
                </a:solidFill>
                <a:latin typeface="Arial"/>
              </a:rPr>
              <a:t>Gera conhecimento original no fluxo</a:t>
            </a:r>
          </a:p>
          <a:p>
            <a:pPr marL="228600" indent="-228600" algn="l">
              <a:spcBef>
                <a:spcPts val="1800"/>
              </a:spcBef>
              <a:spcAft>
                <a:spcPts val="0"/>
              </a:spcAft>
              <a:buFont typeface="Arial"/>
              <a:buChar char="➜"/>
            </a:pPr>
            <a:r>
              <a:rPr sz="1300" b="0" i="0">
                <a:solidFill>
                  <a:srgbClr val="FFFFFF"/>
                </a:solidFill>
                <a:latin typeface="Arial"/>
              </a:rPr>
              <a:t>Negocia premissas e questiona decisões</a:t>
            </a:r>
          </a:p>
          <a:p>
            <a:pPr marL="228600" indent="-228600" algn="l">
              <a:spcBef>
                <a:spcPts val="1800"/>
              </a:spcBef>
              <a:spcAft>
                <a:spcPts val="0"/>
              </a:spcAft>
              <a:buFont typeface="Arial"/>
              <a:buChar char="➜"/>
            </a:pPr>
            <a:r>
              <a:rPr sz="1300" b="0" i="0">
                <a:solidFill>
                  <a:srgbClr val="FFFFFF"/>
                </a:solidFill>
                <a:latin typeface="Arial"/>
              </a:rPr>
              <a:t>Coevolui com humanos (redes híbridas)</a:t>
            </a:r>
          </a:p>
          <a:p>
            <a:pPr marL="228600" indent="-228600" algn="l">
              <a:spcBef>
                <a:spcPts val="1800"/>
              </a:spcBef>
              <a:spcAft>
                <a:spcPts val="0"/>
              </a:spcAft>
              <a:buFont typeface="Arial"/>
              <a:buChar char="➜"/>
            </a:pPr>
            <a:r>
              <a:rPr sz="1300" b="0" i="0">
                <a:solidFill>
                  <a:srgbClr val="FFFFFF"/>
                </a:solidFill>
                <a:latin typeface="Arial"/>
              </a:rPr>
              <a:t>Produz insumo para auditar a governança</a:t>
            </a:r>
          </a:p>
        </p:txBody>
      </p:sp>
      <p:sp>
        <p:nvSpPr>
          <p:cNvPr id="10" name="Rectangle 9"/>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A UC deixa de ser estrutura de alinhamento e torna-se </a:t>
            </a:r>
            <a:r>
              <a:rPr sz="1250" b="1">
                <a:solidFill>
                  <a:srgbClr val="EB976D"/>
                </a:solidFill>
                <a:latin typeface="Arial"/>
              </a:rPr>
              <a:t>ecossistema sociotécnico coevolutivo</a:t>
            </a:r>
            <a:r>
              <a:rPr sz="1250" b="0">
                <a:solidFill>
                  <a:srgbClr val="FFFFFF"/>
                </a:solidFill>
                <a:latin typeface="Aria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Metodologia: Abordagem Conceitual-Construtiva</a:t>
            </a:r>
          </a:p>
        </p:txBody>
      </p:sp>
      <p:sp>
        <p:nvSpPr>
          <p:cNvPr id="4" name="TextBox 3"/>
          <p:cNvSpPr txBox="1"/>
          <p:nvPr/>
        </p:nvSpPr>
        <p:spPr>
          <a:xfrm>
            <a:off x="457200" y="1325880"/>
            <a:ext cx="8229600" cy="411480"/>
          </a:xfrm>
          <a:prstGeom prst="rect">
            <a:avLst/>
          </a:prstGeom>
          <a:noFill/>
        </p:spPr>
        <p:txBody>
          <a:bodyPr wrap="square" lIns="45720" tIns="27432" rIns="45720" bIns="27432" anchor="t">
            <a:spAutoFit/>
          </a:bodyPr>
          <a:lstStyle/>
          <a:p>
            <a:pPr algn="l">
              <a:spcBef>
                <a:spcPts val="0"/>
              </a:spcBef>
              <a:spcAft>
                <a:spcPts val="0"/>
              </a:spcAft>
              <a:buNone/>
            </a:pPr>
            <a:r>
              <a:rPr sz="1250" b="0" i="1">
                <a:solidFill>
                  <a:srgbClr val="8C8C96"/>
                </a:solidFill>
                <a:latin typeface="Arial"/>
              </a:rPr>
              <a:t>Método amplamente usado em Sistemas de Informação para criar/estender modelos conceituais</a:t>
            </a:r>
          </a:p>
        </p:txBody>
      </p:sp>
      <p:sp>
        <p:nvSpPr>
          <p:cNvPr id="5" name="Rounded Rectangle 4"/>
          <p:cNvSpPr/>
          <p:nvPr/>
        </p:nvSpPr>
        <p:spPr>
          <a:xfrm>
            <a:off x="365760" y="1965960"/>
            <a:ext cx="2057400" cy="269748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09728" tIns="128016" rIns="109728" rtlCol="0" anchor="t"/>
          <a:lstStyle/>
          <a:p>
            <a:pPr algn="l">
              <a:spcBef>
                <a:spcPts val="0"/>
              </a:spcBef>
              <a:spcAft>
                <a:spcPts val="0"/>
              </a:spcAft>
              <a:buNone/>
            </a:pPr>
            <a:r>
              <a:rPr sz="1450" b="1" i="0">
                <a:solidFill>
                  <a:srgbClr val="EB976D"/>
                </a:solidFill>
                <a:latin typeface="Arial"/>
              </a:rPr>
              <a:t>1. Problema &amp; gap</a:t>
            </a:r>
          </a:p>
          <a:p>
            <a:pPr algn="l">
              <a:spcBef>
                <a:spcPts val="1200"/>
              </a:spcBef>
              <a:spcAft>
                <a:spcPts val="0"/>
              </a:spcAft>
              <a:buNone/>
            </a:pPr>
            <a:r>
              <a:rPr sz="1250" b="0" i="0">
                <a:solidFill>
                  <a:srgbClr val="38415C"/>
                </a:solidFill>
                <a:latin typeface="Arial"/>
              </a:rPr>
              <a:t>Modelos de UC não refletem a IA Generativa (Mora-Mora et al.)</a:t>
            </a:r>
          </a:p>
        </p:txBody>
      </p:sp>
      <p:sp>
        <p:nvSpPr>
          <p:cNvPr id="6" name="Rounded Rectangle 5"/>
          <p:cNvSpPr/>
          <p:nvPr/>
        </p:nvSpPr>
        <p:spPr>
          <a:xfrm>
            <a:off x="2542032" y="1965960"/>
            <a:ext cx="2057400" cy="269748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09728" tIns="128016" rIns="109728" rtlCol="0" anchor="t"/>
          <a:lstStyle/>
          <a:p>
            <a:pPr algn="l">
              <a:spcBef>
                <a:spcPts val="0"/>
              </a:spcBef>
              <a:spcAft>
                <a:spcPts val="0"/>
              </a:spcAft>
              <a:buNone/>
            </a:pPr>
            <a:r>
              <a:rPr sz="1450" b="1" i="0">
                <a:solidFill>
                  <a:srgbClr val="EB976D"/>
                </a:solidFill>
                <a:latin typeface="Arial"/>
              </a:rPr>
              <a:t>2. Lentes teóricas</a:t>
            </a:r>
          </a:p>
          <a:p>
            <a:pPr algn="l">
              <a:spcBef>
                <a:spcPts val="1200"/>
              </a:spcBef>
              <a:spcAft>
                <a:spcPts val="0"/>
              </a:spcAft>
              <a:buNone/>
            </a:pPr>
            <a:r>
              <a:rPr sz="1250" b="0" i="0">
                <a:solidFill>
                  <a:srgbClr val="38415C"/>
                </a:solidFill>
                <a:latin typeface="Arial"/>
              </a:rPr>
              <a:t>Simbiose humano-IA (Jarrahi); GC de Prat e Stollenwerk</a:t>
            </a:r>
          </a:p>
        </p:txBody>
      </p:sp>
      <p:sp>
        <p:nvSpPr>
          <p:cNvPr id="7" name="Rounded Rectangle 6"/>
          <p:cNvSpPr/>
          <p:nvPr/>
        </p:nvSpPr>
        <p:spPr>
          <a:xfrm>
            <a:off x="4718304" y="1965960"/>
            <a:ext cx="2057400" cy="269748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09728" tIns="128016" rIns="109728" rtlCol="0" anchor="t"/>
          <a:lstStyle/>
          <a:p>
            <a:pPr algn="l">
              <a:spcBef>
                <a:spcPts val="0"/>
              </a:spcBef>
              <a:spcAft>
                <a:spcPts val="0"/>
              </a:spcAft>
              <a:buNone/>
            </a:pPr>
            <a:r>
              <a:rPr sz="1450" b="1" i="0">
                <a:solidFill>
                  <a:srgbClr val="EB976D"/>
                </a:solidFill>
                <a:latin typeface="Arial"/>
              </a:rPr>
              <a:t>3. Projeto do retrofit</a:t>
            </a:r>
          </a:p>
          <a:p>
            <a:pPr algn="l">
              <a:spcBef>
                <a:spcPts val="1200"/>
              </a:spcBef>
              <a:spcAft>
                <a:spcPts val="0"/>
              </a:spcAft>
              <a:buNone/>
            </a:pPr>
            <a:r>
              <a:rPr sz="1250" b="0" i="0">
                <a:solidFill>
                  <a:srgbClr val="38415C"/>
                </a:solidFill>
                <a:latin typeface="Arial"/>
              </a:rPr>
              <a:t>Reinterpretar Motive/Model/Moment sob a dupla perspectiva</a:t>
            </a:r>
          </a:p>
        </p:txBody>
      </p:sp>
      <p:sp>
        <p:nvSpPr>
          <p:cNvPr id="8" name="Rounded Rectangle 7"/>
          <p:cNvSpPr/>
          <p:nvPr/>
        </p:nvSpPr>
        <p:spPr>
          <a:xfrm>
            <a:off x="6894576" y="1965960"/>
            <a:ext cx="2057400" cy="269748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09728" tIns="128016" rIns="109728" rtlCol="0" anchor="t"/>
          <a:lstStyle/>
          <a:p>
            <a:pPr algn="l">
              <a:spcBef>
                <a:spcPts val="0"/>
              </a:spcBef>
              <a:spcAft>
                <a:spcPts val="0"/>
              </a:spcAft>
              <a:buNone/>
            </a:pPr>
            <a:r>
              <a:rPr sz="1450" b="1" i="0">
                <a:solidFill>
                  <a:srgbClr val="EB976D"/>
                </a:solidFill>
                <a:latin typeface="Arial"/>
              </a:rPr>
              <a:t>4. Avaliação de cobertura</a:t>
            </a:r>
          </a:p>
          <a:p>
            <a:pPr algn="l">
              <a:spcBef>
                <a:spcPts val="1200"/>
              </a:spcBef>
              <a:spcAft>
                <a:spcPts val="0"/>
              </a:spcAft>
              <a:buNone/>
            </a:pPr>
            <a:r>
              <a:rPr sz="1250" b="0" i="0">
                <a:solidFill>
                  <a:srgbClr val="38415C"/>
                </a:solidFill>
                <a:latin typeface="Arial"/>
              </a:rPr>
              <a:t>Comparação conceitual frente aos 19 modelos</a:t>
            </a:r>
          </a:p>
        </p:txBody>
      </p:sp>
      <p:sp>
        <p:nvSpPr>
          <p:cNvPr id="9" name="Rectangle 8"/>
          <p:cNvSpPr/>
          <p:nvPr/>
        </p:nvSpPr>
        <p:spPr>
          <a:xfrm>
            <a:off x="365760" y="5029200"/>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1">
                <a:solidFill>
                  <a:srgbClr val="EB976D"/>
                </a:solidFill>
                <a:latin typeface="Arial"/>
              </a:rPr>
              <a:t>Retrofit teórico: </a:t>
            </a:r>
            <a:r>
              <a:rPr sz="1250" b="0">
                <a:solidFill>
                  <a:srgbClr val="FFFFFF"/>
                </a:solidFill>
                <a:latin typeface="Arial"/>
              </a:rPr>
              <a:t>modernização aditiva-reinterpretativa — insere a IA sem desestruturar os pilares consolidados do 3M.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Metodologia: Pipeline Agêntico SLR-RAG</a:t>
            </a:r>
          </a:p>
        </p:txBody>
      </p:sp>
      <p:sp>
        <p:nvSpPr>
          <p:cNvPr id="4" name="TextBox 3"/>
          <p:cNvSpPr txBox="1"/>
          <p:nvPr/>
        </p:nvSpPr>
        <p:spPr>
          <a:xfrm>
            <a:off x="457200" y="1325880"/>
            <a:ext cx="8229600" cy="411480"/>
          </a:xfrm>
          <a:prstGeom prst="rect">
            <a:avLst/>
          </a:prstGeom>
          <a:noFill/>
        </p:spPr>
        <p:txBody>
          <a:bodyPr wrap="square" lIns="45720" tIns="27432" rIns="45720" bIns="27432" anchor="t">
            <a:spAutoFit/>
          </a:bodyPr>
          <a:lstStyle/>
          <a:p>
            <a:pPr algn="l">
              <a:spcBef>
                <a:spcPts val="0"/>
              </a:spcBef>
              <a:spcAft>
                <a:spcPts val="0"/>
              </a:spcAft>
              <a:buNone/>
            </a:pPr>
            <a:r>
              <a:rPr sz="1250" b="0" i="1">
                <a:solidFill>
                  <a:srgbClr val="8C8C96"/>
                </a:solidFill>
                <a:latin typeface="Arial"/>
              </a:rPr>
              <a:t>Scoping review automatizada — escalável, reprodutível e auditável (3 módulos)</a:t>
            </a:r>
          </a:p>
        </p:txBody>
      </p:sp>
      <p:sp>
        <p:nvSpPr>
          <p:cNvPr id="5" name="Rectangle 4"/>
          <p:cNvSpPr/>
          <p:nvPr/>
        </p:nvSpPr>
        <p:spPr>
          <a:xfrm>
            <a:off x="365760" y="1828800"/>
            <a:ext cx="2743200" cy="233172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828800"/>
            <a:ext cx="2743200" cy="384048"/>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1. Busca &amp; Ingestão</a:t>
            </a:r>
          </a:p>
        </p:txBody>
      </p:sp>
      <p:sp>
        <p:nvSpPr>
          <p:cNvPr id="7" name="TextBox 6"/>
          <p:cNvSpPr txBox="1"/>
          <p:nvPr/>
        </p:nvSpPr>
        <p:spPr>
          <a:xfrm>
            <a:off x="475488" y="2286000"/>
            <a:ext cx="2523744" cy="1783079"/>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100" b="0" i="0">
                <a:solidFill>
                  <a:srgbClr val="38415C"/>
                </a:solidFill>
                <a:latin typeface="Arial"/>
              </a:rPr>
              <a:t>Crossref, Semantic Scholar, Unpaywall (httpx, async)</a:t>
            </a:r>
          </a:p>
          <a:p>
            <a:pPr marL="228600" indent="-228600" algn="l">
              <a:spcBef>
                <a:spcPts val="700"/>
              </a:spcBef>
              <a:spcAft>
                <a:spcPts val="0"/>
              </a:spcAft>
              <a:buFont typeface="Arial"/>
              <a:buChar char="➜"/>
            </a:pPr>
            <a:r>
              <a:rPr sz="1100" b="0" i="0">
                <a:solidFill>
                  <a:srgbClr val="38415C"/>
                </a:solidFill>
                <a:latin typeface="Arial"/>
              </a:rPr>
              <a:t>Exponential backoff + polite pool</a:t>
            </a:r>
          </a:p>
          <a:p>
            <a:pPr marL="228600" indent="-228600" algn="l">
              <a:spcBef>
                <a:spcPts val="700"/>
              </a:spcBef>
              <a:spcAft>
                <a:spcPts val="0"/>
              </a:spcAft>
              <a:buFont typeface="Arial"/>
              <a:buChar char="➜"/>
            </a:pPr>
            <a:r>
              <a:rPr sz="1100" b="0" i="0">
                <a:solidFill>
                  <a:srgbClr val="38415C"/>
                </a:solidFill>
                <a:latin typeface="Arial"/>
              </a:rPr>
              <a:t>Scraping Playwright/Chromium para fontes sem API</a:t>
            </a:r>
          </a:p>
        </p:txBody>
      </p:sp>
      <p:sp>
        <p:nvSpPr>
          <p:cNvPr id="8" name="Rectangle 7"/>
          <p:cNvSpPr/>
          <p:nvPr/>
        </p:nvSpPr>
        <p:spPr>
          <a:xfrm>
            <a:off x="3246120" y="1828800"/>
            <a:ext cx="2743200" cy="233172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46120" y="1828800"/>
            <a:ext cx="2743200" cy="384048"/>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2. Avaliador Semântico</a:t>
            </a:r>
          </a:p>
        </p:txBody>
      </p:sp>
      <p:sp>
        <p:nvSpPr>
          <p:cNvPr id="10" name="TextBox 9"/>
          <p:cNvSpPr txBox="1"/>
          <p:nvPr/>
        </p:nvSpPr>
        <p:spPr>
          <a:xfrm>
            <a:off x="3355848" y="2286000"/>
            <a:ext cx="2523744" cy="1783079"/>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100" b="0" i="0">
                <a:solidFill>
                  <a:srgbClr val="38415C"/>
                </a:solidFill>
                <a:latin typeface="Arial"/>
              </a:rPr>
              <a:t>Defesa anti-prompt-injection em 3 camadas</a:t>
            </a:r>
          </a:p>
          <a:p>
            <a:pPr marL="228600" indent="-228600" algn="l">
              <a:spcBef>
                <a:spcPts val="700"/>
              </a:spcBef>
              <a:spcAft>
                <a:spcPts val="0"/>
              </a:spcAft>
              <a:buFont typeface="Arial"/>
              <a:buChar char="➜"/>
            </a:pPr>
            <a:r>
              <a:rPr sz="1100" b="0" i="0">
                <a:solidFill>
                  <a:srgbClr val="38415C"/>
                </a:solidFill>
                <a:latin typeface="Arial"/>
              </a:rPr>
              <a:t>Sanitização, isolamento XML, validação Pydantic</a:t>
            </a:r>
          </a:p>
          <a:p>
            <a:pPr marL="228600" indent="-228600" algn="l">
              <a:spcBef>
                <a:spcPts val="700"/>
              </a:spcBef>
              <a:spcAft>
                <a:spcPts val="0"/>
              </a:spcAft>
              <a:buFont typeface="Arial"/>
              <a:buChar char="➜"/>
            </a:pPr>
            <a:r>
              <a:rPr sz="1100" b="0" i="0">
                <a:solidFill>
                  <a:srgbClr val="38415C"/>
                </a:solidFill>
                <a:latin typeface="Arial"/>
              </a:rPr>
              <a:t>LLM a T=0.0, justificativa e enum temático</a:t>
            </a:r>
          </a:p>
        </p:txBody>
      </p:sp>
      <p:sp>
        <p:nvSpPr>
          <p:cNvPr id="11" name="Rectangle 10"/>
          <p:cNvSpPr/>
          <p:nvPr/>
        </p:nvSpPr>
        <p:spPr>
          <a:xfrm>
            <a:off x="6126480" y="1828800"/>
            <a:ext cx="2651760" cy="233172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828800"/>
            <a:ext cx="2651760" cy="384048"/>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3. Persistência</a:t>
            </a:r>
          </a:p>
        </p:txBody>
      </p:sp>
      <p:sp>
        <p:nvSpPr>
          <p:cNvPr id="13" name="TextBox 12"/>
          <p:cNvSpPr txBox="1"/>
          <p:nvPr/>
        </p:nvSpPr>
        <p:spPr>
          <a:xfrm>
            <a:off x="6236208" y="2286000"/>
            <a:ext cx="2432304" cy="1783079"/>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100" b="0" i="0">
                <a:solidFill>
                  <a:srgbClr val="38415C"/>
                </a:solidFill>
                <a:latin typeface="Arial"/>
              </a:rPr>
              <a:t>PostgreSQL + pgvector; SHA-256</a:t>
            </a:r>
          </a:p>
          <a:p>
            <a:pPr marL="228600" indent="-228600" algn="l">
              <a:spcBef>
                <a:spcPts val="700"/>
              </a:spcBef>
              <a:spcAft>
                <a:spcPts val="0"/>
              </a:spcAft>
              <a:buFont typeface="Arial"/>
              <a:buChar char="➜"/>
            </a:pPr>
            <a:r>
              <a:rPr sz="1100" b="0" i="0">
                <a:solidFill>
                  <a:srgbClr val="38415C"/>
                </a:solidFill>
                <a:latin typeface="Arial"/>
              </a:rPr>
              <a:t>Fichas em Markdown; RIS</a:t>
            </a:r>
          </a:p>
          <a:p>
            <a:pPr marL="228600" indent="-228600" algn="l">
              <a:spcBef>
                <a:spcPts val="700"/>
              </a:spcBef>
              <a:spcAft>
                <a:spcPts val="0"/>
              </a:spcAft>
              <a:buFont typeface="Arial"/>
              <a:buChar char="➜"/>
            </a:pPr>
            <a:r>
              <a:rPr sz="1100" b="0" i="0">
                <a:solidFill>
                  <a:srgbClr val="38415C"/>
                </a:solidFill>
                <a:latin typeface="Arial"/>
              </a:rPr>
              <a:t>Sync Zotero/Obsidian via MCP</a:t>
            </a:r>
          </a:p>
        </p:txBody>
      </p:sp>
      <p:sp>
        <p:nvSpPr>
          <p:cNvPr id="14" name="Rectangle 13"/>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129 triados → 15 duplicados → 21 inacessíveis → </a:t>
            </a:r>
            <a:r>
              <a:rPr sz="1250" b="1">
                <a:solidFill>
                  <a:srgbClr val="EB976D"/>
                </a:solidFill>
                <a:latin typeface="Arial"/>
              </a:rPr>
              <a:t>93 artigos consolidados</a:t>
            </a:r>
            <a:r>
              <a:rPr sz="1250" b="0">
                <a:solidFill>
                  <a:srgbClr val="FFFFFF"/>
                </a:solidFill>
                <a:latin typeface="Arial"/>
              </a:rPr>
              <a:t>; 20 curados para a formulação do modelo.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O Modelo 3M 5.0 — Reinterpretação Tripartite</a:t>
            </a:r>
          </a:p>
        </p:txBody>
      </p:sp>
      <p:graphicFrame>
        <p:nvGraphicFramePr>
          <p:cNvPr id="4" name="Table 3"/>
          <p:cNvGraphicFramePr>
            <a:graphicFrameLocks noGrp="1"/>
          </p:cNvGraphicFramePr>
          <p:nvPr/>
        </p:nvGraphicFramePr>
        <p:xfrm>
          <a:off x="365760" y="1783080"/>
          <a:ext cx="8412477" cy="3383280"/>
        </p:xfrm>
        <a:graphic>
          <a:graphicData uri="http://schemas.openxmlformats.org/drawingml/2006/table">
            <a:tbl>
              <a:tblPr>
                <a:tableStyleId>{5C22544A-7EE6-4342-B048-85BDC9FD1C3A}</a:tableStyleId>
              </a:tblPr>
              <a:tblGrid>
                <a:gridCol w="1013551">
                  <a:extLst>
                    <a:ext uri="{9D8B030D-6E8A-4147-A177-3AD203B41FA5}">
                      <a16:colId xmlns:a16="http://schemas.microsoft.com/office/drawing/2014/main" val="20000"/>
                    </a:ext>
                  </a:extLst>
                </a:gridCol>
                <a:gridCol w="2229813">
                  <a:extLst>
                    <a:ext uri="{9D8B030D-6E8A-4147-A177-3AD203B41FA5}">
                      <a16:colId xmlns:a16="http://schemas.microsoft.com/office/drawing/2014/main" val="20001"/>
                    </a:ext>
                  </a:extLst>
                </a:gridCol>
                <a:gridCol w="2533879">
                  <a:extLst>
                    <a:ext uri="{9D8B030D-6E8A-4147-A177-3AD203B41FA5}">
                      <a16:colId xmlns:a16="http://schemas.microsoft.com/office/drawing/2014/main" val="20002"/>
                    </a:ext>
                  </a:extLst>
                </a:gridCol>
                <a:gridCol w="2635234">
                  <a:extLst>
                    <a:ext uri="{9D8B030D-6E8A-4147-A177-3AD203B41FA5}">
                      <a16:colId xmlns:a16="http://schemas.microsoft.com/office/drawing/2014/main" val="20003"/>
                    </a:ext>
                  </a:extLst>
                </a:gridCol>
              </a:tblGrid>
              <a:tr h="676656">
                <a:tc>
                  <a:txBody>
                    <a:bodyPr/>
                    <a:lstStyle/>
                    <a:p>
                      <a:pPr algn="l"/>
                      <a:r>
                        <a:rPr sz="1100" b="1">
                          <a:solidFill>
                            <a:srgbClr val="FFFFFF"/>
                          </a:solidFill>
                          <a:latin typeface="Arial"/>
                        </a:rPr>
                        <a:t>Dimensão</a:t>
                      </a:r>
                    </a:p>
                  </a:txBody>
                  <a:tcPr marL="54864" marR="54864" marT="27432" marB="27432" anchor="ctr">
                    <a:solidFill>
                      <a:srgbClr val="2B364F"/>
                    </a:solidFill>
                  </a:tcPr>
                </a:tc>
                <a:tc>
                  <a:txBody>
                    <a:bodyPr/>
                    <a:lstStyle/>
                    <a:p>
                      <a:pPr algn="l"/>
                      <a:r>
                        <a:rPr sz="1100" b="1">
                          <a:solidFill>
                            <a:srgbClr val="FFFFFF"/>
                          </a:solidFill>
                          <a:latin typeface="Arial"/>
                        </a:rPr>
                        <a:t>3M Original (2011)</a:t>
                      </a:r>
                    </a:p>
                  </a:txBody>
                  <a:tcPr marL="54864" marR="54864" marT="27432" marB="27432" anchor="ctr">
                    <a:solidFill>
                      <a:srgbClr val="2B364F"/>
                    </a:solidFill>
                  </a:tcPr>
                </a:tc>
                <a:tc>
                  <a:txBody>
                    <a:bodyPr/>
                    <a:lstStyle/>
                    <a:p>
                      <a:pPr algn="l"/>
                      <a:r>
                        <a:rPr sz="1100" b="1">
                          <a:solidFill>
                            <a:srgbClr val="FFFFFF"/>
                          </a:solidFill>
                          <a:latin typeface="Arial"/>
                        </a:rPr>
                        <a:t>3M 5.0 — IA Ferramenta</a:t>
                      </a:r>
                    </a:p>
                  </a:txBody>
                  <a:tcPr marL="54864" marR="54864" marT="27432" marB="27432" anchor="ctr">
                    <a:solidFill>
                      <a:srgbClr val="2B364F"/>
                    </a:solidFill>
                  </a:tcPr>
                </a:tc>
                <a:tc>
                  <a:txBody>
                    <a:bodyPr/>
                    <a:lstStyle/>
                    <a:p>
                      <a:pPr algn="l"/>
                      <a:r>
                        <a:rPr sz="1100" b="1">
                          <a:solidFill>
                            <a:srgbClr val="FFFFFF"/>
                          </a:solidFill>
                          <a:latin typeface="Arial"/>
                        </a:rPr>
                        <a:t>3M 5.0 — IA Agente</a:t>
                      </a:r>
                    </a:p>
                  </a:txBody>
                  <a:tcPr marL="54864" marR="54864" marT="27432" marB="27432" anchor="ctr">
                    <a:solidFill>
                      <a:srgbClr val="2B364F"/>
                    </a:solidFill>
                  </a:tcPr>
                </a:tc>
                <a:extLst>
                  <a:ext uri="{0D108BD9-81ED-4DB2-BD59-A6C34878D82A}">
                    <a16:rowId xmlns:a16="http://schemas.microsoft.com/office/drawing/2014/main" val="10000"/>
                  </a:ext>
                </a:extLst>
              </a:tr>
              <a:tr h="676656">
                <a:tc>
                  <a:txBody>
                    <a:bodyPr/>
                    <a:lstStyle/>
                    <a:p>
                      <a:pPr algn="l"/>
                      <a:r>
                        <a:rPr sz="1100" b="1">
                          <a:solidFill>
                            <a:srgbClr val="38415C"/>
                          </a:solidFill>
                          <a:latin typeface="Arial"/>
                        </a:rPr>
                        <a:t>Motive</a:t>
                      </a:r>
                    </a:p>
                  </a:txBody>
                  <a:tcPr marL="54864" marR="54864" marT="27432" marB="27432" anchor="ctr">
                    <a:solidFill>
                      <a:srgbClr val="FFFFFF"/>
                    </a:solidFill>
                  </a:tcPr>
                </a:tc>
                <a:tc>
                  <a:txBody>
                    <a:bodyPr/>
                    <a:lstStyle/>
                    <a:p>
                      <a:pPr algn="l"/>
                      <a:r>
                        <a:rPr sz="1100" b="0">
                          <a:solidFill>
                            <a:srgbClr val="38415C"/>
                          </a:solidFill>
                          <a:latin typeface="Arial"/>
                        </a:rPr>
                        <a:t>Alinhamento estático e anual</a:t>
                      </a:r>
                    </a:p>
                  </a:txBody>
                  <a:tcPr marL="54864" marR="54864" marT="27432" marB="27432" anchor="ctr">
                    <a:solidFill>
                      <a:srgbClr val="FFFFFF"/>
                    </a:solidFill>
                  </a:tcPr>
                </a:tc>
                <a:tc>
                  <a:txBody>
                    <a:bodyPr/>
                    <a:lstStyle/>
                    <a:p>
                      <a:pPr algn="l"/>
                      <a:r>
                        <a:rPr sz="1100" b="0">
                          <a:solidFill>
                            <a:srgbClr val="38415C"/>
                          </a:solidFill>
                          <a:latin typeface="Arial"/>
                        </a:rPr>
                        <a:t>Mapeamento automático de gaps em tempo real</a:t>
                      </a:r>
                    </a:p>
                  </a:txBody>
                  <a:tcPr marL="54864" marR="54864" marT="27432" marB="27432" anchor="ctr">
                    <a:solidFill>
                      <a:srgbClr val="FFFFFF"/>
                    </a:solidFill>
                  </a:tcPr>
                </a:tc>
                <a:tc>
                  <a:txBody>
                    <a:bodyPr/>
                    <a:lstStyle/>
                    <a:p>
                      <a:pPr algn="l"/>
                      <a:r>
                        <a:rPr sz="1100" b="0">
                          <a:solidFill>
                            <a:srgbClr val="38415C"/>
                          </a:solidFill>
                          <a:latin typeface="Arial"/>
                        </a:rPr>
                        <a:t>Co-define a estratégia educacional</a:t>
                      </a:r>
                    </a:p>
                  </a:txBody>
                  <a:tcPr marL="54864" marR="54864" marT="27432" marB="27432" anchor="ctr">
                    <a:solidFill>
                      <a:srgbClr val="FFFFFF"/>
                    </a:solidFill>
                  </a:tcPr>
                </a:tc>
                <a:extLst>
                  <a:ext uri="{0D108BD9-81ED-4DB2-BD59-A6C34878D82A}">
                    <a16:rowId xmlns:a16="http://schemas.microsoft.com/office/drawing/2014/main" val="10001"/>
                  </a:ext>
                </a:extLst>
              </a:tr>
              <a:tr h="676656">
                <a:tc>
                  <a:txBody>
                    <a:bodyPr/>
                    <a:lstStyle/>
                    <a:p>
                      <a:pPr algn="l"/>
                      <a:r>
                        <a:rPr sz="1100" b="1">
                          <a:solidFill>
                            <a:srgbClr val="38415C"/>
                          </a:solidFill>
                          <a:latin typeface="Arial"/>
                        </a:rPr>
                        <a:t>Model</a:t>
                      </a:r>
                    </a:p>
                  </a:txBody>
                  <a:tcPr marL="54864" marR="54864" marT="27432" marB="27432" anchor="ctr">
                    <a:solidFill>
                      <a:srgbClr val="F2F2F4"/>
                    </a:solidFill>
                  </a:tcPr>
                </a:tc>
                <a:tc>
                  <a:txBody>
                    <a:bodyPr/>
                    <a:lstStyle/>
                    <a:p>
                      <a:pPr algn="l"/>
                      <a:r>
                        <a:rPr sz="1100" b="0">
                          <a:solidFill>
                            <a:srgbClr val="38415C"/>
                          </a:solidFill>
                          <a:latin typeface="Arial"/>
                        </a:rPr>
                        <a:t>Currículos rígidos, repositórios</a:t>
                      </a:r>
                    </a:p>
                  </a:txBody>
                  <a:tcPr marL="54864" marR="54864" marT="27432" marB="27432" anchor="ctr">
                    <a:solidFill>
                      <a:srgbClr val="F2F2F4"/>
                    </a:solidFill>
                  </a:tcPr>
                </a:tc>
                <a:tc>
                  <a:txBody>
                    <a:bodyPr/>
                    <a:lstStyle/>
                    <a:p>
                      <a:pPr algn="l"/>
                      <a:r>
                        <a:rPr sz="1100" b="0">
                          <a:solidFill>
                            <a:srgbClr val="38415C"/>
                          </a:solidFill>
                          <a:latin typeface="Arial"/>
                        </a:rPr>
                        <a:t>Assistentes RAG + grafos no fluxo</a:t>
                      </a:r>
                    </a:p>
                  </a:txBody>
                  <a:tcPr marL="54864" marR="54864" marT="27432" marB="27432" anchor="ctr">
                    <a:solidFill>
                      <a:srgbClr val="F2F2F4"/>
                    </a:solidFill>
                  </a:tcPr>
                </a:tc>
                <a:tc>
                  <a:txBody>
                    <a:bodyPr/>
                    <a:lstStyle/>
                    <a:p>
                      <a:pPr algn="l"/>
                      <a:r>
                        <a:rPr sz="1100" b="0">
                          <a:solidFill>
                            <a:srgbClr val="38415C"/>
                          </a:solidFill>
                          <a:latin typeface="Arial"/>
                        </a:rPr>
                        <a:t>Laboratório vivo: gera e codifica conhecimento</a:t>
                      </a:r>
                    </a:p>
                  </a:txBody>
                  <a:tcPr marL="54864" marR="54864" marT="27432" marB="27432" anchor="ctr">
                    <a:solidFill>
                      <a:srgbClr val="F2F2F4"/>
                    </a:solidFill>
                  </a:tcPr>
                </a:tc>
                <a:extLst>
                  <a:ext uri="{0D108BD9-81ED-4DB2-BD59-A6C34878D82A}">
                    <a16:rowId xmlns:a16="http://schemas.microsoft.com/office/drawing/2014/main" val="10002"/>
                  </a:ext>
                </a:extLst>
              </a:tr>
              <a:tr h="676656">
                <a:tc>
                  <a:txBody>
                    <a:bodyPr/>
                    <a:lstStyle/>
                    <a:p>
                      <a:pPr algn="l"/>
                      <a:r>
                        <a:rPr sz="1100" b="1">
                          <a:solidFill>
                            <a:srgbClr val="38415C"/>
                          </a:solidFill>
                          <a:latin typeface="Arial"/>
                        </a:rPr>
                        <a:t>Moment</a:t>
                      </a:r>
                    </a:p>
                  </a:txBody>
                  <a:tcPr marL="54864" marR="54864" marT="27432" marB="27432" anchor="ctr">
                    <a:solidFill>
                      <a:srgbClr val="FFFFFF"/>
                    </a:solidFill>
                  </a:tcPr>
                </a:tc>
                <a:tc>
                  <a:txBody>
                    <a:bodyPr/>
                    <a:lstStyle/>
                    <a:p>
                      <a:pPr algn="l"/>
                      <a:r>
                        <a:rPr sz="1100" b="0">
                          <a:solidFill>
                            <a:srgbClr val="38415C"/>
                          </a:solidFill>
                          <a:latin typeface="Arial"/>
                        </a:rPr>
                        <a:t>Timing reativo, ciclos longos</a:t>
                      </a:r>
                    </a:p>
                  </a:txBody>
                  <a:tcPr marL="54864" marR="54864" marT="27432" marB="27432" anchor="ctr">
                    <a:solidFill>
                      <a:srgbClr val="FFFFFF"/>
                    </a:solidFill>
                  </a:tcPr>
                </a:tc>
                <a:tc>
                  <a:txBody>
                    <a:bodyPr/>
                    <a:lstStyle/>
                    <a:p>
                      <a:pPr algn="l"/>
                      <a:r>
                        <a:rPr sz="1100" b="0">
                          <a:solidFill>
                            <a:srgbClr val="38415C"/>
                          </a:solidFill>
                          <a:latin typeface="Arial"/>
                        </a:rPr>
                        <a:t>Monitora qualidade e segurança da IA</a:t>
                      </a:r>
                    </a:p>
                  </a:txBody>
                  <a:tcPr marL="54864" marR="54864" marT="27432" marB="27432" anchor="ctr">
                    <a:solidFill>
                      <a:srgbClr val="FFFFFF"/>
                    </a:solidFill>
                  </a:tcPr>
                </a:tc>
                <a:tc>
                  <a:txBody>
                    <a:bodyPr/>
                    <a:lstStyle/>
                    <a:p>
                      <a:pPr algn="l"/>
                      <a:r>
                        <a:rPr sz="1100" b="0">
                          <a:solidFill>
                            <a:srgbClr val="38415C"/>
                          </a:solidFill>
                          <a:latin typeface="Arial"/>
                        </a:rPr>
                        <a:t>Governança algorítmica adaptativa by design</a:t>
                      </a:r>
                    </a:p>
                  </a:txBody>
                  <a:tcPr marL="54864" marR="54864" marT="27432" marB="27432" anchor="ctr">
                    <a:solidFill>
                      <a:srgbClr val="FFFFFF"/>
                    </a:solidFill>
                  </a:tcPr>
                </a:tc>
                <a:extLst>
                  <a:ext uri="{0D108BD9-81ED-4DB2-BD59-A6C34878D82A}">
                    <a16:rowId xmlns:a16="http://schemas.microsoft.com/office/drawing/2014/main" val="10003"/>
                  </a:ext>
                </a:extLst>
              </a:tr>
              <a:tr h="676656">
                <a:tc>
                  <a:txBody>
                    <a:bodyPr/>
                    <a:lstStyle/>
                    <a:p>
                      <a:pPr algn="l"/>
                      <a:r>
                        <a:rPr sz="1100" b="1">
                          <a:solidFill>
                            <a:srgbClr val="38415C"/>
                          </a:solidFill>
                          <a:latin typeface="Arial"/>
                        </a:rPr>
                        <a:t>Agência da IA</a:t>
                      </a:r>
                    </a:p>
                  </a:txBody>
                  <a:tcPr marL="54864" marR="54864" marT="27432" marB="27432" anchor="ctr">
                    <a:solidFill>
                      <a:srgbClr val="F2F2F4"/>
                    </a:solidFill>
                  </a:tcPr>
                </a:tc>
                <a:tc>
                  <a:txBody>
                    <a:bodyPr/>
                    <a:lstStyle/>
                    <a:p>
                      <a:pPr algn="l"/>
                      <a:r>
                        <a:rPr sz="1100" b="0">
                          <a:solidFill>
                            <a:srgbClr val="38415C"/>
                          </a:solidFill>
                          <a:latin typeface="Arial"/>
                        </a:rPr>
                        <a:t>Passiva e instrumental</a:t>
                      </a:r>
                    </a:p>
                  </a:txBody>
                  <a:tcPr marL="54864" marR="54864" marT="27432" marB="27432" anchor="ctr">
                    <a:solidFill>
                      <a:srgbClr val="F2F2F4"/>
                    </a:solidFill>
                  </a:tcPr>
                </a:tc>
                <a:tc>
                  <a:txBody>
                    <a:bodyPr/>
                    <a:lstStyle/>
                    <a:p>
                      <a:pPr algn="l"/>
                      <a:r>
                        <a:rPr sz="1100" b="0">
                          <a:solidFill>
                            <a:srgbClr val="38415C"/>
                          </a:solidFill>
                          <a:latin typeface="Arial"/>
                        </a:rPr>
                        <a:t>Repositório avançado (RAG, vetores)</a:t>
                      </a:r>
                    </a:p>
                  </a:txBody>
                  <a:tcPr marL="54864" marR="54864" marT="27432" marB="27432" anchor="ctr">
                    <a:solidFill>
                      <a:srgbClr val="F2F2F4"/>
                    </a:solidFill>
                  </a:tcPr>
                </a:tc>
                <a:tc>
                  <a:txBody>
                    <a:bodyPr/>
                    <a:lstStyle/>
                    <a:p>
                      <a:pPr algn="l"/>
                      <a:r>
                        <a:rPr sz="1100" b="0">
                          <a:solidFill>
                            <a:srgbClr val="38415C"/>
                          </a:solidFill>
                          <a:latin typeface="Arial"/>
                        </a:rPr>
                        <a:t>Agente coevolucionário ativo</a:t>
                      </a:r>
                    </a:p>
                  </a:txBody>
                  <a:tcPr marL="54864" marR="54864" marT="27432" marB="27432" anchor="ctr">
                    <a:solidFill>
                      <a:srgbClr val="F2F2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Motive 5.0 — Do Alinhamento Estático ao Sensing Contínuo</a:t>
            </a:r>
          </a:p>
        </p:txBody>
      </p:sp>
      <p:sp>
        <p:nvSpPr>
          <p:cNvPr id="4" name="Rectangle 3"/>
          <p:cNvSpPr/>
          <p:nvPr/>
        </p:nvSpPr>
        <p:spPr>
          <a:xfrm>
            <a:off x="365760" y="1828800"/>
            <a:ext cx="3977639" cy="320040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828800"/>
            <a:ext cx="3977639" cy="384048"/>
          </a:xfrm>
          <a:prstGeom prst="rect">
            <a:avLst/>
          </a:prstGeom>
          <a:solidFill>
            <a:srgbClr val="8C8C96"/>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ANTES — Alinhamento episódico</a:t>
            </a:r>
          </a:p>
        </p:txBody>
      </p:sp>
      <p:sp>
        <p:nvSpPr>
          <p:cNvPr id="6" name="TextBox 5"/>
          <p:cNvSpPr txBox="1"/>
          <p:nvPr/>
        </p:nvSpPr>
        <p:spPr>
          <a:xfrm>
            <a:off x="475488" y="2286000"/>
            <a:ext cx="3758183" cy="265176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38415C"/>
                </a:solidFill>
                <a:latin typeface="Arial"/>
              </a:rPr>
              <a:t>Diagnósticos estruturados de competências</a:t>
            </a:r>
          </a:p>
          <a:p>
            <a:pPr marL="228600" indent="-228600" algn="l">
              <a:spcBef>
                <a:spcPts val="1800"/>
              </a:spcBef>
              <a:spcAft>
                <a:spcPts val="0"/>
              </a:spcAft>
              <a:buFont typeface="Arial"/>
              <a:buChar char="➜"/>
            </a:pPr>
            <a:r>
              <a:rPr sz="1300" b="0" i="0">
                <a:solidFill>
                  <a:srgbClr val="38415C"/>
                </a:solidFill>
                <a:latin typeface="Arial"/>
              </a:rPr>
              <a:t>Planos Anuais de Capacitação</a:t>
            </a:r>
          </a:p>
          <a:p>
            <a:pPr marL="228600" indent="-228600" algn="l">
              <a:spcBef>
                <a:spcPts val="1800"/>
              </a:spcBef>
              <a:spcAft>
                <a:spcPts val="0"/>
              </a:spcAft>
              <a:buFont typeface="Arial"/>
              <a:buChar char="➜"/>
            </a:pPr>
            <a:r>
              <a:rPr sz="1300" b="0" i="0">
                <a:solidFill>
                  <a:srgbClr val="38415C"/>
                </a:solidFill>
                <a:latin typeface="Arial"/>
              </a:rPr>
              <a:t>Levantamentos manuais e lentos</a:t>
            </a:r>
          </a:p>
        </p:txBody>
      </p:sp>
      <p:sp>
        <p:nvSpPr>
          <p:cNvPr id="7" name="Rectangle 6"/>
          <p:cNvSpPr/>
          <p:nvPr/>
        </p:nvSpPr>
        <p:spPr>
          <a:xfrm>
            <a:off x="4800600" y="1828800"/>
            <a:ext cx="3977639" cy="3200400"/>
          </a:xfrm>
          <a:prstGeom prst="rect">
            <a:avLst/>
          </a:prstGeom>
          <a:solidFill>
            <a:srgbClr val="2B364F"/>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00600" y="1828800"/>
            <a:ext cx="3977639" cy="384048"/>
          </a:xfrm>
          <a:prstGeom prst="rect">
            <a:avLst/>
          </a:prstGeom>
          <a:solidFill>
            <a:srgbClr val="EB976D"/>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MOTIVE 5.0 — Sensing semântico</a:t>
            </a:r>
          </a:p>
        </p:txBody>
      </p:sp>
      <p:sp>
        <p:nvSpPr>
          <p:cNvPr id="9" name="TextBox 8"/>
          <p:cNvSpPr txBox="1"/>
          <p:nvPr/>
        </p:nvSpPr>
        <p:spPr>
          <a:xfrm>
            <a:off x="4910328" y="2286000"/>
            <a:ext cx="3758183" cy="265176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FFFFFF"/>
                </a:solidFill>
                <a:latin typeface="Arial"/>
              </a:rPr>
              <a:t>IA lê chats, logs, tickets e código em tempo real</a:t>
            </a:r>
          </a:p>
          <a:p>
            <a:pPr marL="228600" indent="-228600" algn="l">
              <a:spcBef>
                <a:spcPts val="1800"/>
              </a:spcBef>
              <a:spcAft>
                <a:spcPts val="0"/>
              </a:spcAft>
              <a:buFont typeface="Arial"/>
              <a:buChar char="➜"/>
            </a:pPr>
            <a:r>
              <a:rPr sz="1300" b="0" i="0">
                <a:solidFill>
                  <a:srgbClr val="FFFFFF"/>
                </a:solidFill>
                <a:latin typeface="Arial"/>
              </a:rPr>
              <a:t>Mapeia gaps entre competência e prática</a:t>
            </a:r>
          </a:p>
          <a:p>
            <a:pPr marL="228600" indent="-228600" algn="l">
              <a:spcBef>
                <a:spcPts val="1800"/>
              </a:spcBef>
              <a:spcAft>
                <a:spcPts val="0"/>
              </a:spcAft>
              <a:buFont typeface="Arial"/>
              <a:buChar char="➜"/>
            </a:pPr>
            <a:r>
              <a:rPr sz="1300" b="0" i="0">
                <a:solidFill>
                  <a:srgbClr val="FFFFFF"/>
                </a:solidFill>
                <a:latin typeface="Arial"/>
              </a:rPr>
              <a:t>Prevê obsolescência; humano decide a estratégia</a:t>
            </a:r>
          </a:p>
        </p:txBody>
      </p:sp>
      <p:sp>
        <p:nvSpPr>
          <p:cNvPr id="10" name="Rectangle 9"/>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Processos de GC reconfigurados: </a:t>
            </a:r>
            <a:r>
              <a:rPr sz="1250" b="1">
                <a:solidFill>
                  <a:srgbClr val="EB976D"/>
                </a:solidFill>
                <a:latin typeface="Arial"/>
              </a:rPr>
              <a:t>identificação e geração</a:t>
            </a:r>
            <a:r>
              <a:rPr sz="1250" b="0">
                <a:solidFill>
                  <a:srgbClr val="FFFFFF"/>
                </a:solidFill>
                <a:latin typeface="Arial"/>
              </a:rPr>
              <a:t> do conhecimento.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Model 5.0 — Do Currículo Estático ao Laboratório Vivo</a:t>
            </a:r>
          </a:p>
        </p:txBody>
      </p:sp>
      <p:sp>
        <p:nvSpPr>
          <p:cNvPr id="4" name="Rectangle 3"/>
          <p:cNvSpPr/>
          <p:nvPr/>
        </p:nvSpPr>
        <p:spPr>
          <a:xfrm>
            <a:off x="365760" y="1828800"/>
            <a:ext cx="3977639" cy="320040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828800"/>
            <a:ext cx="3977639" cy="384048"/>
          </a:xfrm>
          <a:prstGeom prst="rect">
            <a:avLst/>
          </a:prstGeom>
          <a:solidFill>
            <a:srgbClr val="8C8C96"/>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ANTES — Currículo estático</a:t>
            </a:r>
          </a:p>
        </p:txBody>
      </p:sp>
      <p:sp>
        <p:nvSpPr>
          <p:cNvPr id="6" name="TextBox 5"/>
          <p:cNvSpPr txBox="1"/>
          <p:nvPr/>
        </p:nvSpPr>
        <p:spPr>
          <a:xfrm>
            <a:off x="475488" y="2286000"/>
            <a:ext cx="3758183" cy="265176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38415C"/>
                </a:solidFill>
                <a:latin typeface="Arial"/>
              </a:rPr>
              <a:t>Programas e trilhas rígidas</a:t>
            </a:r>
          </a:p>
          <a:p>
            <a:pPr marL="228600" indent="-228600" algn="l">
              <a:spcBef>
                <a:spcPts val="1800"/>
              </a:spcBef>
              <a:spcAft>
                <a:spcPts val="0"/>
              </a:spcAft>
              <a:buFont typeface="Arial"/>
              <a:buChar char="➜"/>
            </a:pPr>
            <a:r>
              <a:rPr sz="1300" b="0" i="0">
                <a:solidFill>
                  <a:srgbClr val="38415C"/>
                </a:solidFill>
                <a:latin typeface="Arial"/>
              </a:rPr>
              <a:t>Salas de aula e e-learning assíncrono</a:t>
            </a:r>
          </a:p>
          <a:p>
            <a:pPr marL="228600" indent="-228600" algn="l">
              <a:spcBef>
                <a:spcPts val="1800"/>
              </a:spcBef>
              <a:spcAft>
                <a:spcPts val="0"/>
              </a:spcAft>
              <a:buFont typeface="Arial"/>
              <a:buChar char="➜"/>
            </a:pPr>
            <a:r>
              <a:rPr sz="1300" b="0" i="0">
                <a:solidFill>
                  <a:srgbClr val="38415C"/>
                </a:solidFill>
                <a:latin typeface="Arial"/>
              </a:rPr>
              <a:t>Repositórios de material estáticos</a:t>
            </a:r>
          </a:p>
        </p:txBody>
      </p:sp>
      <p:sp>
        <p:nvSpPr>
          <p:cNvPr id="7" name="Rectangle 6"/>
          <p:cNvSpPr/>
          <p:nvPr/>
        </p:nvSpPr>
        <p:spPr>
          <a:xfrm>
            <a:off x="4800600" y="1828800"/>
            <a:ext cx="3977639" cy="3200400"/>
          </a:xfrm>
          <a:prstGeom prst="rect">
            <a:avLst/>
          </a:prstGeom>
          <a:solidFill>
            <a:srgbClr val="2B364F"/>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00600" y="1828800"/>
            <a:ext cx="3977639" cy="384048"/>
          </a:xfrm>
          <a:prstGeom prst="rect">
            <a:avLst/>
          </a:prstGeom>
          <a:solidFill>
            <a:srgbClr val="EB976D"/>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MODEL 5.0 — Laboratório Vivo</a:t>
            </a:r>
          </a:p>
        </p:txBody>
      </p:sp>
      <p:sp>
        <p:nvSpPr>
          <p:cNvPr id="9" name="TextBox 8"/>
          <p:cNvSpPr txBox="1"/>
          <p:nvPr/>
        </p:nvSpPr>
        <p:spPr>
          <a:xfrm>
            <a:off x="4910328" y="2286000"/>
            <a:ext cx="3758183" cy="265176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FFFFFF"/>
                </a:solidFill>
                <a:latin typeface="Arial"/>
              </a:rPr>
              <a:t>Convergência LLM + RAG + grafos (Pan et al.)</a:t>
            </a:r>
          </a:p>
          <a:p>
            <a:pPr marL="228600" indent="-228600" algn="l">
              <a:spcBef>
                <a:spcPts val="1800"/>
              </a:spcBef>
              <a:spcAft>
                <a:spcPts val="0"/>
              </a:spcAft>
              <a:buFont typeface="Arial"/>
              <a:buChar char="➜"/>
            </a:pPr>
            <a:r>
              <a:rPr sz="1300" b="0" i="0">
                <a:solidFill>
                  <a:srgbClr val="FFFFFF"/>
                </a:solidFill>
                <a:latin typeface="Arial"/>
              </a:rPr>
              <a:t>IA sugere, codifica lições e atualiza o acervo</a:t>
            </a:r>
          </a:p>
          <a:p>
            <a:pPr marL="228600" indent="-228600" algn="l">
              <a:spcBef>
                <a:spcPts val="1800"/>
              </a:spcBef>
              <a:spcAft>
                <a:spcPts val="0"/>
              </a:spcAft>
              <a:buFont typeface="Arial"/>
              <a:buChar char="➜"/>
            </a:pPr>
            <a:r>
              <a:rPr sz="1300" b="0" i="0">
                <a:solidFill>
                  <a:srgbClr val="FFFFFF"/>
                </a:solidFill>
                <a:latin typeface="Arial"/>
              </a:rPr>
              <a:t>Trabalhar e aprender tornam-se indissociáveis</a:t>
            </a:r>
          </a:p>
        </p:txBody>
      </p:sp>
      <p:sp>
        <p:nvSpPr>
          <p:cNvPr id="10" name="Rectangle 9"/>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Processos de GC: </a:t>
            </a:r>
            <a:r>
              <a:rPr sz="1250" b="1">
                <a:solidFill>
                  <a:srgbClr val="EB976D"/>
                </a:solidFill>
                <a:latin typeface="Arial"/>
              </a:rPr>
              <a:t>codificação, armazenamento, distribuição e aplicação</a:t>
            </a:r>
            <a:r>
              <a:rPr sz="1250" b="0">
                <a:solidFill>
                  <a:srgbClr val="FFFFFF"/>
                </a:solidFill>
                <a:latin typeface="Arial"/>
              </a:rPr>
              <a:t> no fluxo (modelo GRAI).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Moment 5.0 — Do Timing Rígido à Governança Algorítmica</a:t>
            </a:r>
          </a:p>
        </p:txBody>
      </p:sp>
      <p:sp>
        <p:nvSpPr>
          <p:cNvPr id="4" name="Rectangle 3"/>
          <p:cNvSpPr/>
          <p:nvPr/>
        </p:nvSpPr>
        <p:spPr>
          <a:xfrm>
            <a:off x="365760" y="1828800"/>
            <a:ext cx="3977639" cy="320040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828800"/>
            <a:ext cx="3977639" cy="384048"/>
          </a:xfrm>
          <a:prstGeom prst="rect">
            <a:avLst/>
          </a:prstGeom>
          <a:solidFill>
            <a:srgbClr val="8C8C96"/>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ANTES — Timing reativo</a:t>
            </a:r>
          </a:p>
        </p:txBody>
      </p:sp>
      <p:sp>
        <p:nvSpPr>
          <p:cNvPr id="6" name="TextBox 5"/>
          <p:cNvSpPr txBox="1"/>
          <p:nvPr/>
        </p:nvSpPr>
        <p:spPr>
          <a:xfrm>
            <a:off x="475488" y="2286000"/>
            <a:ext cx="3758183" cy="265176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38415C"/>
                </a:solidFill>
                <a:latin typeface="Arial"/>
              </a:rPr>
              <a:t>Sintonia oferta-demanda em ciclos longos</a:t>
            </a:r>
          </a:p>
          <a:p>
            <a:pPr marL="228600" indent="-228600" algn="l">
              <a:spcBef>
                <a:spcPts val="1800"/>
              </a:spcBef>
              <a:spcAft>
                <a:spcPts val="0"/>
              </a:spcAft>
              <a:buFont typeface="Arial"/>
              <a:buChar char="➜"/>
            </a:pPr>
            <a:r>
              <a:rPr sz="1300" b="0" i="0">
                <a:solidFill>
                  <a:srgbClr val="38415C"/>
                </a:solidFill>
                <a:latin typeface="Arial"/>
              </a:rPr>
              <a:t>Governança de IA delegada à TI</a:t>
            </a:r>
          </a:p>
          <a:p>
            <a:pPr marL="228600" indent="-228600" algn="l">
              <a:spcBef>
                <a:spcPts val="1800"/>
              </a:spcBef>
              <a:spcAft>
                <a:spcPts val="0"/>
              </a:spcAft>
              <a:buFont typeface="Arial"/>
              <a:buChar char="➜"/>
            </a:pPr>
            <a:r>
              <a:rPr sz="1300" b="0" i="0">
                <a:solidFill>
                  <a:srgbClr val="38415C"/>
                </a:solidFill>
                <a:latin typeface="Arial"/>
              </a:rPr>
              <a:t>Conformidade como controle externo</a:t>
            </a:r>
          </a:p>
        </p:txBody>
      </p:sp>
      <p:sp>
        <p:nvSpPr>
          <p:cNvPr id="7" name="Rectangle 6"/>
          <p:cNvSpPr/>
          <p:nvPr/>
        </p:nvSpPr>
        <p:spPr>
          <a:xfrm>
            <a:off x="4800600" y="1828800"/>
            <a:ext cx="3977639" cy="3200400"/>
          </a:xfrm>
          <a:prstGeom prst="rect">
            <a:avLst/>
          </a:prstGeom>
          <a:solidFill>
            <a:srgbClr val="2B364F"/>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00600" y="1828800"/>
            <a:ext cx="3977639" cy="384048"/>
          </a:xfrm>
          <a:prstGeom prst="rect">
            <a:avLst/>
          </a:prstGeom>
          <a:solidFill>
            <a:srgbClr val="EB976D"/>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ctr"/>
            <a:r>
              <a:rPr sz="1300" b="1">
                <a:solidFill>
                  <a:srgbClr val="FFFFFF"/>
                </a:solidFill>
                <a:latin typeface="Arial"/>
              </a:rPr>
              <a:t>MOMENT 5.0 — Governança adaptativa</a:t>
            </a:r>
          </a:p>
        </p:txBody>
      </p:sp>
      <p:sp>
        <p:nvSpPr>
          <p:cNvPr id="9" name="TextBox 8"/>
          <p:cNvSpPr txBox="1"/>
          <p:nvPr/>
        </p:nvSpPr>
        <p:spPr>
          <a:xfrm>
            <a:off x="4910328" y="2286000"/>
            <a:ext cx="3758183" cy="2651760"/>
          </a:xfrm>
          <a:prstGeom prst="rect">
            <a:avLst/>
          </a:prstGeom>
          <a:noFill/>
        </p:spPr>
        <p:txBody>
          <a:bodyPr wrap="square" lIns="45720" tIns="27432" rIns="45720" bIns="27432" anchor="t">
            <a:spAutoFit/>
          </a:bodyPr>
          <a:lstStyle/>
          <a:p>
            <a:endParaRPr/>
          </a:p>
          <a:p>
            <a:pPr marL="228600" indent="-228600" algn="l">
              <a:spcBef>
                <a:spcPts val="0"/>
              </a:spcBef>
              <a:spcAft>
                <a:spcPts val="0"/>
              </a:spcAft>
              <a:buFont typeface="Arial"/>
              <a:buChar char="➜"/>
            </a:pPr>
            <a:r>
              <a:rPr sz="1300" b="0" i="0">
                <a:solidFill>
                  <a:srgbClr val="FFFFFF"/>
                </a:solidFill>
                <a:latin typeface="Arial"/>
              </a:rPr>
              <a:t>Audita logs, vieses e alucinações</a:t>
            </a:r>
          </a:p>
          <a:p>
            <a:pPr marL="228600" indent="-228600" algn="l">
              <a:spcBef>
                <a:spcPts val="1800"/>
              </a:spcBef>
              <a:spcAft>
                <a:spcPts val="0"/>
              </a:spcAft>
              <a:buFont typeface="Arial"/>
              <a:buChar char="➜"/>
            </a:pPr>
            <a:r>
              <a:rPr sz="1300" b="0" i="0">
                <a:solidFill>
                  <a:srgbClr val="FFFFFF"/>
                </a:solidFill>
                <a:latin typeface="Arial"/>
              </a:rPr>
              <a:t>Contestabilidade ativa pelos colaboradores</a:t>
            </a:r>
          </a:p>
          <a:p>
            <a:pPr marL="228600" indent="-228600" algn="l">
              <a:spcBef>
                <a:spcPts val="1800"/>
              </a:spcBef>
              <a:spcAft>
                <a:spcPts val="0"/>
              </a:spcAft>
              <a:buFont typeface="Arial"/>
              <a:buChar char="➜"/>
            </a:pPr>
            <a:r>
              <a:rPr sz="1300" b="0" i="0">
                <a:solidFill>
                  <a:srgbClr val="FFFFFF"/>
                </a:solidFill>
                <a:latin typeface="Arial"/>
              </a:rPr>
              <a:t>Governança pedagógica e ética by design</a:t>
            </a:r>
          </a:p>
        </p:txBody>
      </p:sp>
      <p:sp>
        <p:nvSpPr>
          <p:cNvPr id="10" name="Rectangle 9"/>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Processos de GC: </a:t>
            </a:r>
            <a:r>
              <a:rPr sz="1250" b="1">
                <a:solidFill>
                  <a:srgbClr val="EB976D"/>
                </a:solidFill>
                <a:latin typeface="Arial"/>
              </a:rPr>
              <a:t>controle e descarte</a:t>
            </a:r>
            <a:r>
              <a:rPr sz="1250" b="0">
                <a:solidFill>
                  <a:srgbClr val="FFFFFF"/>
                </a:solidFill>
                <a:latin typeface="Arial"/>
              </a:rPr>
              <a:t> (desaprendizado de conhecimento obsoleto/enviesado).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Tensões Intrínsecas do Ecossistema 3M 5.0</a:t>
            </a:r>
          </a:p>
        </p:txBody>
      </p:sp>
      <p:sp>
        <p:nvSpPr>
          <p:cNvPr id="4" name="Rounded Rectangle 3"/>
          <p:cNvSpPr/>
          <p:nvPr/>
        </p:nvSpPr>
        <p:spPr>
          <a:xfrm>
            <a:off x="365760" y="1828800"/>
            <a:ext cx="3977639" cy="150876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50" b="1" i="0">
                <a:solidFill>
                  <a:srgbClr val="EB976D"/>
                </a:solidFill>
                <a:latin typeface="Arial"/>
              </a:rPr>
              <a:t>Vigilância × Privacidade</a:t>
            </a:r>
          </a:p>
          <a:p>
            <a:pPr algn="l">
              <a:spcBef>
                <a:spcPts val="600"/>
              </a:spcBef>
              <a:spcAft>
                <a:spcPts val="0"/>
              </a:spcAft>
              <a:buNone/>
            </a:pPr>
            <a:r>
              <a:rPr sz="1200" b="0" i="0">
                <a:solidFill>
                  <a:srgbClr val="38415C"/>
                </a:solidFill>
                <a:latin typeface="Arial"/>
              </a:rPr>
              <a:t>Sensing de competências vs. vigilância cognitiva e segurança psicológica.</a:t>
            </a:r>
          </a:p>
        </p:txBody>
      </p:sp>
      <p:sp>
        <p:nvSpPr>
          <p:cNvPr id="5" name="Rounded Rectangle 4"/>
          <p:cNvSpPr/>
          <p:nvPr/>
        </p:nvSpPr>
        <p:spPr>
          <a:xfrm>
            <a:off x="4800600" y="1828800"/>
            <a:ext cx="3977639" cy="150876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50" b="1" i="0">
                <a:solidFill>
                  <a:srgbClr val="EB976D"/>
                </a:solidFill>
                <a:latin typeface="Arial"/>
              </a:rPr>
              <a:t>Dependência cognitiva</a:t>
            </a:r>
          </a:p>
          <a:p>
            <a:pPr algn="l">
              <a:spcBef>
                <a:spcPts val="600"/>
              </a:spcBef>
              <a:spcAft>
                <a:spcPts val="0"/>
              </a:spcAft>
              <a:buNone/>
            </a:pPr>
            <a:r>
              <a:rPr sz="1200" b="0" i="0">
                <a:solidFill>
                  <a:srgbClr val="38415C"/>
                </a:solidFill>
                <a:latin typeface="Arial"/>
              </a:rPr>
              <a:t>Apoio contínuo da IA pode gerar atrofia e perda de autonomia (deskilling).</a:t>
            </a:r>
          </a:p>
        </p:txBody>
      </p:sp>
      <p:sp>
        <p:nvSpPr>
          <p:cNvPr id="6" name="Rounded Rectangle 5"/>
          <p:cNvSpPr/>
          <p:nvPr/>
        </p:nvSpPr>
        <p:spPr>
          <a:xfrm>
            <a:off x="365760" y="3520440"/>
            <a:ext cx="3977639" cy="150876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50" b="1" i="0">
                <a:solidFill>
                  <a:srgbClr val="EB976D"/>
                </a:solidFill>
                <a:latin typeface="Arial"/>
              </a:rPr>
              <a:t>Autonomia da IA × Supervisão</a:t>
            </a:r>
          </a:p>
          <a:p>
            <a:pPr algn="l">
              <a:spcBef>
                <a:spcPts val="600"/>
              </a:spcBef>
              <a:spcAft>
                <a:spcPts val="0"/>
              </a:spcAft>
              <a:buNone/>
            </a:pPr>
            <a:r>
              <a:rPr sz="1200" b="0" i="0">
                <a:solidFill>
                  <a:srgbClr val="38415C"/>
                </a:solidFill>
                <a:latin typeface="Arial"/>
              </a:rPr>
              <a:t>Quanto delegar à IA sem inviabilizar escala nem gerar discriminação algorítmica.</a:t>
            </a:r>
          </a:p>
        </p:txBody>
      </p:sp>
      <p:sp>
        <p:nvSpPr>
          <p:cNvPr id="7" name="Rounded Rectangle 6"/>
          <p:cNvSpPr/>
          <p:nvPr/>
        </p:nvSpPr>
        <p:spPr>
          <a:xfrm>
            <a:off x="4800600" y="3520440"/>
            <a:ext cx="3977639" cy="150876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50" b="1" i="0">
                <a:solidFill>
                  <a:srgbClr val="EB976D"/>
                </a:solidFill>
                <a:latin typeface="Arial"/>
              </a:rPr>
              <a:t>Epistemologia da agência</a:t>
            </a:r>
          </a:p>
          <a:p>
            <a:pPr algn="l">
              <a:spcBef>
                <a:spcPts val="600"/>
              </a:spcBef>
              <a:spcAft>
                <a:spcPts val="0"/>
              </a:spcAft>
              <a:buNone/>
            </a:pPr>
            <a:r>
              <a:rPr sz="1200" b="0" i="0">
                <a:solidFill>
                  <a:srgbClr val="38415C"/>
                </a:solidFill>
                <a:latin typeface="Arial"/>
              </a:rPr>
              <a:t>Status do saber não-humano: a IA “cria” conhecimento ou mimetiza padrões?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Análise Comparativa: Cobertura Conceitual em 5 Dimensões</a:t>
            </a:r>
          </a:p>
        </p:txBody>
      </p:sp>
      <p:sp>
        <p:nvSpPr>
          <p:cNvPr id="4" name="TextBox 3"/>
          <p:cNvSpPr txBox="1"/>
          <p:nvPr/>
        </p:nvSpPr>
        <p:spPr>
          <a:xfrm>
            <a:off x="457200" y="1325880"/>
            <a:ext cx="8229600" cy="411480"/>
          </a:xfrm>
          <a:prstGeom prst="rect">
            <a:avLst/>
          </a:prstGeom>
          <a:noFill/>
        </p:spPr>
        <p:txBody>
          <a:bodyPr wrap="square" lIns="45720" tIns="27432" rIns="45720" bIns="27432" anchor="t">
            <a:spAutoFit/>
          </a:bodyPr>
          <a:lstStyle/>
          <a:p>
            <a:pPr algn="l">
              <a:spcBef>
                <a:spcPts val="0"/>
              </a:spcBef>
              <a:spcAft>
                <a:spcPts val="0"/>
              </a:spcAft>
              <a:buNone/>
            </a:pPr>
            <a:r>
              <a:rPr sz="1250" b="0" i="1">
                <a:solidFill>
                  <a:srgbClr val="8C8C96"/>
                </a:solidFill>
                <a:latin typeface="Arial"/>
              </a:rPr>
              <a:t>Escala ordinal — Ausente / Parcial / Pleno — vs. os 19 modelos tradicionais</a:t>
            </a:r>
          </a:p>
        </p:txBody>
      </p:sp>
      <p:graphicFrame>
        <p:nvGraphicFramePr>
          <p:cNvPr id="5" name="Table 4"/>
          <p:cNvGraphicFramePr>
            <a:graphicFrameLocks noGrp="1"/>
          </p:cNvGraphicFramePr>
          <p:nvPr/>
        </p:nvGraphicFramePr>
        <p:xfrm>
          <a:off x="365760" y="1874519"/>
          <a:ext cx="8412477" cy="3200400"/>
        </p:xfrm>
        <a:graphic>
          <a:graphicData uri="http://schemas.openxmlformats.org/drawingml/2006/table">
            <a:tbl>
              <a:tblPr>
                <a:tableStyleId>{5C22544A-7EE6-4342-B048-85BDC9FD1C3A}</a:tableStyleId>
              </a:tblPr>
              <a:tblGrid>
                <a:gridCol w="2804160">
                  <a:extLst>
                    <a:ext uri="{9D8B030D-6E8A-4147-A177-3AD203B41FA5}">
                      <a16:colId xmlns:a16="http://schemas.microsoft.com/office/drawing/2014/main" val="20000"/>
                    </a:ext>
                  </a:extLst>
                </a:gridCol>
                <a:gridCol w="1869439">
                  <a:extLst>
                    <a:ext uri="{9D8B030D-6E8A-4147-A177-3AD203B41FA5}">
                      <a16:colId xmlns:a16="http://schemas.microsoft.com/office/drawing/2014/main" val="20001"/>
                    </a:ext>
                  </a:extLst>
                </a:gridCol>
                <a:gridCol w="1869439">
                  <a:extLst>
                    <a:ext uri="{9D8B030D-6E8A-4147-A177-3AD203B41FA5}">
                      <a16:colId xmlns:a16="http://schemas.microsoft.com/office/drawing/2014/main" val="20002"/>
                    </a:ext>
                  </a:extLst>
                </a:gridCol>
                <a:gridCol w="1869439">
                  <a:extLst>
                    <a:ext uri="{9D8B030D-6E8A-4147-A177-3AD203B41FA5}">
                      <a16:colId xmlns:a16="http://schemas.microsoft.com/office/drawing/2014/main" val="20003"/>
                    </a:ext>
                  </a:extLst>
                </a:gridCol>
              </a:tblGrid>
              <a:tr h="533400">
                <a:tc>
                  <a:txBody>
                    <a:bodyPr/>
                    <a:lstStyle/>
                    <a:p>
                      <a:pPr algn="l"/>
                      <a:r>
                        <a:rPr sz="1150" b="1">
                          <a:solidFill>
                            <a:srgbClr val="FFFFFF"/>
                          </a:solidFill>
                          <a:latin typeface="Arial"/>
                        </a:rPr>
                        <a:t>Dimensão analítica</a:t>
                      </a:r>
                    </a:p>
                  </a:txBody>
                  <a:tcPr marL="54864" marR="54864" marT="27432" marB="27432" anchor="ctr">
                    <a:solidFill>
                      <a:srgbClr val="2B364F"/>
                    </a:solidFill>
                  </a:tcPr>
                </a:tc>
                <a:tc>
                  <a:txBody>
                    <a:bodyPr/>
                    <a:lstStyle/>
                    <a:p>
                      <a:pPr algn="l"/>
                      <a:r>
                        <a:rPr sz="1150" b="1">
                          <a:solidFill>
                            <a:srgbClr val="FFFFFF"/>
                          </a:solidFill>
                          <a:latin typeface="Arial"/>
                        </a:rPr>
                        <a:t>Modelos tradicionais</a:t>
                      </a:r>
                    </a:p>
                  </a:txBody>
                  <a:tcPr marL="54864" marR="54864" marT="27432" marB="27432" anchor="ctr">
                    <a:solidFill>
                      <a:srgbClr val="2B364F"/>
                    </a:solidFill>
                  </a:tcPr>
                </a:tc>
                <a:tc>
                  <a:txBody>
                    <a:bodyPr/>
                    <a:lstStyle/>
                    <a:p>
                      <a:pPr algn="l"/>
                      <a:r>
                        <a:rPr sz="1150" b="1">
                          <a:solidFill>
                            <a:srgbClr val="FFFFFF"/>
                          </a:solidFill>
                          <a:latin typeface="Arial"/>
                        </a:rPr>
                        <a:t>3M 5.0 Ferramenta</a:t>
                      </a:r>
                    </a:p>
                  </a:txBody>
                  <a:tcPr marL="54864" marR="54864" marT="27432" marB="27432" anchor="ctr">
                    <a:solidFill>
                      <a:srgbClr val="2B364F"/>
                    </a:solidFill>
                  </a:tcPr>
                </a:tc>
                <a:tc>
                  <a:txBody>
                    <a:bodyPr/>
                    <a:lstStyle/>
                    <a:p>
                      <a:pPr algn="l"/>
                      <a:r>
                        <a:rPr sz="1150" b="1">
                          <a:solidFill>
                            <a:srgbClr val="FFFFFF"/>
                          </a:solidFill>
                          <a:latin typeface="Arial"/>
                        </a:rPr>
                        <a:t>3M 5.0 Agente</a:t>
                      </a:r>
                    </a:p>
                  </a:txBody>
                  <a:tcPr marL="54864" marR="54864" marT="27432" marB="27432" anchor="ctr">
                    <a:solidFill>
                      <a:srgbClr val="2B364F"/>
                    </a:solidFill>
                  </a:tcPr>
                </a:tc>
                <a:extLst>
                  <a:ext uri="{0D108BD9-81ED-4DB2-BD59-A6C34878D82A}">
                    <a16:rowId xmlns:a16="http://schemas.microsoft.com/office/drawing/2014/main" val="10000"/>
                  </a:ext>
                </a:extLst>
              </a:tr>
              <a:tr h="533400">
                <a:tc>
                  <a:txBody>
                    <a:bodyPr/>
                    <a:lstStyle/>
                    <a:p>
                      <a:pPr algn="l"/>
                      <a:r>
                        <a:rPr sz="1250" b="1">
                          <a:solidFill>
                            <a:srgbClr val="38415C"/>
                          </a:solidFill>
                          <a:latin typeface="Arial"/>
                        </a:rPr>
                        <a:t>1. Agência ativa de IA</a:t>
                      </a:r>
                    </a:p>
                  </a:txBody>
                  <a:tcPr marL="54864" marR="54864" marT="27432" marB="27432" anchor="ctr">
                    <a:solidFill>
                      <a:srgbClr val="FFFFFF"/>
                    </a:solidFill>
                  </a:tcPr>
                </a:tc>
                <a:tc>
                  <a:txBody>
                    <a:bodyPr/>
                    <a:lstStyle/>
                    <a:p>
                      <a:pPr algn="l"/>
                      <a:r>
                        <a:rPr sz="1250" b="0">
                          <a:solidFill>
                            <a:srgbClr val="B33A3A"/>
                          </a:solidFill>
                          <a:latin typeface="Arial"/>
                        </a:rPr>
                        <a:t>Ausente</a:t>
                      </a:r>
                    </a:p>
                  </a:txBody>
                  <a:tcPr marL="54864" marR="54864" marT="27432" marB="27432" anchor="ctr">
                    <a:solidFill>
                      <a:srgbClr val="FFFFFF"/>
                    </a:solidFill>
                  </a:tcPr>
                </a:tc>
                <a:tc>
                  <a:txBody>
                    <a:bodyPr/>
                    <a:lstStyle/>
                    <a:p>
                      <a:pPr algn="l"/>
                      <a:r>
                        <a:rPr sz="1250" b="0">
                          <a:solidFill>
                            <a:srgbClr val="EB976D"/>
                          </a:solidFill>
                          <a:latin typeface="Arial"/>
                        </a:rPr>
                        <a:t>Parcial</a:t>
                      </a:r>
                    </a:p>
                  </a:txBody>
                  <a:tcPr marL="54864" marR="54864" marT="27432" marB="27432" anchor="ctr">
                    <a:solidFill>
                      <a:srgbClr val="FFFFFF"/>
                    </a:solidFill>
                  </a:tcPr>
                </a:tc>
                <a:tc>
                  <a:txBody>
                    <a:bodyPr/>
                    <a:lstStyle/>
                    <a:p>
                      <a:pPr algn="l"/>
                      <a:r>
                        <a:rPr sz="1250" b="0">
                          <a:solidFill>
                            <a:srgbClr val="4E7C4E"/>
                          </a:solidFill>
                          <a:latin typeface="Arial"/>
                        </a:rPr>
                        <a:t>Pleno</a:t>
                      </a:r>
                    </a:p>
                  </a:txBody>
                  <a:tcPr marL="54864" marR="54864" marT="27432" marB="27432" anchor="ctr">
                    <a:solidFill>
                      <a:srgbClr val="FFFFFF"/>
                    </a:solidFill>
                  </a:tcPr>
                </a:tc>
                <a:extLst>
                  <a:ext uri="{0D108BD9-81ED-4DB2-BD59-A6C34878D82A}">
                    <a16:rowId xmlns:a16="http://schemas.microsoft.com/office/drawing/2014/main" val="10001"/>
                  </a:ext>
                </a:extLst>
              </a:tr>
              <a:tr h="533400">
                <a:tc>
                  <a:txBody>
                    <a:bodyPr/>
                    <a:lstStyle/>
                    <a:p>
                      <a:pPr algn="l"/>
                      <a:r>
                        <a:rPr sz="1250" b="1">
                          <a:solidFill>
                            <a:srgbClr val="38415C"/>
                          </a:solidFill>
                          <a:latin typeface="Arial"/>
                        </a:rPr>
                        <a:t>2. Simbiose humano-IA</a:t>
                      </a:r>
                    </a:p>
                  </a:txBody>
                  <a:tcPr marL="54864" marR="54864" marT="27432" marB="27432" anchor="ctr">
                    <a:solidFill>
                      <a:srgbClr val="F2F2F4"/>
                    </a:solidFill>
                  </a:tcPr>
                </a:tc>
                <a:tc>
                  <a:txBody>
                    <a:bodyPr/>
                    <a:lstStyle/>
                    <a:p>
                      <a:pPr algn="l"/>
                      <a:r>
                        <a:rPr sz="1250" b="0">
                          <a:solidFill>
                            <a:srgbClr val="B33A3A"/>
                          </a:solidFill>
                          <a:latin typeface="Arial"/>
                        </a:rPr>
                        <a:t>Ausente</a:t>
                      </a:r>
                    </a:p>
                  </a:txBody>
                  <a:tcPr marL="54864" marR="54864" marT="27432" marB="27432" anchor="ctr">
                    <a:solidFill>
                      <a:srgbClr val="F2F2F4"/>
                    </a:solidFill>
                  </a:tcPr>
                </a:tc>
                <a:tc>
                  <a:txBody>
                    <a:bodyPr/>
                    <a:lstStyle/>
                    <a:p>
                      <a:pPr algn="l"/>
                      <a:r>
                        <a:rPr sz="1250" b="0">
                          <a:solidFill>
                            <a:srgbClr val="EB976D"/>
                          </a:solidFill>
                          <a:latin typeface="Arial"/>
                        </a:rPr>
                        <a:t>Parcial</a:t>
                      </a:r>
                    </a:p>
                  </a:txBody>
                  <a:tcPr marL="54864" marR="54864" marT="27432" marB="27432" anchor="ctr">
                    <a:solidFill>
                      <a:srgbClr val="F2F2F4"/>
                    </a:solidFill>
                  </a:tcPr>
                </a:tc>
                <a:tc>
                  <a:txBody>
                    <a:bodyPr/>
                    <a:lstStyle/>
                    <a:p>
                      <a:pPr algn="l"/>
                      <a:r>
                        <a:rPr sz="1250" b="0">
                          <a:solidFill>
                            <a:srgbClr val="4E7C4E"/>
                          </a:solidFill>
                          <a:latin typeface="Arial"/>
                        </a:rPr>
                        <a:t>Pleno</a:t>
                      </a:r>
                    </a:p>
                  </a:txBody>
                  <a:tcPr marL="54864" marR="54864" marT="27432" marB="27432" anchor="ctr">
                    <a:solidFill>
                      <a:srgbClr val="F2F2F4"/>
                    </a:solidFill>
                  </a:tcPr>
                </a:tc>
                <a:extLst>
                  <a:ext uri="{0D108BD9-81ED-4DB2-BD59-A6C34878D82A}">
                    <a16:rowId xmlns:a16="http://schemas.microsoft.com/office/drawing/2014/main" val="10002"/>
                  </a:ext>
                </a:extLst>
              </a:tr>
              <a:tr h="533400">
                <a:tc>
                  <a:txBody>
                    <a:bodyPr/>
                    <a:lstStyle/>
                    <a:p>
                      <a:pPr algn="l"/>
                      <a:r>
                        <a:rPr sz="1250" b="1">
                          <a:solidFill>
                            <a:srgbClr val="38415C"/>
                          </a:solidFill>
                          <a:latin typeface="Arial"/>
                        </a:rPr>
                        <a:t>3. Ciclo de GC dinâmico</a:t>
                      </a:r>
                    </a:p>
                  </a:txBody>
                  <a:tcPr marL="54864" marR="54864" marT="27432" marB="27432" anchor="ctr">
                    <a:solidFill>
                      <a:srgbClr val="FFFFFF"/>
                    </a:solidFill>
                  </a:tcPr>
                </a:tc>
                <a:tc>
                  <a:txBody>
                    <a:bodyPr/>
                    <a:lstStyle/>
                    <a:p>
                      <a:pPr algn="l"/>
                      <a:r>
                        <a:rPr sz="1250" b="0">
                          <a:solidFill>
                            <a:srgbClr val="EB976D"/>
                          </a:solidFill>
                          <a:latin typeface="Arial"/>
                        </a:rPr>
                        <a:t>Parcial</a:t>
                      </a:r>
                    </a:p>
                  </a:txBody>
                  <a:tcPr marL="54864" marR="54864" marT="27432" marB="27432" anchor="ctr">
                    <a:solidFill>
                      <a:srgbClr val="FFFFFF"/>
                    </a:solidFill>
                  </a:tcPr>
                </a:tc>
                <a:tc>
                  <a:txBody>
                    <a:bodyPr/>
                    <a:lstStyle/>
                    <a:p>
                      <a:pPr algn="l"/>
                      <a:r>
                        <a:rPr sz="1250" b="0">
                          <a:solidFill>
                            <a:srgbClr val="EB976D"/>
                          </a:solidFill>
                          <a:latin typeface="Arial"/>
                        </a:rPr>
                        <a:t>Parcial</a:t>
                      </a:r>
                    </a:p>
                  </a:txBody>
                  <a:tcPr marL="54864" marR="54864" marT="27432" marB="27432" anchor="ctr">
                    <a:solidFill>
                      <a:srgbClr val="FFFFFF"/>
                    </a:solidFill>
                  </a:tcPr>
                </a:tc>
                <a:tc>
                  <a:txBody>
                    <a:bodyPr/>
                    <a:lstStyle/>
                    <a:p>
                      <a:pPr algn="l"/>
                      <a:r>
                        <a:rPr sz="1250" b="0">
                          <a:solidFill>
                            <a:srgbClr val="4E7C4E"/>
                          </a:solidFill>
                          <a:latin typeface="Arial"/>
                        </a:rPr>
                        <a:t>Pleno</a:t>
                      </a:r>
                    </a:p>
                  </a:txBody>
                  <a:tcPr marL="54864" marR="54864" marT="27432" marB="27432" anchor="ctr">
                    <a:solidFill>
                      <a:srgbClr val="FFFFFF"/>
                    </a:solidFill>
                  </a:tcPr>
                </a:tc>
                <a:extLst>
                  <a:ext uri="{0D108BD9-81ED-4DB2-BD59-A6C34878D82A}">
                    <a16:rowId xmlns:a16="http://schemas.microsoft.com/office/drawing/2014/main" val="10003"/>
                  </a:ext>
                </a:extLst>
              </a:tr>
              <a:tr h="533400">
                <a:tc>
                  <a:txBody>
                    <a:bodyPr/>
                    <a:lstStyle/>
                    <a:p>
                      <a:pPr algn="l"/>
                      <a:r>
                        <a:rPr sz="1250" b="1">
                          <a:solidFill>
                            <a:srgbClr val="38415C"/>
                          </a:solidFill>
                          <a:latin typeface="Arial"/>
                        </a:rPr>
                        <a:t>4. Governança &amp; integridade</a:t>
                      </a:r>
                    </a:p>
                  </a:txBody>
                  <a:tcPr marL="54864" marR="54864" marT="27432" marB="27432" anchor="ctr">
                    <a:solidFill>
                      <a:srgbClr val="F2F2F4"/>
                    </a:solidFill>
                  </a:tcPr>
                </a:tc>
                <a:tc>
                  <a:txBody>
                    <a:bodyPr/>
                    <a:lstStyle/>
                    <a:p>
                      <a:pPr algn="l"/>
                      <a:r>
                        <a:rPr sz="1250" b="0">
                          <a:solidFill>
                            <a:srgbClr val="B33A3A"/>
                          </a:solidFill>
                          <a:latin typeface="Arial"/>
                        </a:rPr>
                        <a:t>Ausente</a:t>
                      </a:r>
                    </a:p>
                  </a:txBody>
                  <a:tcPr marL="54864" marR="54864" marT="27432" marB="27432" anchor="ctr">
                    <a:solidFill>
                      <a:srgbClr val="F2F2F4"/>
                    </a:solidFill>
                  </a:tcPr>
                </a:tc>
                <a:tc>
                  <a:txBody>
                    <a:bodyPr/>
                    <a:lstStyle/>
                    <a:p>
                      <a:pPr algn="l"/>
                      <a:r>
                        <a:rPr sz="1250" b="0">
                          <a:solidFill>
                            <a:srgbClr val="EB976D"/>
                          </a:solidFill>
                          <a:latin typeface="Arial"/>
                        </a:rPr>
                        <a:t>Parcial</a:t>
                      </a:r>
                    </a:p>
                  </a:txBody>
                  <a:tcPr marL="54864" marR="54864" marT="27432" marB="27432" anchor="ctr">
                    <a:solidFill>
                      <a:srgbClr val="F2F2F4"/>
                    </a:solidFill>
                  </a:tcPr>
                </a:tc>
                <a:tc>
                  <a:txBody>
                    <a:bodyPr/>
                    <a:lstStyle/>
                    <a:p>
                      <a:pPr algn="l"/>
                      <a:r>
                        <a:rPr sz="1250" b="0">
                          <a:solidFill>
                            <a:srgbClr val="4E7C4E"/>
                          </a:solidFill>
                          <a:latin typeface="Arial"/>
                        </a:rPr>
                        <a:t>Pleno</a:t>
                      </a:r>
                    </a:p>
                  </a:txBody>
                  <a:tcPr marL="54864" marR="54864" marT="27432" marB="27432" anchor="ctr">
                    <a:solidFill>
                      <a:srgbClr val="F2F2F4"/>
                    </a:solidFill>
                  </a:tcPr>
                </a:tc>
                <a:extLst>
                  <a:ext uri="{0D108BD9-81ED-4DB2-BD59-A6C34878D82A}">
                    <a16:rowId xmlns:a16="http://schemas.microsoft.com/office/drawing/2014/main" val="10004"/>
                  </a:ext>
                </a:extLst>
              </a:tr>
              <a:tr h="533400">
                <a:tc>
                  <a:txBody>
                    <a:bodyPr/>
                    <a:lstStyle/>
                    <a:p>
                      <a:pPr algn="l"/>
                      <a:r>
                        <a:rPr sz="1250" b="1">
                          <a:solidFill>
                            <a:srgbClr val="38415C"/>
                          </a:solidFill>
                          <a:latin typeface="Arial"/>
                        </a:rPr>
                        <a:t>5. Aprendizado just-in-time</a:t>
                      </a:r>
                    </a:p>
                  </a:txBody>
                  <a:tcPr marL="54864" marR="54864" marT="27432" marB="27432" anchor="ctr">
                    <a:solidFill>
                      <a:srgbClr val="FFFFFF"/>
                    </a:solidFill>
                  </a:tcPr>
                </a:tc>
                <a:tc>
                  <a:txBody>
                    <a:bodyPr/>
                    <a:lstStyle/>
                    <a:p>
                      <a:pPr algn="l"/>
                      <a:r>
                        <a:rPr sz="1250" b="0">
                          <a:solidFill>
                            <a:srgbClr val="EB976D"/>
                          </a:solidFill>
                          <a:latin typeface="Arial"/>
                        </a:rPr>
                        <a:t>Parcial</a:t>
                      </a:r>
                    </a:p>
                  </a:txBody>
                  <a:tcPr marL="54864" marR="54864" marT="27432" marB="27432" anchor="ctr">
                    <a:solidFill>
                      <a:srgbClr val="FFFFFF"/>
                    </a:solidFill>
                  </a:tcPr>
                </a:tc>
                <a:tc>
                  <a:txBody>
                    <a:bodyPr/>
                    <a:lstStyle/>
                    <a:p>
                      <a:pPr algn="l"/>
                      <a:r>
                        <a:rPr sz="1250" b="0">
                          <a:solidFill>
                            <a:srgbClr val="EB976D"/>
                          </a:solidFill>
                          <a:latin typeface="Arial"/>
                        </a:rPr>
                        <a:t>Parcial</a:t>
                      </a:r>
                    </a:p>
                  </a:txBody>
                  <a:tcPr marL="54864" marR="54864" marT="27432" marB="27432" anchor="ctr">
                    <a:solidFill>
                      <a:srgbClr val="FFFFFF"/>
                    </a:solidFill>
                  </a:tcPr>
                </a:tc>
                <a:tc>
                  <a:txBody>
                    <a:bodyPr/>
                    <a:lstStyle/>
                    <a:p>
                      <a:pPr algn="l"/>
                      <a:r>
                        <a:rPr sz="1250" b="0">
                          <a:solidFill>
                            <a:srgbClr val="4E7C4E"/>
                          </a:solidFill>
                          <a:latin typeface="Arial"/>
                        </a:rPr>
                        <a:t>Pleno</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Ganhos exclusivos do 3M 5.0: </a:t>
            </a:r>
            <a:r>
              <a:rPr sz="1250" b="1">
                <a:solidFill>
                  <a:srgbClr val="EB976D"/>
                </a:solidFill>
                <a:latin typeface="Arial"/>
              </a:rPr>
              <a:t>Agência Ativa de IA e Governança Algorítmica</a:t>
            </a:r>
            <a:r>
              <a:rPr sz="1250" b="0">
                <a:solidFill>
                  <a:srgbClr val="FFFFFF"/>
                </a:solidFill>
                <a:latin typeface="Arial"/>
              </a:rPr>
              <a:t> (Pleno vs. Ausente).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Discussão: Implicações</a:t>
            </a:r>
          </a:p>
        </p:txBody>
      </p:sp>
      <p:sp>
        <p:nvSpPr>
          <p:cNvPr id="4" name="Rounded Rectangle 3"/>
          <p:cNvSpPr/>
          <p:nvPr/>
        </p:nvSpPr>
        <p:spPr>
          <a:xfrm>
            <a:off x="365760" y="1828800"/>
            <a:ext cx="3977639" cy="160020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00" b="1" i="0">
                <a:solidFill>
                  <a:srgbClr val="EB976D"/>
                </a:solidFill>
                <a:latin typeface="Arial"/>
              </a:rPr>
              <a:t>Teórica / epistemológica</a:t>
            </a:r>
          </a:p>
          <a:p>
            <a:pPr algn="l">
              <a:spcBef>
                <a:spcPts val="600"/>
              </a:spcBef>
              <a:spcAft>
                <a:spcPts val="0"/>
              </a:spcAft>
              <a:buNone/>
            </a:pPr>
            <a:r>
              <a:rPr sz="1150" b="0" i="0">
                <a:solidFill>
                  <a:srgbClr val="38415C"/>
                </a:solidFill>
                <a:latin typeface="Arial"/>
              </a:rPr>
              <a:t>Agência material não-humana (Faraj); transição SECI→GRAI; nova ontologia do saber coletivo.</a:t>
            </a:r>
          </a:p>
        </p:txBody>
      </p:sp>
      <p:sp>
        <p:nvSpPr>
          <p:cNvPr id="5" name="Rounded Rectangle 4"/>
          <p:cNvSpPr/>
          <p:nvPr/>
        </p:nvSpPr>
        <p:spPr>
          <a:xfrm>
            <a:off x="4800600" y="1828800"/>
            <a:ext cx="3977639" cy="160020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00" b="1" i="0">
                <a:solidFill>
                  <a:srgbClr val="EB976D"/>
                </a:solidFill>
                <a:latin typeface="Arial"/>
              </a:rPr>
              <a:t>Trabalho &amp; colaborador</a:t>
            </a:r>
          </a:p>
          <a:p>
            <a:pPr algn="l">
              <a:spcBef>
                <a:spcPts val="600"/>
              </a:spcBef>
              <a:spcAft>
                <a:spcPts val="0"/>
              </a:spcAft>
              <a:buNone/>
            </a:pPr>
            <a:r>
              <a:rPr sz="1150" b="0" i="0">
                <a:solidFill>
                  <a:srgbClr val="38415C"/>
                </a:solidFill>
                <a:latin typeface="Arial"/>
              </a:rPr>
              <a:t>Risco de deskilling (Dell'Acqua et al.); resposta = scaffolding + letramento crítico em IA (Ng).</a:t>
            </a:r>
          </a:p>
        </p:txBody>
      </p:sp>
      <p:sp>
        <p:nvSpPr>
          <p:cNvPr id="6" name="Rounded Rectangle 5"/>
          <p:cNvSpPr/>
          <p:nvPr/>
        </p:nvSpPr>
        <p:spPr>
          <a:xfrm>
            <a:off x="365760" y="3611880"/>
            <a:ext cx="3977639" cy="160020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00" b="1" i="0">
                <a:solidFill>
                  <a:srgbClr val="EB976D"/>
                </a:solidFill>
                <a:latin typeface="Arial"/>
              </a:rPr>
              <a:t>Vigilância &amp; seg. psicológica</a:t>
            </a:r>
          </a:p>
          <a:p>
            <a:pPr algn="l">
              <a:spcBef>
                <a:spcPts val="600"/>
              </a:spcBef>
              <a:spcAft>
                <a:spcPts val="0"/>
              </a:spcAft>
              <a:buNone/>
            </a:pPr>
            <a:r>
              <a:rPr sz="1150" b="0" i="0">
                <a:solidFill>
                  <a:srgbClr val="38415C"/>
                </a:solidFill>
                <a:latin typeface="Arial"/>
              </a:rPr>
              <a:t>Sensing pode virar vigilância; salvaguardas: anonimização, opt-in, sem uso punitivo (Edmondson).</a:t>
            </a:r>
          </a:p>
        </p:txBody>
      </p:sp>
      <p:sp>
        <p:nvSpPr>
          <p:cNvPr id="7" name="Rounded Rectangle 6"/>
          <p:cNvSpPr/>
          <p:nvPr/>
        </p:nvSpPr>
        <p:spPr>
          <a:xfrm>
            <a:off x="4800600" y="3611880"/>
            <a:ext cx="3977639" cy="1600200"/>
          </a:xfrm>
          <a:prstGeom prst="roundRect">
            <a:avLst/>
          </a:prstGeom>
          <a:solidFill>
            <a:srgbClr val="F2F2F4"/>
          </a:solidFill>
          <a:ln w="19050">
            <a:solidFill>
              <a:srgbClr val="EB976D"/>
            </a:solidFill>
          </a:ln>
          <a:effectLst/>
        </p:spPr>
        <p:style>
          <a:lnRef idx="1">
            <a:schemeClr val="accent1"/>
          </a:lnRef>
          <a:fillRef idx="3">
            <a:schemeClr val="accent1"/>
          </a:fillRef>
          <a:effectRef idx="2">
            <a:schemeClr val="accent1"/>
          </a:effectRef>
          <a:fontRef idx="minor">
            <a:schemeClr val="lt1"/>
          </a:fontRef>
        </p:style>
        <p:txBody>
          <a:bodyPr wrap="square" lIns="128016" tIns="91440" rtlCol="0" anchor="ctr"/>
          <a:lstStyle/>
          <a:p>
            <a:pPr algn="l">
              <a:spcBef>
                <a:spcPts val="0"/>
              </a:spcBef>
              <a:spcAft>
                <a:spcPts val="0"/>
              </a:spcAft>
              <a:buNone/>
            </a:pPr>
            <a:r>
              <a:rPr sz="1300" b="1" i="0">
                <a:solidFill>
                  <a:srgbClr val="EB976D"/>
                </a:solidFill>
                <a:latin typeface="Arial"/>
              </a:rPr>
              <a:t>Governança pedagógica</a:t>
            </a:r>
          </a:p>
          <a:p>
            <a:pPr algn="l">
              <a:spcBef>
                <a:spcPts val="600"/>
              </a:spcBef>
              <a:spcAft>
                <a:spcPts val="0"/>
              </a:spcAft>
              <a:buNone/>
            </a:pPr>
            <a:r>
              <a:rPr sz="1150" b="0" i="0">
                <a:solidFill>
                  <a:srgbClr val="38415C"/>
                </a:solidFill>
                <a:latin typeface="Arial"/>
              </a:rPr>
              <a:t>Contestabilidade ativa + double-loop (Argyris); accountability alinhada ao AI Act europeu.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Limitações</a:t>
            </a:r>
          </a:p>
        </p:txBody>
      </p:sp>
      <p:sp>
        <p:nvSpPr>
          <p:cNvPr id="4" name="TextBox 3"/>
          <p:cNvSpPr txBox="1"/>
          <p:nvPr/>
        </p:nvSpPr>
        <p:spPr>
          <a:xfrm>
            <a:off x="457200" y="1828800"/>
            <a:ext cx="8229600" cy="3566160"/>
          </a:xfrm>
          <a:prstGeom prst="rect">
            <a:avLst/>
          </a:prstGeom>
          <a:noFill/>
        </p:spPr>
        <p:txBody>
          <a:bodyPr wrap="square" lIns="45720" tIns="27432" rIns="45720" bIns="27432" anchor="t">
            <a:spAutoFit/>
          </a:bodyPr>
          <a:lstStyle/>
          <a:p>
            <a:pPr marL="228600" indent="-228600" algn="l">
              <a:spcBef>
                <a:spcPts val="0"/>
              </a:spcBef>
              <a:spcAft>
                <a:spcPts val="0"/>
              </a:spcAft>
              <a:buFont typeface="Arial"/>
              <a:buChar char="–"/>
            </a:pPr>
            <a:r>
              <a:rPr sz="1500" b="1" i="0">
                <a:solidFill>
                  <a:srgbClr val="EB976D"/>
                </a:solidFill>
                <a:latin typeface="Arial"/>
              </a:rPr>
              <a:t>Contribuição teórico-conceitual: </a:t>
            </a:r>
            <a:r>
              <a:rPr sz="1500" b="0" i="0">
                <a:solidFill>
                  <a:srgbClr val="38415C"/>
                </a:solidFill>
                <a:latin typeface="Arial"/>
              </a:rPr>
              <a:t>não há validação empírica de efetividade organizacional.</a:t>
            </a:r>
          </a:p>
          <a:p>
            <a:pPr marL="228600" indent="-228600" algn="l">
              <a:spcBef>
                <a:spcPts val="2000"/>
              </a:spcBef>
              <a:spcAft>
                <a:spcPts val="0"/>
              </a:spcAft>
              <a:buFont typeface="Arial"/>
              <a:buChar char="–"/>
            </a:pPr>
            <a:r>
              <a:rPr sz="1500" b="1" i="0">
                <a:solidFill>
                  <a:srgbClr val="EB976D"/>
                </a:solidFill>
                <a:latin typeface="Arial"/>
              </a:rPr>
              <a:t>Classificação autoral: </a:t>
            </a:r>
            <a:r>
              <a:rPr sz="1500" b="0" i="0">
                <a:solidFill>
                  <a:srgbClr val="38415C"/>
                </a:solidFill>
                <a:latin typeface="Arial"/>
              </a:rPr>
              <a:t>as 5 dimensões e a escala ordinal foram definidas pelos autores — risco de viés de confirmação (corroborar via Delphi).</a:t>
            </a:r>
          </a:p>
          <a:p>
            <a:pPr marL="228600" indent="-228600" algn="l">
              <a:spcBef>
                <a:spcPts val="2000"/>
              </a:spcBef>
              <a:spcAft>
                <a:spcPts val="0"/>
              </a:spcAft>
              <a:buFont typeface="Arial"/>
              <a:buChar char="–"/>
            </a:pPr>
            <a:r>
              <a:rPr sz="1500" b="1" i="0">
                <a:solidFill>
                  <a:srgbClr val="EB976D"/>
                </a:solidFill>
                <a:latin typeface="Arial"/>
              </a:rPr>
              <a:t>GRAI é recente: </a:t>
            </a:r>
            <a:r>
              <a:rPr sz="1500" b="0" i="0">
                <a:solidFill>
                  <a:srgbClr val="38415C"/>
                </a:solidFill>
                <a:latin typeface="Arial"/>
              </a:rPr>
              <a:t>ainda carece de validação independente; o modelo, porém, não depende ontologicamente dele (Prat/Stollenwerk seguem válidos).</a:t>
            </a:r>
          </a:p>
          <a:p>
            <a:pPr marL="228600" indent="-228600" algn="l">
              <a:spcBef>
                <a:spcPts val="2000"/>
              </a:spcBef>
              <a:spcAft>
                <a:spcPts val="0"/>
              </a:spcAft>
              <a:buFont typeface="Arial"/>
              <a:buChar char="–"/>
            </a:pPr>
            <a:r>
              <a:rPr sz="1500" b="1" i="0">
                <a:solidFill>
                  <a:srgbClr val="EB976D"/>
                </a:solidFill>
                <a:latin typeface="Arial"/>
              </a:rPr>
              <a:t>Triagem por LLM: </a:t>
            </a:r>
            <a:r>
              <a:rPr sz="1500" b="0" i="0">
                <a:solidFill>
                  <a:srgbClr val="38415C"/>
                </a:solidFill>
                <a:latin typeface="Arial"/>
              </a:rPr>
              <a:t>introduz vieses do avaliador; falta dupla triagem humana e métricas de concordância (kappa de Cohen).</a:t>
            </a:r>
          </a:p>
          <a:p>
            <a:pPr marL="228600" indent="-228600" algn="l">
              <a:spcBef>
                <a:spcPts val="2000"/>
              </a:spcBef>
              <a:spcAft>
                <a:spcPts val="0"/>
              </a:spcAft>
              <a:buFont typeface="Arial"/>
              <a:buChar char="–"/>
            </a:pPr>
            <a:r>
              <a:rPr sz="1500" b="1" i="0">
                <a:solidFill>
                  <a:srgbClr val="EB976D"/>
                </a:solidFill>
                <a:latin typeface="Arial"/>
              </a:rPr>
              <a:t>Limites técnicos dos LLMs: </a:t>
            </a:r>
            <a:r>
              <a:rPr sz="1500" b="0" i="0">
                <a:solidFill>
                  <a:srgbClr val="38415C"/>
                </a:solidFill>
                <a:latin typeface="Arial"/>
              </a:rPr>
              <a:t>alucinações em RAG/grafos, custos de inferência e volatilidade das soluções comerciais.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Conclusão</a:t>
            </a:r>
          </a:p>
        </p:txBody>
      </p:sp>
      <p:sp>
        <p:nvSpPr>
          <p:cNvPr id="4" name="TextBox 3"/>
          <p:cNvSpPr txBox="1"/>
          <p:nvPr/>
        </p:nvSpPr>
        <p:spPr>
          <a:xfrm>
            <a:off x="457200" y="1783080"/>
            <a:ext cx="8229600" cy="3108960"/>
          </a:xfrm>
          <a:prstGeom prst="rect">
            <a:avLst/>
          </a:prstGeom>
          <a:noFill/>
        </p:spPr>
        <p:txBody>
          <a:bodyPr wrap="square" lIns="45720" tIns="27432" rIns="45720" bIns="27432" anchor="t">
            <a:spAutoFit/>
          </a:bodyPr>
          <a:lstStyle/>
          <a:p>
            <a:pPr marL="228600" indent="-228600" algn="l">
              <a:spcBef>
                <a:spcPts val="0"/>
              </a:spcBef>
              <a:spcAft>
                <a:spcPts val="0"/>
              </a:spcAft>
              <a:buFont typeface="Arial"/>
              <a:buChar char="➜"/>
            </a:pPr>
            <a:r>
              <a:rPr sz="1400" b="1" i="0">
                <a:solidFill>
                  <a:srgbClr val="EB976D"/>
                </a:solidFill>
                <a:latin typeface="Arial"/>
              </a:rPr>
              <a:t>Teórica: </a:t>
            </a:r>
            <a:r>
              <a:rPr sz="1400" b="0" i="0">
                <a:solidFill>
                  <a:srgbClr val="38415C"/>
                </a:solidFill>
                <a:latin typeface="Arial"/>
              </a:rPr>
              <a:t>do instrumentalismo à agência material da IA; redes híbridas e coevolução GRAI no lugar do SECI linear.</a:t>
            </a:r>
          </a:p>
          <a:p>
            <a:pPr marL="228600" indent="-228600" algn="l">
              <a:spcBef>
                <a:spcPts val="1200"/>
              </a:spcBef>
              <a:spcAft>
                <a:spcPts val="0"/>
              </a:spcAft>
              <a:buFont typeface="Arial"/>
              <a:buChar char="➜"/>
            </a:pPr>
            <a:r>
              <a:rPr sz="1400" b="1" i="0">
                <a:solidFill>
                  <a:srgbClr val="EB976D"/>
                </a:solidFill>
                <a:latin typeface="Arial"/>
              </a:rPr>
              <a:t>Gerencial: </a:t>
            </a:r>
            <a:r>
              <a:rPr sz="1400" b="0" i="0">
                <a:solidFill>
                  <a:srgbClr val="38415C"/>
                </a:solidFill>
                <a:latin typeface="Arial"/>
              </a:rPr>
              <a:t>scaffolding + letramento em IA contra o deskilling; salvaguardas éticas no sensing (anonimização, opt-in).</a:t>
            </a:r>
          </a:p>
          <a:p>
            <a:pPr marL="228600" indent="-228600" algn="l">
              <a:spcBef>
                <a:spcPts val="1200"/>
              </a:spcBef>
              <a:spcAft>
                <a:spcPts val="0"/>
              </a:spcAft>
              <a:buFont typeface="Arial"/>
              <a:buChar char="➜"/>
            </a:pPr>
            <a:r>
              <a:rPr sz="1400" b="1" i="0">
                <a:solidFill>
                  <a:srgbClr val="EB976D"/>
                </a:solidFill>
                <a:latin typeface="Arial"/>
              </a:rPr>
              <a:t>Metodológica: </a:t>
            </a:r>
            <a:r>
              <a:rPr sz="1400" b="0" i="0">
                <a:solidFill>
                  <a:srgbClr val="38415C"/>
                </a:solidFill>
                <a:latin typeface="Arial"/>
              </a:rPr>
              <a:t>retrofit conceitual como estratégia replicável; pipeline SLR-RAG reutilizável.</a:t>
            </a:r>
          </a:p>
        </p:txBody>
      </p:sp>
      <p:sp>
        <p:nvSpPr>
          <p:cNvPr id="5" name="Rectangle 4"/>
          <p:cNvSpPr/>
          <p:nvPr/>
        </p:nvSpPr>
        <p:spPr>
          <a:xfrm>
            <a:off x="365760" y="5650992"/>
            <a:ext cx="8412480" cy="420624"/>
          </a:xfrm>
          <a:prstGeom prst="rect">
            <a:avLst/>
          </a:prstGeom>
          <a:solidFill>
            <a:srgbClr val="2B364F"/>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250" b="0">
                <a:solidFill>
                  <a:srgbClr val="FFFFFF"/>
                </a:solidFill>
                <a:latin typeface="Arial"/>
              </a:rPr>
              <a:t>A evolução responsável da UC depende menos de automatizar o ensino e mais de </a:t>
            </a:r>
            <a:r>
              <a:rPr sz="1250" b="1">
                <a:solidFill>
                  <a:srgbClr val="EB976D"/>
                </a:solidFill>
                <a:latin typeface="Arial"/>
              </a:rPr>
              <a:t>governar como humanos e IA aprendem e decidem juntos</a:t>
            </a:r>
            <a:r>
              <a:rPr sz="1250" b="0">
                <a:solidFill>
                  <a:srgbClr val="FFFFFF"/>
                </a:solidFill>
                <a:latin typeface="Aria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Referências citadas — 1/2</a:t>
            </a:r>
          </a:p>
        </p:txBody>
      </p:sp>
      <p:sp>
        <p:nvSpPr>
          <p:cNvPr id="4" name="TextBox 3"/>
          <p:cNvSpPr txBox="1"/>
          <p:nvPr/>
        </p:nvSpPr>
        <p:spPr>
          <a:xfrm>
            <a:off x="411480" y="1600200"/>
            <a:ext cx="4160520" cy="4434840"/>
          </a:xfrm>
          <a:prstGeom prst="rect">
            <a:avLst/>
          </a:prstGeom>
          <a:noFill/>
        </p:spPr>
        <p:txBody>
          <a:bodyPr wrap="square" lIns="45720" tIns="27432" rIns="45720" bIns="27432" anchor="t">
            <a:spAutoFit/>
          </a:bodyPr>
          <a:lstStyle/>
          <a:p>
            <a:endParaRPr/>
          </a:p>
          <a:p>
            <a:pPr algn="l">
              <a:lnSpc>
                <a:spcPct val="90000"/>
              </a:lnSpc>
              <a:spcBef>
                <a:spcPts val="0"/>
              </a:spcBef>
              <a:spcAft>
                <a:spcPts val="0"/>
              </a:spcAft>
              <a:buNone/>
            </a:pPr>
            <a:r>
              <a:rPr sz="800" b="1" i="0">
                <a:solidFill>
                  <a:srgbClr val="EB976D"/>
                </a:solidFill>
                <a:latin typeface="Arial"/>
              </a:rPr>
              <a:t>[1] </a:t>
            </a:r>
            <a:r>
              <a:rPr sz="800" b="0" i="0">
                <a:solidFill>
                  <a:srgbClr val="38415C"/>
                </a:solidFill>
                <a:latin typeface="Arial"/>
              </a:rPr>
              <a:t>E. Scarso, “Corporate universities as knowledge management tools,” VINE Journal of Information and Knowledge Management Systems, 2017.</a:t>
            </a:r>
          </a:p>
          <a:p>
            <a:pPr algn="l">
              <a:lnSpc>
                <a:spcPct val="90000"/>
              </a:lnSpc>
              <a:spcBef>
                <a:spcPts val="400"/>
              </a:spcBef>
              <a:spcAft>
                <a:spcPts val="0"/>
              </a:spcAft>
              <a:buNone/>
            </a:pPr>
            <a:r>
              <a:rPr sz="800" b="1" i="0">
                <a:solidFill>
                  <a:srgbClr val="EB976D"/>
                </a:solidFill>
                <a:latin typeface="Arial"/>
              </a:rPr>
              <a:t>[2] </a:t>
            </a:r>
            <a:r>
              <a:rPr sz="800" b="0" i="0">
                <a:solidFill>
                  <a:srgbClr val="38415C"/>
                </a:solidFill>
                <a:latin typeface="Arial"/>
              </a:rPr>
              <a:t>Y. Chen, Y. Xu, and Q. Zhai, “The knowledge management functions of corporate university and their evolution: case studies of two Chinese corporate universities,” Journal of Knowledge Management, 2019.</a:t>
            </a:r>
          </a:p>
          <a:p>
            <a:pPr algn="l">
              <a:lnSpc>
                <a:spcPct val="90000"/>
              </a:lnSpc>
              <a:spcBef>
                <a:spcPts val="400"/>
              </a:spcBef>
              <a:spcAft>
                <a:spcPts val="0"/>
              </a:spcAft>
              <a:buNone/>
            </a:pPr>
            <a:r>
              <a:rPr sz="800" b="1" i="0">
                <a:solidFill>
                  <a:srgbClr val="EB976D"/>
                </a:solidFill>
                <a:latin typeface="Arial"/>
              </a:rPr>
              <a:t>[3] </a:t>
            </a:r>
            <a:r>
              <a:rPr sz="800" b="0" i="0">
                <a:solidFill>
                  <a:srgbClr val="38415C"/>
                </a:solidFill>
                <a:latin typeface="Arial"/>
              </a:rPr>
              <a:t>V. C. Farias da Costa, J. Oliveira, and J. Moreira de Souza, “Conceptual model for corporate universities,” in Encyclopedia of Knowledge Management, 2nd ed., D. G. Schwartz and D. Te'eni, Eds. IGI Global, 2011, pp. 112--120.</a:t>
            </a:r>
          </a:p>
          <a:p>
            <a:pPr algn="l">
              <a:lnSpc>
                <a:spcPct val="90000"/>
              </a:lnSpc>
              <a:spcBef>
                <a:spcPts val="400"/>
              </a:spcBef>
              <a:spcAft>
                <a:spcPts val="0"/>
              </a:spcAft>
              <a:buNone/>
            </a:pPr>
            <a:r>
              <a:rPr sz="800" b="1" i="0">
                <a:solidFill>
                  <a:srgbClr val="EB976D"/>
                </a:solidFill>
                <a:latin typeface="Arial"/>
              </a:rPr>
              <a:t>[4] </a:t>
            </a:r>
            <a:r>
              <a:rPr sz="800" b="0" i="0">
                <a:solidFill>
                  <a:srgbClr val="38415C"/>
                </a:solidFill>
                <a:latin typeface="Arial"/>
              </a:rPr>
              <a:t>N. Prat, “A hierarchical model for knowledge management,” in Encyclopedia of Knowledge Management, 2nd ed., D. G. Schwartz and D. Te'eni, Eds. IGI Global, 2011.</a:t>
            </a:r>
          </a:p>
          <a:p>
            <a:pPr algn="l">
              <a:lnSpc>
                <a:spcPct val="90000"/>
              </a:lnSpc>
              <a:spcBef>
                <a:spcPts val="400"/>
              </a:spcBef>
              <a:spcAft>
                <a:spcPts val="0"/>
              </a:spcAft>
              <a:buNone/>
            </a:pPr>
            <a:r>
              <a:rPr sz="800" b="1" i="0">
                <a:solidFill>
                  <a:srgbClr val="EB976D"/>
                </a:solidFill>
                <a:latin typeface="Arial"/>
              </a:rPr>
              <a:t>[5] </a:t>
            </a:r>
            <a:r>
              <a:rPr sz="800" b="0" i="0">
                <a:solidFill>
                  <a:srgbClr val="38415C"/>
                </a:solidFill>
                <a:latin typeface="Arial"/>
              </a:rPr>
              <a:t>M. Alavi, D. Leidner, and R. Mousavi, “Knowledge management perspective of generative artificial intelligence (GenAI),” Journal of the Association for Information Systems, 2024.</a:t>
            </a:r>
          </a:p>
          <a:p>
            <a:pPr algn="l">
              <a:lnSpc>
                <a:spcPct val="90000"/>
              </a:lnSpc>
              <a:spcBef>
                <a:spcPts val="400"/>
              </a:spcBef>
              <a:spcAft>
                <a:spcPts val="0"/>
              </a:spcAft>
              <a:buNone/>
            </a:pPr>
            <a:r>
              <a:rPr sz="800" b="1" i="0">
                <a:solidFill>
                  <a:srgbClr val="EB976D"/>
                </a:solidFill>
                <a:latin typeface="Arial"/>
              </a:rPr>
              <a:t>[6] </a:t>
            </a:r>
            <a:r>
              <a:rPr sz="800" b="0" i="0">
                <a:solidFill>
                  <a:srgbClr val="38415C"/>
                </a:solidFill>
                <a:latin typeface="Arial"/>
              </a:rPr>
              <a:t>D. P. Mora-Mora, C. A. Bernal-Torres, and L. E. Torres-Guevara, “Corporate university model: Enhancing competitiveness in firms from emerging economies,” The Learning Organization, vol. 32, no. 7, pp. 153--175, 2025.</a:t>
            </a:r>
          </a:p>
          <a:p>
            <a:pPr algn="l">
              <a:lnSpc>
                <a:spcPct val="90000"/>
              </a:lnSpc>
              <a:spcBef>
                <a:spcPts val="400"/>
              </a:spcBef>
              <a:spcAft>
                <a:spcPts val="0"/>
              </a:spcAft>
              <a:buNone/>
            </a:pPr>
            <a:r>
              <a:rPr sz="800" b="1" i="0">
                <a:solidFill>
                  <a:srgbClr val="EB976D"/>
                </a:solidFill>
                <a:latin typeface="Arial"/>
              </a:rPr>
              <a:t>[7] </a:t>
            </a:r>
            <a:r>
              <a:rPr sz="800" b="0" i="0">
                <a:solidFill>
                  <a:srgbClr val="38415C"/>
                </a:solidFill>
                <a:latin typeface="Arial"/>
              </a:rPr>
              <a:t>S. da Silva, G. Dandolini, P. de Sá Freire, W. Rochadel, and A. de B Valdati, “Purpose of the use of technologies in the contemporary models of corporate university,” International Journal for Innovation Education and Research, 2018.</a:t>
            </a:r>
          </a:p>
          <a:p>
            <a:pPr algn="l">
              <a:lnSpc>
                <a:spcPct val="90000"/>
              </a:lnSpc>
              <a:spcBef>
                <a:spcPts val="400"/>
              </a:spcBef>
              <a:spcAft>
                <a:spcPts val="0"/>
              </a:spcAft>
              <a:buNone/>
            </a:pPr>
            <a:r>
              <a:rPr sz="800" b="1" i="0">
                <a:solidFill>
                  <a:srgbClr val="EB976D"/>
                </a:solidFill>
                <a:latin typeface="Arial"/>
              </a:rPr>
              <a:t>[8] </a:t>
            </a:r>
            <a:r>
              <a:rPr sz="800" b="0" i="0">
                <a:solidFill>
                  <a:srgbClr val="38415C"/>
                </a:solidFill>
                <a:latin typeface="Arial"/>
              </a:rPr>
              <a:t>A. Islam and M. Ajmal, “Agentic AI and the co-evolution of organizational knowledge,” Policy Journal of Social Science Review, 2025.</a:t>
            </a:r>
          </a:p>
          <a:p>
            <a:pPr algn="l">
              <a:lnSpc>
                <a:spcPct val="90000"/>
              </a:lnSpc>
              <a:spcBef>
                <a:spcPts val="400"/>
              </a:spcBef>
              <a:spcAft>
                <a:spcPts val="0"/>
              </a:spcAft>
              <a:buNone/>
            </a:pPr>
            <a:r>
              <a:rPr sz="800" b="1" i="0">
                <a:solidFill>
                  <a:srgbClr val="EB976D"/>
                </a:solidFill>
                <a:latin typeface="Arial"/>
              </a:rPr>
              <a:t>[9] </a:t>
            </a:r>
            <a:r>
              <a:rPr sz="800" b="0" i="0">
                <a:solidFill>
                  <a:srgbClr val="38415C"/>
                </a:solidFill>
                <a:latin typeface="Arial"/>
              </a:rPr>
              <a:t>M. H. Jarrahi, D. Askay, A. Eshraghi, and P. Smith, “Artificial intelligence and knowledge management: A partnership between human and AI,” Business Horizons, vol. 66, no. 1, pp. 87--99, 2023.</a:t>
            </a:r>
          </a:p>
          <a:p>
            <a:pPr algn="l">
              <a:lnSpc>
                <a:spcPct val="90000"/>
              </a:lnSpc>
              <a:spcBef>
                <a:spcPts val="400"/>
              </a:spcBef>
              <a:spcAft>
                <a:spcPts val="0"/>
              </a:spcAft>
              <a:buNone/>
            </a:pPr>
            <a:r>
              <a:rPr sz="800" b="1" i="0">
                <a:solidFill>
                  <a:srgbClr val="EB976D"/>
                </a:solidFill>
                <a:latin typeface="Arial"/>
              </a:rPr>
              <a:t>[10] </a:t>
            </a:r>
            <a:r>
              <a:rPr sz="800" b="0" i="0">
                <a:solidFill>
                  <a:srgbClr val="38415C"/>
                </a:solidFill>
                <a:latin typeface="Arial"/>
              </a:rPr>
              <a:t>M. F. L. Stollenwerk, “Gestão do conhecimento: conceitos e modelos,” in Inteligência Organizacional e Competitiva, K. Tarapanoff, Ed. Editora UnB, 2001, ch. 6, pp. 143--163.</a:t>
            </a:r>
          </a:p>
          <a:p>
            <a:pPr algn="l">
              <a:lnSpc>
                <a:spcPct val="90000"/>
              </a:lnSpc>
              <a:spcBef>
                <a:spcPts val="400"/>
              </a:spcBef>
              <a:spcAft>
                <a:spcPts val="0"/>
              </a:spcAft>
              <a:buNone/>
            </a:pPr>
            <a:r>
              <a:rPr sz="800" b="1" i="0">
                <a:solidFill>
                  <a:srgbClr val="EB976D"/>
                </a:solidFill>
                <a:latin typeface="Arial"/>
              </a:rPr>
              <a:t>[11] </a:t>
            </a:r>
            <a:r>
              <a:rPr sz="800" b="0" i="0">
                <a:solidFill>
                  <a:srgbClr val="38415C"/>
                </a:solidFill>
                <a:latin typeface="Arial"/>
              </a:rPr>
              <a:t>S. Faraj, J. Perez-Torrents, S. Mantere, and A. Bhardwaj, “A time for monsters: Organizational knowing after large language models,” Strategic Organization, 2026.</a:t>
            </a:r>
          </a:p>
        </p:txBody>
      </p:sp>
      <p:sp>
        <p:nvSpPr>
          <p:cNvPr id="5" name="TextBox 4"/>
          <p:cNvSpPr txBox="1"/>
          <p:nvPr/>
        </p:nvSpPr>
        <p:spPr>
          <a:xfrm>
            <a:off x="4663440" y="1600200"/>
            <a:ext cx="4160520" cy="4434840"/>
          </a:xfrm>
          <a:prstGeom prst="rect">
            <a:avLst/>
          </a:prstGeom>
          <a:noFill/>
        </p:spPr>
        <p:txBody>
          <a:bodyPr wrap="square" lIns="45720" tIns="27432" rIns="45720" bIns="27432" anchor="t">
            <a:spAutoFit/>
          </a:bodyPr>
          <a:lstStyle/>
          <a:p>
            <a:endParaRPr/>
          </a:p>
          <a:p>
            <a:pPr algn="l">
              <a:lnSpc>
                <a:spcPct val="90000"/>
              </a:lnSpc>
              <a:spcBef>
                <a:spcPts val="0"/>
              </a:spcBef>
              <a:spcAft>
                <a:spcPts val="0"/>
              </a:spcAft>
              <a:buNone/>
            </a:pPr>
            <a:r>
              <a:rPr sz="800" b="1" i="0">
                <a:solidFill>
                  <a:srgbClr val="EB976D"/>
                </a:solidFill>
                <a:latin typeface="Arial"/>
              </a:rPr>
              <a:t>[12] </a:t>
            </a:r>
            <a:r>
              <a:rPr sz="800" b="0" i="0">
                <a:solidFill>
                  <a:srgbClr val="38415C"/>
                </a:solidFill>
                <a:latin typeface="Arial"/>
              </a:rPr>
              <a:t>J. C. Meister, Corporate Universities: Lessons in Building a World-Class Work Force, rev. and updated ed. ed. New York: McGraw-Hill, 1998.</a:t>
            </a:r>
          </a:p>
          <a:p>
            <a:pPr algn="l">
              <a:lnSpc>
                <a:spcPct val="90000"/>
              </a:lnSpc>
              <a:spcBef>
                <a:spcPts val="400"/>
              </a:spcBef>
              <a:spcAft>
                <a:spcPts val="0"/>
              </a:spcAft>
              <a:buNone/>
            </a:pPr>
            <a:r>
              <a:rPr sz="800" b="1" i="0">
                <a:solidFill>
                  <a:srgbClr val="EB976D"/>
                </a:solidFill>
                <a:latin typeface="Arial"/>
              </a:rPr>
              <a:t>[13] </a:t>
            </a:r>
            <a:r>
              <a:rPr sz="800" b="0" i="0">
                <a:solidFill>
                  <a:srgbClr val="38415C"/>
                </a:solidFill>
                <a:latin typeface="Arial"/>
              </a:rPr>
              <a:t>Y. Han, Y. Zhou, S. Carr, and J. Jiang, “Lifelong learning in the workplace: the knowledge management role of corporate universities in China,” Humanities and Social Sciences Communications, 2024.</a:t>
            </a:r>
          </a:p>
          <a:p>
            <a:pPr algn="l">
              <a:lnSpc>
                <a:spcPct val="90000"/>
              </a:lnSpc>
              <a:spcBef>
                <a:spcPts val="400"/>
              </a:spcBef>
              <a:spcAft>
                <a:spcPts val="0"/>
              </a:spcAft>
              <a:buNone/>
            </a:pPr>
            <a:r>
              <a:rPr sz="800" b="1" i="0">
                <a:solidFill>
                  <a:srgbClr val="EB976D"/>
                </a:solidFill>
                <a:latin typeface="Arial"/>
              </a:rPr>
              <a:t>[14] </a:t>
            </a:r>
            <a:r>
              <a:rPr sz="800" b="0" i="0">
                <a:solidFill>
                  <a:srgbClr val="38415C"/>
                </a:solidFill>
                <a:latin typeface="Arial"/>
              </a:rPr>
              <a:t>V. Storey, “Knowledge management in a world of generative AI: Impact and implications,” ACM Transactions on Management Information Systems, 2025.</a:t>
            </a:r>
          </a:p>
          <a:p>
            <a:pPr algn="l">
              <a:lnSpc>
                <a:spcPct val="90000"/>
              </a:lnSpc>
              <a:spcBef>
                <a:spcPts val="400"/>
              </a:spcBef>
              <a:spcAft>
                <a:spcPts val="0"/>
              </a:spcAft>
              <a:buNone/>
            </a:pPr>
            <a:r>
              <a:rPr sz="800" b="1" i="0">
                <a:solidFill>
                  <a:srgbClr val="EB976D"/>
                </a:solidFill>
                <a:latin typeface="Arial"/>
              </a:rPr>
              <a:t>[15] </a:t>
            </a:r>
            <a:r>
              <a:rPr sz="800" b="0" i="0">
                <a:solidFill>
                  <a:srgbClr val="38415C"/>
                </a:solidFill>
                <a:latin typeface="Arial"/>
              </a:rPr>
              <a:t>N. Uchihira, “Tacit knowledge management with generative AI: Proposal of the GenAI SECI model,” arXiv preprint (JAIST), 2026.</a:t>
            </a:r>
          </a:p>
          <a:p>
            <a:pPr algn="l">
              <a:lnSpc>
                <a:spcPct val="90000"/>
              </a:lnSpc>
              <a:spcBef>
                <a:spcPts val="400"/>
              </a:spcBef>
              <a:spcAft>
                <a:spcPts val="0"/>
              </a:spcAft>
              <a:buNone/>
            </a:pPr>
            <a:r>
              <a:rPr sz="800" b="1" i="0">
                <a:solidFill>
                  <a:srgbClr val="EB976D"/>
                </a:solidFill>
                <a:latin typeface="Arial"/>
              </a:rPr>
              <a:t>[16] </a:t>
            </a:r>
            <a:r>
              <a:rPr sz="800" b="0" i="0">
                <a:solidFill>
                  <a:srgbClr val="38415C"/>
                </a:solidFill>
                <a:latin typeface="Arial"/>
              </a:rPr>
              <a:t>K. B\"ohm and S. Durst, “Knowledge management in the age of generative artificial intelligence – from SECI to GRAI,” VINE Journal of Information and Knowledge Management Systems, 2025.</a:t>
            </a:r>
          </a:p>
          <a:p>
            <a:pPr algn="l">
              <a:lnSpc>
                <a:spcPct val="90000"/>
              </a:lnSpc>
              <a:spcBef>
                <a:spcPts val="400"/>
              </a:spcBef>
              <a:spcAft>
                <a:spcPts val="0"/>
              </a:spcAft>
              <a:buNone/>
            </a:pPr>
            <a:r>
              <a:rPr sz="800" b="1" i="0">
                <a:solidFill>
                  <a:srgbClr val="EB976D"/>
                </a:solidFill>
                <a:latin typeface="Arial"/>
              </a:rPr>
              <a:t>[17] </a:t>
            </a:r>
            <a:r>
              <a:rPr sz="800" b="0" i="0">
                <a:solidFill>
                  <a:srgbClr val="38415C"/>
                </a:solidFill>
                <a:latin typeface="Arial"/>
              </a:rPr>
              <a:t>K. Kirchner, E. Bolisani, T. Kassaneh, E. Scarso, and N. Taraghi, “Generative AI meets knowledge management: Insights from software development practices,” Knowledge and Process Management, 2025.</a:t>
            </a:r>
          </a:p>
          <a:p>
            <a:pPr algn="l">
              <a:lnSpc>
                <a:spcPct val="90000"/>
              </a:lnSpc>
              <a:spcBef>
                <a:spcPts val="400"/>
              </a:spcBef>
              <a:spcAft>
                <a:spcPts val="0"/>
              </a:spcAft>
              <a:buNone/>
            </a:pPr>
            <a:r>
              <a:rPr sz="800" b="1" i="0">
                <a:solidFill>
                  <a:srgbClr val="EB976D"/>
                </a:solidFill>
                <a:latin typeface="Arial"/>
              </a:rPr>
              <a:t>[18] </a:t>
            </a:r>
            <a:r>
              <a:rPr sz="800" b="0" i="0">
                <a:solidFill>
                  <a:srgbClr val="38415C"/>
                </a:solidFill>
                <a:latin typeface="Arial"/>
              </a:rPr>
              <a:t>D. O'Leary, “Enterprise large language models: Knowledge characteristics, risks, and organizational activities,” Intelligent Systems in Accounting, Finance and Management, 2023.</a:t>
            </a:r>
          </a:p>
          <a:p>
            <a:pPr algn="l">
              <a:lnSpc>
                <a:spcPct val="90000"/>
              </a:lnSpc>
              <a:spcBef>
                <a:spcPts val="400"/>
              </a:spcBef>
              <a:spcAft>
                <a:spcPts val="0"/>
              </a:spcAft>
              <a:buNone/>
            </a:pPr>
            <a:r>
              <a:rPr sz="800" b="1" i="0">
                <a:solidFill>
                  <a:srgbClr val="EB976D"/>
                </a:solidFill>
                <a:latin typeface="Arial"/>
              </a:rPr>
              <a:t>[19] </a:t>
            </a:r>
            <a:r>
              <a:rPr sz="800" b="0" i="0">
                <a:solidFill>
                  <a:srgbClr val="38415C"/>
                </a:solidFill>
                <a:latin typeface="Arial"/>
              </a:rPr>
              <a:t>M. Nakash, “Learning in the flow of work: Navigating the convergence of organizational learning and knowledge management,” InSITE Conference, 2024.</a:t>
            </a:r>
          </a:p>
          <a:p>
            <a:pPr algn="l">
              <a:lnSpc>
                <a:spcPct val="90000"/>
              </a:lnSpc>
              <a:spcBef>
                <a:spcPts val="400"/>
              </a:spcBef>
              <a:spcAft>
                <a:spcPts val="0"/>
              </a:spcAft>
              <a:buNone/>
            </a:pPr>
            <a:r>
              <a:rPr sz="800" b="1" i="0">
                <a:solidFill>
                  <a:srgbClr val="EB976D"/>
                </a:solidFill>
                <a:latin typeface="Arial"/>
              </a:rPr>
              <a:t>[20] </a:t>
            </a:r>
            <a:r>
              <a:rPr sz="800" b="0" i="0">
                <a:solidFill>
                  <a:srgbClr val="38415C"/>
                </a:solidFill>
                <a:latin typeface="Arial"/>
              </a:rPr>
              <a:t>C. Lombardozzi, “Challenges of learning in the flow of work: Scaffolding self-direction,” International Journal of Human Resource Development: Practice, Policy \&amp; Research, 2016.</a:t>
            </a:r>
          </a:p>
          <a:p>
            <a:pPr algn="l">
              <a:lnSpc>
                <a:spcPct val="90000"/>
              </a:lnSpc>
              <a:spcBef>
                <a:spcPts val="400"/>
              </a:spcBef>
              <a:spcAft>
                <a:spcPts val="0"/>
              </a:spcAft>
              <a:buNone/>
            </a:pPr>
            <a:r>
              <a:rPr sz="800" b="1" i="0">
                <a:solidFill>
                  <a:srgbClr val="EB976D"/>
                </a:solidFill>
                <a:latin typeface="Arial"/>
              </a:rPr>
              <a:t>[21] </a:t>
            </a:r>
            <a:r>
              <a:rPr sz="800" b="0" i="0">
                <a:solidFill>
                  <a:srgbClr val="38415C"/>
                </a:solidFill>
                <a:latin typeface="Arial"/>
              </a:rPr>
              <a:t>T. Callari and L. Puppione, “Can generative artificial intelligence productivity tools support workplace learning? a qualitative study on employee perceptions in a multinational corporation,” Journal of Workplace Learning, 2025.</a:t>
            </a:r>
          </a:p>
          <a:p>
            <a:pPr algn="l">
              <a:lnSpc>
                <a:spcPct val="90000"/>
              </a:lnSpc>
              <a:spcBef>
                <a:spcPts val="400"/>
              </a:spcBef>
              <a:spcAft>
                <a:spcPts val="0"/>
              </a:spcAft>
              <a:buNone/>
            </a:pPr>
            <a:r>
              <a:rPr sz="800" b="1" i="0">
                <a:solidFill>
                  <a:srgbClr val="EB976D"/>
                </a:solidFill>
                <a:latin typeface="Arial"/>
              </a:rPr>
              <a:t>[22] </a:t>
            </a:r>
            <a:r>
              <a:rPr sz="800" b="0" i="0">
                <a:solidFill>
                  <a:srgbClr val="38415C"/>
                </a:solidFill>
                <a:latin typeface="Arial"/>
              </a:rPr>
              <a:t>A. Rausch, “Artificial intelligence for informal workplace learning: a problem-solving perspective,” Frontiers in Organizational Psychology, 2025.</a:t>
            </a:r>
          </a:p>
          <a:p>
            <a:pPr algn="l">
              <a:lnSpc>
                <a:spcPct val="90000"/>
              </a:lnSpc>
              <a:spcBef>
                <a:spcPts val="400"/>
              </a:spcBef>
              <a:spcAft>
                <a:spcPts val="0"/>
              </a:spcAft>
              <a:buNone/>
            </a:pPr>
            <a:r>
              <a:rPr sz="800" b="1" i="0">
                <a:solidFill>
                  <a:srgbClr val="EB976D"/>
                </a:solidFill>
                <a:latin typeface="Arial"/>
              </a:rPr>
              <a:t>[23] </a:t>
            </a:r>
            <a:r>
              <a:rPr sz="800" b="0" i="0">
                <a:solidFill>
                  <a:srgbClr val="38415C"/>
                </a:solidFill>
                <a:latin typeface="Arial"/>
              </a:rPr>
              <a:t>E. Yabanova, “Artificial intelligence-supported workplace education: A systematic review of learning outcomes, opportunities, and challenges,” Educational Process International Journal, 2025.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b="1">
                <a:solidFill>
                  <a:srgbClr val="38415C"/>
                </a:solidFill>
                <a:latin typeface="Arial"/>
              </a:rPr>
              <a:t>Referências citadas — 2/2</a:t>
            </a:r>
          </a:p>
        </p:txBody>
      </p:sp>
      <p:sp>
        <p:nvSpPr>
          <p:cNvPr id="4" name="TextBox 3"/>
          <p:cNvSpPr txBox="1"/>
          <p:nvPr/>
        </p:nvSpPr>
        <p:spPr>
          <a:xfrm>
            <a:off x="411480" y="1600200"/>
            <a:ext cx="4160520" cy="4434840"/>
          </a:xfrm>
          <a:prstGeom prst="rect">
            <a:avLst/>
          </a:prstGeom>
          <a:noFill/>
        </p:spPr>
        <p:txBody>
          <a:bodyPr wrap="square" lIns="45720" tIns="27432" rIns="45720" bIns="27432" anchor="t">
            <a:spAutoFit/>
          </a:bodyPr>
          <a:lstStyle/>
          <a:p>
            <a:endParaRPr/>
          </a:p>
          <a:p>
            <a:pPr algn="l">
              <a:lnSpc>
                <a:spcPct val="90000"/>
              </a:lnSpc>
              <a:spcBef>
                <a:spcPts val="0"/>
              </a:spcBef>
              <a:spcAft>
                <a:spcPts val="0"/>
              </a:spcAft>
              <a:buNone/>
            </a:pPr>
            <a:r>
              <a:rPr sz="800" b="1" i="0">
                <a:solidFill>
                  <a:srgbClr val="EB976D"/>
                </a:solidFill>
                <a:latin typeface="Arial"/>
              </a:rPr>
              <a:t>[24] </a:t>
            </a:r>
            <a:r>
              <a:rPr sz="800" b="0" i="0">
                <a:solidFill>
                  <a:srgbClr val="38415C"/>
                </a:solidFill>
                <a:latin typeface="Arial"/>
              </a:rPr>
              <a:t>S. Morandini, F. Fraboni, M. D. Angelis, G. Puzzo, D. Giusino, and L. Pietrantoni, “The impact of artificial intelligence on workers' skills: Upskilling and reskilling in organisations,” Informing Science: The International Journal of an Emerging Transdiscipline, 2023.</a:t>
            </a:r>
          </a:p>
          <a:p>
            <a:pPr algn="l">
              <a:lnSpc>
                <a:spcPct val="90000"/>
              </a:lnSpc>
              <a:spcBef>
                <a:spcPts val="400"/>
              </a:spcBef>
              <a:spcAft>
                <a:spcPts val="0"/>
              </a:spcAft>
              <a:buNone/>
            </a:pPr>
            <a:r>
              <a:rPr sz="800" b="1" i="0">
                <a:solidFill>
                  <a:srgbClr val="EB976D"/>
                </a:solidFill>
                <a:latin typeface="Arial"/>
              </a:rPr>
              <a:t>[25] </a:t>
            </a:r>
            <a:r>
              <a:rPr sz="800" b="0" i="0">
                <a:solidFill>
                  <a:srgbClr val="38415C"/>
                </a:solidFill>
                <a:latin typeface="Arial"/>
              </a:rPr>
              <a:t>L. Li, “Reskilling and upskilling the future-ready workforce for Industry 4.0 and beyond,” Information Systems Frontiers, 2024.</a:t>
            </a:r>
          </a:p>
          <a:p>
            <a:pPr algn="l">
              <a:lnSpc>
                <a:spcPct val="90000"/>
              </a:lnSpc>
              <a:spcBef>
                <a:spcPts val="400"/>
              </a:spcBef>
              <a:spcAft>
                <a:spcPts val="0"/>
              </a:spcAft>
              <a:buNone/>
            </a:pPr>
            <a:r>
              <a:rPr sz="800" b="1" i="0">
                <a:solidFill>
                  <a:srgbClr val="EB976D"/>
                </a:solidFill>
                <a:latin typeface="Arial"/>
              </a:rPr>
              <a:t>[26] </a:t>
            </a:r>
            <a:r>
              <a:rPr sz="800" b="0" i="0">
                <a:solidFill>
                  <a:srgbClr val="38415C"/>
                </a:solidFill>
                <a:latin typeface="Arial"/>
              </a:rPr>
              <a:t>X. He and T. Burger-Helmchen, “Evolving knowledge management: Artificial intelligence and the dynamics of social interactions,” IEEE Engineering Management Review, 2025.</a:t>
            </a:r>
          </a:p>
          <a:p>
            <a:pPr algn="l">
              <a:lnSpc>
                <a:spcPct val="90000"/>
              </a:lnSpc>
              <a:spcBef>
                <a:spcPts val="400"/>
              </a:spcBef>
              <a:spcAft>
                <a:spcPts val="0"/>
              </a:spcAft>
              <a:buNone/>
            </a:pPr>
            <a:r>
              <a:rPr sz="800" b="1" i="0">
                <a:solidFill>
                  <a:srgbClr val="EB976D"/>
                </a:solidFill>
                <a:latin typeface="Arial"/>
              </a:rPr>
              <a:t>[27] </a:t>
            </a:r>
            <a:r>
              <a:rPr sz="800" b="0" i="0">
                <a:solidFill>
                  <a:srgbClr val="38415C"/>
                </a:solidFill>
                <a:latin typeface="Arial"/>
              </a:rPr>
              <a:t>T. Birkstedt, M. Minkkinen, A. Tandon, and M. Mäntymäki, “AI governance: Themes, knowledge gaps and future agendas,” Internet Research, vol. 33, no. 7, pp. 133--167, 2023.</a:t>
            </a:r>
          </a:p>
          <a:p>
            <a:pPr algn="l">
              <a:lnSpc>
                <a:spcPct val="90000"/>
              </a:lnSpc>
              <a:spcBef>
                <a:spcPts val="400"/>
              </a:spcBef>
              <a:spcAft>
                <a:spcPts val="0"/>
              </a:spcAft>
              <a:buNone/>
            </a:pPr>
            <a:r>
              <a:rPr sz="800" b="1" i="0">
                <a:solidFill>
                  <a:srgbClr val="EB976D"/>
                </a:solidFill>
                <a:latin typeface="Arial"/>
              </a:rPr>
              <a:t>[28] </a:t>
            </a:r>
            <a:r>
              <a:rPr sz="800" b="0" i="0">
                <a:solidFill>
                  <a:srgbClr val="38415C"/>
                </a:solidFill>
                <a:latin typeface="Arial"/>
              </a:rPr>
              <a:t>R. Benjamins, “A choices framework for the responsible use of AI,” AI and Ethics, 2021.</a:t>
            </a:r>
          </a:p>
          <a:p>
            <a:pPr algn="l">
              <a:lnSpc>
                <a:spcPct val="90000"/>
              </a:lnSpc>
              <a:spcBef>
                <a:spcPts val="400"/>
              </a:spcBef>
              <a:spcAft>
                <a:spcPts val="0"/>
              </a:spcAft>
              <a:buNone/>
            </a:pPr>
            <a:r>
              <a:rPr sz="800" b="1" i="0">
                <a:solidFill>
                  <a:srgbClr val="EB976D"/>
                </a:solidFill>
                <a:latin typeface="Arial"/>
              </a:rPr>
              <a:t>[29] </a:t>
            </a:r>
            <a:r>
              <a:rPr sz="800" b="0" i="0">
                <a:solidFill>
                  <a:srgbClr val="38415C"/>
                </a:solidFill>
                <a:latin typeface="Arial"/>
              </a:rPr>
              <a:t>I. Sprongl, “The AI integration framework - an original blueprint for responsible AI adoption and governance,” SSRN Electronic Journal, 2025.</a:t>
            </a:r>
          </a:p>
          <a:p>
            <a:pPr algn="l">
              <a:lnSpc>
                <a:spcPct val="90000"/>
              </a:lnSpc>
              <a:spcBef>
                <a:spcPts val="400"/>
              </a:spcBef>
              <a:spcAft>
                <a:spcPts val="0"/>
              </a:spcAft>
              <a:buNone/>
            </a:pPr>
            <a:r>
              <a:rPr sz="800" b="1" i="0">
                <a:solidFill>
                  <a:srgbClr val="EB976D"/>
                </a:solidFill>
                <a:latin typeface="Arial"/>
              </a:rPr>
              <a:t>[30] </a:t>
            </a:r>
            <a:r>
              <a:rPr sz="800" b="0" i="0">
                <a:solidFill>
                  <a:srgbClr val="38415C"/>
                </a:solidFill>
                <a:latin typeface="Arial"/>
              </a:rPr>
              <a:t>H. Joshi, “AI governance by design for agentic systems: A framework for responsible development and deployment,” Preprints.org, 2025, preprint.</a:t>
            </a:r>
          </a:p>
          <a:p>
            <a:pPr algn="l">
              <a:lnSpc>
                <a:spcPct val="90000"/>
              </a:lnSpc>
              <a:spcBef>
                <a:spcPts val="400"/>
              </a:spcBef>
              <a:spcAft>
                <a:spcPts val="0"/>
              </a:spcAft>
              <a:buNone/>
            </a:pPr>
            <a:r>
              <a:rPr sz="800" b="1" i="0">
                <a:solidFill>
                  <a:srgbClr val="EB976D"/>
                </a:solidFill>
                <a:latin typeface="Arial"/>
              </a:rPr>
              <a:t>[31] </a:t>
            </a:r>
            <a:r>
              <a:rPr sz="800" b="0" i="0">
                <a:solidFill>
                  <a:srgbClr val="38415C"/>
                </a:solidFill>
                <a:latin typeface="Arial"/>
              </a:rPr>
              <a:t>B. Yang, Y. Sun, Z. Zeng, and Q. Li, “Deskilling, reskilling, or upskilling? unpacking the pathways of student adaptation to generative artificial intelligence,” International Journal of Information Management, 2026.</a:t>
            </a:r>
          </a:p>
          <a:p>
            <a:pPr algn="l">
              <a:lnSpc>
                <a:spcPct val="90000"/>
              </a:lnSpc>
              <a:spcBef>
                <a:spcPts val="400"/>
              </a:spcBef>
              <a:spcAft>
                <a:spcPts val="0"/>
              </a:spcAft>
              <a:buNone/>
            </a:pPr>
            <a:r>
              <a:rPr sz="800" b="1" i="0">
                <a:solidFill>
                  <a:srgbClr val="EB976D"/>
                </a:solidFill>
                <a:latin typeface="Arial"/>
              </a:rPr>
              <a:t>[32] </a:t>
            </a:r>
            <a:r>
              <a:rPr sz="800" b="0" i="0">
                <a:solidFill>
                  <a:srgbClr val="38415C"/>
                </a:solidFill>
                <a:latin typeface="Arial"/>
              </a:rPr>
              <a:t>S. Pan, L. Luo, Y. Wang, C. Chen, J. Wang, and X. Wu, “Unifying large language models and knowledge graphs: A roadmap,” IEEE Transactions on Knowledge and Data Engineering, 2024.</a:t>
            </a:r>
          </a:p>
          <a:p>
            <a:pPr algn="l">
              <a:lnSpc>
                <a:spcPct val="90000"/>
              </a:lnSpc>
              <a:spcBef>
                <a:spcPts val="400"/>
              </a:spcBef>
              <a:spcAft>
                <a:spcPts val="0"/>
              </a:spcAft>
              <a:buNone/>
            </a:pPr>
            <a:r>
              <a:rPr sz="800" b="1" i="0">
                <a:solidFill>
                  <a:srgbClr val="EB976D"/>
                </a:solidFill>
                <a:latin typeface="Arial"/>
              </a:rPr>
              <a:t>[33] </a:t>
            </a:r>
            <a:r>
              <a:rPr sz="800" b="0" i="0">
                <a:solidFill>
                  <a:srgbClr val="38415C"/>
                </a:solidFill>
                <a:latin typeface="Arial"/>
              </a:rPr>
              <a:t>H. Al-Fawareh, “Human-centric AI governance in digital HRM: A conceptual framework for responsible digital business,” SSRN Electronic Journal, 2026.</a:t>
            </a:r>
          </a:p>
          <a:p>
            <a:pPr algn="l">
              <a:lnSpc>
                <a:spcPct val="90000"/>
              </a:lnSpc>
              <a:spcBef>
                <a:spcPts val="400"/>
              </a:spcBef>
              <a:spcAft>
                <a:spcPts val="0"/>
              </a:spcAft>
              <a:buNone/>
            </a:pPr>
            <a:r>
              <a:rPr sz="800" b="1" i="0">
                <a:solidFill>
                  <a:srgbClr val="EB976D"/>
                </a:solidFill>
                <a:latin typeface="Arial"/>
              </a:rPr>
              <a:t>[34] </a:t>
            </a:r>
            <a:r>
              <a:rPr sz="800" b="0" i="0">
                <a:solidFill>
                  <a:srgbClr val="38415C"/>
                </a:solidFill>
                <a:latin typeface="Arial"/>
              </a:rPr>
              <a:t>M. A. Garzón Castrillón, “Proposed model of corporate university,” Visión de Futuro, 2019.</a:t>
            </a:r>
          </a:p>
          <a:p>
            <a:pPr algn="l">
              <a:lnSpc>
                <a:spcPct val="90000"/>
              </a:lnSpc>
              <a:spcBef>
                <a:spcPts val="400"/>
              </a:spcBef>
              <a:spcAft>
                <a:spcPts val="0"/>
              </a:spcAft>
              <a:buNone/>
            </a:pPr>
            <a:r>
              <a:rPr sz="800" b="1" i="0">
                <a:solidFill>
                  <a:srgbClr val="EB976D"/>
                </a:solidFill>
                <a:latin typeface="Arial"/>
              </a:rPr>
              <a:t>[35] </a:t>
            </a:r>
            <a:r>
              <a:rPr sz="800" b="0" i="0">
                <a:solidFill>
                  <a:srgbClr val="38415C"/>
                </a:solidFill>
                <a:latin typeface="Arial"/>
              </a:rPr>
              <a:t>Y. Chen, L. Zhou, and Y. Wang, “The role and evolution of knowledge network-based intellectual capital in the corporate university,” Journal of Intellectual Capital, 2023.</a:t>
            </a:r>
          </a:p>
        </p:txBody>
      </p:sp>
      <p:sp>
        <p:nvSpPr>
          <p:cNvPr id="5" name="TextBox 4"/>
          <p:cNvSpPr txBox="1"/>
          <p:nvPr/>
        </p:nvSpPr>
        <p:spPr>
          <a:xfrm>
            <a:off x="4663440" y="1600200"/>
            <a:ext cx="4160520" cy="4434840"/>
          </a:xfrm>
          <a:prstGeom prst="rect">
            <a:avLst/>
          </a:prstGeom>
          <a:noFill/>
        </p:spPr>
        <p:txBody>
          <a:bodyPr wrap="square" lIns="45720" tIns="27432" rIns="45720" bIns="27432" anchor="t">
            <a:spAutoFit/>
          </a:bodyPr>
          <a:lstStyle/>
          <a:p>
            <a:endParaRPr/>
          </a:p>
          <a:p>
            <a:pPr algn="l">
              <a:lnSpc>
                <a:spcPct val="90000"/>
              </a:lnSpc>
              <a:spcBef>
                <a:spcPts val="0"/>
              </a:spcBef>
              <a:spcAft>
                <a:spcPts val="0"/>
              </a:spcAft>
              <a:buNone/>
            </a:pPr>
            <a:r>
              <a:rPr sz="800" b="1" i="0">
                <a:solidFill>
                  <a:srgbClr val="EB976D"/>
                </a:solidFill>
                <a:latin typeface="Arial"/>
              </a:rPr>
              <a:t>[36] </a:t>
            </a:r>
            <a:r>
              <a:rPr sz="800" b="0" i="0">
                <a:solidFill>
                  <a:srgbClr val="38415C"/>
                </a:solidFill>
                <a:latin typeface="Arial"/>
              </a:rPr>
              <a:t>Y. Zhou, “Path of corporate university to enable enterprises: Based on the best corporate universities in China,” Ph.D. dissertation, University of Otago, 2023.</a:t>
            </a:r>
          </a:p>
          <a:p>
            <a:pPr algn="l">
              <a:lnSpc>
                <a:spcPct val="90000"/>
              </a:lnSpc>
              <a:spcBef>
                <a:spcPts val="400"/>
              </a:spcBef>
              <a:spcAft>
                <a:spcPts val="0"/>
              </a:spcAft>
              <a:buNone/>
            </a:pPr>
            <a:r>
              <a:rPr sz="800" b="1" i="0">
                <a:solidFill>
                  <a:srgbClr val="EB976D"/>
                </a:solidFill>
                <a:latin typeface="Arial"/>
              </a:rPr>
              <a:t>[37] </a:t>
            </a:r>
            <a:r>
              <a:rPr sz="800" b="0" i="0">
                <a:solidFill>
                  <a:srgbClr val="38415C"/>
                </a:solidFill>
                <a:latin typeface="Arial"/>
              </a:rPr>
              <a:t>V. Singh, S. Verma, and S. S. Chaurasia, “Mapping the themes and intellectual structure of corporate university: co-citation and cluster analyses,” Scientometrics, 2019.</a:t>
            </a:r>
          </a:p>
          <a:p>
            <a:pPr algn="l">
              <a:lnSpc>
                <a:spcPct val="90000"/>
              </a:lnSpc>
              <a:spcBef>
                <a:spcPts val="400"/>
              </a:spcBef>
              <a:spcAft>
                <a:spcPts val="0"/>
              </a:spcAft>
              <a:buNone/>
            </a:pPr>
            <a:r>
              <a:rPr sz="800" b="1" i="0">
                <a:solidFill>
                  <a:srgbClr val="EB976D"/>
                </a:solidFill>
                <a:latin typeface="Arial"/>
              </a:rPr>
              <a:t>[38] </a:t>
            </a:r>
            <a:r>
              <a:rPr sz="800" b="0" i="0">
                <a:solidFill>
                  <a:srgbClr val="38415C"/>
                </a:solidFill>
                <a:latin typeface="Arial"/>
              </a:rPr>
              <a:t>E. M. Bender, T. Gebru, A. McMillan-Major, and S. Shmitchell, “On the dangers of stochastic parrots: Can language models be too big?” in Proceedings of the 2021 ACM Conference on Fairness, Accountability, and Transparency. Association for Computing Machinery, 2021, pp. 610--623.</a:t>
            </a:r>
          </a:p>
          <a:p>
            <a:pPr algn="l">
              <a:lnSpc>
                <a:spcPct val="90000"/>
              </a:lnSpc>
              <a:spcBef>
                <a:spcPts val="400"/>
              </a:spcBef>
              <a:spcAft>
                <a:spcPts val="0"/>
              </a:spcAft>
              <a:buNone/>
            </a:pPr>
            <a:r>
              <a:rPr sz="800" b="1" i="0">
                <a:solidFill>
                  <a:srgbClr val="EB976D"/>
                </a:solidFill>
                <a:latin typeface="Arial"/>
              </a:rPr>
              <a:t>[39] </a:t>
            </a:r>
            <a:r>
              <a:rPr sz="800" b="0" i="0">
                <a:solidFill>
                  <a:srgbClr val="38415C"/>
                </a:solidFill>
                <a:latin typeface="Arial"/>
              </a:rPr>
              <a:t>W. J. Orlikowski, “Sociomaterial practices: Exploring technology at work,” Organization Studies, vol. 28, no. 9, pp. 1435--1448, 2007.</a:t>
            </a:r>
          </a:p>
          <a:p>
            <a:pPr algn="l">
              <a:lnSpc>
                <a:spcPct val="90000"/>
              </a:lnSpc>
              <a:spcBef>
                <a:spcPts val="400"/>
              </a:spcBef>
              <a:spcAft>
                <a:spcPts val="0"/>
              </a:spcAft>
              <a:buNone/>
            </a:pPr>
            <a:r>
              <a:rPr sz="800" b="1" i="0">
                <a:solidFill>
                  <a:srgbClr val="EB976D"/>
                </a:solidFill>
                <a:latin typeface="Arial"/>
              </a:rPr>
              <a:t>[40] </a:t>
            </a:r>
            <a:r>
              <a:rPr sz="800" b="0" i="0">
                <a:solidFill>
                  <a:srgbClr val="38415C"/>
                </a:solidFill>
                <a:latin typeface="Arial"/>
              </a:rPr>
              <a:t>European Commission, “Industry 5.0: Towards a sustainable, human-centric and resilient European industry,” Directorate-General for Research and Innovation, Tech. Rep., 2021.</a:t>
            </a:r>
          </a:p>
          <a:p>
            <a:pPr algn="l">
              <a:lnSpc>
                <a:spcPct val="90000"/>
              </a:lnSpc>
              <a:spcBef>
                <a:spcPts val="400"/>
              </a:spcBef>
              <a:spcAft>
                <a:spcPts val="0"/>
              </a:spcAft>
              <a:buNone/>
            </a:pPr>
            <a:r>
              <a:rPr sz="800" b="1" i="0">
                <a:solidFill>
                  <a:srgbClr val="EB976D"/>
                </a:solidFill>
                <a:latin typeface="Arial"/>
              </a:rPr>
              <a:t>[41] </a:t>
            </a:r>
            <a:r>
              <a:rPr sz="800" b="0" i="0">
                <a:solidFill>
                  <a:srgbClr val="38415C"/>
                </a:solidFill>
                <a:latin typeface="Arial"/>
              </a:rPr>
              <a:t>F. Dell'Acqua, E. McFowland, E. R. Mollick, H. Lifshitz-Assaf, K. Kellogg, S. Rajendran, L. Krayer, F. Candelon, and K. R. Lakhani, “Navigating the jagged technological frontier: Field experimental evidence of the effects of AI on knowledge worker productivity and quality,” Harvard Business School, Working Paper 24-013, 2023, available at SSRN: .</a:t>
            </a:r>
          </a:p>
          <a:p>
            <a:pPr algn="l">
              <a:lnSpc>
                <a:spcPct val="90000"/>
              </a:lnSpc>
              <a:spcBef>
                <a:spcPts val="400"/>
              </a:spcBef>
              <a:spcAft>
                <a:spcPts val="0"/>
              </a:spcAft>
              <a:buNone/>
            </a:pPr>
            <a:r>
              <a:rPr sz="800" b="1" i="0">
                <a:solidFill>
                  <a:srgbClr val="EB976D"/>
                </a:solidFill>
                <a:latin typeface="Arial"/>
              </a:rPr>
              <a:t>[42] </a:t>
            </a:r>
            <a:r>
              <a:rPr sz="800" b="0" i="0">
                <a:solidFill>
                  <a:srgbClr val="38415C"/>
                </a:solidFill>
                <a:latin typeface="Arial"/>
              </a:rPr>
              <a:t>D. T. K. Ng, J. K. L. Leung, S. K. W. Chu, and M. S. Qiao, “Conceptualizing AI literacy: An exploratory review,” Computers and Education: Artificial Intelligence, vol. 2, p. 100041, 2021.</a:t>
            </a:r>
          </a:p>
          <a:p>
            <a:pPr algn="l">
              <a:lnSpc>
                <a:spcPct val="90000"/>
              </a:lnSpc>
              <a:spcBef>
                <a:spcPts val="400"/>
              </a:spcBef>
              <a:spcAft>
                <a:spcPts val="0"/>
              </a:spcAft>
              <a:buNone/>
            </a:pPr>
            <a:r>
              <a:rPr sz="800" b="1" i="0">
                <a:solidFill>
                  <a:srgbClr val="EB976D"/>
                </a:solidFill>
                <a:latin typeface="Arial"/>
              </a:rPr>
              <a:t>[43] </a:t>
            </a:r>
            <a:r>
              <a:rPr sz="800" b="0" i="0">
                <a:solidFill>
                  <a:srgbClr val="38415C"/>
                </a:solidFill>
                <a:latin typeface="Arial"/>
              </a:rPr>
              <a:t>A. Edmondson, “Psychological safety and learning behavior in work teams,” Administrative Science Quarterly, vol. 44, no. 2, pp. 350--383, 1999.</a:t>
            </a:r>
          </a:p>
          <a:p>
            <a:pPr algn="l">
              <a:lnSpc>
                <a:spcPct val="90000"/>
              </a:lnSpc>
              <a:spcBef>
                <a:spcPts val="400"/>
              </a:spcBef>
              <a:spcAft>
                <a:spcPts val="0"/>
              </a:spcAft>
              <a:buNone/>
            </a:pPr>
            <a:r>
              <a:rPr sz="800" b="1" i="0">
                <a:solidFill>
                  <a:srgbClr val="EB976D"/>
                </a:solidFill>
                <a:latin typeface="Arial"/>
              </a:rPr>
              <a:t>[44] </a:t>
            </a:r>
            <a:r>
              <a:rPr sz="800" b="0" i="0">
                <a:solidFill>
                  <a:srgbClr val="38415C"/>
                </a:solidFill>
                <a:latin typeface="Arial"/>
              </a:rPr>
              <a:t>M. Foucault, Surveiller et Punir: Naissance de la Prison. Paris: Gallimard, 1975.</a:t>
            </a:r>
          </a:p>
          <a:p>
            <a:pPr algn="l">
              <a:lnSpc>
                <a:spcPct val="90000"/>
              </a:lnSpc>
              <a:spcBef>
                <a:spcPts val="400"/>
              </a:spcBef>
              <a:spcAft>
                <a:spcPts val="0"/>
              </a:spcAft>
              <a:buNone/>
            </a:pPr>
            <a:r>
              <a:rPr sz="800" b="1" i="0">
                <a:solidFill>
                  <a:srgbClr val="EB976D"/>
                </a:solidFill>
                <a:latin typeface="Arial"/>
              </a:rPr>
              <a:t>[45] </a:t>
            </a:r>
            <a:r>
              <a:rPr sz="800" b="0" i="0">
                <a:solidFill>
                  <a:srgbClr val="38415C"/>
                </a:solidFill>
                <a:latin typeface="Arial"/>
              </a:rPr>
              <a:t>C. Argyris and D. A. Schön, Organizational Learning: A Theory of Action Perspective. Reading, MA: Addison-Wesley, 1978.</a:t>
            </a:r>
          </a:p>
          <a:p>
            <a:pPr algn="l">
              <a:lnSpc>
                <a:spcPct val="90000"/>
              </a:lnSpc>
              <a:spcBef>
                <a:spcPts val="400"/>
              </a:spcBef>
              <a:spcAft>
                <a:spcPts val="0"/>
              </a:spcAft>
              <a:buNone/>
            </a:pPr>
            <a:r>
              <a:rPr sz="800" b="1" i="0">
                <a:solidFill>
                  <a:srgbClr val="EB976D"/>
                </a:solidFill>
                <a:latin typeface="Arial"/>
              </a:rPr>
              <a:t>[46] </a:t>
            </a:r>
            <a:r>
              <a:rPr sz="800" b="0" i="0">
                <a:solidFill>
                  <a:srgbClr val="38415C"/>
                </a:solidFill>
                <a:latin typeface="Arial"/>
              </a:rPr>
              <a:t>European Parliament and Council of the European Union, “Regulation (EU) 2024/1689 of the European Parliament and of the Council of 13 june 2024 laying down harmonised rules on artificial intelligence (Artificial Intelligence Act),” Official Journal of the European Union, L, 2024/1689, 2024. thebibliography</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5175</Words>
  <Application>Microsoft Macintosh PowerPoint</Application>
  <PresentationFormat>On-screen Show (4:3)</PresentationFormat>
  <Paragraphs>322</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Calibri</vt:lpstr>
      <vt:lpstr>Arial</vt:lpstr>
      <vt:lpstr>Fira Sans</vt:lpstr>
      <vt:lpstr>Office Theme</vt:lpstr>
      <vt:lpstr>Retrofit do Modelo 3M de Universidade Corporativa à Luz da Inteligência Artificial</vt:lpstr>
      <vt:lpstr>Agenda</vt:lpstr>
      <vt:lpstr>Contexto: Universidades Corporativas e o Modelo 3M</vt:lpstr>
      <vt:lpstr>O Problema: 19 Modelos de UC, Nenhum Integra IA Agêntica</vt:lpstr>
      <vt:lpstr>Questão de Pesquisa e Objetivos</vt:lpstr>
      <vt:lpstr>Referencial (1/4): IA Generativa e Gestão do Conhecimento</vt:lpstr>
      <vt:lpstr>Referencial (2/4): Aprendizagem no Fluxo de Trabalho</vt:lpstr>
      <vt:lpstr>Referencial (3/4): IA como Agente Organizacional</vt:lpstr>
      <vt:lpstr>Referencial (4/4): Governança de IA na Organização</vt:lpstr>
      <vt:lpstr>A Virada Conceitual: IA como Agente, não apenas Ferramenta</vt:lpstr>
      <vt:lpstr>Metodologia: Abordagem Conceitual-Construtiva</vt:lpstr>
      <vt:lpstr>Metodologia: Pipeline Agêntico SLR-RAG</vt:lpstr>
      <vt:lpstr>O Modelo 3M 5.0 — Reinterpretação Tripartite</vt:lpstr>
      <vt:lpstr>Motive 5.0 — Do Alinhamento Estático ao Sensing Contínuo</vt:lpstr>
      <vt:lpstr>Model 5.0 — Do Currículo Estático ao Laboratório Vivo</vt:lpstr>
      <vt:lpstr>Moment 5.0 — Do Timing Rígido à Governança Algorítmica</vt:lpstr>
      <vt:lpstr>Tensões Intrínsecas do Ecossistema 3M 5.0</vt:lpstr>
      <vt:lpstr>Análise Comparativa: Cobertura Conceitual em 5 Dimensões</vt:lpstr>
      <vt:lpstr>Discussão: Implicações</vt:lpstr>
      <vt:lpstr>Limitações</vt:lpstr>
      <vt:lpstr>Conclusão</vt:lpstr>
      <vt:lpstr>Referências citadas — 1/2</vt:lpstr>
      <vt:lpstr>Referências citadas —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Joao Pedro Barbosa Dos Santos Martins Silva</cp:lastModifiedBy>
  <cp:revision>5</cp:revision>
  <dcterms:modified xsi:type="dcterms:W3CDTF">2026-06-12T16:36:33Z</dcterms:modified>
</cp:coreProperties>
</file>