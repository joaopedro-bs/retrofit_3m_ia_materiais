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8"/>
  </p:notesMasterIdLst>
  <p:sldIdLst>
    <p:sldId id="256" r:id="rId2"/>
    <p:sldId id="258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62" r:id="rId16"/>
    <p:sldId id="263" r:id="rId17"/>
  </p:sldIdLst>
  <p:sldSz cx="9144000" cy="6858000" type="screen4x3"/>
  <p:notesSz cx="6858000" cy="9144000"/>
  <p:embeddedFontLst>
    <p:embeddedFont>
      <p:font typeface="Fira Sans" panose="020B05030500000200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276"/>
    <p:restoredTop sz="94673"/>
  </p:normalViewPr>
  <p:slideViewPr>
    <p:cSldViewPr snapToGrid="0">
      <p:cViewPr>
        <p:scale>
          <a:sx n="62" d="100"/>
          <a:sy n="62" d="100"/>
        </p:scale>
        <p:origin x="144" y="1624"/>
      </p:cViewPr>
      <p:guideLst/>
    </p:cSldViewPr>
  </p:slideViewPr>
  <p:outlineViewPr>
    <p:cViewPr>
      <p:scale>
        <a:sx n="33" d="100"/>
        <a:sy n="33" d="100"/>
      </p:scale>
      <p:origin x="-48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B368894-3534-F0CE-0780-AFBC6DFD7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F0DEB959-4B52-C865-4D45-29635EFFE6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E9B8E09F-55A3-C93E-BA65-5DBA7563FC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3312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0769C6DB-708E-0CB4-6F0B-D3F790E14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DBF7C4DE-29B5-1CEB-580D-7B2BC52C82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EE315F9E-9486-6C51-D8C6-3ED9C761A4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4902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1766D570-3DCA-0143-42D4-F14719381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2E16FEF9-CDD8-6A0F-24F7-37D5A803A9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32733345-CC17-00BC-43BF-D763D8B676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1880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9DF4BC3E-96BB-094E-6CD8-39FF9F8D0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BF89829D-737A-E01F-A3BC-65459F2FD1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D60A096E-8AEE-1F3E-C042-E4E0E29341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3349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DA86FD43-7B97-E9B2-A4FC-AC0F32731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8117AE40-C43A-2F5D-C709-36D2DFCC6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B8B9F414-044A-9762-AB49-C18CA3E875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8975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6C431B80-9A5F-706B-E84F-C12AE0F0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C5C451B1-3B87-1BE0-20F2-4B37F89F99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DC98DE24-A7CA-DCCA-296D-1E6BD26AE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5698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3A9AB26C-01A5-14EB-0396-826B9288A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19EABACF-1AF9-79D7-2D17-37C7FFE76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D0AA93CA-6C50-F8FF-0951-D6B186A01A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2185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9240E3F6-B456-7AB2-7EFC-0F7E646BE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9083293B-1D0C-5F21-CC45-0DB313F38B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4B942EEA-F6EC-42DC-3996-F631F82A1A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41314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D1D9F33F-3975-26E4-2FEB-D6F862D2E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539D1602-1D2B-CD59-9FC1-A58DD6527D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43526582-19F9-46CE-5BC3-2786D4D3E6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54109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80871ACA-B0ED-F766-E5F1-F4C8D2235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56125EF2-C3B6-3097-526E-757AAC9CA5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035590A2-8B46-1B72-6680-9CA4ABFAEC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47806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B275627A-C9B1-8650-24AD-52981C34F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7F024431-FD65-9AAA-394A-AA5E280ABD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3D3A21D8-56CC-77C2-E41E-3AA73B6E0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35491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778C833A-857A-49C5-FF64-A7C894B80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00C63CBD-9141-E518-B766-0F775E5D21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F429CB12-93D6-9500-36BE-9AA8428B0E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7144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2835445" y="800861"/>
            <a:ext cx="6191137" cy="346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6000"/>
              <a:buFont typeface="Fira Sans"/>
              <a:buNone/>
              <a:defRPr sz="4500"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2835445" y="4414058"/>
            <a:ext cx="6217114" cy="901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>
                <a:solidFill>
                  <a:srgbClr val="38415C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9pPr>
          </a:lstStyle>
          <a:p>
            <a:endParaRPr/>
          </a:p>
        </p:txBody>
      </p:sp>
      <p:pic>
        <p:nvPicPr>
          <p:cNvPr id="21" name="Google Shape;21;p2" descr="A picture containing drawing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19096" y="219583"/>
            <a:ext cx="1350000" cy="777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 descr="A picture containing diagra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2" y="219583"/>
            <a:ext cx="3229658" cy="5515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19689" y="-45213"/>
            <a:ext cx="1624312" cy="1307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17417" y="1501428"/>
            <a:ext cx="893514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238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3200"/>
              <a:buChar char="•"/>
              <a:defRPr sz="2400">
                <a:solidFill>
                  <a:srgbClr val="38415C"/>
                </a:solidFill>
              </a:defRPr>
            </a:lvl1pPr>
            <a:lvl2pPr marL="685800" lvl="1" indent="-30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 sz="2100">
                <a:solidFill>
                  <a:srgbClr val="38415C"/>
                </a:solidFill>
              </a:defRPr>
            </a:lvl2pPr>
            <a:lvl3pPr marL="1028700" lvl="2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 sz="1800">
                <a:solidFill>
                  <a:srgbClr val="38415C"/>
                </a:solidFill>
              </a:defRPr>
            </a:lvl3pPr>
            <a:lvl4pPr marL="1371600" lvl="3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sz="1500">
                <a:solidFill>
                  <a:srgbClr val="38415C"/>
                </a:solidFill>
              </a:defRPr>
            </a:lvl4pPr>
            <a:lvl5pPr marL="1714500" lvl="4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sz="1500"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83;p11">
            <a:extLst>
              <a:ext uri="{FF2B5EF4-FFF2-40B4-BE49-F238E27FC236}">
                <a16:creationId xmlns:a16="http://schemas.microsoft.com/office/drawing/2014/main" id="{701370BF-C132-A715-D273-78D75983D6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8" name="Google Shape;13;p1">
            <a:extLst>
              <a:ext uri="{FF2B5EF4-FFF2-40B4-BE49-F238E27FC236}">
                <a16:creationId xmlns:a16="http://schemas.microsoft.com/office/drawing/2014/main" id="{4D55328F-AD34-6CA6-9477-5EF26BE4E3BF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João Barbosa Martins</a:t>
            </a:r>
            <a:br>
              <a:rPr lang="pt-BR"/>
            </a:br>
            <a:r>
              <a:rPr lang="pt-BR"/>
              <a:t>joaopedro@cos.ufrj.br</a:t>
            </a:r>
            <a:endParaRPr lang="pt-BR" dirty="0"/>
          </a:p>
        </p:txBody>
      </p:sp>
      <p:sp>
        <p:nvSpPr>
          <p:cNvPr id="9" name="Google Shape;14;p1">
            <a:extLst>
              <a:ext uri="{FF2B5EF4-FFF2-40B4-BE49-F238E27FC236}">
                <a16:creationId xmlns:a16="http://schemas.microsoft.com/office/drawing/2014/main" id="{94E57D7B-F424-A53D-4E48-4083B901B5B3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 dirty="0">
                <a:solidFill>
                  <a:srgbClr val="EB976D"/>
                </a:solidFill>
              </a:rPr>
              <a:t>Chatti, M.A. (2012). Knowledge management: a personal knowledge network perspective. Journal of Knowledge Management, 16(5), 829–844.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156408" y="1500884"/>
            <a:ext cx="4320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>
                <a:solidFill>
                  <a:srgbClr val="38415C"/>
                </a:solidFill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>
                <a:solidFill>
                  <a:srgbClr val="38415C"/>
                </a:solidFill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>
                <a:solidFill>
                  <a:srgbClr val="38415C"/>
                </a:solidFill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4732559" y="1500884"/>
            <a:ext cx="4320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" name="Google Shape;83;p11">
            <a:extLst>
              <a:ext uri="{FF2B5EF4-FFF2-40B4-BE49-F238E27FC236}">
                <a16:creationId xmlns:a16="http://schemas.microsoft.com/office/drawing/2014/main" id="{0762D070-8A19-B8CB-B343-A2D04F195B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8" name="Google Shape;13;p1">
            <a:extLst>
              <a:ext uri="{FF2B5EF4-FFF2-40B4-BE49-F238E27FC236}">
                <a16:creationId xmlns:a16="http://schemas.microsoft.com/office/drawing/2014/main" id="{6B296B81-4886-2FF3-AF57-6A1207AEBE18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João Barbosa Martins</a:t>
            </a:r>
            <a:br>
              <a:rPr lang="pt-BR"/>
            </a:br>
            <a:r>
              <a:rPr lang="pt-BR"/>
              <a:t>joaopedro@cos.ufrj.br</a:t>
            </a:r>
            <a:endParaRPr lang="pt-BR" dirty="0"/>
          </a:p>
        </p:txBody>
      </p:sp>
      <p:sp>
        <p:nvSpPr>
          <p:cNvPr id="9" name="Google Shape;14;p1">
            <a:extLst>
              <a:ext uri="{FF2B5EF4-FFF2-40B4-BE49-F238E27FC236}">
                <a16:creationId xmlns:a16="http://schemas.microsoft.com/office/drawing/2014/main" id="{F9437BE5-C60A-6BCA-BA8A-841AEA1C2DC3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 dirty="0">
                <a:solidFill>
                  <a:srgbClr val="EB976D"/>
                </a:solidFill>
              </a:rPr>
              <a:t>Chatti, M.A. (2012). Knowledge management: a personal knowledge network perspective. Journal of Knowledge Management, 16(5), 829–844.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4732559" y="1500884"/>
            <a:ext cx="4320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117418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2" name="Google Shape;10;p1">
            <a:extLst>
              <a:ext uri="{FF2B5EF4-FFF2-40B4-BE49-F238E27FC236}">
                <a16:creationId xmlns:a16="http://schemas.microsoft.com/office/drawing/2014/main" id="{4454396F-23D7-D04C-3368-44359CAC864A}"/>
              </a:ext>
            </a:extLst>
          </p:cNvPr>
          <p:cNvSpPr/>
          <p:nvPr userDrawn="1"/>
        </p:nvSpPr>
        <p:spPr>
          <a:xfrm>
            <a:off x="0" y="6211798"/>
            <a:ext cx="9144000" cy="646203"/>
          </a:xfrm>
          <a:prstGeom prst="rect">
            <a:avLst/>
          </a:prstGeom>
          <a:solidFill>
            <a:srgbClr val="38415C"/>
          </a:solidFill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3;p1">
            <a:extLst>
              <a:ext uri="{FF2B5EF4-FFF2-40B4-BE49-F238E27FC236}">
                <a16:creationId xmlns:a16="http://schemas.microsoft.com/office/drawing/2014/main" id="{A5D92E09-6D01-9E0A-D825-4C52C4B7C8B3}"/>
              </a:ext>
            </a:extLst>
          </p:cNvPr>
          <p:cNvSpPr txBox="1">
            <a:spLocks/>
          </p:cNvSpPr>
          <p:nvPr userDrawn="1"/>
        </p:nvSpPr>
        <p:spPr>
          <a:xfrm>
            <a:off x="117418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João Barbosa Martins</a:t>
            </a:r>
            <a:br>
              <a:rPr lang="pt-BR"/>
            </a:br>
            <a:r>
              <a:rPr lang="pt-BR"/>
              <a:t>joaopedro@cos.ufrj.br</a:t>
            </a:r>
            <a:endParaRPr lang="pt-BR" dirty="0"/>
          </a:p>
        </p:txBody>
      </p:sp>
      <p:sp>
        <p:nvSpPr>
          <p:cNvPr id="4" name="Google Shape;14;p1">
            <a:extLst>
              <a:ext uri="{FF2B5EF4-FFF2-40B4-BE49-F238E27FC236}">
                <a16:creationId xmlns:a16="http://schemas.microsoft.com/office/drawing/2014/main" id="{125D206B-8316-FB78-11AD-FED01E65613A}"/>
              </a:ext>
            </a:extLst>
          </p:cNvPr>
          <p:cNvSpPr txBox="1">
            <a:spLocks/>
          </p:cNvSpPr>
          <p:nvPr userDrawn="1"/>
        </p:nvSpPr>
        <p:spPr>
          <a:xfrm>
            <a:off x="2778576" y="6368186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>
                <a:solidFill>
                  <a:srgbClr val="EB976D"/>
                </a:solidFill>
              </a:rPr>
              <a:t>Chatti, M.A. (2012). Knowledge management: a personal knowledge network perspective. Journal of Knowledge Management, 16(5), 829–844.</a:t>
            </a:r>
          </a:p>
        </p:txBody>
      </p:sp>
      <p:sp>
        <p:nvSpPr>
          <p:cNvPr id="5" name="Google Shape;15;p1">
            <a:extLst>
              <a:ext uri="{FF2B5EF4-FFF2-40B4-BE49-F238E27FC236}">
                <a16:creationId xmlns:a16="http://schemas.microsoft.com/office/drawing/2014/main" id="{A7B5C549-B1B2-5631-7949-581BFCF7D0A9}"/>
              </a:ext>
            </a:extLst>
          </p:cNvPr>
          <p:cNvSpPr txBox="1">
            <a:spLocks/>
          </p:cNvSpPr>
          <p:nvPr userDrawn="1"/>
        </p:nvSpPr>
        <p:spPr>
          <a:xfrm>
            <a:off x="6295851" y="636818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46B270FB-0C54-A54F-867B-58A7B95C958C}" type="slidenum">
              <a:rPr lang="pt-BR" smtClean="0"/>
              <a:pPr/>
              <a:t>‹#›</a:t>
            </a:fld>
            <a:endParaRPr lang="pt-BR" sz="2400" dirty="0"/>
          </a:p>
        </p:txBody>
      </p:sp>
      <p:sp>
        <p:nvSpPr>
          <p:cNvPr id="6" name="Google Shape;17;p1">
            <a:extLst>
              <a:ext uri="{FF2B5EF4-FFF2-40B4-BE49-F238E27FC236}">
                <a16:creationId xmlns:a16="http://schemas.microsoft.com/office/drawing/2014/main" id="{23BC0789-0241-F5FA-8256-903089131E1A}"/>
              </a:ext>
            </a:extLst>
          </p:cNvPr>
          <p:cNvSpPr txBox="1"/>
          <p:nvPr userDrawn="1"/>
        </p:nvSpPr>
        <p:spPr>
          <a:xfrm>
            <a:off x="8470669" y="6309681"/>
            <a:ext cx="555913" cy="482136"/>
          </a:xfrm>
          <a:prstGeom prst="rect">
            <a:avLst/>
          </a:prstGeom>
          <a:noFill/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 dirty="0">
                <a:solidFill>
                  <a:srgbClr val="EB976D"/>
                </a:solidFill>
                <a:latin typeface="Calibri"/>
                <a:ea typeface="Calibri"/>
                <a:cs typeface="Calibri"/>
                <a:sym typeface="Calibri"/>
              </a:rPr>
              <a:t>/XX</a:t>
            </a:r>
            <a:endParaRPr sz="10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body" idx="1"/>
          </p:nvPr>
        </p:nvSpPr>
        <p:spPr>
          <a:xfrm>
            <a:off x="172394" y="1530777"/>
            <a:ext cx="43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 b="1">
                <a:solidFill>
                  <a:srgbClr val="38415C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2"/>
          </p:nvPr>
        </p:nvSpPr>
        <p:spPr>
          <a:xfrm>
            <a:off x="172394" y="2184437"/>
            <a:ext cx="4320000" cy="3932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 b="0">
                <a:solidFill>
                  <a:srgbClr val="38415C"/>
                </a:solidFill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 b="0">
                <a:solidFill>
                  <a:srgbClr val="38415C"/>
                </a:solidFill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b="0">
                <a:solidFill>
                  <a:srgbClr val="38415C"/>
                </a:solidFill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 b="0">
                <a:solidFill>
                  <a:srgbClr val="38415C"/>
                </a:solidFill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 b="0"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3"/>
          </p:nvPr>
        </p:nvSpPr>
        <p:spPr>
          <a:xfrm>
            <a:off x="4732559" y="1535885"/>
            <a:ext cx="43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 b="1">
                <a:solidFill>
                  <a:srgbClr val="38415C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4"/>
          </p:nvPr>
        </p:nvSpPr>
        <p:spPr>
          <a:xfrm>
            <a:off x="4732559" y="2184437"/>
            <a:ext cx="4320000" cy="393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>
                <a:solidFill>
                  <a:srgbClr val="38415C"/>
                </a:solidFill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>
                <a:solidFill>
                  <a:srgbClr val="38415C"/>
                </a:solidFill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>
                <a:solidFill>
                  <a:srgbClr val="38415C"/>
                </a:solidFill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83;p11">
            <a:extLst>
              <a:ext uri="{FF2B5EF4-FFF2-40B4-BE49-F238E27FC236}">
                <a16:creationId xmlns:a16="http://schemas.microsoft.com/office/drawing/2014/main" id="{B0388D56-D47A-FC41-3073-20A543FD14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11" name="Google Shape;13;p1">
            <a:extLst>
              <a:ext uri="{FF2B5EF4-FFF2-40B4-BE49-F238E27FC236}">
                <a16:creationId xmlns:a16="http://schemas.microsoft.com/office/drawing/2014/main" id="{E72668BE-7256-A05E-F820-422C9F991256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João Barbosa Martins</a:t>
            </a:r>
            <a:br>
              <a:rPr lang="pt-BR"/>
            </a:br>
            <a:r>
              <a:rPr lang="pt-BR"/>
              <a:t>joaopedro@cos.ufrj.br</a:t>
            </a:r>
            <a:endParaRPr lang="pt-BR" dirty="0"/>
          </a:p>
        </p:txBody>
      </p:sp>
      <p:sp>
        <p:nvSpPr>
          <p:cNvPr id="12" name="Google Shape;14;p1">
            <a:extLst>
              <a:ext uri="{FF2B5EF4-FFF2-40B4-BE49-F238E27FC236}">
                <a16:creationId xmlns:a16="http://schemas.microsoft.com/office/drawing/2014/main" id="{0D83C5E2-8FC9-487A-E9AE-CB77F613FCCA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 dirty="0">
                <a:solidFill>
                  <a:srgbClr val="EB976D"/>
                </a:solidFill>
              </a:rPr>
              <a:t>Chatti, M.A. (2012). Knowledge management: a personal knowledge network perspective. Journal of Knowledge Management, 16(5), 829–844.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>
            <a:spLocks noGrp="1"/>
          </p:cNvSpPr>
          <p:nvPr>
            <p:ph type="body" idx="1"/>
          </p:nvPr>
        </p:nvSpPr>
        <p:spPr>
          <a:xfrm>
            <a:off x="172394" y="1530777"/>
            <a:ext cx="43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 b="1">
                <a:solidFill>
                  <a:srgbClr val="38415C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2"/>
          </p:nvPr>
        </p:nvSpPr>
        <p:spPr>
          <a:xfrm>
            <a:off x="172394" y="2184437"/>
            <a:ext cx="4320000" cy="3932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 b="0">
                <a:solidFill>
                  <a:srgbClr val="38415C"/>
                </a:solidFill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 b="0">
                <a:solidFill>
                  <a:srgbClr val="38415C"/>
                </a:solidFill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b="0">
                <a:solidFill>
                  <a:srgbClr val="38415C"/>
                </a:solidFill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 b="0">
                <a:solidFill>
                  <a:srgbClr val="38415C"/>
                </a:solidFill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 b="0"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83;p11">
            <a:extLst>
              <a:ext uri="{FF2B5EF4-FFF2-40B4-BE49-F238E27FC236}">
                <a16:creationId xmlns:a16="http://schemas.microsoft.com/office/drawing/2014/main" id="{9DA6CF24-B0F2-AF5A-856B-1EA966B0FF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8" name="Google Shape;13;p1">
            <a:extLst>
              <a:ext uri="{FF2B5EF4-FFF2-40B4-BE49-F238E27FC236}">
                <a16:creationId xmlns:a16="http://schemas.microsoft.com/office/drawing/2014/main" id="{BAE9BA02-0D58-DF37-A906-D30C7C67798C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João Barbosa Martins</a:t>
            </a:r>
            <a:br>
              <a:rPr lang="pt-BR"/>
            </a:br>
            <a:r>
              <a:rPr lang="pt-BR"/>
              <a:t>joaopedro@cos.ufrj.br</a:t>
            </a:r>
            <a:endParaRPr lang="pt-BR" dirty="0"/>
          </a:p>
        </p:txBody>
      </p:sp>
      <p:sp>
        <p:nvSpPr>
          <p:cNvPr id="9" name="Google Shape;14;p1">
            <a:extLst>
              <a:ext uri="{FF2B5EF4-FFF2-40B4-BE49-F238E27FC236}">
                <a16:creationId xmlns:a16="http://schemas.microsoft.com/office/drawing/2014/main" id="{44C7ADF8-4551-764D-3FAB-EBEF4DF33E09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 dirty="0">
                <a:solidFill>
                  <a:srgbClr val="EB976D"/>
                </a:solidFill>
              </a:rPr>
              <a:t>Chatti, M.A. (2012). Knowledge management: a personal knowledge network perspective. Journal of Knowledge Management, 16(5), 829–844.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mparison">
  <p:cSld name="2_Comparis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body" idx="1"/>
          </p:nvPr>
        </p:nvSpPr>
        <p:spPr>
          <a:xfrm>
            <a:off x="4732559" y="1535885"/>
            <a:ext cx="43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 b="1">
                <a:solidFill>
                  <a:srgbClr val="38415C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body" idx="2"/>
          </p:nvPr>
        </p:nvSpPr>
        <p:spPr>
          <a:xfrm>
            <a:off x="4732559" y="2184437"/>
            <a:ext cx="4320000" cy="393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>
                <a:solidFill>
                  <a:srgbClr val="38415C"/>
                </a:solidFill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>
                <a:solidFill>
                  <a:srgbClr val="38415C"/>
                </a:solidFill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>
                <a:solidFill>
                  <a:srgbClr val="38415C"/>
                </a:solidFill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83;p11">
            <a:extLst>
              <a:ext uri="{FF2B5EF4-FFF2-40B4-BE49-F238E27FC236}">
                <a16:creationId xmlns:a16="http://schemas.microsoft.com/office/drawing/2014/main" id="{CA122395-EAF2-42E9-C7F2-8364D3F6D7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8" name="Google Shape;13;p1">
            <a:extLst>
              <a:ext uri="{FF2B5EF4-FFF2-40B4-BE49-F238E27FC236}">
                <a16:creationId xmlns:a16="http://schemas.microsoft.com/office/drawing/2014/main" id="{B3ED0C8E-80E8-2251-F3D7-7F2360B109DB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João Barbosa Martins</a:t>
            </a:r>
            <a:br>
              <a:rPr lang="pt-BR"/>
            </a:br>
            <a:r>
              <a:rPr lang="pt-BR"/>
              <a:t>joaopedro@cos.ufrj.br</a:t>
            </a:r>
            <a:endParaRPr lang="pt-BR" dirty="0"/>
          </a:p>
        </p:txBody>
      </p:sp>
      <p:sp>
        <p:nvSpPr>
          <p:cNvPr id="9" name="Google Shape;14;p1">
            <a:extLst>
              <a:ext uri="{FF2B5EF4-FFF2-40B4-BE49-F238E27FC236}">
                <a16:creationId xmlns:a16="http://schemas.microsoft.com/office/drawing/2014/main" id="{352FC943-040A-056D-98FF-91ED5D8862EE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 dirty="0">
                <a:solidFill>
                  <a:srgbClr val="EB976D"/>
                </a:solidFill>
              </a:rPr>
              <a:t>Chatti, M.A. (2012). Knowledge management: a personal knowledge network perspective. Journal of Knowledge Management, 16(5), 829–844.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inição">
  <p:cSld name="Definição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>
            <a:off x="117417" y="1501428"/>
            <a:ext cx="893514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342900" lvl="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4800"/>
              <a:buNone/>
              <a:defRPr sz="3600" b="1">
                <a:solidFill>
                  <a:srgbClr val="38415C"/>
                </a:solidFill>
              </a:defRPr>
            </a:lvl1pPr>
            <a:lvl2pPr marL="685800" lvl="1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3200"/>
              <a:buNone/>
              <a:defRPr sz="2400" b="0">
                <a:solidFill>
                  <a:srgbClr val="38415C"/>
                </a:solidFill>
              </a:defRPr>
            </a:lvl2pPr>
            <a:lvl3pPr marL="1028700" lvl="2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2800"/>
              <a:buNone/>
              <a:defRPr sz="2100" b="0">
                <a:solidFill>
                  <a:srgbClr val="38415C"/>
                </a:solidFill>
              </a:defRPr>
            </a:lvl3pPr>
            <a:lvl4pPr marL="1371600" lvl="3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 b="0">
                <a:solidFill>
                  <a:srgbClr val="38415C"/>
                </a:solidFill>
              </a:defRPr>
            </a:lvl4pPr>
            <a:lvl5pPr marL="1714500" lvl="4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 b="0"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3" name="Google Shape;13;p1">
            <a:extLst>
              <a:ext uri="{FF2B5EF4-FFF2-40B4-BE49-F238E27FC236}">
                <a16:creationId xmlns:a16="http://schemas.microsoft.com/office/drawing/2014/main" id="{A4D840F7-DE08-E41F-FF27-B1A0CFEAA4DB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João Barbosa Martins</a:t>
            </a:r>
            <a:br>
              <a:rPr lang="pt-BR"/>
            </a:br>
            <a:r>
              <a:rPr lang="pt-BR"/>
              <a:t>joaopedro@cos.ufrj.br</a:t>
            </a:r>
            <a:endParaRPr lang="pt-BR" dirty="0"/>
          </a:p>
        </p:txBody>
      </p:sp>
      <p:sp>
        <p:nvSpPr>
          <p:cNvPr id="4" name="Google Shape;14;p1">
            <a:extLst>
              <a:ext uri="{FF2B5EF4-FFF2-40B4-BE49-F238E27FC236}">
                <a16:creationId xmlns:a16="http://schemas.microsoft.com/office/drawing/2014/main" id="{5C662F7D-C3F7-EB9A-A9AC-52533FC28CD7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 dirty="0">
                <a:solidFill>
                  <a:srgbClr val="EB976D"/>
                </a:solidFill>
              </a:rPr>
              <a:t>Chatti, M.A. (2012). Knowledge management: a personal knowledge network perspective. Journal of Knowledge Management, 16(5), 829–844.</a:t>
            </a:r>
          </a:p>
        </p:txBody>
      </p:sp>
      <p:sp>
        <p:nvSpPr>
          <p:cNvPr id="6" name="Google Shape;17;p1">
            <a:extLst>
              <a:ext uri="{FF2B5EF4-FFF2-40B4-BE49-F238E27FC236}">
                <a16:creationId xmlns:a16="http://schemas.microsoft.com/office/drawing/2014/main" id="{C780B7C7-BF3B-09ED-7D49-9212BC9FBF81}"/>
              </a:ext>
            </a:extLst>
          </p:cNvPr>
          <p:cNvSpPr txBox="1"/>
          <p:nvPr userDrawn="1"/>
        </p:nvSpPr>
        <p:spPr>
          <a:xfrm>
            <a:off x="8470669" y="6309681"/>
            <a:ext cx="555913" cy="482136"/>
          </a:xfrm>
          <a:prstGeom prst="rect">
            <a:avLst/>
          </a:prstGeom>
          <a:noFill/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 dirty="0">
                <a:solidFill>
                  <a:srgbClr val="EB976D"/>
                </a:solidFill>
                <a:latin typeface="Calibri"/>
                <a:ea typeface="Calibri"/>
                <a:cs typeface="Calibri"/>
                <a:sym typeface="Calibri"/>
              </a:rPr>
              <a:t>/15</a:t>
            </a:r>
            <a:endParaRPr sz="105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a de Definições">
  <p:cSld name="Lista de Definiçõe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117417" y="1501428"/>
            <a:ext cx="893514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238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3200"/>
              <a:buChar char="•"/>
              <a:defRPr sz="2400" b="1">
                <a:solidFill>
                  <a:srgbClr val="38415C"/>
                </a:solidFill>
              </a:defRPr>
            </a:lvl1pPr>
            <a:lvl2pPr marL="685800" lvl="1" indent="-30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 sz="2100">
                <a:solidFill>
                  <a:srgbClr val="38415C"/>
                </a:solidFill>
              </a:defRPr>
            </a:lvl2pPr>
            <a:lvl3pPr marL="1028700" lvl="2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 sz="1800">
                <a:solidFill>
                  <a:srgbClr val="38415C"/>
                </a:solidFill>
              </a:defRPr>
            </a:lvl3pPr>
            <a:lvl4pPr marL="1371600" lvl="3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sz="1500">
                <a:solidFill>
                  <a:srgbClr val="38415C"/>
                </a:solidFill>
              </a:defRPr>
            </a:lvl4pPr>
            <a:lvl5pPr marL="1714500" lvl="4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sz="1500"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83;p11">
            <a:extLst>
              <a:ext uri="{FF2B5EF4-FFF2-40B4-BE49-F238E27FC236}">
                <a16:creationId xmlns:a16="http://schemas.microsoft.com/office/drawing/2014/main" id="{23AA0777-A0AA-857E-E4DD-23723AA807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8" name="Google Shape;13;p1">
            <a:extLst>
              <a:ext uri="{FF2B5EF4-FFF2-40B4-BE49-F238E27FC236}">
                <a16:creationId xmlns:a16="http://schemas.microsoft.com/office/drawing/2014/main" id="{B5912525-BC0A-DCBA-A8A8-8116AE52F6C1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João Barbosa Martins</a:t>
            </a:r>
            <a:br>
              <a:rPr lang="pt-BR"/>
            </a:br>
            <a:r>
              <a:rPr lang="pt-BR"/>
              <a:t>joaopedro@cos.ufrj.br</a:t>
            </a:r>
            <a:endParaRPr lang="pt-BR" dirty="0"/>
          </a:p>
        </p:txBody>
      </p:sp>
      <p:sp>
        <p:nvSpPr>
          <p:cNvPr id="9" name="Google Shape;14;p1">
            <a:extLst>
              <a:ext uri="{FF2B5EF4-FFF2-40B4-BE49-F238E27FC236}">
                <a16:creationId xmlns:a16="http://schemas.microsoft.com/office/drawing/2014/main" id="{B3ED1E57-7533-4BCE-95DE-9F8FEA4709F0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 dirty="0">
                <a:solidFill>
                  <a:srgbClr val="EB976D"/>
                </a:solidFill>
              </a:rPr>
              <a:t>Chatti, M.A. (2012). Knowledge management: a personal knowledge network perspective. Journal of Knowledge Management, 16(5), 829–844.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83;p11">
            <a:extLst>
              <a:ext uri="{FF2B5EF4-FFF2-40B4-BE49-F238E27FC236}">
                <a16:creationId xmlns:a16="http://schemas.microsoft.com/office/drawing/2014/main" id="{112471AE-902F-88F5-FB83-1C4E1D519B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8" name="Google Shape;13;p1">
            <a:extLst>
              <a:ext uri="{FF2B5EF4-FFF2-40B4-BE49-F238E27FC236}">
                <a16:creationId xmlns:a16="http://schemas.microsoft.com/office/drawing/2014/main" id="{17A17315-56DB-5D15-ECEF-02725F32377D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João Barbosa Martins</a:t>
            </a:r>
            <a:br>
              <a:rPr lang="pt-BR"/>
            </a:br>
            <a:r>
              <a:rPr lang="pt-BR"/>
              <a:t>joaopedro@cos.ufrj.br</a:t>
            </a:r>
            <a:endParaRPr lang="pt-BR" dirty="0"/>
          </a:p>
        </p:txBody>
      </p:sp>
      <p:sp>
        <p:nvSpPr>
          <p:cNvPr id="9" name="Google Shape;14;p1">
            <a:extLst>
              <a:ext uri="{FF2B5EF4-FFF2-40B4-BE49-F238E27FC236}">
                <a16:creationId xmlns:a16="http://schemas.microsoft.com/office/drawing/2014/main" id="{41AC2F66-A186-23A5-3DB7-A7900C58377A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 dirty="0">
                <a:solidFill>
                  <a:srgbClr val="EB976D"/>
                </a:solidFill>
              </a:rPr>
              <a:t>Chatti, M.A. (2012). Knowledge management: a personal knowledge network perspective. Journal of Knowledge Management, 16(5), 829–844.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dt" idx="10"/>
          </p:nvPr>
        </p:nvSpPr>
        <p:spPr>
          <a:xfrm>
            <a:off x="117418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2" name="Google Shape;10;p1">
            <a:extLst>
              <a:ext uri="{FF2B5EF4-FFF2-40B4-BE49-F238E27FC236}">
                <a16:creationId xmlns:a16="http://schemas.microsoft.com/office/drawing/2014/main" id="{54F14818-85ED-5EDB-341B-FDDE13A16E76}"/>
              </a:ext>
            </a:extLst>
          </p:cNvPr>
          <p:cNvSpPr/>
          <p:nvPr userDrawn="1"/>
        </p:nvSpPr>
        <p:spPr>
          <a:xfrm>
            <a:off x="0" y="6211798"/>
            <a:ext cx="9144000" cy="646203"/>
          </a:xfrm>
          <a:prstGeom prst="rect">
            <a:avLst/>
          </a:prstGeom>
          <a:solidFill>
            <a:srgbClr val="38415C"/>
          </a:solidFill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3;p1">
            <a:extLst>
              <a:ext uri="{FF2B5EF4-FFF2-40B4-BE49-F238E27FC236}">
                <a16:creationId xmlns:a16="http://schemas.microsoft.com/office/drawing/2014/main" id="{541749A7-2ED6-B601-3BAD-A19EFDB72887}"/>
              </a:ext>
            </a:extLst>
          </p:cNvPr>
          <p:cNvSpPr txBox="1">
            <a:spLocks/>
          </p:cNvSpPr>
          <p:nvPr userDrawn="1"/>
        </p:nvSpPr>
        <p:spPr>
          <a:xfrm>
            <a:off x="117418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João Barbosa Martins</a:t>
            </a:r>
            <a:br>
              <a:rPr lang="pt-BR"/>
            </a:br>
            <a:r>
              <a:rPr lang="pt-BR"/>
              <a:t>joaopedro@cos.ufrj.br</a:t>
            </a:r>
            <a:endParaRPr lang="pt-BR" dirty="0"/>
          </a:p>
        </p:txBody>
      </p:sp>
      <p:sp>
        <p:nvSpPr>
          <p:cNvPr id="4" name="Google Shape;14;p1">
            <a:extLst>
              <a:ext uri="{FF2B5EF4-FFF2-40B4-BE49-F238E27FC236}">
                <a16:creationId xmlns:a16="http://schemas.microsoft.com/office/drawing/2014/main" id="{2ACBB222-C48B-A68B-53AA-0FDF7B91F30F}"/>
              </a:ext>
            </a:extLst>
          </p:cNvPr>
          <p:cNvSpPr txBox="1">
            <a:spLocks/>
          </p:cNvSpPr>
          <p:nvPr userDrawn="1"/>
        </p:nvSpPr>
        <p:spPr>
          <a:xfrm>
            <a:off x="2778576" y="6368186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>
                <a:solidFill>
                  <a:srgbClr val="EB976D"/>
                </a:solidFill>
              </a:rPr>
              <a:t>Chatti, M.A. (2012). Knowledge management: a personal knowledge network perspective. Journal of Knowledge Management, 16(5), 829–844.</a:t>
            </a:r>
          </a:p>
        </p:txBody>
      </p:sp>
      <p:sp>
        <p:nvSpPr>
          <p:cNvPr id="5" name="Google Shape;15;p1">
            <a:extLst>
              <a:ext uri="{FF2B5EF4-FFF2-40B4-BE49-F238E27FC236}">
                <a16:creationId xmlns:a16="http://schemas.microsoft.com/office/drawing/2014/main" id="{62DC56A7-0483-871C-AAB8-9B1C94E3007F}"/>
              </a:ext>
            </a:extLst>
          </p:cNvPr>
          <p:cNvSpPr txBox="1">
            <a:spLocks/>
          </p:cNvSpPr>
          <p:nvPr userDrawn="1"/>
        </p:nvSpPr>
        <p:spPr>
          <a:xfrm>
            <a:off x="6295851" y="636818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46B270FB-0C54-A54F-867B-58A7B95C958C}" type="slidenum">
              <a:rPr lang="pt-BR" smtClean="0"/>
              <a:pPr/>
              <a:t>‹#›</a:t>
            </a:fld>
            <a:endParaRPr lang="pt-BR" sz="2400" dirty="0"/>
          </a:p>
        </p:txBody>
      </p:sp>
      <p:sp>
        <p:nvSpPr>
          <p:cNvPr id="6" name="Google Shape;17;p1">
            <a:extLst>
              <a:ext uri="{FF2B5EF4-FFF2-40B4-BE49-F238E27FC236}">
                <a16:creationId xmlns:a16="http://schemas.microsoft.com/office/drawing/2014/main" id="{D17C2C70-76CF-A9A8-7D09-6FBABBF45555}"/>
              </a:ext>
            </a:extLst>
          </p:cNvPr>
          <p:cNvSpPr txBox="1"/>
          <p:nvPr userDrawn="1"/>
        </p:nvSpPr>
        <p:spPr>
          <a:xfrm>
            <a:off x="8470669" y="6309681"/>
            <a:ext cx="555913" cy="482136"/>
          </a:xfrm>
          <a:prstGeom prst="rect">
            <a:avLst/>
          </a:prstGeom>
          <a:noFill/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 dirty="0">
                <a:solidFill>
                  <a:srgbClr val="EB976D"/>
                </a:solidFill>
                <a:latin typeface="Calibri"/>
                <a:ea typeface="Calibri"/>
                <a:cs typeface="Calibri"/>
                <a:sym typeface="Calibri"/>
              </a:rPr>
              <a:t>/XX</a:t>
            </a:r>
            <a:endParaRPr sz="105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_Blank">
  <p:cSld name="Full_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50">
  <p:cSld name="Logo50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28725" y="52388"/>
            <a:ext cx="6686550" cy="675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211798"/>
            <a:ext cx="9144000" cy="646203"/>
          </a:xfrm>
          <a:prstGeom prst="rect">
            <a:avLst/>
          </a:prstGeom>
          <a:solidFill>
            <a:srgbClr val="38415C"/>
          </a:solidFill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 sz="5400" b="1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17417" y="1501428"/>
            <a:ext cx="893514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117418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/>
              <a:t>João Barbosa Martins</a:t>
            </a:r>
            <a:br>
              <a:rPr lang="pt-BR" dirty="0"/>
            </a:br>
            <a:r>
              <a:rPr lang="pt-BR" dirty="0" err="1"/>
              <a:t>joaopedro@cos.ufrj.br</a:t>
            </a:r>
            <a:endParaRPr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2778576" y="6368186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 dirty="0">
                <a:solidFill>
                  <a:srgbClr val="EB976D"/>
                </a:solidFill>
              </a:rPr>
              <a:t>Chatti, M.A. (2012). Knowledge management: a personal knowledge network perspective. Journal of Knowledge Management, 16(5), 829–844.</a:t>
            </a:r>
            <a:endParaRPr lang="en-US" sz="900" b="0" i="0" u="none" strike="noStrike" cap="none" dirty="0">
              <a:solidFill>
                <a:srgbClr val="EB976D"/>
              </a:solidFill>
              <a:latin typeface="Fira Sans"/>
              <a:sym typeface="Fira Sans"/>
            </a:endParaRPr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6295851" y="636818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46B270FB-0C54-A54F-867B-58A7B95C958C}" type="slidenum">
              <a:rPr lang="pt-BR" smtClean="0"/>
              <a:pPr/>
              <a:t>‹#›</a:t>
            </a:fld>
            <a:endParaRPr lang="pt-BR" sz="2400" dirty="0"/>
          </a:p>
        </p:txBody>
      </p:sp>
      <p:pic>
        <p:nvPicPr>
          <p:cNvPr id="16" name="Google Shape;16;p1" descr="A picture containing orange, light&#10;&#10;Description automatically generated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17418" y="91016"/>
            <a:ext cx="775161" cy="132468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 txBox="1"/>
          <p:nvPr/>
        </p:nvSpPr>
        <p:spPr>
          <a:xfrm>
            <a:off x="8470669" y="6309681"/>
            <a:ext cx="555913" cy="482136"/>
          </a:xfrm>
          <a:prstGeom prst="rect">
            <a:avLst/>
          </a:prstGeom>
          <a:noFill/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 dirty="0">
                <a:solidFill>
                  <a:srgbClr val="EB976D"/>
                </a:solidFill>
                <a:latin typeface="Calibri"/>
                <a:ea typeface="Calibri"/>
                <a:cs typeface="Calibri"/>
                <a:sym typeface="Calibri"/>
              </a:rPr>
              <a:t>/15</a:t>
            </a:r>
            <a:endParaRPr sz="1050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00" b="0" i="0" u="none" strike="noStrike" cap="none" dirty="0">
          <a:solidFill>
            <a:srgbClr val="EB976D"/>
          </a:solidFill>
          <a:latin typeface="Fira Sans"/>
          <a:ea typeface="Fira Sans"/>
          <a:cs typeface="Arial"/>
          <a:sym typeface="Fira Sans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ctrTitle"/>
          </p:nvPr>
        </p:nvSpPr>
        <p:spPr>
          <a:xfrm>
            <a:off x="2835445" y="2323226"/>
            <a:ext cx="6191100" cy="173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 fontScale="90000"/>
          </a:bodyPr>
          <a:lstStyle/>
          <a:p>
            <a:r>
              <a:rPr lang="en-US" i="1" dirty="0"/>
              <a:t>Knowledge management: a personal knowledge network perspective</a:t>
            </a:r>
            <a:endParaRPr dirty="0"/>
          </a:p>
        </p:txBody>
      </p:sp>
      <p:sp>
        <p:nvSpPr>
          <p:cNvPr id="107" name="Google Shape;107;p17"/>
          <p:cNvSpPr txBox="1">
            <a:spLocks noGrp="1"/>
          </p:cNvSpPr>
          <p:nvPr>
            <p:ph type="subTitle" idx="1"/>
          </p:nvPr>
        </p:nvSpPr>
        <p:spPr>
          <a:xfrm>
            <a:off x="2835445" y="4167793"/>
            <a:ext cx="62172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92500" lnSpcReduction="20000"/>
          </a:bodyPr>
          <a:lstStyle/>
          <a:p>
            <a:r>
              <a:rPr lang="en-US" i="1" dirty="0"/>
              <a:t>Mohamed Amine Chatti</a:t>
            </a:r>
            <a:endParaRPr lang="en-US" dirty="0"/>
          </a:p>
          <a:p>
            <a:r>
              <a:rPr lang="en-US" i="1" dirty="0"/>
              <a:t>Journal of Knowledge Management, Vol. 16, No. 5, pp. 829–844, 2012</a:t>
            </a:r>
          </a:p>
          <a:p>
            <a:pPr marL="0" indent="0"/>
            <a:r>
              <a:rPr lang="pt-BR" dirty="0"/>
              <a:t>Apresentador: João Barbosa Martins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Placeholder 1">
            <a:extLst>
              <a:ext uri="{FF2B5EF4-FFF2-40B4-BE49-F238E27FC236}">
                <a16:creationId xmlns:a16="http://schemas.microsoft.com/office/drawing/2014/main" id="{19509C68-874A-DB23-F584-C8262CAF8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429" y="1547037"/>
            <a:ext cx="8935142" cy="2752428"/>
          </a:xfrm>
        </p:spPr>
        <p:txBody>
          <a:bodyPr>
            <a:normAutofit/>
          </a:bodyPr>
          <a:lstStyle/>
          <a:p>
            <a:pPr marL="190500" indent="-190500" algn="l">
              <a:spcAft>
                <a:spcPts val="800"/>
              </a:spcAft>
              <a:buSzPct val="100000"/>
              <a:buChar char="•"/>
            </a:pP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Introduzir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PKN (Personal Knowledge Network)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teórica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dominantes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KM e PKM</a:t>
            </a:r>
            <a:endParaRPr lang="en-US" sz="1800" b="0" dirty="0"/>
          </a:p>
          <a:p>
            <a:pPr marL="190500" indent="-190500" algn="l">
              <a:spcAft>
                <a:spcPts val="800"/>
              </a:spcAft>
              <a:buSzPct val="100000"/>
              <a:buChar char="•"/>
            </a:pP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Argumentar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PKM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adequada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às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demandas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ambientes de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ancorada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rede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800" b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800" b="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endParaRPr lang="en-US" sz="1800" b="0" dirty="0"/>
          </a:p>
          <a:p>
            <a:pPr marL="171450" indent="0" algn="l"/>
            <a:endParaRPr lang="en-US" sz="1800" b="0" dirty="0"/>
          </a:p>
        </p:txBody>
      </p:sp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r>
              <a:rPr lang="pt-BR" dirty="0"/>
              <a:t>Objetivo</a:t>
            </a:r>
          </a:p>
        </p:txBody>
      </p:sp>
      <p:sp>
        <p:nvSpPr>
          <p:cNvPr id="26" name="Google Shape;83;p11">
            <a:extLst>
              <a:ext uri="{FF2B5EF4-FFF2-40B4-BE49-F238E27FC236}">
                <a16:creationId xmlns:a16="http://schemas.microsoft.com/office/drawing/2014/main" id="{251529FD-1853-589F-5FA1-504BBA5CD0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2</a:t>
            </a:fld>
            <a:endParaRPr lang="pt-BR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47ABE2EA-BFF4-F769-BC17-799072D34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Placeholder 1">
            <a:extLst>
              <a:ext uri="{FF2B5EF4-FFF2-40B4-BE49-F238E27FC236}">
                <a16:creationId xmlns:a16="http://schemas.microsoft.com/office/drawing/2014/main" id="{41466028-41EE-FC84-E6C1-852DDDC03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417" y="1400519"/>
            <a:ext cx="8935142" cy="4460358"/>
          </a:xfrm>
        </p:spPr>
        <p:txBody>
          <a:bodyPr>
            <a:normAutofit/>
          </a:bodyPr>
          <a:lstStyle/>
          <a:p>
            <a:pPr marL="190500" indent="-190500" algn="l">
              <a:spcAft>
                <a:spcPts val="800"/>
              </a:spcAft>
              <a:buSzPct val="100000"/>
              <a:buChar char="•"/>
            </a:pP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KM surge no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início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dos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anos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1990 com a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promessa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de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aumentar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produtividade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inovação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vantagem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competitiva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e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aprendizado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organizacional</a:t>
            </a:r>
            <a:endParaRPr lang="en-US" sz="16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0500" indent="-190500" algn="l">
              <a:spcAft>
                <a:spcPts val="800"/>
              </a:spcAft>
              <a:buSzPct val="100000"/>
              <a:buChar char="•"/>
            </a:pP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Diagnóstico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empírico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a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maioria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das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iniciativas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de KM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fracassou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(Davenport et al., 2008; Malhotra, 2004; McAfee, 2006; Nonaka et al., 2000; Wilson, 2002)</a:t>
            </a:r>
            <a:endParaRPr lang="en-US" sz="16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0500" indent="-190500" algn="l">
              <a:spcAft>
                <a:spcPts val="800"/>
              </a:spcAft>
              <a:buSzPct val="100000"/>
              <a:buChar char="•"/>
            </a:pP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Causa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estrutural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—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não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circunstancial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as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premissas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sobre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natureza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conhecimento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embutidas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nos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modelos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dominantes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são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equivocadas</a:t>
            </a:r>
            <a:endParaRPr lang="en-US" sz="16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0500" indent="-190500" algn="l">
              <a:spcAft>
                <a:spcPts val="800"/>
              </a:spcAft>
              <a:buSzPct val="100000"/>
              <a:buChar char="•"/>
            </a:pP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 campo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oscila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entre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dois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paradigmas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</a:t>
            </a:r>
            <a:endParaRPr lang="en-US" sz="16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8000" lvl="1" indent="-254000" algn="l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Knowledge as a thing: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foco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em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repositórios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plataformas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e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codificação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8000" lvl="1" indent="-254000" algn="l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Knowledge as a process: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foco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em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conversão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SECI e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automação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de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fluxos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0500" indent="-190500" algn="l">
              <a:spcAft>
                <a:spcPts val="800"/>
              </a:spcAft>
              <a:buSzPct val="100000"/>
              <a:buChar char="•"/>
            </a:pP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Ambos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tratam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KM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como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problema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tecnológico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e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ignoram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dimensão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pessoal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tácita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e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complexa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conhecimento</a:t>
            </a:r>
            <a:endParaRPr lang="en-US" sz="16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0500" indent="-190500" algn="l">
              <a:spcAft>
                <a:spcPts val="800"/>
              </a:spcAft>
              <a:buSzPct val="100000"/>
              <a:buChar char="•"/>
            </a:pP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Drucker (1992): "It is the nature of knowledge that it changes fast and that today's certainties always become tomorrow's absurdities" —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exige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modelos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operem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com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mudança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acelerada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não</a:t>
            </a:r>
            <a:r>
              <a:rPr lang="en-US" sz="1600" b="0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contra </a:t>
            </a:r>
            <a:r>
              <a:rPr lang="en-US" sz="1600" b="0" dirty="0" err="1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ela</a:t>
            </a:r>
            <a:endParaRPr lang="en-US" sz="16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Google Shape;125;p19">
            <a:extLst>
              <a:ext uri="{FF2B5EF4-FFF2-40B4-BE49-F238E27FC236}">
                <a16:creationId xmlns:a16="http://schemas.microsoft.com/office/drawing/2014/main" id="{7D7413E1-ED90-6589-1C27-70A3875F74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r>
              <a:rPr lang="pt-BR" dirty="0"/>
              <a:t>Panorama e motivação</a:t>
            </a:r>
          </a:p>
        </p:txBody>
      </p:sp>
      <p:sp>
        <p:nvSpPr>
          <p:cNvPr id="3" name="Google Shape;83;p11">
            <a:extLst>
              <a:ext uri="{FF2B5EF4-FFF2-40B4-BE49-F238E27FC236}">
                <a16:creationId xmlns:a16="http://schemas.microsoft.com/office/drawing/2014/main" id="{D84E9422-80A8-5CD4-FC28-85E0A7E542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3</a:t>
            </a:fld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1675811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19C12783-968C-1952-8EEF-FFC6FD48A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Placeholder 1">
            <a:extLst>
              <a:ext uri="{FF2B5EF4-FFF2-40B4-BE49-F238E27FC236}">
                <a16:creationId xmlns:a16="http://schemas.microsoft.com/office/drawing/2014/main" id="{68DE3E15-C1AB-765B-D928-A28F597D1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429" y="1547036"/>
            <a:ext cx="8935142" cy="4279605"/>
          </a:xfrm>
        </p:spPr>
        <p:txBody>
          <a:bodyPr>
            <a:normAutofit lnSpcReduction="10000"/>
          </a:bodyPr>
          <a:lstStyle/>
          <a:p>
            <a:pPr marL="190500" marR="0" lvl="0" indent="-190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Premissa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central: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um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objeto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pode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ser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capturado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armazenado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transferido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reutilizado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independentemente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sujeito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detém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90500" marR="0" lvl="0" indent="-190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 KM se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reduz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 Information Management com nova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etiqueta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portais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 bases de dados (Wilson, 2002)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90500" marR="0" lvl="0" indent="-190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Ênfase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documental,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 groupware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fins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mesmos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90500" marR="0" lvl="0" indent="-190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fundamental — o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paradoxo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do iceberg: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08000" marR="0" lvl="1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explícito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representa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apenas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fração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articulável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total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08000" marR="0" lvl="1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maior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valor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tácito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 reside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não-articulável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presta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codificação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(Polanyi, 1966; McDermott, 2001)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08000" marR="0" lvl="1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Polanyi (1966): "we can know more than we can tell" — o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tácito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fundamenta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sustenta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explícito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mas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pode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ser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simplesmente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convertido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objeto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90500" marR="0" lvl="0" indent="-190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organizações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descobrem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o valor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está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conexões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entre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insights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(McDermott, 2001)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90500" marR="0" lvl="0" indent="-190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codificação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isola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do Ba — do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compartilhado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lhe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dá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sentido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(Nonaka &amp; Konno, 1998)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Google Shape;125;p19">
            <a:extLst>
              <a:ext uri="{FF2B5EF4-FFF2-40B4-BE49-F238E27FC236}">
                <a16:creationId xmlns:a16="http://schemas.microsoft.com/office/drawing/2014/main" id="{2E1FABAC-E5B1-C79B-4868-9058B1A787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r>
              <a:rPr lang="pt-BR" dirty="0" err="1"/>
              <a:t>Knowledge</a:t>
            </a:r>
            <a:r>
              <a:rPr lang="pt-BR" dirty="0"/>
              <a:t> as a </a:t>
            </a:r>
            <a:r>
              <a:rPr lang="pt-BR" dirty="0" err="1"/>
              <a:t>thing</a:t>
            </a:r>
            <a:endParaRPr lang="pt-BR" dirty="0"/>
          </a:p>
        </p:txBody>
      </p:sp>
      <p:sp>
        <p:nvSpPr>
          <p:cNvPr id="2" name="Google Shape;83;p11">
            <a:extLst>
              <a:ext uri="{FF2B5EF4-FFF2-40B4-BE49-F238E27FC236}">
                <a16:creationId xmlns:a16="http://schemas.microsoft.com/office/drawing/2014/main" id="{C7CFC7B2-B435-45B6-18EA-B1529D2510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4</a:t>
            </a:fld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3363014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B459DF50-B23E-08BB-CEEC-25A4FABF3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Placeholder 1">
            <a:extLst>
              <a:ext uri="{FF2B5EF4-FFF2-40B4-BE49-F238E27FC236}">
                <a16:creationId xmlns:a16="http://schemas.microsoft.com/office/drawing/2014/main" id="{0A2093CF-8B5E-D9FF-FC39-E53D5BF7A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429" y="1547036"/>
            <a:ext cx="8935142" cy="4279605"/>
          </a:xfrm>
        </p:spPr>
        <p:txBody>
          <a:bodyPr>
            <a:normAutofit lnSpcReduction="10000"/>
          </a:bodyPr>
          <a:lstStyle/>
          <a:p>
            <a:pPr marL="190500" marR="0" lvl="0" indent="-190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Avanço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desloca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estática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objeto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para 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dinâmica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criação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interação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social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90500" marR="0" lvl="0" indent="-190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Modelo SECI (Nonaka &amp; Takeuchi, 2005):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criação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espiral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conversão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entre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tácito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explícito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08000" marR="0" lvl="1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Socialização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tácito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tácito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imitação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requer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Ba de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08000" marR="0" lvl="1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Externalização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tácito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explícito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articulação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via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metáforas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analogias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requer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Ba de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diálogo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08000" marR="0" lvl="1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Combinação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explícito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explícito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sistematização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corpos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requer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Ba de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sistematização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08000" marR="0" lvl="1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Internalização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explícito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tácito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incorporação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know-how individual —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requer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Ba de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90500" marR="0" lvl="0" indent="-190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Ba: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espaço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compartilhado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virtual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mental)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fornece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para 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criação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(Nonaka &amp; Konno, 1998)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90500" marR="0" lvl="0" indent="-190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Chatti: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08000" marR="0" lvl="1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SECI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linear 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predeterminado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emergência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 a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não-linearidade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reais da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criação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08000" marR="0" lvl="1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Ignora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processos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cruciais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detecção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correção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(Argyris &amp; Schön)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08000" marR="0" lvl="1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spiraling do SECI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pressupõe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ordem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processos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são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simultâneos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recursivos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imprevisíveis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508000" marR="0" lvl="1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Char char="•"/>
              <a:tabLst/>
              <a:defRPr/>
            </a:pPr>
            <a:endParaRPr lang="en-US" sz="1400" kern="1200" dirty="0">
              <a:solidFill>
                <a:schemeClr val="tx1"/>
              </a:solidFill>
              <a:latin typeface="Calibri" pitchFamily="34" charset="0"/>
              <a:ea typeface="+mn-ea"/>
              <a:cs typeface="Calibri" pitchFamily="34" charset="-120"/>
            </a:endParaRPr>
          </a:p>
          <a:p>
            <a:pPr marL="508000" lvl="1" indent="-254000" algn="l">
              <a:spcAft>
                <a:spcPts val="300"/>
              </a:spcAft>
              <a:buClrTx/>
              <a:buSzPct val="100000"/>
              <a:buFontTx/>
              <a:buChar char="•"/>
              <a:defRPr/>
            </a:pPr>
            <a:r>
              <a:rPr lang="en-US" sz="1050" i="1" dirty="0">
                <a:solidFill>
                  <a:schemeClr val="tx1"/>
                </a:solidFill>
              </a:rPr>
              <a:t>SECI = socialization-externalization-combination-internalization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25" name="Google Shape;125;p19">
            <a:extLst>
              <a:ext uri="{FF2B5EF4-FFF2-40B4-BE49-F238E27FC236}">
                <a16:creationId xmlns:a16="http://schemas.microsoft.com/office/drawing/2014/main" id="{98385526-0CB1-F166-C2E6-51B46CA164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r>
              <a:rPr lang="pt-BR" dirty="0" err="1"/>
              <a:t>Knowledge</a:t>
            </a:r>
            <a:r>
              <a:rPr lang="pt-BR" dirty="0"/>
              <a:t> as a </a:t>
            </a:r>
            <a:r>
              <a:rPr lang="pt-BR" dirty="0" err="1"/>
              <a:t>process</a:t>
            </a:r>
            <a:endParaRPr lang="pt-BR" dirty="0"/>
          </a:p>
        </p:txBody>
      </p:sp>
      <p:sp>
        <p:nvSpPr>
          <p:cNvPr id="2" name="Google Shape;83;p11">
            <a:extLst>
              <a:ext uri="{FF2B5EF4-FFF2-40B4-BE49-F238E27FC236}">
                <a16:creationId xmlns:a16="http://schemas.microsoft.com/office/drawing/2014/main" id="{B3580C41-D7AD-0B70-A0B6-5557F5BDE6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5</a:t>
            </a:fld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2296941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D89654F5-6B79-273F-742A-D37739815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>
            <a:extLst>
              <a:ext uri="{FF2B5EF4-FFF2-40B4-BE49-F238E27FC236}">
                <a16:creationId xmlns:a16="http://schemas.microsoft.com/office/drawing/2014/main" id="{E281A515-017F-178F-80A1-087E1DE8A5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r>
              <a:rPr lang="pt-BR" dirty="0"/>
              <a:t>Deficiências Sistêmicas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EB8E732A-D7FA-41B1-AA4B-211B3F9F6602}"/>
              </a:ext>
            </a:extLst>
          </p:cNvPr>
          <p:cNvSpPr/>
          <p:nvPr/>
        </p:nvSpPr>
        <p:spPr>
          <a:xfrm>
            <a:off x="808083" y="1170642"/>
            <a:ext cx="7963786" cy="261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estruturais compartilhadas</a:t>
            </a:r>
            <a:endParaRPr lang="en-US" sz="16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C20C4FE-E342-0423-4C3F-F99051DABCD4}"/>
              </a:ext>
            </a:extLst>
          </p:cNvPr>
          <p:cNvSpPr/>
          <p:nvPr/>
        </p:nvSpPr>
        <p:spPr>
          <a:xfrm>
            <a:off x="808083" y="1472394"/>
            <a:ext cx="7963786" cy="17185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é context-sensitive: separado do Ba, torna-se informação sem sentido — "If knowledge is separated from ba, it turns into information" (Nonaka &amp; Konno, 1998, p. 41)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top-down contradiz a natureza do conhecimento: não é possível gerir o tácito por decreto; toda iniciativa que ignora isso fracassa na adesão dos knowledge workers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de conhecimento são sistemas adaptativos complexos — não-determinísticos, auto-organizados, emergentes (Holland, 1995, 1998; Snowden, 2002)</a:t>
            </a:r>
            <a:endParaRPr lang="en-US" sz="160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FF547667-4DBD-41AE-D7D6-D3D9BAEEDB6B}"/>
              </a:ext>
            </a:extLst>
          </p:cNvPr>
          <p:cNvSpPr/>
          <p:nvPr/>
        </p:nvSpPr>
        <p:spPr>
          <a:xfrm>
            <a:off x="808083" y="3456642"/>
            <a:ext cx="7963786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 sz="180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916A3737-FFB0-B0F8-1FEE-C2B390B0343D}"/>
              </a:ext>
            </a:extLst>
          </p:cNvPr>
          <p:cNvSpPr/>
          <p:nvPr/>
        </p:nvSpPr>
        <p:spPr>
          <a:xfrm>
            <a:off x="808083" y="3566370"/>
            <a:ext cx="7963786" cy="261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para novos modelos (Chatti, 2012)</a:t>
            </a:r>
            <a:endParaRPr lang="en-US" sz="16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D19A273-56AF-24C7-4885-86CE4725F46B}"/>
              </a:ext>
            </a:extLst>
          </p:cNvPr>
          <p:cNvSpPr/>
          <p:nvPr/>
        </p:nvSpPr>
        <p:spPr>
          <a:xfrm>
            <a:off x="808083" y="3868122"/>
            <a:ext cx="7963786" cy="22668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Endereçar a dimensão tácita: shift de know-what para know-how e know-who — pessoas, não repositórios, mas no centro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com complexidade: modelos bottom-up, emergentes, auto-organizados — de command-and-control para wirearchy (Husband, 1999)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PKM e OKM: superar a dicotomia entre gestão individual e organizacional do conhecimento</a:t>
            </a:r>
            <a:endParaRPr lang="en-US" sz="1600" dirty="0"/>
          </a:p>
        </p:txBody>
      </p:sp>
      <p:sp>
        <p:nvSpPr>
          <p:cNvPr id="9" name="Google Shape;83;p11">
            <a:extLst>
              <a:ext uri="{FF2B5EF4-FFF2-40B4-BE49-F238E27FC236}">
                <a16:creationId xmlns:a16="http://schemas.microsoft.com/office/drawing/2014/main" id="{CD6E939F-E040-8D76-16E5-8FED77C76A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6</a:t>
            </a:fld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2845962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64D8F213-79E4-F137-DAD7-B0607011C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>
            <a:extLst>
              <a:ext uri="{FF2B5EF4-FFF2-40B4-BE49-F238E27FC236}">
                <a16:creationId xmlns:a16="http://schemas.microsoft.com/office/drawing/2014/main" id="{F614DE4A-2416-1CD7-D1DA-6FA2F54B03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pt-BR" sz="4000" dirty="0"/>
              <a:t>Personal </a:t>
            </a:r>
            <a:r>
              <a:rPr lang="pt-BR" sz="4000" dirty="0" err="1"/>
              <a:t>Knowledge</a:t>
            </a:r>
            <a:r>
              <a:rPr lang="pt-BR" sz="4000" dirty="0"/>
              <a:t> Management</a:t>
            </a:r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F32D418E-B0F9-540F-99E8-BE12211A9F2C}"/>
              </a:ext>
            </a:extLst>
          </p:cNvPr>
          <p:cNvSpPr/>
          <p:nvPr/>
        </p:nvSpPr>
        <p:spPr>
          <a:xfrm>
            <a:off x="690005" y="1400519"/>
            <a:ext cx="7953153" cy="3635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PKM surge como abordagem bottom-up: desloca o foco do nível organizacional para o knowledge worker individual (Pollard, 2008)</a:t>
            </a:r>
            <a:endParaRPr lang="en-US" sz="1600" dirty="0">
              <a:solidFill>
                <a:schemeClr val="tx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representativos na literatura:</a:t>
            </a:r>
            <a:endParaRPr lang="en-US" sz="1600" dirty="0">
              <a:solidFill>
                <a:schemeClr val="tx1"/>
              </a:solidFill>
            </a:endParaRPr>
          </a:p>
          <a:p>
            <a:pPr marL="508000" lvl="1" indent="-2540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Dorsey (2000): 7 componentes — retrieving, evaluating, organizing, analyzing, presenting, securing, collaborating</a:t>
            </a:r>
            <a:endParaRPr lang="en-US" sz="1600" dirty="0">
              <a:solidFill>
                <a:schemeClr val="tx1"/>
              </a:solidFill>
            </a:endParaRPr>
          </a:p>
          <a:p>
            <a:pPr marL="508000" lvl="1" indent="-2540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Smedley (2009): adapta o SECI para processos individuais de aquisição e gestão do conhecimento</a:t>
            </a:r>
            <a:endParaRPr lang="en-US" sz="1600" dirty="0">
              <a:solidFill>
                <a:schemeClr val="tx1"/>
              </a:solidFill>
            </a:endParaRPr>
          </a:p>
          <a:p>
            <a:pPr marL="508000" lvl="1" indent="-2540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Jarche (2010): gather, classify, store, search, retrieve, share knowledge</a:t>
            </a:r>
            <a:endParaRPr lang="en-US" sz="1600" dirty="0">
              <a:solidFill>
                <a:schemeClr val="tx1"/>
              </a:solidFill>
            </a:endParaRPr>
          </a:p>
          <a:p>
            <a:pPr marL="508000" lvl="1" indent="-2540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Grundspenkis (2007): aggregate, understand, connect</a:t>
            </a:r>
            <a:endParaRPr lang="en-US" sz="1600" dirty="0">
              <a:solidFill>
                <a:schemeClr val="tx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estruturais que persistem em todos os modelos:</a:t>
            </a:r>
            <a:endParaRPr lang="en-US" sz="1600" dirty="0">
              <a:solidFill>
                <a:schemeClr val="tx1"/>
              </a:solidFill>
            </a:endParaRPr>
          </a:p>
          <a:p>
            <a:pPr marL="508000" lvl="1" indent="-2540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Permanecem centrados em processos predefinidos — visão linear, igualmente incompatível com a complexidade do KM real</a:t>
            </a:r>
            <a:endParaRPr lang="en-US" sz="1600" dirty="0">
              <a:solidFill>
                <a:schemeClr val="tx1"/>
              </a:solidFill>
            </a:endParaRPr>
          </a:p>
          <a:p>
            <a:pPr marL="508000" lvl="1" indent="-2540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arcabouço teórico unificado: cada modelo descreve processos ad hoc sem fundamentação comum</a:t>
            </a:r>
            <a:endParaRPr lang="en-US" sz="1600" dirty="0">
              <a:solidFill>
                <a:schemeClr val="tx1"/>
              </a:solidFill>
            </a:endParaRPr>
          </a:p>
          <a:p>
            <a:pPr marL="508000" lvl="1" indent="-2540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estabelecem relação coerente entre PKM e OKM — a integração entre individual e organizacional permanece sem solução (Gorman &amp; Pauleen, 2011)</a:t>
            </a:r>
            <a:endParaRPr lang="en-US" sz="1600" dirty="0">
              <a:solidFill>
                <a:schemeClr val="tx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PKM corrige o nível de análise (do organizacional para o individual), mas mantém a mesma premissa equivocada — conhecimento como processo gerenciável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Google Shape;83;p11">
            <a:extLst>
              <a:ext uri="{FF2B5EF4-FFF2-40B4-BE49-F238E27FC236}">
                <a16:creationId xmlns:a16="http://schemas.microsoft.com/office/drawing/2014/main" id="{E18F3057-560A-7DA7-7B2C-6FDF410E22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7</a:t>
            </a:fld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2364410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94413725-CC22-5C8E-10F4-37962C9A1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>
            <a:extLst>
              <a:ext uri="{FF2B5EF4-FFF2-40B4-BE49-F238E27FC236}">
                <a16:creationId xmlns:a16="http://schemas.microsoft.com/office/drawing/2014/main" id="{3BAF0A73-EA3C-284C-0BD3-D6E1651A01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pt-BR" sz="4000" dirty="0"/>
              <a:t>Personal </a:t>
            </a:r>
            <a:r>
              <a:rPr lang="pt-BR" sz="4000" dirty="0" err="1"/>
              <a:t>Knowledge</a:t>
            </a:r>
            <a:r>
              <a:rPr lang="pt-BR" sz="4000" dirty="0"/>
              <a:t> Network</a:t>
            </a:r>
          </a:p>
        </p:txBody>
      </p:sp>
      <p:sp>
        <p:nvSpPr>
          <p:cNvPr id="5" name="Google Shape;83;p11">
            <a:extLst>
              <a:ext uri="{FF2B5EF4-FFF2-40B4-BE49-F238E27FC236}">
                <a16:creationId xmlns:a16="http://schemas.microsoft.com/office/drawing/2014/main" id="{7151F1DB-086C-33BC-27FD-62ACAF2718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8</a:t>
            </a:fld>
            <a:endParaRPr lang="pt-BR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0F81073-F732-ABA8-7AEF-8496F0451EA2}"/>
              </a:ext>
            </a:extLst>
          </p:cNvPr>
          <p:cNvSpPr/>
          <p:nvPr/>
        </p:nvSpPr>
        <p:spPr>
          <a:xfrm>
            <a:off x="457200" y="1484896"/>
            <a:ext cx="8229600" cy="5230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 fundadora: todo conhecimento é fundamentalmente pessoal (Polanyi, 1966; Drucker, 1993; Wilson, 2002) — "knowledge can never be managed, except by the individual knower" (Wilson, 2002)</a:t>
            </a:r>
            <a:endParaRPr lang="en-US" sz="1600" dirty="0">
              <a:solidFill>
                <a:schemeClr val="tx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 epistemológica: o PKN rejeita as duas visões anteriores e propõe uma terceira — conhecimento como rede pessoal adaptativa e contínua</a:t>
            </a:r>
            <a:endParaRPr lang="en-US" sz="1600" dirty="0">
              <a:solidFill>
                <a:schemeClr val="tx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do modelo: KM = criação contínua de uma Personal Knowledge Network (PKN) em dois níveis:</a:t>
            </a:r>
            <a:endParaRPr lang="en-US" sz="1600" dirty="0">
              <a:solidFill>
                <a:schemeClr val="tx1"/>
              </a:solidFill>
            </a:endParaRPr>
          </a:p>
          <a:p>
            <a:pPr marL="508000" lvl="1" indent="-2540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externo: nós de conhecimento tácito (pessoas — contatos, mentores, colaboradores) e explícito (informação — documentos, referências, fontes) que compõem a rede de cada knowledge worker</a:t>
            </a:r>
            <a:endParaRPr lang="en-US" sz="1600" dirty="0">
              <a:solidFill>
                <a:schemeClr val="tx1"/>
              </a:solidFill>
            </a:endParaRPr>
          </a:p>
          <a:p>
            <a:pPr marL="508000" lvl="1" indent="-2540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conceitual/interno: theories-in-use (Argyris &amp; Schön, 1978) — normas, valores, estratégias e premissas que estruturam a ação, o julgamento e a interpretação do indivíduo</a:t>
            </a:r>
            <a:endParaRPr lang="en-US" sz="1600" dirty="0">
              <a:solidFill>
                <a:schemeClr val="tx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de KM não é um documento armazenado: é a reestruturação da PKN — expansão do nível externo e reformulação das theories-in-use</a:t>
            </a:r>
            <a:endParaRPr lang="en-US" sz="1600" dirty="0">
              <a:solidFill>
                <a:schemeClr val="tx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PKN é única, adaptativa e irreproduzível — não pode ser gerenciada top-down: cada knowledge worker é o único arquiteto legítimo da sua própria rede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166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12713FF5-085D-2752-2BD4-9A5A5896C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>
            <a:extLst>
              <a:ext uri="{FF2B5EF4-FFF2-40B4-BE49-F238E27FC236}">
                <a16:creationId xmlns:a16="http://schemas.microsoft.com/office/drawing/2014/main" id="{8182EC28-6877-4B19-4D32-1B2B33B371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pt-BR" sz="4000" dirty="0"/>
              <a:t>Personal </a:t>
            </a:r>
            <a:r>
              <a:rPr lang="pt-BR" sz="4000" dirty="0" err="1"/>
              <a:t>Knowledge</a:t>
            </a:r>
            <a:r>
              <a:rPr lang="pt-BR" sz="4000" dirty="0"/>
              <a:t> Network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467F572D-BEA3-94B1-FF67-5AE46D913568}"/>
              </a:ext>
            </a:extLst>
          </p:cNvPr>
          <p:cNvSpPr/>
          <p:nvPr/>
        </p:nvSpPr>
        <p:spPr>
          <a:xfrm>
            <a:off x="616689" y="1400519"/>
            <a:ext cx="8229600" cy="5230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conceito introduzido por Argyris &amp; Schön (1978) no contexto de organizational learning</a:t>
            </a:r>
            <a:endParaRPr lang="en-US" sz="1600" dirty="0">
              <a:solidFill>
                <a:schemeClr val="tx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Definição: teoria-em-uso é a teoria implícita que governa o comportamento real do indivíduo — inclui normas de desempenho, estratégias para atingir valores e premissas que conectam ambos</a:t>
            </a:r>
            <a:endParaRPr lang="en-US" sz="1600" dirty="0">
              <a:solidFill>
                <a:schemeClr val="tx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Distinção fundamental — espoused theory vs. theory-in-use:</a:t>
            </a:r>
            <a:endParaRPr lang="en-US" sz="1600" dirty="0">
              <a:solidFill>
                <a:schemeClr val="tx1"/>
              </a:solidFill>
            </a:endParaRPr>
          </a:p>
          <a:p>
            <a:pPr marL="508000" lvl="1" indent="-2540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Espoused theory: o que a pessoa declara que faz — o discurso explícito sobre sua ação</a:t>
            </a:r>
            <a:endParaRPr lang="en-US" sz="1600" dirty="0">
              <a:solidFill>
                <a:schemeClr val="tx1"/>
              </a:solidFill>
            </a:endParaRPr>
          </a:p>
          <a:p>
            <a:pPr marL="508000" lvl="1" indent="-2540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Theory-in-use: o que de fato guia o comportamento — frequentemente tácita, incongruente com o discurso e difícil de articular</a:t>
            </a:r>
            <a:endParaRPr lang="en-US" sz="1600" dirty="0">
              <a:solidFill>
                <a:schemeClr val="tx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modelo PKN: as theories-in-use são o nível conceitual de cada PKN — a estrutura profunda que determina como o knowledge worker lê situações, toma decisões e aprende</a:t>
            </a:r>
            <a:endParaRPr lang="en-US" sz="1600" dirty="0">
              <a:solidFill>
                <a:schemeClr val="tx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Implicação direta: KM efetivo exige operar no nível das theories-in-use — não apenas na superfície dos processos e dos documentos</a:t>
            </a:r>
            <a:endParaRPr lang="en-US" sz="1600" dirty="0">
              <a:solidFill>
                <a:schemeClr val="tx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learning (Argyris &amp; Schön, 1996): ocorre quando indivíduos detectam e corrigem erros no nível das theories-in-use — reformulando a teoria-em-uso coletiva da organização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Google Shape;83;p11">
            <a:extLst>
              <a:ext uri="{FF2B5EF4-FFF2-40B4-BE49-F238E27FC236}">
                <a16:creationId xmlns:a16="http://schemas.microsoft.com/office/drawing/2014/main" id="{C9D9B0BD-9614-D042-7587-FD66091A1A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9</a:t>
            </a:fld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3515528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EB48C759-A623-18F2-FD71-83608C9D1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>
            <a:extLst>
              <a:ext uri="{FF2B5EF4-FFF2-40B4-BE49-F238E27FC236}">
                <a16:creationId xmlns:a16="http://schemas.microsoft.com/office/drawing/2014/main" id="{9B326803-048C-543B-E5F6-4C311C2DE3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pt-BR" sz="1400" dirty="0"/>
              <a:t>Personal </a:t>
            </a:r>
            <a:r>
              <a:rPr lang="pt-BR" sz="1400" dirty="0" err="1"/>
              <a:t>Knowledge</a:t>
            </a:r>
            <a:r>
              <a:rPr lang="pt-BR" sz="1400" dirty="0"/>
              <a:t> Network</a:t>
            </a:r>
            <a:br>
              <a:rPr lang="pt-BR" sz="1400" dirty="0"/>
            </a:br>
            <a:r>
              <a:rPr lang="pt-BR" sz="3600" dirty="0"/>
              <a:t>Single-Loop vs. Double-Loop Learning</a:t>
            </a:r>
            <a:endParaRPr lang="pt-BR" sz="14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65CED28-5888-A2EC-E464-B8A177777FA0}"/>
              </a:ext>
            </a:extLst>
          </p:cNvPr>
          <p:cNvSpPr/>
          <p:nvPr/>
        </p:nvSpPr>
        <p:spPr>
          <a:xfrm>
            <a:off x="457200" y="138330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Single-Loop Learning</a:t>
            </a:r>
            <a:endParaRPr lang="en-US" sz="13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1840EEF6-1C41-C255-0509-3DFE8D8E732B}"/>
              </a:ext>
            </a:extLst>
          </p:cNvPr>
          <p:cNvSpPr/>
          <p:nvPr/>
        </p:nvSpPr>
        <p:spPr>
          <a:xfrm>
            <a:off x="457200" y="1685054"/>
            <a:ext cx="4023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 corrige erros modificando estratégias e ações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os valores, normas e premissas das theories-in-use intactos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de primeira ordem: responde ao erro sem questionar o sistema que o gerou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Adequado para erros rotineiros em contextos estáveis e previsíveis</a:t>
            </a:r>
            <a:endParaRPr lang="en-US" sz="1300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D053CE12-BFB4-3F7F-0B68-29BC1529BA30}"/>
              </a:ext>
            </a:extLst>
          </p:cNvPr>
          <p:cNvSpPr/>
          <p:nvPr/>
        </p:nvSpPr>
        <p:spPr>
          <a:xfrm>
            <a:off x="4663440" y="1383302"/>
            <a:ext cx="0" cy="338328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225FD56F-31DC-BDB2-A3EA-7088A7C6DF2D}"/>
              </a:ext>
            </a:extLst>
          </p:cNvPr>
          <p:cNvSpPr/>
          <p:nvPr/>
        </p:nvSpPr>
        <p:spPr>
          <a:xfrm>
            <a:off x="4800600" y="138330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Double-Loop Learning  ★</a:t>
            </a:r>
            <a:endParaRPr lang="en-US" sz="13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7F1CD92-8908-6309-BAAF-3BB475258140}"/>
              </a:ext>
            </a:extLst>
          </p:cNvPr>
          <p:cNvSpPr/>
          <p:nvPr/>
        </p:nvSpPr>
        <p:spPr>
          <a:xfrm>
            <a:off x="4800600" y="1685054"/>
            <a:ext cx="39319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Questiona e reformula as próprias theories-in-use — muda valores, normas e premissas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de segunda ordem: reescreve o modelo mental que gera as estratégias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"Long-term effectiveness depends on the possibility of double-loop learning" (Argyris &amp; Schön, 1996, p. 96)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 em contextos de alta incerteza, mudança rápida e ambiguidade — condição padrão dos ambientes de KM</a:t>
            </a:r>
            <a:endParaRPr lang="en-US" sz="130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2EE58BDF-1002-9A50-EF5E-BA42F2FE21CD}"/>
              </a:ext>
            </a:extLst>
          </p:cNvPr>
          <p:cNvSpPr/>
          <p:nvPr/>
        </p:nvSpPr>
        <p:spPr>
          <a:xfrm>
            <a:off x="457200" y="4903742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A8DEC524-6DF2-35C7-1D4D-AAF86116464B}"/>
              </a:ext>
            </a:extLst>
          </p:cNvPr>
          <p:cNvSpPr/>
          <p:nvPr/>
        </p:nvSpPr>
        <p:spPr>
          <a:xfrm>
            <a:off x="457200" y="4995182"/>
            <a:ext cx="8229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modelo PKN: a expansão mais profunda do PKN ocorre via double-loop learning — reestrutura as theories-in-use do nível conceitual/</a:t>
            </a:r>
            <a:r>
              <a:rPr lang="en-US" sz="13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não apenas os nós do nível externo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learning emerge da interação entre os double-loop learnings individuais — é o mecanismo de convergência entre PKM e OKM no modelo PKN</a:t>
            </a:r>
            <a:endParaRPr lang="en-US" sz="1350" dirty="0"/>
          </a:p>
        </p:txBody>
      </p:sp>
      <p:sp>
        <p:nvSpPr>
          <p:cNvPr id="18" name="Google Shape;83;p11">
            <a:extLst>
              <a:ext uri="{FF2B5EF4-FFF2-40B4-BE49-F238E27FC236}">
                <a16:creationId xmlns:a16="http://schemas.microsoft.com/office/drawing/2014/main" id="{400A636B-1C87-85B4-1183-2B81F5F42A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10</a:t>
            </a:fld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1376269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65AF0876-7EEA-0E65-BF11-2135D85D5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>
            <a:extLst>
              <a:ext uri="{FF2B5EF4-FFF2-40B4-BE49-F238E27FC236}">
                <a16:creationId xmlns:a16="http://schemas.microsoft.com/office/drawing/2014/main" id="{DCD35139-6EB4-3C1B-44C7-74DB678040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pt-BR" sz="1400" dirty="0"/>
              <a:t>Personal </a:t>
            </a:r>
            <a:r>
              <a:rPr lang="pt-BR" sz="1400" dirty="0" err="1"/>
              <a:t>Knowledge</a:t>
            </a:r>
            <a:r>
              <a:rPr lang="pt-BR" sz="1400" dirty="0"/>
              <a:t> Network</a:t>
            </a:r>
            <a:br>
              <a:rPr lang="pt-BR" sz="1400" dirty="0"/>
            </a:br>
            <a:r>
              <a:rPr lang="pt-BR" sz="4000" dirty="0" err="1"/>
              <a:t>Knowledge</a:t>
            </a:r>
            <a:r>
              <a:rPr lang="pt-BR" sz="4000" dirty="0"/>
              <a:t> </a:t>
            </a:r>
            <a:r>
              <a:rPr lang="pt-BR" sz="4000" dirty="0" err="1"/>
              <a:t>Ecologies</a:t>
            </a:r>
            <a:endParaRPr lang="pt-BR" sz="36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B8EFCD00-3C79-5985-1678-C81727A7C000}"/>
              </a:ext>
            </a:extLst>
          </p:cNvPr>
          <p:cNvSpPr/>
          <p:nvPr/>
        </p:nvSpPr>
        <p:spPr>
          <a:xfrm>
            <a:off x="457200" y="1234440"/>
            <a:ext cx="8229600" cy="5230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operacional: paisagem complexa e intensiva em conhecimento que emerge da conexão bottom-up de múltiplas PKNs — não projetada de cima para baixo, mas cultivada de baixo para cima</a:t>
            </a:r>
            <a:endParaRPr lang="en-US" sz="1600" dirty="0">
              <a:solidFill>
                <a:schemeClr val="tx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PKNs são os blocos construtores (building blocks) das knowledge ecologies — a ecology surge do entrelaçamento das redes individuais, não de decisão gerencial</a:t>
            </a:r>
            <a:endParaRPr lang="en-US" sz="1600" dirty="0">
              <a:solidFill>
                <a:schemeClr val="tx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estruturais derivadas da natureza de knowledge e ecology (Por, 2000; Malhotra, 2002; Brown, 1999; Holland, 1995, 1998):</a:t>
            </a:r>
            <a:endParaRPr lang="en-US" sz="1600" dirty="0">
              <a:solidFill>
                <a:schemeClr val="tx1"/>
              </a:solidFill>
            </a:endParaRPr>
          </a:p>
          <a:p>
            <a:pPr marL="508000" lvl="1" indent="-2540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e adaptação: sistema adaptativo complexo, diverso, interconectado e não-determinístico; aprende da experiência de forma contínua e fluida, sem início ou fim claramente definidos</a:t>
            </a:r>
            <a:endParaRPr lang="en-US" sz="1600" dirty="0">
              <a:solidFill>
                <a:schemeClr val="tx1"/>
              </a:solidFill>
            </a:endParaRPr>
          </a:p>
          <a:p>
            <a:pPr marL="508000" lvl="1" indent="-2540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Emergência e auto-organização: co-construída e mantida pelos próprios participantes; o conhecimento emerge de baixo para cima, sem controle hierárquico externo</a:t>
            </a:r>
            <a:endParaRPr lang="en-US" sz="1600" dirty="0">
              <a:solidFill>
                <a:schemeClr val="tx1"/>
              </a:solidFill>
            </a:endParaRPr>
          </a:p>
          <a:p>
            <a:pPr marL="508000" lvl="1" indent="-2540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e descentralização: sem fronteiras fixas de pertencimento ou critérios formais de adesão; conhecimento distribuído entre nós, não concentrado em autoridade central</a:t>
            </a:r>
            <a:endParaRPr lang="en-US" sz="1600" dirty="0">
              <a:solidFill>
                <a:schemeClr val="tx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Implicação para organizações: o papel gerencial se transforma — de controle para cultivo de condições ecológicas favoráveis ao desenvolvimento das PKNs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Google Shape;83;p11">
            <a:extLst>
              <a:ext uri="{FF2B5EF4-FFF2-40B4-BE49-F238E27FC236}">
                <a16:creationId xmlns:a16="http://schemas.microsoft.com/office/drawing/2014/main" id="{D6579B2C-41B2-09F8-A52B-7EEBA4D277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11</a:t>
            </a:fld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3035328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AE213FC8-76B7-785E-1BBD-99EDED183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>
            <a:extLst>
              <a:ext uri="{FF2B5EF4-FFF2-40B4-BE49-F238E27FC236}">
                <a16:creationId xmlns:a16="http://schemas.microsoft.com/office/drawing/2014/main" id="{74C8AB71-B6BA-102A-405E-6545D7590F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pt-BR" sz="1400" dirty="0"/>
              <a:t>Personal </a:t>
            </a:r>
            <a:r>
              <a:rPr lang="pt-BR" sz="1400" dirty="0" err="1"/>
              <a:t>Knowledge</a:t>
            </a:r>
            <a:r>
              <a:rPr lang="pt-BR" sz="1400" dirty="0"/>
              <a:t> Network</a:t>
            </a:r>
            <a:br>
              <a:rPr lang="pt-BR" sz="1400" dirty="0"/>
            </a:br>
            <a:r>
              <a:rPr lang="pt-BR" sz="4000" dirty="0" err="1"/>
              <a:t>Knowledge</a:t>
            </a:r>
            <a:r>
              <a:rPr lang="pt-BR" sz="4000" dirty="0"/>
              <a:t> </a:t>
            </a:r>
            <a:r>
              <a:rPr lang="pt-BR" sz="4000" dirty="0" err="1"/>
              <a:t>Ecologies</a:t>
            </a:r>
            <a:endParaRPr lang="pt-BR" sz="36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C9733039-6DA5-0F29-63EB-457BD0CBA97A}"/>
              </a:ext>
            </a:extLst>
          </p:cNvPr>
          <p:cNvSpPr/>
          <p:nvPr/>
        </p:nvSpPr>
        <p:spPr>
          <a:xfrm>
            <a:off x="680489" y="1234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Community of Practice — CoP (Wenger, 1998)</a:t>
            </a:r>
            <a:endParaRPr lang="en-US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3EF2D199-D734-47F4-B71B-DB98BBDA0DA9}"/>
              </a:ext>
            </a:extLst>
          </p:cNvPr>
          <p:cNvSpPr/>
          <p:nvPr/>
        </p:nvSpPr>
        <p:spPr>
          <a:xfrm>
            <a:off x="680489" y="1536192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requer engajamento mútuo, domínio compartilhado e repertório comum — membership definida e identidade coletiva negociada</a:t>
            </a:r>
            <a:endParaRPr lang="en-US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ecology: sem fronteiras fixas, sem repertório obrigatório, sem engajamento mútuo formal — mais heterogênea, fluida e autônoma; cada participante sustenta e prioriza sua PKN, não a comunidade</a:t>
            </a:r>
            <a:endParaRPr lang="en-US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48F0274-96C7-14C3-95E8-127D90FBEDA9}"/>
              </a:ext>
            </a:extLst>
          </p:cNvPr>
          <p:cNvSpPr/>
          <p:nvPr/>
        </p:nvSpPr>
        <p:spPr>
          <a:xfrm>
            <a:off x="680489" y="27889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 sz="160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047F1079-0245-12C3-DD5E-B53658A285ED}"/>
              </a:ext>
            </a:extLst>
          </p:cNvPr>
          <p:cNvSpPr/>
          <p:nvPr/>
        </p:nvSpPr>
        <p:spPr>
          <a:xfrm>
            <a:off x="680489" y="28986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Knot (Engeström et al., 1999)</a:t>
            </a:r>
            <a:endParaRPr lang="en-US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C8C04240-18E8-4BC1-D2B8-EB0A0E513314}"/>
              </a:ext>
            </a:extLst>
          </p:cNvPr>
          <p:cNvSpPr/>
          <p:nvPr/>
        </p:nvSpPr>
        <p:spPr>
          <a:xfrm>
            <a:off x="680489" y="32004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Knots: combinações situação-dependentes e de curta duração de pessoas, tarefas e ferramentas para executar trabalho colaborativo — temporários e task-driven, com papéis relativamente predefinidos</a:t>
            </a:r>
            <a:endParaRPr lang="en-US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ecology: relações de longo prazo, papéis dinâmicos e não predefinidos; a ecologia persiste e evolui além de tarefas específicas</a:t>
            </a:r>
            <a:endParaRPr lang="en-US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C20983E-5653-96AB-BBA1-493EE0342FB1}"/>
              </a:ext>
            </a:extLst>
          </p:cNvPr>
          <p:cNvSpPr/>
          <p:nvPr/>
        </p:nvSpPr>
        <p:spPr>
          <a:xfrm>
            <a:off x="680489" y="4453128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 sz="160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4379CAF0-91BC-D141-F95B-CA5C42C74CD1}"/>
              </a:ext>
            </a:extLst>
          </p:cNvPr>
          <p:cNvSpPr/>
          <p:nvPr/>
        </p:nvSpPr>
        <p:spPr>
          <a:xfrm>
            <a:off x="680489" y="456285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Intensional Network (Nardi et al., 2002)</a:t>
            </a:r>
            <a:endParaRPr lang="en-US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30371E76-BA41-E375-338B-81280027CD05}"/>
              </a:ext>
            </a:extLst>
          </p:cNvPr>
          <p:cNvSpPr/>
          <p:nvPr/>
        </p:nvSpPr>
        <p:spPr>
          <a:xfrm>
            <a:off x="680489" y="4864608"/>
            <a:ext cx="8229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Intensional networks: redes sociais pessoais que o trabalhador aciona para executar tarefas — foco exclusivo no nível externo (quem o worker contata)</a:t>
            </a:r>
            <a:endParaRPr lang="en-US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ecology: abrange também o nível conceitual/interno — as theories-in-use que as redes intencionais ignoram; PKNs são mais abrangentes que intensional networks</a:t>
            </a:r>
            <a:endParaRPr lang="en-US" dirty="0"/>
          </a:p>
        </p:txBody>
      </p:sp>
      <p:sp>
        <p:nvSpPr>
          <p:cNvPr id="11" name="Google Shape;83;p11">
            <a:extLst>
              <a:ext uri="{FF2B5EF4-FFF2-40B4-BE49-F238E27FC236}">
                <a16:creationId xmlns:a16="http://schemas.microsoft.com/office/drawing/2014/main" id="{062E9DFA-F5E6-D25D-8C14-05FB3A3402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12</a:t>
            </a:fld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2884638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8D63802F-7A79-C23B-F9D4-007D5EEB7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83;p11">
            <a:extLst>
              <a:ext uri="{FF2B5EF4-FFF2-40B4-BE49-F238E27FC236}">
                <a16:creationId xmlns:a16="http://schemas.microsoft.com/office/drawing/2014/main" id="{0DEC55B9-00C7-C36F-D888-FE78042C33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13</a:t>
            </a:fld>
            <a:endParaRPr lang="pt-BR" sz="240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9D9D25F-87E3-13B0-D4E4-A0927BED8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2736"/>
            <a:ext cx="77724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27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5E05D311-A187-7BD6-439D-784BC58BC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>
            <a:extLst>
              <a:ext uri="{FF2B5EF4-FFF2-40B4-BE49-F238E27FC236}">
                <a16:creationId xmlns:a16="http://schemas.microsoft.com/office/drawing/2014/main" id="{62F9CAB1-A62D-B850-C4E3-B0675C9660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pt-BR" sz="3200" dirty="0"/>
              <a:t>KM </a:t>
            </a:r>
            <a:r>
              <a:rPr lang="pt-BR" sz="3200" dirty="0" err="1"/>
              <a:t>x</a:t>
            </a:r>
            <a:r>
              <a:rPr lang="pt-BR" sz="3200" dirty="0"/>
              <a:t> PKM </a:t>
            </a:r>
            <a:r>
              <a:rPr lang="pt-BR" sz="3200" dirty="0" err="1"/>
              <a:t>x</a:t>
            </a:r>
            <a:r>
              <a:rPr lang="pt-BR" sz="3200" dirty="0"/>
              <a:t> PKN</a:t>
            </a:r>
            <a:endParaRPr lang="pt-BR" sz="66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92CBE32F-E4F5-0DEB-9782-BF18B90378D6}"/>
              </a:ext>
            </a:extLst>
          </p:cNvPr>
          <p:cNvSpPr/>
          <p:nvPr/>
        </p:nvSpPr>
        <p:spPr>
          <a:xfrm>
            <a:off x="365760" y="1234440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Tradicional</a:t>
            </a:r>
            <a:endParaRPr lang="en-US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B6097BD8-D4D6-D38F-CE24-F0A0E38666C9}"/>
              </a:ext>
            </a:extLst>
          </p:cNvPr>
          <p:cNvSpPr/>
          <p:nvPr/>
        </p:nvSpPr>
        <p:spPr>
          <a:xfrm>
            <a:off x="365760" y="153619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as a Thing / Process</a:t>
            </a:r>
            <a:endParaRPr lang="en-US" sz="10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7CDB1AA3-5CB4-879D-4398-E49DEDB05B8E}"/>
              </a:ext>
            </a:extLst>
          </p:cNvPr>
          <p:cNvSpPr/>
          <p:nvPr/>
        </p:nvSpPr>
        <p:spPr>
          <a:xfrm>
            <a:off x="3246120" y="1234440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PKM</a:t>
            </a:r>
            <a:endParaRPr lang="en-US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76D7CA74-EA28-C60D-EB0B-FFE1DE7BFF7F}"/>
              </a:ext>
            </a:extLst>
          </p:cNvPr>
          <p:cNvSpPr/>
          <p:nvPr/>
        </p:nvSpPr>
        <p:spPr>
          <a:xfrm>
            <a:off x="3246120" y="153619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as a Process (individual)</a:t>
            </a:r>
            <a:endParaRPr lang="en-US" sz="10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3C4BBF3F-BE96-EF5E-75FD-44B2FE13F893}"/>
              </a:ext>
            </a:extLst>
          </p:cNvPr>
          <p:cNvSpPr/>
          <p:nvPr/>
        </p:nvSpPr>
        <p:spPr>
          <a:xfrm>
            <a:off x="6126480" y="1234440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PKN</a:t>
            </a:r>
            <a:endParaRPr lang="en-US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683366BF-44A2-9148-BAB0-D79CD8767438}"/>
              </a:ext>
            </a:extLst>
          </p:cNvPr>
          <p:cNvSpPr/>
          <p:nvPr/>
        </p:nvSpPr>
        <p:spPr>
          <a:xfrm>
            <a:off x="6126480" y="153619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as a Personal Network</a:t>
            </a:r>
            <a:endParaRPr lang="en-US" sz="10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91D20575-8B0E-CC3A-5E88-A3743A16EC35}"/>
              </a:ext>
            </a:extLst>
          </p:cNvPr>
          <p:cNvSpPr/>
          <p:nvPr/>
        </p:nvSpPr>
        <p:spPr>
          <a:xfrm>
            <a:off x="3154680" y="1234440"/>
            <a:ext cx="0" cy="521208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pt-BR" sz="160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CE87C4CC-8646-2AC7-A435-03A3B1A9C5F9}"/>
              </a:ext>
            </a:extLst>
          </p:cNvPr>
          <p:cNvSpPr/>
          <p:nvPr/>
        </p:nvSpPr>
        <p:spPr>
          <a:xfrm>
            <a:off x="6035040" y="1234440"/>
            <a:ext cx="0" cy="521208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pt-BR" sz="160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90C5ABC4-D4B2-3F2B-96BB-14A2654C96A0}"/>
              </a:ext>
            </a:extLst>
          </p:cNvPr>
          <p:cNvSpPr/>
          <p:nvPr/>
        </p:nvSpPr>
        <p:spPr>
          <a:xfrm>
            <a:off x="365760" y="1874520"/>
            <a:ext cx="265176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Repositórios e tecnologia no centro</a:t>
            </a:r>
            <a:endParaRPr lang="en-US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top-down e predeterminada</a:t>
            </a:r>
            <a:endParaRPr lang="en-US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tácito ignorado</a:t>
            </a:r>
            <a:endParaRPr lang="en-US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como unidade de análise</a:t>
            </a:r>
            <a:endParaRPr lang="en-US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como problema de TI</a:t>
            </a:r>
            <a:endParaRPr lang="en-US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Maioria das iniciativas fracassou</a:t>
            </a:r>
            <a:endParaRPr lang="en-US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A6DF7144-4952-B73D-7A9E-6A394BD190D4}"/>
              </a:ext>
            </a:extLst>
          </p:cNvPr>
          <p:cNvSpPr/>
          <p:nvPr/>
        </p:nvSpPr>
        <p:spPr>
          <a:xfrm>
            <a:off x="3246120" y="1874520"/>
            <a:ext cx="265176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 foco para o indivíduo</a:t>
            </a:r>
            <a:endParaRPr lang="en-US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visão processual — ainda linear</a:t>
            </a:r>
            <a:endParaRPr lang="en-US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arcabouço teórico unificado</a:t>
            </a:r>
            <a:endParaRPr lang="en-US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integra PKM e OKM</a:t>
            </a:r>
            <a:endParaRPr lang="en-US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 complexidade e emergência</a:t>
            </a:r>
            <a:endParaRPr lang="en-US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Descreve, mas não fundamenta</a:t>
            </a:r>
            <a:endParaRPr lang="en-US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094AB6F8-49E5-CFE9-1D5B-B0E5DADB9E49}"/>
              </a:ext>
            </a:extLst>
          </p:cNvPr>
          <p:cNvSpPr/>
          <p:nvPr/>
        </p:nvSpPr>
        <p:spPr>
          <a:xfrm>
            <a:off x="6126480" y="1874520"/>
            <a:ext cx="265176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como rede pessoal adaptativa</a:t>
            </a:r>
            <a:endParaRPr lang="en-US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nível externo e interno (theories-in-use)</a:t>
            </a:r>
            <a:endParaRPr lang="en-US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Double-loop learning como motor</a:t>
            </a:r>
            <a:endParaRPr lang="en-US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PKM e OKM convergem no knowledge worker</a:t>
            </a:r>
            <a:endParaRPr lang="en-US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ecologies: ambiente emergente</a:t>
            </a:r>
            <a:endParaRPr lang="en-US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Fundamentado em Argyris &amp; Schön, Holland</a:t>
            </a:r>
            <a:endParaRPr lang="en-US" dirty="0"/>
          </a:p>
        </p:txBody>
      </p:sp>
      <p:sp>
        <p:nvSpPr>
          <p:cNvPr id="21" name="Google Shape;83;p11">
            <a:extLst>
              <a:ext uri="{FF2B5EF4-FFF2-40B4-BE49-F238E27FC236}">
                <a16:creationId xmlns:a16="http://schemas.microsoft.com/office/drawing/2014/main" id="{1463E230-FDA3-BA09-DF28-DFCDAC0638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14</a:t>
            </a:fld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160340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ctrTitle"/>
          </p:nvPr>
        </p:nvSpPr>
        <p:spPr>
          <a:xfrm>
            <a:off x="2835445" y="1457896"/>
            <a:ext cx="6191137" cy="259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rmAutofit/>
          </a:bodyPr>
          <a:lstStyle/>
          <a:p>
            <a:r>
              <a:rPr lang="pt-BR"/>
              <a:t>FIM</a:t>
            </a:r>
            <a:endParaRPr/>
          </a:p>
        </p:txBody>
      </p:sp>
      <p:sp>
        <p:nvSpPr>
          <p:cNvPr id="161" name="Google Shape;161;p23"/>
          <p:cNvSpPr txBox="1">
            <a:spLocks noGrp="1"/>
          </p:cNvSpPr>
          <p:nvPr>
            <p:ph type="subTitle" idx="1"/>
          </p:nvPr>
        </p:nvSpPr>
        <p:spPr>
          <a:xfrm>
            <a:off x="2835445" y="4167794"/>
            <a:ext cx="6217114" cy="676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pt-BR"/>
              <a:t>Obrigado pela sua atenção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>
            <a:spLocks noGrp="1"/>
          </p:cNvSpPr>
          <p:nvPr>
            <p:ph type="body" idx="1"/>
          </p:nvPr>
        </p:nvSpPr>
        <p:spPr>
          <a:xfrm>
            <a:off x="117418" y="1983321"/>
            <a:ext cx="8935142" cy="3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</p:txBody>
      </p:sp>
      <p:sp>
        <p:nvSpPr>
          <p:cNvPr id="169" name="Google Shape;169;p24"/>
          <p:cNvSpPr txBox="1">
            <a:spLocks noGrp="1"/>
          </p:cNvSpPr>
          <p:nvPr>
            <p:ph type="sldNum" idx="12"/>
          </p:nvPr>
        </p:nvSpPr>
        <p:spPr>
          <a:xfrm>
            <a:off x="6399736" y="639005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fld id="{00000000-1234-1234-1234-123412341234}" type="slidenum">
              <a:rPr lang="pt-BR"/>
              <a:pPr/>
              <a:t>16</a:t>
            </a:fld>
            <a:endParaRPr dirty="0"/>
          </a:p>
        </p:txBody>
      </p:sp>
      <p:sp>
        <p:nvSpPr>
          <p:cNvPr id="170" name="Google Shape;170;p24"/>
          <p:cNvSpPr txBox="1">
            <a:spLocks noGrp="1"/>
          </p:cNvSpPr>
          <p:nvPr>
            <p:ph type="title"/>
          </p:nvPr>
        </p:nvSpPr>
        <p:spPr>
          <a:xfrm>
            <a:off x="866602" y="906887"/>
            <a:ext cx="8185958" cy="1000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5400"/>
            </a:pPr>
            <a:r>
              <a:rPr lang="pt-BR"/>
              <a:t>Bibliografia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BDD2AA-E01E-1A84-F63C-E2A066EFD6D5}"/>
              </a:ext>
            </a:extLst>
          </p:cNvPr>
          <p:cNvSpPr txBox="1"/>
          <p:nvPr/>
        </p:nvSpPr>
        <p:spPr>
          <a:xfrm>
            <a:off x="205209" y="1914558"/>
            <a:ext cx="87335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Mohamed Amine Chatti, (2012) "Knowledge management: a personal knowledge network perspective", Journal of Knowledge Management,</a:t>
            </a:r>
            <a:endParaRPr lang="en-US" dirty="0"/>
          </a:p>
          <a:p>
            <a:r>
              <a:rPr lang="en-US" i="1" dirty="0"/>
              <a:t>Vol. 16 Issue: 5, pp.829-844, https://</a:t>
            </a:r>
            <a:r>
              <a:rPr lang="en-US" i="1" dirty="0" err="1"/>
              <a:t>doi.org</a:t>
            </a:r>
            <a:r>
              <a:rPr lang="en-US" i="1" dirty="0"/>
              <a:t>/10.1108/13673271211262835</a:t>
            </a:r>
            <a:endParaRPr lang="en-US" dirty="0"/>
          </a:p>
          <a:p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2103</Words>
  <Application>Microsoft Macintosh PowerPoint</Application>
  <PresentationFormat>On-screen Show (4:3)</PresentationFormat>
  <Paragraphs>154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Fira Sans</vt:lpstr>
      <vt:lpstr>Calibri</vt:lpstr>
      <vt:lpstr>Office Theme</vt:lpstr>
      <vt:lpstr>Knowledge management: a personal knowledge network perspective</vt:lpstr>
      <vt:lpstr>Objetivo</vt:lpstr>
      <vt:lpstr>Panorama e motivação</vt:lpstr>
      <vt:lpstr>Knowledge as a thing</vt:lpstr>
      <vt:lpstr>Knowledge as a process</vt:lpstr>
      <vt:lpstr>Deficiências Sistêmicas</vt:lpstr>
      <vt:lpstr>Personal Knowledge Management</vt:lpstr>
      <vt:lpstr>Personal Knowledge Network</vt:lpstr>
      <vt:lpstr>Personal Knowledge Network</vt:lpstr>
      <vt:lpstr>Personal Knowledge Network Single-Loop vs. Double-Loop Learning</vt:lpstr>
      <vt:lpstr>Personal Knowledge Network Knowledge Ecologies</vt:lpstr>
      <vt:lpstr>Personal Knowledge Network Knowledge Ecologies</vt:lpstr>
      <vt:lpstr>PowerPoint Presentation</vt:lpstr>
      <vt:lpstr>KM x PKM x PKN</vt:lpstr>
      <vt:lpstr>FIM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João Pedro Barbosa dos Santos M. Silva</cp:lastModifiedBy>
  <cp:revision>1</cp:revision>
  <dcterms:modified xsi:type="dcterms:W3CDTF">2026-03-26T16:06:56Z</dcterms:modified>
</cp:coreProperties>
</file>