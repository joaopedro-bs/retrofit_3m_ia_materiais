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8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</p:sldIdLst>
  <p:sldSz cx="9144000" cy="6858000" type="screen4x3"/>
  <p:notesSz cx="6858000" cy="9144000"/>
  <p:embeddedFontLst>
    <p:embeddedFont>
      <p:font typeface="Fira Sans" panose="020B05030500000200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276"/>
    <p:restoredTop sz="94673"/>
  </p:normalViewPr>
  <p:slideViewPr>
    <p:cSldViewPr snapToGrid="0">
      <p:cViewPr>
        <p:scale>
          <a:sx n="62" d="100"/>
          <a:sy n="62" d="100"/>
        </p:scale>
        <p:origin x="144" y="1624"/>
      </p:cViewPr>
      <p:guideLst/>
    </p:cSldViewPr>
  </p:slideViewPr>
  <p:outlineViewPr>
    <p:cViewPr>
      <p:scale>
        <a:sx n="33" d="100"/>
        <a:sy n="33" d="100"/>
      </p:scale>
      <p:origin x="-48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21" Type="http://schemas.openxmlformats.org/officeDocument/2006/relationships/font" Target="fonts/font3.fntdata"/><Relationship Id="rId25" Type="http://schemas.openxmlformats.org/officeDocument/2006/relationships/theme" Target="theme/theme1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19" Type="http://schemas.openxmlformats.org/officeDocument/2006/relationships/font" Target="fonts/font1.fntdata"/><Relationship Id="rId22" Type="http://schemas.openxmlformats.org/officeDocument/2006/relationships/font" Target="fonts/font4.fntdata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2835445" y="800861"/>
            <a:ext cx="6191137" cy="346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6000"/>
              <a:buFont typeface="Fira Sans"/>
              <a:buNone/>
              <a:defRPr sz="4500"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2835445" y="4414058"/>
            <a:ext cx="6217114" cy="90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>
                <a:solidFill>
                  <a:srgbClr val="38415C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pic>
        <p:nvPicPr>
          <p:cNvPr id="21" name="Google Shape;21;p2" descr="A picture containing draw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19096" y="219583"/>
            <a:ext cx="1350000" cy="777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 descr="A picture containing diagram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2" y="219583"/>
            <a:ext cx="3229658" cy="5515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19689" y="-45213"/>
            <a:ext cx="1624312" cy="1307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3200"/>
              <a:buChar char="•"/>
              <a:defRPr sz="2400">
                <a:solidFill>
                  <a:srgbClr val="38415C"/>
                </a:solidFill>
              </a:defRPr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sz="2100">
                <a:solidFill>
                  <a:srgbClr val="38415C"/>
                </a:solidFill>
              </a:defRPr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sz="1800">
                <a:solidFill>
                  <a:srgbClr val="38415C"/>
                </a:solidFill>
              </a:defRPr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701370BF-C132-A715-D273-78D75983D6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4D55328F-AD34-6CA6-9477-5EF26BE4E3BF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94E57D7B-F424-A53D-4E48-4083B901B5B3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156408" y="1500884"/>
            <a:ext cx="432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4732559" y="1500884"/>
            <a:ext cx="432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0762D070-8A19-B8CB-B343-A2D04F195B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6B296B81-4886-2FF3-AF57-6A1207AEBE18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F9437BE5-C60A-6BCA-BA8A-841AEA1C2DC3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4732559" y="1500884"/>
            <a:ext cx="4320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2" name="Google Shape;10;p1">
            <a:extLst>
              <a:ext uri="{FF2B5EF4-FFF2-40B4-BE49-F238E27FC236}">
                <a16:creationId xmlns:a16="http://schemas.microsoft.com/office/drawing/2014/main" id="{4454396F-23D7-D04C-3368-44359CAC864A}"/>
              </a:ext>
            </a:extLst>
          </p:cNvPr>
          <p:cNvSpPr/>
          <p:nvPr userDrawn="1"/>
        </p:nvSpPr>
        <p:spPr>
          <a:xfrm>
            <a:off x="0" y="6211798"/>
            <a:ext cx="9144000" cy="646203"/>
          </a:xfrm>
          <a:prstGeom prst="rect">
            <a:avLst/>
          </a:prstGeom>
          <a:solidFill>
            <a:srgbClr val="38415C"/>
          </a:solidFill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1">
            <a:extLst>
              <a:ext uri="{FF2B5EF4-FFF2-40B4-BE49-F238E27FC236}">
                <a16:creationId xmlns:a16="http://schemas.microsoft.com/office/drawing/2014/main" id="{A5D92E09-6D01-9E0A-D825-4C52C4B7C8B3}"/>
              </a:ext>
            </a:extLst>
          </p:cNvPr>
          <p:cNvSpPr txBox="1">
            <a:spLocks/>
          </p:cNvSpPr>
          <p:nvPr userDrawn="1"/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125D206B-8316-FB78-11AD-FED01E65613A}"/>
              </a:ext>
            </a:extLst>
          </p:cNvPr>
          <p:cNvSpPr txBox="1">
            <a:spLocks/>
          </p:cNvSpPr>
          <p:nvPr userDrawn="1"/>
        </p:nvSpPr>
        <p:spPr>
          <a:xfrm>
            <a:off x="2778576" y="6368186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  <p:sp>
        <p:nvSpPr>
          <p:cNvPr id="5" name="Google Shape;15;p1">
            <a:extLst>
              <a:ext uri="{FF2B5EF4-FFF2-40B4-BE49-F238E27FC236}">
                <a16:creationId xmlns:a16="http://schemas.microsoft.com/office/drawing/2014/main" id="{A7B5C549-B1B2-5631-7949-581BFCF7D0A9}"/>
              </a:ext>
            </a:extLst>
          </p:cNvPr>
          <p:cNvSpPr txBox="1">
            <a:spLocks/>
          </p:cNvSpPr>
          <p:nvPr userDrawn="1"/>
        </p:nvSpPr>
        <p:spPr>
          <a:xfrm>
            <a:off x="6295851" y="636818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46B270FB-0C54-A54F-867B-58A7B95C958C}" type="slidenum">
              <a:rPr lang="pt-BR" smtClean="0"/>
              <a:pPr/>
              <a:t>‹#›</a:t>
            </a:fld>
            <a:endParaRPr lang="pt-BR" sz="2400" dirty="0"/>
          </a:p>
        </p:txBody>
      </p:sp>
      <p:sp>
        <p:nvSpPr>
          <p:cNvPr id="6" name="Google Shape;17;p1">
            <a:extLst>
              <a:ext uri="{FF2B5EF4-FFF2-40B4-BE49-F238E27FC236}">
                <a16:creationId xmlns:a16="http://schemas.microsoft.com/office/drawing/2014/main" id="{23BC0789-0241-F5FA-8256-903089131E1A}"/>
              </a:ext>
            </a:extLst>
          </p:cNvPr>
          <p:cNvSpPr txBox="1"/>
          <p:nvPr userDrawn="1"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/XX</a:t>
            </a:r>
            <a:endParaRPr sz="10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body" idx="1"/>
          </p:nvPr>
        </p:nvSpPr>
        <p:spPr>
          <a:xfrm>
            <a:off x="172394" y="1530777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2"/>
          </p:nvPr>
        </p:nvSpPr>
        <p:spPr>
          <a:xfrm>
            <a:off x="172394" y="2184437"/>
            <a:ext cx="4320000" cy="393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b="0"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b="0"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b="0"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3"/>
          </p:nvPr>
        </p:nvSpPr>
        <p:spPr>
          <a:xfrm>
            <a:off x="4732559" y="1535885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4"/>
          </p:nvPr>
        </p:nvSpPr>
        <p:spPr>
          <a:xfrm>
            <a:off x="4732559" y="2184437"/>
            <a:ext cx="4320000" cy="393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83;p11">
            <a:extLst>
              <a:ext uri="{FF2B5EF4-FFF2-40B4-BE49-F238E27FC236}">
                <a16:creationId xmlns:a16="http://schemas.microsoft.com/office/drawing/2014/main" id="{B0388D56-D47A-FC41-3073-20A543FD14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11" name="Google Shape;13;p1">
            <a:extLst>
              <a:ext uri="{FF2B5EF4-FFF2-40B4-BE49-F238E27FC236}">
                <a16:creationId xmlns:a16="http://schemas.microsoft.com/office/drawing/2014/main" id="{E72668BE-7256-A05E-F820-422C9F991256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12" name="Google Shape;14;p1">
            <a:extLst>
              <a:ext uri="{FF2B5EF4-FFF2-40B4-BE49-F238E27FC236}">
                <a16:creationId xmlns:a16="http://schemas.microsoft.com/office/drawing/2014/main" id="{0D83C5E2-8FC9-487A-E9AE-CB77F613FCCA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MARTINS, J.P.B.; COSTA, V.C.F.; LOPES, E. Retrofit do Modelo 3M de Universidade Corporativa: Reinterpretação de seus Três Pilares à Luz da Inteligência Artificial. CPS831/PESC/COPPE-UFRJ, 2026.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172394" y="1530777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2"/>
          </p:nvPr>
        </p:nvSpPr>
        <p:spPr>
          <a:xfrm>
            <a:off x="172394" y="2184437"/>
            <a:ext cx="4320000" cy="393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b="0"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b="0"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b="0"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 b="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9DA6CF24-B0F2-AF5A-856B-1EA966B0FF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BAE9BA02-0D58-DF37-A906-D30C7C67798C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44C7ADF8-4551-764D-3FAB-EBEF4DF33E09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mparison">
  <p:cSld name="2_Comparis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4732559" y="1535885"/>
            <a:ext cx="4320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2"/>
          </p:nvPr>
        </p:nvSpPr>
        <p:spPr>
          <a:xfrm>
            <a:off x="4732559" y="2184437"/>
            <a:ext cx="4320000" cy="393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>
                <a:solidFill>
                  <a:srgbClr val="38415C"/>
                </a:solidFill>
              </a:defRPr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>
                <a:solidFill>
                  <a:srgbClr val="38415C"/>
                </a:solidFill>
              </a:defRPr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>
                <a:solidFill>
                  <a:srgbClr val="38415C"/>
                </a:solidFill>
              </a:defRPr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1800"/>
              <a:buChar char="•"/>
              <a:defRPr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CA122395-EAF2-42E9-C7F2-8364D3F6D7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B3ED0C8E-80E8-2251-F3D7-7F2360B109DB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352FC943-040A-056D-98FF-91ED5D8862EE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inição">
  <p:cSld name="Definição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4800"/>
              <a:buNone/>
              <a:defRPr sz="3600" b="1">
                <a:solidFill>
                  <a:srgbClr val="38415C"/>
                </a:solidFill>
              </a:defRPr>
            </a:lvl1pPr>
            <a:lvl2pPr marL="685800" lvl="1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3200"/>
              <a:buNone/>
              <a:defRPr sz="2400" b="0">
                <a:solidFill>
                  <a:srgbClr val="38415C"/>
                </a:solidFill>
              </a:defRPr>
            </a:lvl2pPr>
            <a:lvl3pPr marL="1028700" lvl="2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800"/>
              <a:buNone/>
              <a:defRPr sz="2100" b="0">
                <a:solidFill>
                  <a:srgbClr val="38415C"/>
                </a:solidFill>
              </a:defRPr>
            </a:lvl3pPr>
            <a:lvl4pPr marL="1371600" lvl="3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0">
                <a:solidFill>
                  <a:srgbClr val="38415C"/>
                </a:solidFill>
              </a:defRPr>
            </a:lvl4pPr>
            <a:lvl5pPr marL="1714500" lvl="4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2400"/>
              <a:buNone/>
              <a:defRPr sz="1800" b="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3" name="Google Shape;13;p1">
            <a:extLst>
              <a:ext uri="{FF2B5EF4-FFF2-40B4-BE49-F238E27FC236}">
                <a16:creationId xmlns:a16="http://schemas.microsoft.com/office/drawing/2014/main" id="{A4D840F7-DE08-E41F-FF27-B1A0CFEAA4DB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5C662F7D-C3F7-EB9A-A9AC-52533FC28CD7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MARTINS, J.P.B.; COSTA, V.C.F.; LOPES, E. Retrofit do Modelo 3M de Universidade Corporativa: Reinterpretação de seus Três Pilares à Luz da Inteligência Artificial. CPS831/PESC/COPPE-UFRJ, 2026.</a:t>
            </a:r>
          </a:p>
        </p:txBody>
      </p:sp>
      <p:sp>
        <p:nvSpPr>
          <p:cNvPr id="6" name="Google Shape;17;p1">
            <a:extLst>
              <a:ext uri="{FF2B5EF4-FFF2-40B4-BE49-F238E27FC236}">
                <a16:creationId xmlns:a16="http://schemas.microsoft.com/office/drawing/2014/main" id="{C780B7C7-BF3B-09ED-7D49-9212BC9FBF81}"/>
              </a:ext>
            </a:extLst>
          </p:cNvPr>
          <p:cNvSpPr txBox="1"/>
          <p:nvPr userDrawn="1"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/18</a:t>
            </a:r>
            <a:endParaRPr sz="105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a de Definições">
  <p:cSld name="Lista de Definiçõe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8415C"/>
              </a:buClr>
              <a:buSzPts val="3200"/>
              <a:buChar char="•"/>
              <a:defRPr sz="2400" b="1">
                <a:solidFill>
                  <a:srgbClr val="38415C"/>
                </a:solidFill>
              </a:defRPr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800"/>
              <a:buChar char="•"/>
              <a:defRPr sz="2100">
                <a:solidFill>
                  <a:srgbClr val="38415C"/>
                </a:solidFill>
              </a:defRPr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400"/>
              <a:buChar char="•"/>
              <a:defRPr sz="1800">
                <a:solidFill>
                  <a:srgbClr val="38415C"/>
                </a:solidFill>
              </a:defRPr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38415C"/>
              </a:buClr>
              <a:buSzPts val="2000"/>
              <a:buChar char="•"/>
              <a:defRPr sz="1500">
                <a:solidFill>
                  <a:srgbClr val="38415C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23AA0777-A0AA-857E-E4DD-23723AA80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B5912525-BC0A-DCBA-A8A8-8116AE52F6C1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B3ED1E57-7533-4BCE-95DE-9F8FEA4709F0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>
                <a:solidFill>
                  <a:srgbClr val="3841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83;p11">
            <a:extLst>
              <a:ext uri="{FF2B5EF4-FFF2-40B4-BE49-F238E27FC236}">
                <a16:creationId xmlns:a16="http://schemas.microsoft.com/office/drawing/2014/main" id="{112471AE-902F-88F5-FB83-1C4E1D519B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8" name="Google Shape;13;p1">
            <a:extLst>
              <a:ext uri="{FF2B5EF4-FFF2-40B4-BE49-F238E27FC236}">
                <a16:creationId xmlns:a16="http://schemas.microsoft.com/office/drawing/2014/main" id="{17A17315-56DB-5D15-ECEF-02725F32377D}"/>
              </a:ext>
            </a:extLst>
          </p:cNvPr>
          <p:cNvSpPr txBox="1">
            <a:spLocks/>
          </p:cNvSpPr>
          <p:nvPr userDrawn="1"/>
        </p:nvSpPr>
        <p:spPr>
          <a:xfrm>
            <a:off x="172583" y="6368185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9" name="Google Shape;14;p1">
            <a:extLst>
              <a:ext uri="{FF2B5EF4-FFF2-40B4-BE49-F238E27FC236}">
                <a16:creationId xmlns:a16="http://schemas.microsoft.com/office/drawing/2014/main" id="{41AC2F66-A186-23A5-3DB7-A7900C58377A}"/>
              </a:ext>
            </a:extLst>
          </p:cNvPr>
          <p:cNvSpPr txBox="1">
            <a:spLocks/>
          </p:cNvSpPr>
          <p:nvPr userDrawn="1"/>
        </p:nvSpPr>
        <p:spPr>
          <a:xfrm>
            <a:off x="2715758" y="636818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MARTINS, J.P.B.; COSTA, V.C.F.; LOPES, E. Retrofit do Modelo 3M de Universidade Corporativa: Reinterpretação de seus Três Pilares à Luz da Inteligência Artificial. CPS831/PESC/COPPE-UFRJ, 2026.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dt" idx="10"/>
          </p:nvPr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6600825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‹#›</a:t>
            </a:fld>
            <a:endParaRPr lang="pt-BR" sz="2400"/>
          </a:p>
        </p:txBody>
      </p:sp>
      <p:sp>
        <p:nvSpPr>
          <p:cNvPr id="2" name="Google Shape;10;p1">
            <a:extLst>
              <a:ext uri="{FF2B5EF4-FFF2-40B4-BE49-F238E27FC236}">
                <a16:creationId xmlns:a16="http://schemas.microsoft.com/office/drawing/2014/main" id="{54F14818-85ED-5EDB-341B-FDDE13A16E76}"/>
              </a:ext>
            </a:extLst>
          </p:cNvPr>
          <p:cNvSpPr/>
          <p:nvPr userDrawn="1"/>
        </p:nvSpPr>
        <p:spPr>
          <a:xfrm>
            <a:off x="0" y="6211798"/>
            <a:ext cx="9144000" cy="646203"/>
          </a:xfrm>
          <a:prstGeom prst="rect">
            <a:avLst/>
          </a:prstGeom>
          <a:solidFill>
            <a:srgbClr val="38415C"/>
          </a:solidFill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;p1">
            <a:extLst>
              <a:ext uri="{FF2B5EF4-FFF2-40B4-BE49-F238E27FC236}">
                <a16:creationId xmlns:a16="http://schemas.microsoft.com/office/drawing/2014/main" id="{541749A7-2ED6-B601-3BAD-A19EFDB72887}"/>
              </a:ext>
            </a:extLst>
          </p:cNvPr>
          <p:cNvSpPr txBox="1">
            <a:spLocks/>
          </p:cNvSpPr>
          <p:nvPr userDrawn="1"/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João Barbosa Martins</a:t>
            </a:r>
            <a:br>
              <a:rPr lang="pt-BR"/>
            </a:br>
            <a:r>
              <a:rPr lang="pt-BR"/>
              <a:t>joaopedro@cos.ufrj.br</a:t>
            </a:r>
            <a:endParaRPr lang="pt-BR" dirty="0"/>
          </a:p>
        </p:txBody>
      </p:sp>
      <p:sp>
        <p:nvSpPr>
          <p:cNvPr id="4" name="Google Shape;14;p1">
            <a:extLst>
              <a:ext uri="{FF2B5EF4-FFF2-40B4-BE49-F238E27FC236}">
                <a16:creationId xmlns:a16="http://schemas.microsoft.com/office/drawing/2014/main" id="{2ACBB222-C48B-A68B-53AA-0FDF7B91F30F}"/>
              </a:ext>
            </a:extLst>
          </p:cNvPr>
          <p:cNvSpPr txBox="1">
            <a:spLocks/>
          </p:cNvSpPr>
          <p:nvPr userDrawn="1"/>
        </p:nvSpPr>
        <p:spPr>
          <a:xfrm>
            <a:off x="2778576" y="6368186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</a:p>
        </p:txBody>
      </p:sp>
      <p:sp>
        <p:nvSpPr>
          <p:cNvPr id="5" name="Google Shape;15;p1">
            <a:extLst>
              <a:ext uri="{FF2B5EF4-FFF2-40B4-BE49-F238E27FC236}">
                <a16:creationId xmlns:a16="http://schemas.microsoft.com/office/drawing/2014/main" id="{62DC56A7-0483-871C-AAB8-9B1C94E3007F}"/>
              </a:ext>
            </a:extLst>
          </p:cNvPr>
          <p:cNvSpPr txBox="1">
            <a:spLocks/>
          </p:cNvSpPr>
          <p:nvPr userDrawn="1"/>
        </p:nvSpPr>
        <p:spPr>
          <a:xfrm>
            <a:off x="6295851" y="636818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46B270FB-0C54-A54F-867B-58A7B95C958C}" type="slidenum">
              <a:rPr lang="pt-BR" smtClean="0"/>
              <a:pPr/>
              <a:t>‹#›</a:t>
            </a:fld>
            <a:endParaRPr lang="pt-BR" sz="2400" dirty="0"/>
          </a:p>
        </p:txBody>
      </p:sp>
      <p:sp>
        <p:nvSpPr>
          <p:cNvPr id="6" name="Google Shape;17;p1">
            <a:extLst>
              <a:ext uri="{FF2B5EF4-FFF2-40B4-BE49-F238E27FC236}">
                <a16:creationId xmlns:a16="http://schemas.microsoft.com/office/drawing/2014/main" id="{D17C2C70-76CF-A9A8-7D09-6FBABBF45555}"/>
              </a:ext>
            </a:extLst>
          </p:cNvPr>
          <p:cNvSpPr txBox="1"/>
          <p:nvPr userDrawn="1"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/XX</a:t>
            </a:r>
            <a:endParaRPr sz="105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_Blank">
  <p:cSld name="Full_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50">
  <p:cSld name="Logo50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28725" y="52388"/>
            <a:ext cx="6686550" cy="675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211798"/>
            <a:ext cx="9144000" cy="646203"/>
          </a:xfrm>
          <a:prstGeom prst="rect">
            <a:avLst/>
          </a:prstGeom>
          <a:solidFill>
            <a:srgbClr val="38415C"/>
          </a:solidFill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866601" y="66183"/>
            <a:ext cx="8185958" cy="133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415C"/>
              </a:buClr>
              <a:buSzPts val="5400"/>
              <a:buFont typeface="Fira Sans"/>
              <a:buNone/>
              <a:defRPr sz="5400" b="1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17417" y="1501428"/>
            <a:ext cx="8935142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415C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415C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117418" y="6350139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dirty="0"/>
              <a:t>João Barbosa Martins</a:t>
            </a:r>
            <a:br>
              <a:rPr lang="pt-BR" dirty="0"/>
            </a:br>
            <a:r>
              <a:rPr lang="pt-BR" dirty="0" err="1"/>
              <a:t>joaopedro@cos.ufrj.br</a:t>
            </a:r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778576" y="6368186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1" u="none" strike="noStrike" cap="none" dirty="0">
                <a:solidFill>
                  <a:srgbClr val="38415C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sz="900" i="0" dirty="0">
                <a:solidFill>
                  <a:srgbClr val="EB976D"/>
                </a:solidFill>
              </a:rPr>
              <a:t>Chatti, M.A. (2012). Knowledge management: a personal knowledge network perspective. Journal of Knowledge Management, 16(5), 829–844.</a:t>
            </a:r>
            <a:endParaRPr lang="en-US" sz="900" b="0" i="0" u="none" strike="noStrike" cap="none" dirty="0">
              <a:solidFill>
                <a:srgbClr val="EB976D"/>
              </a:solidFill>
              <a:latin typeface="Fira Sans"/>
              <a:sym typeface="Fira Sans"/>
            </a:endParaRPr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295851" y="6368186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0" marR="0" lvl="1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0" marR="0" lvl="2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0" marR="0" lvl="3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0" marR="0" lvl="4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0" marR="0" lvl="5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0" marR="0" lvl="6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0" marR="0" lvl="7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0" marR="0" lvl="8" indent="0" algn="r" rtl="0">
              <a:spcBef>
                <a:spcPts val="0"/>
              </a:spcBef>
              <a:buNone/>
              <a:defRPr sz="5400" b="1" i="0" u="none" strike="noStrike" cap="none">
                <a:solidFill>
                  <a:srgbClr val="EB976D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fld id="{46B270FB-0C54-A54F-867B-58A7B95C958C}" type="slidenum">
              <a:rPr lang="pt-BR" smtClean="0"/>
              <a:pPr/>
              <a:t>‹#›</a:t>
            </a:fld>
            <a:endParaRPr lang="pt-BR" sz="2400" dirty="0"/>
          </a:p>
        </p:txBody>
      </p:sp>
      <p:pic>
        <p:nvPicPr>
          <p:cNvPr id="16" name="Google Shape;16;p1" descr="A picture containing orange, light  Description automatically generate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7418" y="91016"/>
            <a:ext cx="775161" cy="132468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/>
        </p:nvSpPr>
        <p:spPr>
          <a:xfrm>
            <a:off x="8470669" y="6309681"/>
            <a:ext cx="555913" cy="482136"/>
          </a:xfrm>
          <a:prstGeom prst="rect">
            <a:avLst/>
          </a:prstGeom>
          <a:noFill/>
          <a:ln w="12700" cap="flat" cmpd="sng">
            <a:solidFill>
              <a:srgbClr val="38415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rgbClr val="EB976D"/>
                </a:solidFill>
                <a:latin typeface="Calibri"/>
                <a:ea typeface="Calibri"/>
                <a:cs typeface="Calibri"/>
                <a:sym typeface="Calibri"/>
              </a:rPr>
              <a:t>/18</a:t>
            </a:r>
            <a:endParaRPr sz="1050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00" b="0" i="0" u="none" strike="noStrike" cap="none" dirty="0">
          <a:solidFill>
            <a:srgbClr val="EB976D"/>
          </a:solidFill>
          <a:latin typeface="Fira Sans"/>
          <a:ea typeface="Fira Sans"/>
          <a:cs typeface="Arial"/>
          <a:sym typeface="Fira Sans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2800" dirty="0"/>
              <a:t>Retrofit do Modelo 3M de Universidade Corporativa: Reinterpretação de seus Três Pilares à Luz da Inteligência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1600" b="1" dirty="0"/>
              <a:t>Apresentação Final — CPS831 Gestão Aumentada do Conhecimento 5.0</a:t>
            </a:r>
          </a:p>
          <a:p>
            <a:r>
              <a:rPr lang="pt-BR" sz="1500" dirty="0"/>
              <a:t>João Pedro Barbosa Martins</a:t>
            </a:r>
          </a:p>
          <a:p>
            <a:r>
              <a:rPr lang="pt-BR" sz="1200" dirty="0"/>
              <a:t>Orientadoras: Viviane Cunha Farias da Costa e Emily Lopes — PESC/COPPE-UFRJ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900" b="1" dirty="0">
                <a:solidFill>
                  <a:srgbClr val="38415C"/>
                </a:solidFill>
              </a:rPr>
              <a:t>Contexto: Universidades Corporativas e o Modelo 3M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900" b="1" dirty="0">
                <a:solidFill>
                  <a:srgbClr val="38415C"/>
                </a:solidFill>
              </a:rPr>
              <a:t>O problema e a questão de pesquisa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900" b="1" dirty="0">
                <a:solidFill>
                  <a:srgbClr val="38415C"/>
                </a:solidFill>
              </a:rPr>
              <a:t>Referencial teórico (5 pilares)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900" b="1" dirty="0">
                <a:solidFill>
                  <a:srgbClr val="38415C"/>
                </a:solidFill>
              </a:rPr>
              <a:t>Metodologia: abordagem conceitual-construtiva e pipeline SLR-RAG agêntico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900" b="1" dirty="0">
                <a:solidFill>
                  <a:srgbClr val="38415C"/>
                </a:solidFill>
              </a:rPr>
              <a:t>Resultados: triagem sistemática, o Modelo 3M 5.0 e análise comparativa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900" b="1" dirty="0">
                <a:solidFill>
                  <a:srgbClr val="38415C"/>
                </a:solidFill>
              </a:rPr>
              <a:t>Discussão: contribuições e implicações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900" b="1" dirty="0">
                <a:solidFill>
                  <a:srgbClr val="38415C"/>
                </a:solidFill>
              </a:rPr>
              <a:t>Limitações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Contexto: Universidades Corporativas e o Modelo 3M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38415C"/>
                </a:solidFill>
              </a:rPr>
              <a:t>Universidades Corporativas (UCs) evoluíram de centros de treinamento operacional para estruturas estratégicas de alinhamento entre aprendizagem e objetivos de negócio.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>Modelo 3M (Costa, Oliveira e Souza, 2011)</a:t>
            </a:r>
            <a:r>
              <a:rPr lang="pt-BR" sz="1400" dirty="0">
                <a:solidFill>
                  <a:srgbClr val="38415C"/>
                </a:solidFill>
              </a:rPr>
              <a:t xml:space="preserve"> — estrutura organizada em três pilares:</a:t>
            </a:r>
          </a:p>
          <a:p>
            <a:pPr marL="742950" lvl="1" indent="-28575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 xml:space="preserve">Motive </a:t>
            </a:r>
            <a:r>
              <a:rPr lang="pt-BR" sz="1200" i="1" dirty="0">
                <a:solidFill>
                  <a:srgbClr val="38415C"/>
                </a:solidFill>
              </a:rPr>
              <a:t>(o porquê)</a:t>
            </a:r>
            <a:r>
              <a:rPr lang="pt-BR" sz="1200" dirty="0">
                <a:solidFill>
                  <a:srgbClr val="38415C"/>
                </a:solidFill>
              </a:rPr>
              <a:t xml:space="preserve"> — razões estratégicas e alinhamento da aprendizagem aos objetivos do negócio</a:t>
            </a:r>
          </a:p>
          <a:p>
            <a:pPr marL="742950" lvl="1" indent="-28575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 xml:space="preserve">Model </a:t>
            </a:r>
            <a:r>
              <a:rPr lang="pt-BR" sz="1200" i="1" dirty="0">
                <a:solidFill>
                  <a:srgbClr val="38415C"/>
                </a:solidFill>
              </a:rPr>
              <a:t>(o como)</a:t>
            </a:r>
            <a:r>
              <a:rPr lang="pt-BR" sz="1200" dirty="0">
                <a:solidFill>
                  <a:srgbClr val="38415C"/>
                </a:solidFill>
              </a:rPr>
              <a:t xml:space="preserve"> — estrutura curricular, formatos pedagógicos e repositórios de conteúdo</a:t>
            </a:r>
          </a:p>
          <a:p>
            <a:pPr marL="742950" lvl="1" indent="-28575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 xml:space="preserve">Moment </a:t>
            </a:r>
            <a:r>
              <a:rPr lang="pt-BR" sz="1200" i="1" dirty="0">
                <a:solidFill>
                  <a:srgbClr val="38415C"/>
                </a:solidFill>
              </a:rPr>
              <a:t>(o quando)</a:t>
            </a:r>
            <a:r>
              <a:rPr lang="pt-BR" sz="1200" dirty="0">
                <a:solidFill>
                  <a:srgbClr val="38415C"/>
                </a:solidFill>
              </a:rPr>
              <a:t xml:space="preserve"> — timing de oferta, governança e ciclos de planejamento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38415C"/>
                </a:solidFill>
              </a:rPr>
              <a:t>O Modelo 3M se conecta ao ciclo de Gestão do Conhecimento por meio do mapeamento hierárquico de Prat e Stollenwerk.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38415C"/>
                </a:solidFill>
              </a:rPr>
              <a:t xml:space="preserve">Premissa original do modelo: a tecnologia (TI) atua como </a:t>
            </a:r>
            <a:r>
              <a:rPr lang="pt-BR" sz="1400" b="1" i="1" dirty="0">
                <a:solidFill>
                  <a:srgbClr val="38415C"/>
                </a:solidFill>
              </a:rPr>
              <a:t>infraestrutura passiva</a:t>
            </a:r>
            <a:r>
              <a:rPr lang="pt-BR" sz="1400" dirty="0">
                <a:solidFill>
                  <a:srgbClr val="38415C"/>
                </a:solidFill>
              </a:rPr>
              <a:t xml:space="preserve"> de suporte — premissa que este trabalho propõe reconfigurar.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O Problema e a Questão de Pesquisa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srgbClr val="38415C"/>
                </a:solidFill>
              </a:rPr>
              <a:t>Mora-Mora et al. identificaram 19 modelos de UC na literatura: nenhum integra IA Generativa de forma abrangente — a tecnologia é tratada quase sempre como infraestrutura passiva.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srgbClr val="38415C"/>
                </a:solidFill>
              </a:rPr>
              <a:t>Modelos clássicos pressupõem conhecimento criado exclusivamente por humanos; com a IA agêntica, a máquina passa a participar ativamente de fluxos de síntese, recomendação e apoio à decisão.</a:t>
            </a:r>
          </a:p>
          <a:p>
            <a:pPr marL="171450" indent="0">
              <a:spcBef>
                <a:spcPts val="600"/>
              </a:spcBef>
              <a:buNone/>
            </a:pPr>
            <a:r>
              <a:rPr lang="pt-BR" sz="1600" b="1" i="1" dirty="0">
                <a:solidFill>
                  <a:srgbClr val="EB976D"/>
                </a:solidFill>
              </a:rPr>
              <a:t xml:space="preserve">Questão de pesquisa: </a:t>
            </a:r>
            <a:r>
              <a:rPr lang="pt-BR" sz="1600" b="1" i="1" dirty="0">
                <a:solidFill>
                  <a:srgbClr val="38415C"/>
                </a:solidFill>
              </a:rPr>
              <a:t>Como o Modelo 3M de Universidade Corporativa pode ser reconfigurado para integrar a Inteligência Artificial Generativa sob uma dupla perspectiva (ferramenta e agente), alinhando-se aos processos de Gestão do Conhecimento e incorporando loops de governança algorítmica?</a:t>
            </a:r>
          </a:p>
          <a:p>
            <a:pPr marL="171450" indent="0">
              <a:spcBef>
                <a:spcPts val="600"/>
              </a:spcBef>
              <a:buNone/>
            </a:pPr>
            <a:r>
              <a:rPr lang="pt-BR" sz="1500" b="1" dirty="0">
                <a:solidFill>
                  <a:srgbClr val="38415C"/>
                </a:solidFill>
              </a:rPr>
              <a:t>Objetivos específicos: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38415C"/>
                </a:solidFill>
              </a:rPr>
              <a:t>Desenvolver o retrofit conceitual do Modelo 3M, propondo as visões redefinidas de Motive 5.0, Model 5.0 e Moment 5.0.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38415C"/>
                </a:solidFill>
              </a:rPr>
              <a:t>Mapear os processos de GC que sustentam cada visão, integrando as perspectivas de Prat e Stollenwerk.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38415C"/>
                </a:solidFill>
              </a:rPr>
              <a:t>Incorporar a governança de IA como atribuição institucional central da UC, no pilar Moment 5.0.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38415C"/>
                </a:solidFill>
              </a:rPr>
              <a:t>Avaliar a cobertura conceitual do Modelo 3M 5.0 por meio de análise comparativa contra os 19 modelos da literatura.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Referencial Teórico (1/5): UC e Modelo 3M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srgbClr val="38415C"/>
                </a:solidFill>
              </a:rPr>
              <a:t>Meister: a UC como ferramenta estratégica centralizada para o desenvolvimento do capital intelectual corporativo.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srgbClr val="38415C"/>
                </a:solidFill>
              </a:rPr>
              <a:t>Chen et al.: o papel da UC muda ao longo do ciclo de vida da empresa — de transferência de conhecimento explícito (crescimento) para rede de facilitação do conhecimento tácito (maturidade).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srgbClr val="38415C"/>
                </a:solidFill>
              </a:rPr>
              <a:t>Han et al.: UCs têm sucesso em currículos formais, mas falham em suporte ágil à aprendizagem informal — descompasso temporal entre o problema e a resposta educacional.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srgbClr val="38415C"/>
                </a:solidFill>
              </a:rPr>
              <a:t xml:space="preserve">Scarso: a UC como ferramenta de GC sobre os 4 processos clássicos (criação, captura, compartilhamento, aplicação) — facilitadora do </a:t>
            </a:r>
            <a:r>
              <a:rPr lang="pt-BR" sz="1600" i="1" dirty="0">
                <a:solidFill>
                  <a:srgbClr val="38415C"/>
                </a:solidFill>
              </a:rPr>
              <a:t>Ba</a:t>
            </a:r>
            <a:r>
              <a:rPr lang="pt-BR" sz="1600" dirty="0">
                <a:solidFill>
                  <a:srgbClr val="38415C"/>
                </a:solidFill>
              </a:rPr>
              <a:t xml:space="preserve"> de Nonaka.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srgbClr val="38415C"/>
                </a:solidFill>
              </a:rPr>
              <a:t>Mapeamento de Prat (Costa et al. 2011): processos estratégicos de GC → Motive; processos operacionais de GC → Model; variáveis contextuais de GC → Moment.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600" dirty="0">
                <a:solidFill>
                  <a:srgbClr val="38415C"/>
                </a:solidFill>
              </a:rPr>
              <a:t>Mora-Mora et al.: 16 dos 19 modelos tratam GC como fator crítico e 15 incorporam variáveis de TI — mas todos posicionam a tecnologia apenas como infraestrutura passiva (LMS, portais, repositórios).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Referencial Teórico (2/5): IA Generativa e Gestão do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Alavi, Leidner e Mousavi: </a:t>
            </a:r>
            <a:r>
              <a:rPr lang="pt-BR" sz="1400" dirty="0">
                <a:solidFill>
                  <a:srgbClr val="38415C"/>
                </a:solidFill>
              </a:rPr>
              <a:t>a IA Generativa rompe a fronteira epistemológica de repositórios estáticos para parceiros ativos de processamento — impacta as 4 fases do ciclo de conhecimento (criação, armazenamento/recuperação, transferência, aplicação), mas introduz riscos de "bolhas de conhecimento automatizadas" e alucinações.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>Böhm e Durst — do SECI ao GRAI:</a:t>
            </a:r>
            <a:r>
              <a:rPr lang="pt-BR" sz="1400" dirty="0">
                <a:solidFill>
                  <a:srgbClr val="38415C"/>
                </a:solidFill>
              </a:rPr>
              <a:t xml:space="preserve"> Geração (IA cria conceitos novos), Recuperação (busca semântica conversacional), Análise (triagem e correlação de padrões em escala) e Integração (conhecimento algorítmico assimilado às práticas humanas).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Kirchner et al.: </a:t>
            </a:r>
            <a:r>
              <a:rPr lang="pt-BR" sz="1400" dirty="0">
                <a:solidFill>
                  <a:srgbClr val="38415C"/>
                </a:solidFill>
              </a:rPr>
              <a:t>em equipes de software, profissionais menos experientes aceitam respostas da IA acriticamente — risco de perda de raciocínio lógico profundo.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Storey: </a:t>
            </a:r>
            <a:r>
              <a:rPr lang="pt-BR" sz="1400" dirty="0">
                <a:solidFill>
                  <a:srgbClr val="38415C"/>
                </a:solidFill>
              </a:rPr>
              <a:t xml:space="preserve">a competência valiosa migra de </a:t>
            </a:r>
            <a:r>
              <a:rPr lang="pt-BR" sz="1400" i="1" dirty="0">
                <a:solidFill>
                  <a:srgbClr val="38415C"/>
                </a:solidFill>
              </a:rPr>
              <a:t>know-what</a:t>
            </a:r>
            <a:r>
              <a:rPr lang="pt-BR" sz="1400" dirty="0">
                <a:solidFill>
                  <a:srgbClr val="38415C"/>
                </a:solidFill>
              </a:rPr>
              <a:t xml:space="preserve"> e </a:t>
            </a:r>
            <a:r>
              <a:rPr lang="pt-BR" sz="1400" i="1" dirty="0">
                <a:solidFill>
                  <a:srgbClr val="38415C"/>
                </a:solidFill>
              </a:rPr>
              <a:t>know-how</a:t>
            </a:r>
            <a:r>
              <a:rPr lang="pt-BR" sz="1400" dirty="0">
                <a:solidFill>
                  <a:srgbClr val="38415C"/>
                </a:solidFill>
              </a:rPr>
              <a:t xml:space="preserve"> para </a:t>
            </a:r>
            <a:r>
              <a:rPr lang="pt-BR" sz="1400" i="1" dirty="0">
                <a:solidFill>
                  <a:srgbClr val="38415C"/>
                </a:solidFill>
              </a:rPr>
              <a:t>know-why</a:t>
            </a:r>
            <a:r>
              <a:rPr lang="pt-BR" sz="1400" dirty="0">
                <a:solidFill>
                  <a:srgbClr val="38415C"/>
                </a:solidFill>
              </a:rPr>
              <a:t xml:space="preserve"> — formular boas perguntas e avaliar criticamente as respostas.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O'Leary: </a:t>
            </a:r>
            <a:r>
              <a:rPr lang="pt-BR" sz="1400" dirty="0">
                <a:solidFill>
                  <a:srgbClr val="38415C"/>
                </a:solidFill>
              </a:rPr>
              <a:t>LLMs corporativos com RAG e Grafos de Conhecimento exigem curadoria contínua das fontes e auditoria das interações para conformidade ética.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38415C"/>
                </a:solidFill>
              </a:rPr>
              <a:t xml:space="preserve">Jarrahi et al. — simbiose humano-IA: </a:t>
            </a:r>
            <a:r>
              <a:rPr lang="pt-BR" sz="1400" dirty="0">
                <a:solidFill>
                  <a:srgbClr val="38415C"/>
                </a:solidFill>
              </a:rPr>
              <a:t>IA contribui com velocidade, escala e síntese; humanos contribuem com julgamento ético, intuição e empatia — eficácia da GC depende desse equilíbrio dinâmico.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Referencial Teórico (3/5): Aprendizagem no Fluxo de Trabalho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Nakash — learning in the flow of work: </a:t>
            </a:r>
            <a:r>
              <a:rPr lang="pt-BR" sz="1400" dirty="0">
                <a:solidFill>
                  <a:srgbClr val="38415C"/>
                </a:solidFill>
              </a:rPr>
              <a:t>convergência entre Aprendizagem Organizacional e GC — o aprendizado é mais profundo quando o conhecimento chega no exato momento e local em que o problema ocorre.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Lombardozzi: </a:t>
            </a:r>
            <a:r>
              <a:rPr lang="pt-BR" sz="1400" dirty="0">
                <a:solidFill>
                  <a:srgbClr val="38415C"/>
                </a:solidFill>
              </a:rPr>
              <a:t>a aprendizagem autodirigida exige "andaimes" (</a:t>
            </a:r>
            <a:r>
              <a:rPr lang="pt-BR" sz="1400" i="1" dirty="0">
                <a:solidFill>
                  <a:srgbClr val="38415C"/>
                </a:solidFill>
              </a:rPr>
              <a:t>scaffolding</a:t>
            </a:r>
            <a:r>
              <a:rPr lang="pt-BR" sz="1400" dirty="0">
                <a:solidFill>
                  <a:srgbClr val="38415C"/>
                </a:solidFill>
              </a:rPr>
              <a:t>) institucionais — sem suporte estruturado, a aprendizagem informal gera sobrecarga cognitiva e práticas incorretas. Papel da UC migra de entregar conteúdo para curar esses andaimes.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Callari e Puppione: </a:t>
            </a:r>
            <a:r>
              <a:rPr lang="pt-BR" sz="1400" dirty="0">
                <a:solidFill>
                  <a:srgbClr val="38415C"/>
                </a:solidFill>
              </a:rPr>
              <a:t>assistentes de IA são percebidos como aceleradores de produtividade, mas exigem treinamento para não se tornarem "muletas cognitivas" que inibem a reflexão crítica.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Rausch: </a:t>
            </a:r>
            <a:r>
              <a:rPr lang="pt-BR" sz="1400" dirty="0">
                <a:solidFill>
                  <a:srgbClr val="38415C"/>
                </a:solidFill>
              </a:rPr>
              <a:t>a IA pode atuar como parceiro socrático de diálogo, desafiando o trabalhador com perguntas e cenários alternativos para expandir a reflexão na ação.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Morandini et al. (upskilling/reskilling): </a:t>
            </a:r>
            <a:r>
              <a:rPr lang="pt-BR" sz="1400" dirty="0">
                <a:solidFill>
                  <a:srgbClr val="38415C"/>
                </a:solidFill>
              </a:rPr>
              <a:t>habilidades operacionais perdem valor; metacompetências — inteligência emocional, pensamento crítico, formulação de prompts, design ético — tornam-se diferenciais.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Li (Indústria 5.0): </a:t>
            </a:r>
            <a:r>
              <a:rPr lang="pt-BR" sz="1400" dirty="0">
                <a:solidFill>
                  <a:srgbClr val="38415C"/>
                </a:solidFill>
              </a:rPr>
              <a:t>UCs devem abandonar currículos estáticos e adotar arquiteturas de aprendizagem modulares, personalizadas e dinâmicas.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Referencial Teórico (4/5): IA como Agente Organizacional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38415C"/>
                </a:solidFill>
              </a:rPr>
              <a:t>Na literatura clássica de SI, a tecnologia é sempre instrumental: ferramenta passiva ou canal controlado por humanos. A IA agêntica desafia essa taxonomia ao apresentar sistemas com objetivos, planejamento autônomo, uso de ferramentas e aprendizado contínuo.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Islam e Ajmal — co-evolução: </a:t>
            </a:r>
            <a:r>
              <a:rPr lang="pt-BR" sz="1400" dirty="0">
                <a:solidFill>
                  <a:srgbClr val="38415C"/>
                </a:solidFill>
              </a:rPr>
              <a:t>fluxo bidirecional — humanos treinam e orientam agentes algorítmicos; agentes tomam decisões autônomas, geram soluções e produzem novos conhecimentos explícitos. O conhecimento torna-se um artefato sociotécnico dinâmico coproduzido por humanos e IA.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Faraj et al. — "monstros de Haraway": </a:t>
            </a:r>
            <a:r>
              <a:rPr lang="pt-BR" sz="1400" dirty="0">
                <a:solidFill>
                  <a:srgbClr val="38415C"/>
                </a:solidFill>
              </a:rPr>
              <a:t>entidades híbridas que desestabilizam as fronteiras entre natural/artificial e sujeito/objeto. A IA Generativa "sabe" por meio de inferência estatística e analogização em larga escala — o saber organizacional pós-LLM é um processo distribuído em redes sociotécnicas heterogêneas.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He e Burger-Helmchen: </a:t>
            </a:r>
            <a:r>
              <a:rPr lang="pt-BR" sz="1400" dirty="0">
                <a:solidFill>
                  <a:srgbClr val="38415C"/>
                </a:solidFill>
              </a:rPr>
              <a:t>a IA agêntica como parceira de equipe redefine relações de confiança e legitimidade — o desafio é gerenciar a autoridade epistêmica desses sistemas, preservando a capacidade humana de contestação.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Referencial Teórico (5/5): Governança de IA na Organização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38415C"/>
                </a:solidFill>
              </a:rPr>
              <a:t>A agência operacional dos sistemas algorítmicos traz riscos críticos: opacidade (caixas-pretas), alucinações semânticas e reprodução de vieses históricos. A governança de IA deixa de ser conformidade técnica de TI e passa a ser função de gestão estratégica e aprendizagem organizacional.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>Birkstedt et al. — 4 pilares da governança de IA: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>Ética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i="1" dirty="0">
                <a:solidFill>
                  <a:srgbClr val="38415C"/>
                </a:solidFill>
              </a:rPr>
              <a:t>Accountability</a:t>
            </a:r>
            <a:r>
              <a:rPr lang="pt-BR" sz="1200" dirty="0">
                <a:solidFill>
                  <a:srgbClr val="38415C"/>
                </a:solidFill>
              </a:rPr>
              <a:t xml:space="preserve"> (responsabilização)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>Transparência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>Controle</a:t>
            </a:r>
          </a:p>
          <a:p>
            <a:pPr marL="285750" indent="0">
              <a:buNone/>
            </a:pPr>
            <a:r>
              <a:rPr lang="pt-BR" sz="1100" i="1" dirty="0">
                <a:solidFill>
                  <a:srgbClr val="8C8C96"/>
                </a:solidFill>
              </a:rPr>
              <a:t>Capacitação contínua sobre riscos e uso ético da IA é o principal mitigador — responsabilidade que recai sobre a UC.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Benjamins — choices framework: </a:t>
            </a:r>
            <a:r>
              <a:rPr lang="pt-BR" sz="1400" dirty="0">
                <a:solidFill>
                  <a:srgbClr val="38415C"/>
                </a:solidFill>
              </a:rPr>
              <a:t>matriz de decisões éticas para definir o que pode ser delegado à automação e em qual nível de supervisão humana (</a:t>
            </a:r>
            <a:r>
              <a:rPr lang="pt-BR" sz="1400" i="1" dirty="0">
                <a:solidFill>
                  <a:srgbClr val="38415C"/>
                </a:solidFill>
              </a:rPr>
              <a:t>human-in-the-loop, on-the-loop, out-of-the-loop</a:t>
            </a:r>
            <a:r>
              <a:rPr lang="pt-BR" sz="1400" dirty="0">
                <a:solidFill>
                  <a:srgbClr val="38415C"/>
                </a:solidFill>
              </a:rPr>
              <a:t>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Sprongl — AI Integration Framework: </a:t>
            </a:r>
            <a:r>
              <a:rPr lang="pt-BR" sz="1400" dirty="0">
                <a:solidFill>
                  <a:srgbClr val="38415C"/>
                </a:solidFill>
              </a:rPr>
              <a:t>ciclo de vida completo do artefato algorítmico — viabilidade técnica, validação de fontes, segurança, monitoramento de performance (</a:t>
            </a:r>
            <a:r>
              <a:rPr lang="pt-BR" sz="1400" i="1" dirty="0">
                <a:solidFill>
                  <a:srgbClr val="38415C"/>
                </a:solidFill>
              </a:rPr>
              <a:t>drift analysis</a:t>
            </a:r>
            <a:r>
              <a:rPr lang="pt-BR" sz="1400" dirty="0">
                <a:solidFill>
                  <a:srgbClr val="38415C"/>
                </a:solidFill>
              </a:rPr>
              <a:t>) e desativação segura.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Joshi — governança por design: </a:t>
            </a:r>
            <a:r>
              <a:rPr lang="pt-BR" sz="1400" dirty="0">
                <a:solidFill>
                  <a:srgbClr val="38415C"/>
                </a:solidFill>
              </a:rPr>
              <a:t>para IA agêntica autônoma, auditorias estáticas não bastam — propõe guardrails comportamentais programáticos, loops de contenção de erros e rastreabilidade em tempo real dos logs de decisão.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Metodologia: Resultados da Triagem Sistemática (SLR-RAG)</a:t>
            </a:r>
          </a:p>
        </p:txBody>
      </p:sp>
      <p:graphicFrame>
        <p:nvGraphicFramePr>
          <p:cNvPr id="4" name="Tabela Triagem"/>
          <p:cNvGraphicFramePr>
            <a:graphicFrameLocks noGrp="1"/>
          </p:cNvGraphicFramePr>
          <p:nvPr/>
        </p:nvGraphicFramePr>
        <p:xfrm>
          <a:off x="117417" y="1420000"/>
          <a:ext cx="8900000" cy="4622800"/>
        </p:xfrm>
        <a:graphic>
          <a:graphicData uri="http://schemas.openxmlformats.org/drawingml/2006/table">
            <a:tbl>
              <a:tblPr firstRow="1" lastRow="1">
                <a:tableStyleId>{5C22544A-7EE6-4342-B048-85BDC9FD1C3A}</a:tableStyleId>
              </a:tblPr>
              <a:tblGrid>
                <a:gridCol w="400000"/>
                <a:gridCol w="2050000"/>
                <a:gridCol w="1450000"/>
                <a:gridCol w="1650000"/>
                <a:gridCol w="1650000"/>
                <a:gridCol w="170000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>Eixo</a:t>
                      </a:r>
                    </a:p>
                  </a:txBody>
                  <a:tcPr marL="45720" marR="45720" marT="22860" marB="22860" anchor="ctr">
                    <a:solidFill>
                      <a:srgbClr val="3841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>Tema</a:t>
                      </a:r>
                    </a:p>
                  </a:txBody>
                  <a:tcPr marL="45720" marR="45720" marT="22860" marB="22860" anchor="ctr">
                    <a:solidFill>
                      <a:srgbClr val="3841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>Triados</a:t>
                      </a:r>
                    </a:p>
                  </a:txBody>
                  <a:tcPr marL="45720" marR="45720" marT="22860" marB="22860" anchor="ctr">
                    <a:solidFill>
                      <a:srgbClr val="3841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>Dup./Não-Validados</a:t>
                      </a:r>
                    </a:p>
                  </a:txBody>
                  <a:tcPr marL="45720" marR="45720" marT="22860" marB="22860" anchor="ctr">
                    <a:solidFill>
                      <a:srgbClr val="3841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>Inacessíveis</a:t>
                      </a:r>
                    </a:p>
                  </a:txBody>
                  <a:tcPr marL="45720" marR="45720" marT="22860" marB="22860" anchor="ctr">
                    <a:solidFill>
                      <a:srgbClr val="3841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>Consolidados</a:t>
                      </a:r>
                    </a:p>
                  </a:txBody>
                  <a:tcPr marL="45720" marR="45720" marT="22860" marB="22860" anchor="ctr">
                    <a:solidFill>
                      <a:srgbClr val="38415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—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i="1" dirty="0">
                          <a:solidFill>
                            <a:srgbClr val="38415C"/>
                          </a:solidFill>
                        </a:rPr>
                        <a:t>Etapa 0: mapeamento manual de base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29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4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rgbClr val="38415C"/>
                          </a:solidFill>
                        </a:rPr>
                        <a:t>25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UC &amp; GC — "corporate university" "knowledge management" model framework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rgbClr val="38415C"/>
                          </a:solidFill>
                        </a:rPr>
                        <a:t>10</a:t>
                      </a:r>
                    </a:p>
                  </a:txBody>
                  <a:tcPr marL="45720" marR="45720" marT="22860" marB="22860" anchor="ctr"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UC &amp; GC — "corporate university" "organizational learning" review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4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rgbClr val="38415C"/>
                          </a:solidFill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2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IA &amp; GC — "generative AI" "knowledge management" organization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5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rgbClr val="38415C"/>
                          </a:solidFill>
                        </a:rPr>
                        <a:t>5</a:t>
                      </a:r>
                    </a:p>
                  </a:txBody>
                  <a:tcPr marL="45720" marR="45720" marT="22860" marB="22860" anchor="ctr"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IA &amp; GC — "large language models" "organizational knowledge" enterprise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12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4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rgbClr val="38415C"/>
                          </a:solidFill>
                        </a:rPr>
                        <a:t>6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3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LFW — "learning in the flow of work" organization performance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4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rgbClr val="38415C"/>
                          </a:solidFill>
                        </a:rPr>
                        <a:t>6</a:t>
                      </a:r>
                    </a:p>
                  </a:txBody>
                  <a:tcPr marL="45720" marR="45720" marT="22860" marB="22860" anchor="ctr"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LFW — "workplace learning" "artificial intelligence" continuous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10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5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rgbClr val="38415C"/>
                          </a:solidFill>
                        </a:rPr>
                        <a:t>5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4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Governança — "AI governance" organization framework "responsible AI"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rgbClr val="38415C"/>
                          </a:solidFill>
                        </a:rPr>
                        <a:t>10</a:t>
                      </a:r>
                    </a:p>
                  </a:txBody>
                  <a:tcPr marL="45720" marR="45720" marT="22860" marB="22860" anchor="ctr"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5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Trabalho — "future of work" "artificial intelligence" upskilling reskilling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10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rgbClr val="38415C"/>
                          </a:solidFill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6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KG &amp; RAG — "knowledge graph" enterprise "knowledge management" retrieval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0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3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rgbClr val="38415C"/>
                          </a:solidFill>
                        </a:rPr>
                        <a:t>7</a:t>
                      </a:r>
                    </a:p>
                  </a:txBody>
                  <a:tcPr marL="45720" marR="45720" marT="22860" marB="22860" anchor="ctr"/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6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KG &amp; RAG — "retrieval augmented generation" "enterprise knowledge" organization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10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0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rgbClr val="38415C"/>
                          </a:solidFill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1" dirty="0">
                          <a:solidFill>
                            <a:srgbClr val="38415C"/>
                          </a:solidFill>
                        </a:rPr>
                        <a:t>8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EB976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>Total (10 strings, 6 eixos)</a:t>
                      </a:r>
                    </a:p>
                  </a:txBody>
                  <a:tcPr marL="45720" marR="45720" marT="22860" marB="22860" anchor="ctr">
                    <a:solidFill>
                      <a:srgbClr val="EB97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 marL="45720" marR="45720" marT="22860" marB="22860" anchor="ctr">
                    <a:solidFill>
                      <a:srgbClr val="EB97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45720" marR="45720" marT="22860" marB="22860" anchor="ctr">
                    <a:solidFill>
                      <a:srgbClr val="EB97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marL="45720" marR="45720" marT="22860" marB="22860" anchor="ctr">
                    <a:solidFill>
                      <a:srgbClr val="EB97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dirty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45720" marR="45720" marT="22860" marB="22860" anchor="ctr">
                    <a:solidFill>
                      <a:srgbClr val="EB976D"/>
                    </a:solidFill>
                  </a:tcPr>
                </a:tc>
              </a:tr>
            </a:tbl>
          </a:graphicData>
        </a:graphic>
      </p:graphicFrame>
      <p:sp>
        <p:nvSpPr>
          <p:cNvPr id="5" name="Destaque Resultado"/>
          <p:cNvSpPr/>
          <p:nvPr/>
        </p:nvSpPr>
        <p:spPr>
          <a:xfrm>
            <a:off x="117417" y="4570000"/>
            <a:ext cx="8900000" cy="1500000"/>
          </a:xfrm>
          <a:prstGeom prst="roundRect">
            <a:avLst>
              <a:gd name="adj" fmla="val 6000"/>
            </a:avLst>
          </a:prstGeom>
          <a:solidFill>
            <a:srgbClr val="F2F2F4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Stat 93"/>
          <p:cNvSpPr txBox="1"/>
          <p:nvPr/>
        </p:nvSpPr>
        <p:spPr>
          <a:xfrm>
            <a:off x="450000" y="4670000"/>
            <a:ext cx="3650000" cy="13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pt-BR" sz="4000" b="1" dirty="0">
                <a:solidFill>
                  <a:srgbClr val="EB976D"/>
                </a:solidFill>
              </a:rPr>
              <a:t>93</a:t>
            </a:r>
          </a:p>
          <a:p>
            <a:pPr algn="ctr"/>
            <a:r>
              <a:rPr lang="pt-BR" sz="1000" dirty="0">
                <a:solidFill>
                  <a:srgbClr val="38415C"/>
                </a:solidFill>
              </a:rPr>
              <a:t>artigos aprovados na triagem sistemática (10 strings, 6 eixos)</a:t>
            </a:r>
          </a:p>
        </p:txBody>
      </p:sp>
      <p:sp>
        <p:nvSpPr>
          <p:cNvPr id="7" name="Seta Resultado"/>
          <p:cNvSpPr txBox="1"/>
          <p:nvPr/>
        </p:nvSpPr>
        <p:spPr>
          <a:xfrm>
            <a:off x="4250000" y="4670000"/>
            <a:ext cx="700000" cy="13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pt-BR" sz="3200" b="1" dirty="0">
                <a:solidFill>
                  <a:srgbClr val="8C8C96"/>
                </a:solidFill>
              </a:rPr>
              <a:t>→</a:t>
            </a:r>
          </a:p>
        </p:txBody>
      </p:sp>
      <p:sp>
        <p:nvSpPr>
          <p:cNvPr id="8" name="Stat 20"/>
          <p:cNvSpPr txBox="1"/>
          <p:nvPr/>
        </p:nvSpPr>
        <p:spPr>
          <a:xfrm>
            <a:off x="5050000" y="4670000"/>
            <a:ext cx="3550000" cy="130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/>
            <a:r>
              <a:rPr lang="pt-BR" sz="4000" b="1" dirty="0">
                <a:solidFill>
                  <a:srgbClr val="2D7A4A"/>
                </a:solidFill>
              </a:rPr>
              <a:t>20</a:t>
            </a:r>
          </a:p>
          <a:p>
            <a:pPr algn="ctr"/>
            <a:r>
              <a:rPr lang="pt-BR" sz="1000" dirty="0">
                <a:solidFill>
                  <a:srgbClr val="38415C"/>
                </a:solidFill>
              </a:rPr>
              <a:t>referências de curação fina mobilizadas diretamente na formulação do Modelo 3M 5.0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Metodologia: Arquitetura Agêntica de Automação (Pipeline SLR-RAG)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38415C"/>
                </a:solidFill>
              </a:rPr>
              <a:t>A revisão de escopo (scoping review) foi automatizada por um pipeline agêntico com três módulos, projetado para escalabilidade, reprodutibilidade e auditabilidade.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Motor de Busca/Ingestão: </a:t>
            </a:r>
            <a:r>
              <a:rPr lang="pt-BR" sz="1400" dirty="0">
                <a:solidFill>
                  <a:srgbClr val="38415C"/>
                </a:solidFill>
              </a:rPr>
              <a:t>clientes assíncronos (</a:t>
            </a:r>
            <a:r>
              <a:rPr lang="pt-BR" sz="1400" i="1" dirty="0">
                <a:solidFill>
                  <a:srgbClr val="38415C"/>
                </a:solidFill>
              </a:rPr>
              <a:t>CrossrefClient, SemanticScholarClient, UnpaywallClient</a:t>
            </a:r>
            <a:r>
              <a:rPr lang="pt-BR" sz="1400" dirty="0">
                <a:solidFill>
                  <a:srgbClr val="38415C"/>
                </a:solidFill>
              </a:rPr>
              <a:t xml:space="preserve">) via </a:t>
            </a:r>
            <a:r>
              <a:rPr lang="pt-BR" sz="1400" i="1" dirty="0">
                <a:solidFill>
                  <a:srgbClr val="38415C"/>
                </a:solidFill>
              </a:rPr>
              <a:t>httpx</a:t>
            </a:r>
            <a:r>
              <a:rPr lang="pt-BR" sz="1400" dirty="0">
                <a:solidFill>
                  <a:srgbClr val="38415C"/>
                </a:solidFill>
              </a:rPr>
              <a:t xml:space="preserve">, com </a:t>
            </a:r>
            <a:r>
              <a:rPr lang="pt-BR" sz="1400" i="1" dirty="0">
                <a:solidFill>
                  <a:srgbClr val="38415C"/>
                </a:solidFill>
              </a:rPr>
              <a:t>exponential backoff</a:t>
            </a:r>
            <a:r>
              <a:rPr lang="pt-BR" sz="1400" dirty="0">
                <a:solidFill>
                  <a:srgbClr val="38415C"/>
                </a:solidFill>
              </a:rPr>
              <a:t xml:space="preserve"> e </a:t>
            </a:r>
            <a:r>
              <a:rPr lang="pt-BR" sz="1400" i="1" dirty="0">
                <a:solidFill>
                  <a:srgbClr val="38415C"/>
                </a:solidFill>
              </a:rPr>
              <a:t>polite pool</a:t>
            </a:r>
            <a:r>
              <a:rPr lang="pt-BR" sz="1400" dirty="0">
                <a:solidFill>
                  <a:srgbClr val="38415C"/>
                </a:solidFill>
              </a:rPr>
              <a:t xml:space="preserve"> (User-Agent identificado); scraping auxiliar via </a:t>
            </a:r>
            <a:r>
              <a:rPr lang="pt-BR" sz="1400" i="1" dirty="0">
                <a:solidFill>
                  <a:srgbClr val="38415C"/>
                </a:solidFill>
              </a:rPr>
              <a:t>Playwright</a:t>
            </a:r>
            <a:r>
              <a:rPr lang="pt-BR" sz="1400" dirty="0">
                <a:solidFill>
                  <a:srgbClr val="38415C"/>
                </a:solidFill>
              </a:rPr>
              <a:t>/Chromium headless para fontes sem API.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>Avaliador Semântico — defesa contra prompt injection em 3 camadas: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 xml:space="preserve">Sanitização/Normalização — </a:t>
            </a:r>
            <a:r>
              <a:rPr lang="pt-BR" sz="1200" dirty="0">
                <a:solidFill>
                  <a:srgbClr val="38415C"/>
                </a:solidFill>
              </a:rPr>
              <a:t>regex de padrões de injeção e normalização Unicode NFKD.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 xml:space="preserve">Isolamento Estrutural — </a:t>
            </a:r>
            <a:r>
              <a:rPr lang="pt-BR" sz="1200" dirty="0">
                <a:solidFill>
                  <a:srgbClr val="38415C"/>
                </a:solidFill>
              </a:rPr>
              <a:t>escapamento HTML e marcadores XML (</a:t>
            </a:r>
            <a:r>
              <a:rPr lang="pt-BR" sz="1200" i="1" dirty="0">
                <a:solidFill>
                  <a:srgbClr val="38415C"/>
                </a:solidFill>
              </a:rPr>
              <a:t>&lt;ARTICLE_DATA&gt;, &lt;TITLE&gt;, &lt;ABSTRACT&gt;</a:t>
            </a:r>
            <a:r>
              <a:rPr lang="pt-BR" sz="1200" dirty="0">
                <a:solidFill>
                  <a:srgbClr val="38415C"/>
                </a:solidFill>
              </a:rPr>
              <a:t>).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 xml:space="preserve">Validação Pós-Geração — </a:t>
            </a:r>
            <a:r>
              <a:rPr lang="pt-BR" sz="1200" dirty="0">
                <a:solidFill>
                  <a:srgbClr val="38415C"/>
                </a:solidFill>
              </a:rPr>
              <a:t>LLM com temperatura 0.0, validação Pydantic (</a:t>
            </a:r>
            <a:r>
              <a:rPr lang="pt-BR" sz="1200" i="1" dirty="0">
                <a:solidFill>
                  <a:srgbClr val="38415C"/>
                </a:solidFill>
              </a:rPr>
              <a:t>EvaluationResult</a:t>
            </a:r>
            <a:r>
              <a:rPr lang="pt-BR" sz="1200" dirty="0">
                <a:solidFill>
                  <a:srgbClr val="38415C"/>
                </a:solidFill>
              </a:rPr>
              <a:t xml:space="preserve">), justificativa mínima de 20 caracteres e enum </a:t>
            </a:r>
            <a:r>
              <a:rPr lang="pt-BR" sz="1200" i="1" dirty="0">
                <a:solidFill>
                  <a:srgbClr val="38415C"/>
                </a:solidFill>
              </a:rPr>
              <a:t>ThematicAxis</a:t>
            </a:r>
            <a:r>
              <a:rPr lang="pt-BR" sz="1200" dirty="0">
                <a:solidFill>
                  <a:srgbClr val="38415C"/>
                </a:solidFill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Sincronização/Persistência: </a:t>
            </a:r>
            <a:r>
              <a:rPr lang="pt-BR" sz="1400" dirty="0">
                <a:solidFill>
                  <a:srgbClr val="38415C"/>
                </a:solidFill>
              </a:rPr>
              <a:t xml:space="preserve">PostgreSQL + pgvector; hashes SHA-256 e </a:t>
            </a:r>
            <a:r>
              <a:rPr lang="pt-BR" sz="1400" i="1" dirty="0">
                <a:solidFill>
                  <a:srgbClr val="38415C"/>
                </a:solidFill>
              </a:rPr>
              <a:t>magic bytes</a:t>
            </a:r>
            <a:r>
              <a:rPr lang="pt-BR" sz="1400" dirty="0">
                <a:solidFill>
                  <a:srgbClr val="38415C"/>
                </a:solidFill>
              </a:rPr>
              <a:t xml:space="preserve"> para deduplicação; renomeação padronizada (</a:t>
            </a:r>
            <a:r>
              <a:rPr lang="pt-BR" sz="1400" i="1" dirty="0">
                <a:solidFill>
                  <a:srgbClr val="38415C"/>
                </a:solidFill>
              </a:rPr>
              <a:t>Author_Year_Title.pdf</a:t>
            </a:r>
            <a:r>
              <a:rPr lang="pt-BR" sz="1400" dirty="0">
                <a:solidFill>
                  <a:srgbClr val="38415C"/>
                </a:solidFill>
              </a:rPr>
              <a:t>); geração automática de fichas de leitura em Markdown; sincronização RIS com Zotero/Obsidian via MCP.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Metodologia: Estratégia de Retrofit e Dimensões de Validação Conceitual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Retrofit conceitual: </a:t>
            </a:r>
            <a:r>
              <a:rPr lang="pt-BR" sz="1400" dirty="0">
                <a:solidFill>
                  <a:srgbClr val="38415C"/>
                </a:solidFill>
              </a:rPr>
              <a:t>estratégia de modernização teórica aditiva-reinterpretativa — mapeia as visões originais do Modelo 3M aos processos de GC de Prat (geração, codificação, armazenamento, distribuição, aplicação) e ao controle/descarte de Stollenwerk.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Böhm e Durst — transição SECI → GRAI: </a:t>
            </a:r>
            <a:r>
              <a:rPr lang="pt-BR" sz="1400" dirty="0">
                <a:solidFill>
                  <a:srgbClr val="38415C"/>
                </a:solidFill>
              </a:rPr>
              <a:t>backbone teórico adotado para descrever a coevolução humano-IA na geração e integração do conhecimento ao longo do retrofit.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>5 dimensões analíticas de comparação: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>Agência Ativa de IA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>Simbiose Humano-IA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>Ciclo de GC Dinâmico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>Mecanismos de Governança e Integridade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>Aprendizado no Fluxo de Trabalho (</a:t>
            </a:r>
            <a:r>
              <a:rPr lang="pt-BR" sz="1200" b="1" i="1" dirty="0">
                <a:solidFill>
                  <a:srgbClr val="38415C"/>
                </a:solidFill>
              </a:rPr>
              <a:t>Just-in-Time</a:t>
            </a:r>
            <a:r>
              <a:rPr lang="pt-BR" sz="1200" b="1" dirty="0">
                <a:solidFill>
                  <a:srgbClr val="38415C"/>
                </a:solidFill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Escala ordinal de 3 níveis — Ausente / Parcial / Pleno: </a:t>
            </a:r>
            <a:r>
              <a:rPr lang="pt-BR" sz="1400" dirty="0">
                <a:solidFill>
                  <a:srgbClr val="38415C"/>
                </a:solidFill>
              </a:rPr>
              <a:t>aplicada para comparar o Modelo 3M Original, o 3M 5.0 (IA como Ferramenta) e o 3M 5.0 (IA como Agente Organizacional) frente aos 19 modelos de UC mapeados por Mora-Mora et al.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>
                <a:solidFill>
                  <a:srgbClr val="38415C"/>
                </a:solidFill>
              </a:rPr>
              <a:t>A avaliação de cobertura conceitual é uma análise comparativa teórica — sem validação empírica em campo organizacional (limitação retomada adiante).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O Modelo 3M 5.0: Síntese Comparativa do Retrofit</a:t>
            </a:r>
          </a:p>
        </p:txBody>
      </p:sp>
      <p:graphicFrame>
        <p:nvGraphicFramePr>
          <p:cNvPr id="4" name="Tabela Sintese Retrofit"/>
          <p:cNvGraphicFramePr>
            <a:graphicFrameLocks noGrp="1"/>
          </p:cNvGraphicFramePr>
          <p:nvPr/>
        </p:nvGraphicFramePr>
        <p:xfrm>
          <a:off x="117417" y="1420000"/>
          <a:ext cx="8900000" cy="482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00000"/>
                <a:gridCol w="2600000"/>
                <a:gridCol w="2600000"/>
                <a:gridCol w="2600000"/>
              </a:tblGrid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Dimensão</a:t>
                      </a:r>
                    </a:p>
                  </a:txBody>
                  <a:tcPr marL="45720" marR="45720" marT="22860" marB="22860" anchor="ctr">
                    <a:solidFill>
                      <a:srgbClr val="3841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Modelo 3M Original (2011)</a:t>
                      </a:r>
                    </a:p>
                  </a:txBody>
                  <a:tcPr marL="45720" marR="45720" marT="22860" marB="22860" anchor="ctr">
                    <a:solidFill>
                      <a:srgbClr val="3841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3M 5.0: IA como Ferramenta</a:t>
                      </a:r>
                    </a:p>
                  </a:txBody>
                  <a:tcPr marL="45720" marR="45720" marT="22860" marB="22860" anchor="ctr">
                    <a:solidFill>
                      <a:srgbClr val="EB97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FFFFFF"/>
                          </a:solidFill>
                        </a:rPr>
                        <a:t>3M 5.0: IA como Agente Organizacional</a:t>
                      </a:r>
                    </a:p>
                  </a:txBody>
                  <a:tcPr marL="45720" marR="45720" marT="22860" marB="22860" anchor="ctr">
                    <a:solidFill>
                      <a:srgbClr val="2D7A4A"/>
                    </a:solidFill>
                  </a:tcPr>
                </a:tc>
              </a:tr>
              <a:tr h="105000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38415C"/>
                          </a:solidFill>
                        </a:rPr>
                        <a:t>Motive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Alinhamento estático e vertical da aprendizagem a objetivos de negócio predefinidos (ciclos anual/plurianual).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Mapeamento automático de competências via processamento semântico em tempo real para detectar gaps.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Co-definição dinâmica da estratégia educacional; a IA sugere e ajusta trilhas com base no aprendizado operacional contínuo.</a:t>
                      </a:r>
                    </a:p>
                  </a:txBody>
                  <a:tcPr marL="45720" marR="45720" marT="22860" marB="22860" anchor="ctr"/>
                </a:tc>
              </a:tr>
              <a:tr h="105000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38415C"/>
                          </a:solidFill>
                        </a:rPr>
                        <a:t>Model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Currículos rígidos, salas de aula físicas/virtuais assíncronas e repositórios de material instrucional estáticos.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Assistentes baseados em RAG e Grafos de Conhecimento respondem contextualizadamente a dúvidas no fluxo de trabalho.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Laboratório vivo de aprendizagem: a IA gera conhecimento original, codifica lições em tempo real e questiona premissas operacionais.</a:t>
                      </a:r>
                    </a:p>
                  </a:txBody>
                  <a:tcPr marL="45720" marR="45720" marT="22860" marB="22860" anchor="ctr"/>
                </a:tc>
              </a:tr>
              <a:tr h="105000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38415C"/>
                          </a:solidFill>
                        </a:rPr>
                        <a:t>Moment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Timing de entrega reativo, planejado em ciclos longos, respondendo a demandas macroambientais da organização.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Monitoramento de qualidade técnica, taxas de acerto semântico e parametrização básica de segurança da IA corporativa.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 xml:space="preserve">Governança algorítmica adaptativa e contínua: auditoria de alucinações/vieses, contestabilidade humana consciente e conformidade ética </a:t>
                      </a:r>
                      <a:r>
                        <a:rPr lang="pt-BR" sz="1000" i="1" dirty="0">
                          <a:solidFill>
                            <a:srgbClr val="38415C"/>
                          </a:solidFill>
                        </a:rPr>
                        <a:t>by design</a:t>
                      </a:r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.</a:t>
                      </a:r>
                    </a:p>
                  </a:txBody>
                  <a:tcPr marL="45720" marR="45720" marT="22860" marB="22860" anchor="ctr"/>
                </a:tc>
              </a:tr>
              <a:tr h="1050000"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>
                          <a:solidFill>
                            <a:srgbClr val="38415C"/>
                          </a:solidFill>
                        </a:rPr>
                        <a:t>Agência da IA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Tecnologia passiva e instrumental; suporte a armazenamento e entrega de conteúdo instrucional.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Repositório avançado com processamento semântico, RAG e bancos vetoriais como infraestrutura de suporte.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rgbClr val="38415C"/>
                          </a:solidFill>
                        </a:rPr>
                        <a:t>Agente coevolucionário ativo; aprende com interações, gera insumos originais e co-produz o saber organizacional com humanos.</a:t>
                      </a:r>
                    </a:p>
                  </a:txBody>
                  <a:tcPr marL="45720" marR="45720" marT="22860" marB="2286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O Modelo 3M 5.0: Pilares Reconfigurados, IA como Agente e Tensões Intrínsecas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Motive 5.0 — do alinhamento estático ao </a:t>
            </a:r>
            <a:r>
              <a:rPr lang="pt-BR" sz="1400" b="1" i="1" dirty="0">
                <a:solidFill>
                  <a:srgbClr val="EB976D"/>
                </a:solidFill>
              </a:rPr>
              <a:t>sensing</a:t>
            </a:r>
            <a:r>
              <a:rPr lang="pt-BR" sz="1400" b="1" dirty="0">
                <a:solidFill>
                  <a:srgbClr val="EB976D"/>
                </a:solidFill>
              </a:rPr>
              <a:t xml:space="preserve"> contínuo: </a:t>
            </a:r>
            <a:r>
              <a:rPr lang="pt-BR" sz="1400" dirty="0">
                <a:solidFill>
                  <a:srgbClr val="38415C"/>
                </a:solidFill>
              </a:rPr>
              <a:t>a IA monitora fluxos informais (chats, logs de projetos, tickets) para mapear gaps de competência em tempo real, antecipando obsolescência e reconfigurando os processos de identificação e geração do conhecimento.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>Model 5.0 — do currículo estático ao Laboratório Vivo (</a:t>
            </a:r>
            <a:r>
              <a:rPr lang="pt-BR" sz="1400" b="1" i="1" dirty="0">
                <a:solidFill>
                  <a:srgbClr val="EB976D"/>
                </a:solidFill>
              </a:rPr>
              <a:t>Living Lab</a:t>
            </a:r>
            <a:r>
              <a:rPr lang="pt-BR" sz="1400" b="1" dirty="0">
                <a:solidFill>
                  <a:srgbClr val="EB976D"/>
                </a:solidFill>
              </a:rPr>
              <a:t xml:space="preserve">): </a:t>
            </a:r>
            <a:r>
              <a:rPr lang="pt-BR" sz="1400" dirty="0">
                <a:solidFill>
                  <a:srgbClr val="38415C"/>
                </a:solidFill>
              </a:rPr>
              <a:t>a convergência entre LLMs, RAG e Grafos de Conhecimento (Pan et al.) embarca a IA no fluxo de trabalho — ela sugere soluções, codifica lições aprendidas e atualiza o acervo coletivo continuamente, modelada pela transição SECI→GRAI de Böhm e Durst.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Moment 5.0 — do timing rígido à Governança Algorítmica Adaptativa: </a:t>
            </a:r>
            <a:r>
              <a:rPr lang="pt-BR" sz="1400" dirty="0">
                <a:solidFill>
                  <a:srgbClr val="38415C"/>
                </a:solidFill>
              </a:rPr>
              <a:t>a UC torna-se o locus institucional de uma governança pedagógica e contínua — audita logs, vieses e alucinações, e habilita a contestabilidade ativa dos colaboradores, reconfigurando os processos de controle e descarte do conhecimento.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IA como Agente Organizacional — dupla perspectiva: </a:t>
            </a:r>
            <a:r>
              <a:rPr lang="pt-BR" sz="1400" dirty="0">
                <a:solidFill>
                  <a:srgbClr val="38415C"/>
                </a:solidFill>
              </a:rPr>
              <a:t>além de infraestrutura sociotécnica (repositório, RAG, bancos vetoriais), a IA passa a atuar como agente que aprende com interações sociais, gera conteúdo original e altera o fluxo informacional — coevolução contínua humano-IA (Islam &amp; Ajmal).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>4 tensões intrínsecas do ecossistema 3M 5.0: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 xml:space="preserve">Vigilância vs. privacidade: </a:t>
            </a:r>
            <a:r>
              <a:rPr lang="pt-BR" sz="1200" dirty="0">
                <a:solidFill>
                  <a:srgbClr val="38415C"/>
                </a:solidFill>
              </a:rPr>
              <a:t>monitoramento de habilidades vs. privacidade do colaborador.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 xml:space="preserve">Dependência cognitiva: </a:t>
            </a:r>
            <a:r>
              <a:rPr lang="pt-BR" sz="1200" dirty="0">
                <a:solidFill>
                  <a:srgbClr val="38415C"/>
                </a:solidFill>
              </a:rPr>
              <a:t>risco de perda de autonomia de aprendizagem.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 xml:space="preserve">Autonomia da IA vs. supervisão: </a:t>
            </a:r>
            <a:r>
              <a:rPr lang="pt-BR" sz="1200" dirty="0">
                <a:solidFill>
                  <a:srgbClr val="38415C"/>
                </a:solidFill>
              </a:rPr>
              <a:t>autonomia decisória da IA vs. supervisão humana estrita.</a:t>
            </a:r>
          </a:p>
          <a:p>
            <a:pPr marL="685800" indent="-228600">
              <a:buFont typeface="Arial" pitchFamily="34" charset="0"/>
              <a:buChar char="–"/>
            </a:pPr>
            <a:r>
              <a:rPr lang="pt-BR" sz="1200" b="1" dirty="0">
                <a:solidFill>
                  <a:srgbClr val="38415C"/>
                </a:solidFill>
              </a:rPr>
              <a:t xml:space="preserve">Epistemologia da agência: </a:t>
            </a:r>
            <a:r>
              <a:rPr lang="pt-BR" sz="1200" dirty="0">
                <a:solidFill>
                  <a:srgbClr val="38415C"/>
                </a:solidFill>
              </a:rPr>
              <a:t>status do saber não-humano na organização.</a:t>
            </a:r>
          </a:p>
          <a:p>
            <a:pPr marL="285750" indent="0">
              <a:buNone/>
            </a:pPr>
            <a:r>
              <a:rPr lang="pt-BR" sz="1100" i="1" dirty="0">
                <a:solidFill>
                  <a:srgbClr val="8C8C96"/>
                </a:solidFill>
              </a:rPr>
              <a:t>Tensões interdependentes, parcialmente mitigadas pela governança do Moment 5.0.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Análise Comparativa: Cobertura Teórica frente aos 19 Modelos de UC</a:t>
            </a:r>
          </a:p>
        </p:txBody>
      </p:sp>
      <p:graphicFrame>
        <p:nvGraphicFramePr>
          <p:cNvPr id="4" name="Tabela Comparativo Modelos"/>
          <p:cNvGraphicFramePr>
            <a:graphicFrameLocks noGrp="1"/>
          </p:cNvGraphicFramePr>
          <p:nvPr/>
        </p:nvGraphicFramePr>
        <p:xfrm>
          <a:off x="117417" y="1420000"/>
          <a:ext cx="8900000" cy="485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00000"/>
                <a:gridCol w="2600000"/>
                <a:gridCol w="2600000"/>
                <a:gridCol w="2600000"/>
              </a:tblGrid>
              <a:tr h="200000"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FFFFFF"/>
                          </a:solidFill>
                        </a:rPr>
                        <a:t>Dimensão</a:t>
                      </a:r>
                    </a:p>
                  </a:txBody>
                  <a:tcPr marL="45720" marR="45720" marT="22860" marB="22860" anchor="ctr">
                    <a:solidFill>
                      <a:srgbClr val="3841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FFFFFF"/>
                          </a:solidFill>
                        </a:rPr>
                        <a:t>Modelos Tradicionais de UC</a:t>
                      </a:r>
                    </a:p>
                  </a:txBody>
                  <a:tcPr marL="45720" marR="45720" marT="22860" marB="22860" anchor="ctr">
                    <a:solidFill>
                      <a:srgbClr val="8C8C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FFFFFF"/>
                          </a:solidFill>
                        </a:rPr>
                        <a:t>3M 5.0: Perspectiva de Ferramenta</a:t>
                      </a:r>
                    </a:p>
                  </a:txBody>
                  <a:tcPr marL="45720" marR="45720" marT="22860" marB="22860" anchor="ctr">
                    <a:solidFill>
                      <a:srgbClr val="EB97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FFFFFF"/>
                          </a:solidFill>
                        </a:rPr>
                        <a:t>3M 5.0: Perspectiva de Agente</a:t>
                      </a:r>
                    </a:p>
                  </a:txBody>
                  <a:tcPr marL="45720" marR="45720" marT="22860" marB="22860" anchor="ctr">
                    <a:solidFill>
                      <a:srgbClr val="2D7A4A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38415C"/>
                          </a:solidFill>
                        </a:rPr>
                        <a:t>1. Agência Ativa de IA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8C8C96"/>
                          </a:solidFill>
                        </a:rPr>
                        <a:t xml:space="preserve">Ausente.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Tecnologia como suporte/infraestrutura de TI passiva (LMS, repositório).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EB976D"/>
                          </a:solidFill>
                        </a:rPr>
                        <a:t xml:space="preserve">Parcial.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Processamento semântico avançado (RAG, busca inteligente), reativo sob comando humano.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2D7A4A"/>
                          </a:solidFill>
                        </a:rPr>
                        <a:t xml:space="preserve">Pleno.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IA atua como trabalhador do conhecimento, gera conteúdos e questiona premissas de forma autônoma.</a:t>
                      </a:r>
                    </a:p>
                  </a:txBody>
                  <a:tcPr marL="45720" marR="45720" marT="22860" marB="22860" anchor="ctr"/>
                </a:tc>
              </a:tr>
              <a:tr h="850000"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38415C"/>
                          </a:solidFill>
                        </a:rPr>
                        <a:t>2. Simbiose Humano-IA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8C8C96"/>
                          </a:solidFill>
                        </a:rPr>
                        <a:t xml:space="preserve">Ausente.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Aprendizagem exclusivamente humana; tecnologia como intermediário passivo.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EB976D"/>
                          </a:solidFill>
                        </a:rPr>
                        <a:t xml:space="preserve">Parcial.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Assistência cognitiva pontual que eleva produtividade, sem acoplamento dinâmico.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2D7A4A"/>
                          </a:solidFill>
                        </a:rPr>
                        <a:t xml:space="preserve">Pleno.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Simbiose cognitivo-computacional; humanos e agentes coevoluem em redes híbridas de aprendizagem.</a:t>
                      </a:r>
                    </a:p>
                  </a:txBody>
                  <a:tcPr marL="45720" marR="45720" marT="22860" marB="22860" anchor="ctr"/>
                </a:tc>
              </a:tr>
              <a:tr h="850000"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38415C"/>
                          </a:solidFill>
                        </a:rPr>
                        <a:t>3. Ciclo de GC Dinâmico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EB976D"/>
                          </a:solidFill>
                        </a:rPr>
                        <a:t xml:space="preserve">Parcial.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Alinhamento a modelos lineares clássicos (SECI) em ciclos episódicos.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EB976D"/>
                          </a:solidFill>
                        </a:rPr>
                        <a:t xml:space="preserve">Parcial.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Acelera armazenamento e distribuição de conhecimento em repositórios tradicionais.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2D7A4A"/>
                          </a:solidFill>
                        </a:rPr>
                        <a:t xml:space="preserve">Pleno.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Fluxos contínuos de GC (identificação ao descarte) sob o modelo de coevolução GRAI.</a:t>
                      </a:r>
                    </a:p>
                  </a:txBody>
                  <a:tcPr marL="45720" marR="45720" marT="22860" marB="22860" anchor="ctr"/>
                </a:tc>
              </a:tr>
              <a:tr h="850000"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38415C"/>
                          </a:solidFill>
                        </a:rPr>
                        <a:t>4. Governança e Integridade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8C8C96"/>
                          </a:solidFill>
                        </a:rPr>
                        <a:t xml:space="preserve">Ausente.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Foco na governança corporativa-pedagógica de recursos; ignora aspectos algorítmicos.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EB976D"/>
                          </a:solidFill>
                        </a:rPr>
                        <a:t xml:space="preserve">Parcial.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Políticas de segurança de dados tradicionais, controle de acessos e monitoramento de TI.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2D7A4A"/>
                          </a:solidFill>
                        </a:rPr>
                        <a:t xml:space="preserve">Pleno.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Governança algorítmica adaptativa e pedagógica; auditoria de alucinações, vieses e contestabilidade ativa.</a:t>
                      </a:r>
                    </a:p>
                  </a:txBody>
                  <a:tcPr marL="45720" marR="45720" marT="22860" marB="22860" anchor="ctr"/>
                </a:tc>
              </a:tr>
              <a:tr h="850000">
                <a:tc>
                  <a:txBody>
                    <a:bodyPr/>
                    <a:lstStyle/>
                    <a:p>
                      <a:pPr algn="ctr"/>
                      <a:r>
                        <a:rPr lang="pt-BR" sz="1000" b="1" dirty="0">
                          <a:solidFill>
                            <a:srgbClr val="38415C"/>
                          </a:solidFill>
                        </a:rPr>
                        <a:t xml:space="preserve">5. Aprendizado </a:t>
                      </a:r>
                      <a:r>
                        <a:rPr lang="pt-BR" sz="1000" b="1" i="1" dirty="0">
                          <a:solidFill>
                            <a:srgbClr val="38415C"/>
                          </a:solidFill>
                        </a:rPr>
                        <a:t>Just-in-Time</a:t>
                      </a:r>
                    </a:p>
                  </a:txBody>
                  <a:tcPr marL="45720" marR="45720" marT="22860" marB="22860" anchor="ctr">
                    <a:solidFill>
                      <a:srgbClr val="F2F2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EB976D"/>
                          </a:solidFill>
                        </a:rPr>
                        <a:t xml:space="preserve">Parcial.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Trilhas formativas e cursos formais, com pouco suporte ao fluxo de trabalho.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EB976D"/>
                          </a:solidFill>
                        </a:rPr>
                        <a:t xml:space="preserve">Parcial.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Acesso contextualizado via busca semântica no momento da dúvida operacional.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900" b="1" dirty="0">
                          <a:solidFill>
                            <a:srgbClr val="2D7A4A"/>
                          </a:solidFill>
                        </a:rPr>
                        <a:t xml:space="preserve">Pleno. </a:t>
                      </a:r>
                      <a:r>
                        <a:rPr lang="pt-BR" sz="900" dirty="0">
                          <a:solidFill>
                            <a:srgbClr val="38415C"/>
                          </a:solidFill>
                        </a:rPr>
                        <a:t>Aprendizagem indissociável da prática; RAG e Grafos de Conhecimento integrados ao fluxo diário.</a:t>
                      </a:r>
                    </a:p>
                  </a:txBody>
                  <a:tcPr marL="45720" marR="45720" marT="22860" marB="2286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Discussão: Implicações Teóricas, Laborais, Éticas e Pedagógicas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Implicações Teóricas e Epistemológicas: </a:t>
            </a:r>
            <a:r>
              <a:rPr lang="pt-BR" sz="1400" dirty="0">
                <a:solidFill>
                  <a:srgbClr val="38415C"/>
                </a:solidFill>
              </a:rPr>
              <a:t>o Modelo 3M 5.0 rompe com o paradigma instrumentalista da GC ao adotar a agência material não-humana dos LLMs (Faraj et al.); a IA deixa de ser canal de transmissão e passa a sintetizar, questionar e cogerar conhecimento — abordagem sociomaterial (Orlikowski) que sustenta a transição SECI→GRAI (Böhm e Durst) e as redes híbridas de aprendizagem.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Reconfiguração do Trabalho e Implicações para o Colaborador: </a:t>
            </a:r>
            <a:r>
              <a:rPr lang="pt-BR" sz="1400" dirty="0">
                <a:solidFill>
                  <a:srgbClr val="38415C"/>
                </a:solidFill>
              </a:rPr>
              <a:t>a fusão aprendizagem-trabalho do Model 5.0 amplia a produtividade, mas traz risco de dependência cognitiva e atrofia de habilidades (</a:t>
            </a:r>
            <a:r>
              <a:rPr lang="pt-BR" sz="1400" i="1" dirty="0">
                <a:solidFill>
                  <a:srgbClr val="38415C"/>
                </a:solidFill>
              </a:rPr>
              <a:t>deskilling</a:t>
            </a:r>
            <a:r>
              <a:rPr lang="pt-BR" sz="1400" dirty="0">
                <a:solidFill>
                  <a:srgbClr val="38415C"/>
                </a:solidFill>
              </a:rPr>
              <a:t xml:space="preserve">), documentado empiricamente por Dell'Acqua et al.; a UC deve oferecer </a:t>
            </a:r>
            <a:r>
              <a:rPr lang="pt-BR" sz="1400" i="1" dirty="0">
                <a:solidFill>
                  <a:srgbClr val="38415C"/>
                </a:solidFill>
              </a:rPr>
              <a:t>scaffolding</a:t>
            </a:r>
            <a:r>
              <a:rPr lang="pt-BR" sz="1400" dirty="0">
                <a:solidFill>
                  <a:srgbClr val="38415C"/>
                </a:solidFill>
              </a:rPr>
              <a:t xml:space="preserve"> (Lombardozzi) e letramento crítico em IA (</a:t>
            </a:r>
            <a:r>
              <a:rPr lang="pt-BR" sz="1400" i="1" dirty="0">
                <a:solidFill>
                  <a:srgbClr val="38415C"/>
                </a:solidFill>
              </a:rPr>
              <a:t>AI literacy</a:t>
            </a:r>
            <a:r>
              <a:rPr lang="pt-BR" sz="1400" dirty="0">
                <a:solidFill>
                  <a:srgbClr val="38415C"/>
                </a:solidFill>
              </a:rPr>
              <a:t>, Ng) para preservar a capacidade de auditar e contestar saídas algorítmicas.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Vigilância, Privacidade e Segurança Psicológica: </a:t>
            </a:r>
            <a:r>
              <a:rPr lang="pt-BR" sz="1400" dirty="0">
                <a:solidFill>
                  <a:srgbClr val="38415C"/>
                </a:solidFill>
              </a:rPr>
              <a:t xml:space="preserve">o </a:t>
            </a:r>
            <a:r>
              <a:rPr lang="pt-BR" sz="1400" i="1" dirty="0">
                <a:solidFill>
                  <a:srgbClr val="38415C"/>
                </a:solidFill>
              </a:rPr>
              <a:t>sensing</a:t>
            </a:r>
            <a:r>
              <a:rPr lang="pt-BR" sz="1400" dirty="0">
                <a:solidFill>
                  <a:srgbClr val="38415C"/>
                </a:solidFill>
              </a:rPr>
              <a:t xml:space="preserve"> contínuo do Motive 5.0 pode ser percebido como vigilância cognitiva permanente, ameaçando a segurança psicológica (Edmondson); a governança ética do Moment 5.0 (Benjamins) deve garantir anonimização, </a:t>
            </a:r>
            <a:r>
              <a:rPr lang="pt-BR" sz="1400" i="1" dirty="0">
                <a:solidFill>
                  <a:srgbClr val="38415C"/>
                </a:solidFill>
              </a:rPr>
              <a:t>opt-in</a:t>
            </a:r>
            <a:r>
              <a:rPr lang="pt-BR" sz="1400" dirty="0">
                <a:solidFill>
                  <a:srgbClr val="38415C"/>
                </a:solidFill>
              </a:rPr>
              <a:t xml:space="preserve"> voluntário e desvinculação de processos punitivos, evitando um controle panóptico.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b="1" dirty="0">
                <a:solidFill>
                  <a:srgbClr val="EB976D"/>
                </a:solidFill>
              </a:rPr>
              <a:t xml:space="preserve">Caráter Pedagógico da Governança Algorítmica: </a:t>
            </a:r>
            <a:r>
              <a:rPr lang="pt-BR" sz="1400" dirty="0">
                <a:solidFill>
                  <a:srgbClr val="38415C"/>
                </a:solidFill>
              </a:rPr>
              <a:t xml:space="preserve">a governança do Moment 5.0 torna-se prática de aprendizagem contínua, não apenas controle técnico externo; a contestabilidade ativa </a:t>
            </a:r>
            <a:r>
              <a:rPr lang="pt-BR" sz="1400" i="1" dirty="0">
                <a:solidFill>
                  <a:srgbClr val="38415C"/>
                </a:solidFill>
              </a:rPr>
              <a:t>by design</a:t>
            </a:r>
            <a:r>
              <a:rPr lang="pt-BR" sz="1400" dirty="0">
                <a:solidFill>
                  <a:srgbClr val="38415C"/>
                </a:solidFill>
              </a:rPr>
              <a:t xml:space="preserve"> (Joshi; Birkstedt et al.; Sprongl) viabiliza o </a:t>
            </a:r>
            <a:r>
              <a:rPr lang="pt-BR" sz="1400" i="1" dirty="0">
                <a:solidFill>
                  <a:srgbClr val="38415C"/>
                </a:solidFill>
              </a:rPr>
              <a:t>double-loop learning</a:t>
            </a:r>
            <a:r>
              <a:rPr lang="pt-BR" sz="1400" dirty="0">
                <a:solidFill>
                  <a:srgbClr val="38415C"/>
                </a:solidFill>
              </a:rPr>
              <a:t xml:space="preserve"> de Argyris — corrigir erros e questionar premissas — alinhando-se à </a:t>
            </a:r>
            <a:r>
              <a:rPr lang="pt-BR" sz="1400" i="1" dirty="0">
                <a:solidFill>
                  <a:srgbClr val="38415C"/>
                </a:solidFill>
              </a:rPr>
              <a:t>accountability</a:t>
            </a:r>
            <a:r>
              <a:rPr lang="pt-BR" sz="1400" dirty="0">
                <a:solidFill>
                  <a:srgbClr val="38415C"/>
                </a:solidFill>
              </a:rPr>
              <a:t xml:space="preserve"> exigida pelo AI Act europeu.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Limitações e Próximos Passos</a:t>
            </a:r>
          </a:p>
        </p:txBody>
      </p:sp>
      <p:sp>
        <p:nvSpPr>
          <p:cNvPr id="3" name="Header Lef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rgbClr val="EB976D"/>
                </a:solidFill>
              </a:rPr>
              <a:t>Limitações</a:t>
            </a:r>
          </a:p>
        </p:txBody>
      </p:sp>
      <p:sp>
        <p:nvSpPr>
          <p:cNvPr id="4" name="Content Left"/>
          <p:cNvSpPr>
            <a:spLocks noGrp="1"/>
          </p:cNvSpPr>
          <p:nvPr>
            <p:ph idx="2"/>
          </p:nvPr>
        </p:nvSpPr>
        <p:spPr/>
        <p:txBody>
          <a:bodyPr anchor="t">
            <a:normAutofit/>
          </a:bodyPr>
          <a:lstStyle/>
          <a:p>
            <a:pPr marL="342900" indent="-304800">
              <a:buFont typeface="Arial" pitchFamily="34" charset="0"/>
              <a:buChar char="•"/>
            </a:pPr>
            <a:r>
              <a:rPr lang="pt-BR" sz="1200" b="1" dirty="0">
                <a:solidFill>
                  <a:srgbClr val="EB976D"/>
                </a:solidFill>
              </a:rPr>
              <a:t xml:space="preserve">Escopo teórico-conceitual: </a:t>
            </a:r>
            <a:r>
              <a:rPr lang="pt-BR" sz="1200" dirty="0">
                <a:solidFill>
                  <a:srgbClr val="38415C"/>
                </a:solidFill>
              </a:rPr>
              <a:t>análise comparativa qualitativa frente a 19 modelos de UC (Mora-Mora et al.), sem validação empírica em contexto organizacional real.</a:t>
            </a:r>
          </a:p>
          <a:p>
            <a:pPr marL="342900" indent="-304800">
              <a:buFont typeface="Arial" pitchFamily="34" charset="0"/>
              <a:buChar char="•"/>
            </a:pPr>
            <a:r>
              <a:rPr lang="pt-BR" sz="1200" b="1" dirty="0">
                <a:solidFill>
                  <a:srgbClr val="EB976D"/>
                </a:solidFill>
              </a:rPr>
              <a:t xml:space="preserve">Risco de viés de confirmação: </a:t>
            </a:r>
            <a:r>
              <a:rPr lang="pt-BR" sz="1200" dirty="0">
                <a:solidFill>
                  <a:srgbClr val="38415C"/>
                </a:solidFill>
              </a:rPr>
              <a:t>dimensões analíticas e escala ordinal definidas pelos próprios autores; falta corroboração por painel independente (ex.: método Delphi).</a:t>
            </a:r>
          </a:p>
          <a:p>
            <a:pPr marL="342900" indent="-304800">
              <a:buFont typeface="Arial" pitchFamily="34" charset="0"/>
              <a:buChar char="•"/>
            </a:pPr>
            <a:r>
              <a:rPr lang="pt-BR" sz="1200" b="1" dirty="0">
                <a:solidFill>
                  <a:srgbClr val="EB976D"/>
                </a:solidFill>
              </a:rPr>
              <a:t xml:space="preserve">Backbone GRAI ainda carente de validação: </a:t>
            </a:r>
            <a:r>
              <a:rPr lang="pt-BR" sz="1200" dirty="0">
                <a:solidFill>
                  <a:srgbClr val="38415C"/>
                </a:solidFill>
              </a:rPr>
              <a:t>framework recente, sem validação empírica independente — mas o mapeamento às visões de Prat e Stollenwerk permanece válido.</a:t>
            </a:r>
          </a:p>
          <a:p>
            <a:pPr marL="342900" indent="-304800">
              <a:buFont typeface="Arial" pitchFamily="34" charset="0"/>
              <a:buChar char="•"/>
            </a:pPr>
            <a:r>
              <a:rPr lang="pt-BR" sz="1200" b="1" dirty="0">
                <a:solidFill>
                  <a:srgbClr val="EB976D"/>
                </a:solidFill>
              </a:rPr>
              <a:t xml:space="preserve">Triagem SLR-RAG por LLM: </a:t>
            </a:r>
            <a:r>
              <a:rPr lang="pt-BR" sz="1200" dirty="0">
                <a:solidFill>
                  <a:srgbClr val="38415C"/>
                </a:solidFill>
              </a:rPr>
              <a:t>introduz viéses do modelo avaliador; falta dupla triagem humana e métricas de concordância (kappa de Cohen).</a:t>
            </a:r>
          </a:p>
          <a:p>
            <a:pPr marL="342900" indent="-304800">
              <a:buFont typeface="Arial" pitchFamily="34" charset="0"/>
              <a:buChar char="•"/>
            </a:pPr>
            <a:r>
              <a:rPr lang="pt-BR" sz="1200" b="1" dirty="0">
                <a:solidFill>
                  <a:srgbClr val="EB976D"/>
                </a:solidFill>
              </a:rPr>
              <a:t xml:space="preserve">Limitações técnicas dos LLMs: </a:t>
            </a:r>
            <a:r>
              <a:rPr lang="pt-BR" sz="1200" dirty="0">
                <a:solidFill>
                  <a:srgbClr val="38415C"/>
                </a:solidFill>
              </a:rPr>
              <a:t>aluci</a:t>
            </a:r>
            <a:r>
              <a:rPr lang="pt-BR" sz="1200" dirty="0">
                <a:solidFill>
                  <a:srgbClr val="38415C"/>
                </a:solidFill>
              </a:rPr>
              <a:t>nações semânticas em RAG/Grafos de Conhecimento, custo de inferência computacional e alta volatilidade de soluções comerciais.</a:t>
            </a:r>
          </a:p>
        </p:txBody>
      </p:sp>
      <p:sp>
        <p:nvSpPr>
          <p:cNvPr id="5" name="Header Right"/>
          <p:cNvSpPr>
            <a:spLocks noGrp="1"/>
          </p:cNvSpPr>
          <p:nvPr>
            <p:ph idx="3"/>
          </p:nvPr>
        </p:nvSpPr>
        <p:spPr/>
        <p:txBody>
          <a:bodyPr/>
          <a:lstStyle/>
          <a:p>
            <a:r>
              <a:rPr lang="pt-BR" dirty="0">
                <a:solidFill>
                  <a:srgbClr val="2D7A4A"/>
                </a:solidFill>
              </a:rPr>
              <a:t>Próximos Passos</a:t>
            </a:r>
          </a:p>
        </p:txBody>
      </p:sp>
      <p:sp>
        <p:nvSpPr>
          <p:cNvPr id="6" name="Content Right"/>
          <p:cNvSpPr>
            <a:spLocks noGrp="1"/>
          </p:cNvSpPr>
          <p:nvPr>
            <p:ph idx="4"/>
          </p:nvPr>
        </p:nvSpPr>
        <p:spPr/>
        <p:txBody>
          <a:bodyPr anchor="t">
            <a:normAutofit/>
          </a:bodyPr>
          <a:lstStyle/>
          <a:p>
            <a:pPr marL="342900" indent="-304800">
              <a:buFont typeface="Arial" pitchFamily="34" charset="0"/>
              <a:buChar char="•"/>
            </a:pPr>
            <a:r>
              <a:rPr lang="pt-BR" sz="1200" b="1" dirty="0">
                <a:solidFill>
                  <a:srgbClr val="2D7A4A"/>
                </a:solidFill>
              </a:rPr>
              <a:t xml:space="preserve">Validação empírica longitudinal: </a:t>
            </a:r>
            <a:r>
              <a:rPr lang="pt-BR" sz="1200" dirty="0">
                <a:solidFill>
                  <a:srgbClr val="38415C"/>
                </a:solidFill>
              </a:rPr>
              <a:t>implementação e teste quantitativo do Modelo 3M 5.0 em ecossistemas reais de aprendizagem corporativa.</a:t>
            </a:r>
          </a:p>
          <a:p>
            <a:pPr marL="342900" indent="-304800">
              <a:buFont typeface="Arial" pitchFamily="34" charset="0"/>
              <a:buChar char="•"/>
            </a:pPr>
            <a:r>
              <a:rPr lang="pt-BR" sz="1200" b="1" dirty="0">
                <a:solidFill>
                  <a:srgbClr val="2D7A4A"/>
                </a:solidFill>
              </a:rPr>
              <a:t xml:space="preserve">Frameworks de auditoria algorítmica: </a:t>
            </a:r>
            <a:r>
              <a:rPr lang="pt-BR" sz="1200" dirty="0">
                <a:solidFill>
                  <a:srgbClr val="38415C"/>
                </a:solidFill>
              </a:rPr>
              <a:t xml:space="preserve">ferramentas de </a:t>
            </a:r>
            <a:r>
              <a:rPr lang="pt-BR" sz="1200" i="1" dirty="0">
                <a:solidFill>
                  <a:srgbClr val="38415C"/>
                </a:solidFill>
              </a:rPr>
              <a:t>compliance</a:t>
            </a:r>
            <a:r>
              <a:rPr lang="pt-BR" sz="1200" dirty="0">
                <a:solidFill>
                  <a:srgbClr val="38415C"/>
                </a:solidFill>
              </a:rPr>
              <a:t xml:space="preserve"> para sistemas de T&amp;D baseados em IA, alinhadas ao AI Act europeu.</a:t>
            </a:r>
          </a:p>
          <a:p>
            <a:pPr marL="342900" indent="-304800">
              <a:buFont typeface="Arial" pitchFamily="34" charset="0"/>
              <a:buChar char="•"/>
            </a:pPr>
            <a:r>
              <a:rPr lang="pt-BR" sz="1200" b="1" dirty="0">
                <a:solidFill>
                  <a:srgbClr val="2D7A4A"/>
                </a:solidFill>
              </a:rPr>
              <a:t xml:space="preserve">Estudos sobre impactos psicossociais: </a:t>
            </a:r>
            <a:r>
              <a:rPr lang="pt-BR" sz="1200" dirty="0">
                <a:solidFill>
                  <a:srgbClr val="38415C"/>
                </a:solidFill>
              </a:rPr>
              <a:t>investigações longitudinais sobre saúde intelectual, autonomia decisória e segurança psicológica dos trabalhadores do conhecimento.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z="1600" b="1" dirty="0"/>
              <a:t>Perguntas e Discussão</a:t>
            </a:r>
          </a:p>
          <a:p>
            <a:r>
              <a:rPr lang="pt-BR" sz="1500" dirty="0"/>
              <a:t>João Pedro Barbosa Martins — joaopedro@cos.ufrj.br</a:t>
            </a:r>
          </a:p>
          <a:p>
            <a:r>
              <a:rPr lang="pt-BR" sz="1200" dirty="0"/>
              <a:t>Orientadoras: Viviane Cunha Farias da Costa e Emily Lopes — PESC/COPPE-UFRJ</a:t>
            </a:r>
          </a:p>
          <a:p>
            <a:r>
              <a:rPr lang="pt-BR" sz="1200" dirty="0"/>
              <a:t>CPS831 — Gestão Aumentada do Conhecimento 5.0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2103</Words>
  <Application>Microsoft Macintosh PowerPoint</Application>
  <PresentationFormat>On-screen Show (4:3)</PresentationFormat>
  <Paragraphs>154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Fira Sans</vt:lpstr>
      <vt:lpstr>Calibri</vt:lpstr>
      <vt:lpstr>Office Theme</vt:lpstr>
      <vt:lpstr>Knowledge management: a personal knowledge network perspective</vt:lpstr>
      <vt:lpstr>Objetivo</vt:lpstr>
      <vt:lpstr>Panorama e motivação</vt:lpstr>
      <vt:lpstr>Knowledge as a thing</vt:lpstr>
      <vt:lpstr>Knowledge as a process</vt:lpstr>
      <vt:lpstr>Deficiências Sistêmicas</vt:lpstr>
      <vt:lpstr>Personal Knowledge Management</vt:lpstr>
      <vt:lpstr>Personal Knowledge Network</vt:lpstr>
      <vt:lpstr>Personal Knowledge Network</vt:lpstr>
      <vt:lpstr>Personal Knowledge Network Single-Loop vs. Double-Loop Learning</vt:lpstr>
      <vt:lpstr>Personal Knowledge Network Knowledge Ecologies</vt:lpstr>
      <vt:lpstr>Personal Knowledge Network Knowledge Ecologies</vt:lpstr>
      <vt:lpstr>PowerPoint Presentation</vt:lpstr>
      <vt:lpstr>KM x PKM x PKN</vt:lpstr>
      <vt:lpstr>FIM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João Pedro Barbosa dos Santos M. Silva</cp:lastModifiedBy>
  <cp:revision>1</cp:revision>
  <dcterms:modified xsi:type="dcterms:W3CDTF">2026-03-26T16:06:56Z</dcterms:modified>
</cp:coreProperties>
</file>