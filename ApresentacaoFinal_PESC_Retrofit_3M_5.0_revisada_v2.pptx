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9144000" cy="6858000" type="screen4x3"/>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58"/>
  </p:normalViewPr>
  <p:slideViewPr>
    <p:cSldViewPr snapToGrid="0">
      <p:cViewPr varScale="1">
        <p:scale>
          <a:sx n="120" d="100"/>
          <a:sy n="120" d="100"/>
        </p:scale>
        <p:origin x="1944"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
        <p:cNvGrpSpPr/>
        <p:nvPr/>
      </p:nvGrpSpPr>
      <p:grpSpPr>
        <a:xfrm>
          <a:off x="0" y="0"/>
          <a:ext cx="0" cy="0"/>
          <a:chOff x="0" y="0"/>
          <a:chExt cx="0" cy="0"/>
        </a:xfrm>
      </p:grpSpPr>
      <p:sp>
        <p:nvSpPr>
          <p:cNvPr id="19" name="Google Shape;19;p2">
            <a:extLst>
              <a:ext uri="{FF2B5EF4-FFF2-40B4-BE49-F238E27FC236}">
                <a16:creationId xmlns:a16="http://schemas.microsoft.com/office/drawing/2014/main" id="{671A2153-70B6-4648-B799-CB28E04A61AF}"/>
              </a:ext>
            </a:extLst>
          </p:cNvPr>
          <p:cNvSpPr>
            <a:spLocks noGrp="1"/>
          </p:cNvSpPr>
          <p:nvPr>
            <p:ph type="ctrTitle"/>
          </p:nvPr>
        </p:nvSpPr>
        <p:spPr>
          <a:xfrm>
            <a:off x="2835445" y="800861"/>
            <a:ext cx="6191137" cy="3463516"/>
          </a:xfrm>
          <a:prstGeom prst="rect">
            <a:avLst/>
          </a:prstGeom>
          <a:noFill/>
          <a:ln>
            <a:noFill/>
          </a:ln>
        </p:spPr>
        <p:txBody>
          <a:bodyPr spcFirstLastPara="1" wrap="square" lIns="91425" tIns="45700" rIns="91425" bIns="45700" anchor="b">
            <a:normAutofit/>
          </a:bodyPr>
          <a:lstStyle>
            <a:lvl1pPr algn="ctr">
              <a:lnSpc>
                <a:spcPct val="90000"/>
              </a:lnSpc>
              <a:spcBef>
                <a:spcPts val="0"/>
              </a:spcBef>
              <a:spcAft>
                <a:spcPts val="0"/>
              </a:spcAft>
              <a:buNone/>
              <a:defRPr sz="4500">
                <a:solidFill>
                  <a:srgbClr val="38415C"/>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20" name="Google Shape;20;p2">
            <a:extLst>
              <a:ext uri="{FF2B5EF4-FFF2-40B4-BE49-F238E27FC236}">
                <a16:creationId xmlns:a16="http://schemas.microsoft.com/office/drawing/2014/main" id="{C938B4B9-6E4E-42C9-B0B0-38836786C709}"/>
              </a:ext>
            </a:extLst>
          </p:cNvPr>
          <p:cNvSpPr>
            <a:spLocks noGrp="1"/>
          </p:cNvSpPr>
          <p:nvPr>
            <p:ph type="subTitle" idx="1"/>
          </p:nvPr>
        </p:nvSpPr>
        <p:spPr>
          <a:xfrm>
            <a:off x="2835445" y="4414058"/>
            <a:ext cx="6217114" cy="901348"/>
          </a:xfrm>
          <a:prstGeom prst="rect">
            <a:avLst/>
          </a:prstGeom>
          <a:noFill/>
          <a:ln>
            <a:noFill/>
          </a:ln>
        </p:spPr>
        <p:txBody>
          <a:bodyPr spcFirstLastPara="1" wrap="square" lIns="91425" tIns="45700" rIns="91425" bIns="45700" anchor="t">
            <a:normAutofit/>
          </a:bodyPr>
          <a:lstStyle>
            <a:lvl1pPr algn="ctr">
              <a:lnSpc>
                <a:spcPct val="90000"/>
              </a:lnSpc>
              <a:spcBef>
                <a:spcPts val="750"/>
              </a:spcBef>
              <a:spcAft>
                <a:spcPts val="0"/>
              </a:spcAft>
              <a:buNone/>
              <a:defRPr sz="1800">
                <a:solidFill>
                  <a:srgbClr val="38415C"/>
                </a:solidFill>
              </a:defRPr>
            </a:lvl1pPr>
            <a:lvl2pPr algn="ctr">
              <a:lnSpc>
                <a:spcPct val="90000"/>
              </a:lnSpc>
              <a:spcBef>
                <a:spcPts val="375"/>
              </a:spcBef>
              <a:spcAft>
                <a:spcPts val="0"/>
              </a:spcAft>
              <a:buNone/>
              <a:defRPr sz="1500"/>
            </a:lvl2pPr>
            <a:lvl3pPr algn="ctr">
              <a:lnSpc>
                <a:spcPct val="90000"/>
              </a:lnSpc>
              <a:spcBef>
                <a:spcPts val="375"/>
              </a:spcBef>
              <a:spcAft>
                <a:spcPts val="0"/>
              </a:spcAft>
              <a:buNone/>
              <a:defRPr sz="1350"/>
            </a:lvl3pPr>
            <a:lvl4pPr algn="ctr">
              <a:lnSpc>
                <a:spcPct val="90000"/>
              </a:lnSpc>
              <a:spcBef>
                <a:spcPts val="375"/>
              </a:spcBef>
              <a:spcAft>
                <a:spcPts val="0"/>
              </a:spcAft>
              <a:buNone/>
              <a:defRPr sz="1200"/>
            </a:lvl4pPr>
            <a:lvl5pPr algn="ctr">
              <a:lnSpc>
                <a:spcPct val="90000"/>
              </a:lnSpc>
              <a:spcBef>
                <a:spcPts val="375"/>
              </a:spcBef>
              <a:spcAft>
                <a:spcPts val="0"/>
              </a:spcAft>
              <a:buNone/>
              <a:defRPr sz="1200"/>
            </a:lvl5pPr>
            <a:lvl6pPr algn="ctr">
              <a:lnSpc>
                <a:spcPct val="90000"/>
              </a:lnSpc>
              <a:spcBef>
                <a:spcPts val="375"/>
              </a:spcBef>
              <a:spcAft>
                <a:spcPts val="0"/>
              </a:spcAft>
              <a:buNone/>
              <a:defRPr sz="1200"/>
            </a:lvl6pPr>
            <a:lvl7pPr algn="ctr">
              <a:lnSpc>
                <a:spcPct val="90000"/>
              </a:lnSpc>
              <a:spcBef>
                <a:spcPts val="375"/>
              </a:spcBef>
              <a:spcAft>
                <a:spcPts val="0"/>
              </a:spcAft>
              <a:buNone/>
              <a:defRPr sz="1200"/>
            </a:lvl7pPr>
            <a:lvl8pPr algn="ctr">
              <a:lnSpc>
                <a:spcPct val="90000"/>
              </a:lnSpc>
              <a:spcBef>
                <a:spcPts val="375"/>
              </a:spcBef>
              <a:spcAft>
                <a:spcPts val="0"/>
              </a:spcAft>
              <a:buNone/>
              <a:defRPr sz="1200"/>
            </a:lvl8pPr>
            <a:lvl9pPr algn="ctr">
              <a:lnSpc>
                <a:spcPct val="90000"/>
              </a:lnSpc>
              <a:spcBef>
                <a:spcPts val="375"/>
              </a:spcBef>
              <a:spcAft>
                <a:spcPts val="0"/>
              </a:spcAft>
              <a:buNone/>
              <a:defRPr sz="1200"/>
            </a:lvl9pPr>
          </a:lstStyle>
          <a:p>
            <a:endParaRPr/>
          </a:p>
        </p:txBody>
      </p:sp>
      <p:pic>
        <p:nvPicPr>
          <p:cNvPr id="21" name="Google Shape;21;p2"/>
          <p:cNvPicPr>
            <a:picLocks noChangeAspect="1"/>
          </p:cNvPicPr>
          <p:nvPr/>
        </p:nvPicPr>
        <p:blipFill rotWithShape="1">
          <a:blip r:embed="rId2"/>
          <a:srcRect/>
          <a:stretch/>
        </p:blipFill>
        <p:spPr>
          <a:xfrm>
            <a:off x="6119096" y="219583"/>
            <a:ext cx="1350000" cy="777718"/>
          </a:xfrm>
          <a:prstGeom prst="rect">
            <a:avLst/>
          </a:prstGeom>
          <a:ln>
            <a:noFill/>
          </a:ln>
        </p:spPr>
      </p:pic>
      <p:pic>
        <p:nvPicPr>
          <p:cNvPr id="22" name="Google Shape;22;p2"/>
          <p:cNvPicPr>
            <a:picLocks noChangeAspect="1"/>
          </p:cNvPicPr>
          <p:nvPr/>
        </p:nvPicPr>
        <p:blipFill rotWithShape="1">
          <a:blip r:embed="rId3"/>
          <a:srcRect/>
          <a:stretch/>
        </p:blipFill>
        <p:spPr>
          <a:xfrm>
            <a:off x="91442" y="219583"/>
            <a:ext cx="3229658" cy="5515718"/>
          </a:xfrm>
          <a:prstGeom prst="rect">
            <a:avLst/>
          </a:prstGeom>
          <a:ln>
            <a:noFill/>
          </a:ln>
        </p:spPr>
      </p:pic>
      <p:pic>
        <p:nvPicPr>
          <p:cNvPr id="23" name="Google Shape;23;p2"/>
          <p:cNvPicPr>
            <a:picLocks noChangeAspect="1"/>
          </p:cNvPicPr>
          <p:nvPr/>
        </p:nvPicPr>
        <p:blipFill rotWithShape="1">
          <a:blip r:embed="rId4"/>
          <a:srcRect/>
          <a:stretch/>
        </p:blipFill>
        <p:spPr>
          <a:xfrm>
            <a:off x="7519689" y="-45213"/>
            <a:ext cx="1624312" cy="1307310"/>
          </a:xfrm>
          <a:prstGeom prst="rect">
            <a:avLst/>
          </a:prstGeom>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p:cSld name="Title and Content">
    <p:spTree>
      <p:nvGrpSpPr>
        <p:cNvPr id="1" name=""/>
        <p:cNvGrpSpPr/>
        <p:nvPr/>
      </p:nvGrpSpPr>
      <p:grpSpPr>
        <a:xfrm>
          <a:off x="0" y="0"/>
          <a:ext cx="0" cy="0"/>
          <a:chOff x="0" y="0"/>
          <a:chExt cx="0" cy="0"/>
        </a:xfrm>
      </p:grpSpPr>
      <p:sp>
        <p:nvSpPr>
          <p:cNvPr id="31" name="Google Shape;31;p4">
            <a:extLst>
              <a:ext uri="{FF2B5EF4-FFF2-40B4-BE49-F238E27FC236}">
                <a16:creationId xmlns:a16="http://schemas.microsoft.com/office/drawing/2014/main" id="{885F1D73-AB48-4D6F-9282-0BF96F060F7A}"/>
              </a:ext>
            </a:extLst>
          </p:cNvPr>
          <p:cNvSpPr>
            <a:spLocks noGrp="1"/>
          </p:cNvSpPr>
          <p:nvPr>
            <p:ph type="body" idx="1"/>
          </p:nvPr>
        </p:nvSpPr>
        <p:spPr>
          <a:xfrm>
            <a:off x="117417" y="1501428"/>
            <a:ext cx="8935142" cy="4680000"/>
          </a:xfrm>
          <a:prstGeom prst="rect">
            <a:avLst/>
          </a:prstGeom>
          <a:noFill/>
          <a:ln>
            <a:noFill/>
          </a:ln>
        </p:spPr>
        <p:txBody>
          <a:bodyPr spcFirstLastPara="1" wrap="square" lIns="91425" tIns="45700" rIns="91425" bIns="45700" anchor="t">
            <a:normAutofit/>
          </a:bodyPr>
          <a:lstStyle>
            <a:lvl1pPr marL="342900" indent="-323850" algn="l">
              <a:lnSpc>
                <a:spcPct val="90000"/>
              </a:lnSpc>
              <a:spcBef>
                <a:spcPts val="750"/>
              </a:spcBef>
              <a:spcAft>
                <a:spcPts val="0"/>
              </a:spcAft>
              <a:buChar char="•"/>
              <a:defRPr sz="2400">
                <a:solidFill>
                  <a:srgbClr val="38415C"/>
                </a:solidFill>
              </a:defRPr>
            </a:lvl1pPr>
            <a:lvl2pPr marL="685800" indent="-304800" algn="l">
              <a:lnSpc>
                <a:spcPct val="90000"/>
              </a:lnSpc>
              <a:spcBef>
                <a:spcPts val="375"/>
              </a:spcBef>
              <a:spcAft>
                <a:spcPts val="0"/>
              </a:spcAft>
              <a:buChar char="•"/>
              <a:defRPr sz="2100">
                <a:solidFill>
                  <a:srgbClr val="38415C"/>
                </a:solidFill>
              </a:defRPr>
            </a:lvl2pPr>
            <a:lvl3pPr marL="1028700" indent="-285750" algn="l">
              <a:lnSpc>
                <a:spcPct val="90000"/>
              </a:lnSpc>
              <a:spcBef>
                <a:spcPts val="375"/>
              </a:spcBef>
              <a:spcAft>
                <a:spcPts val="0"/>
              </a:spcAft>
              <a:buChar char="•"/>
              <a:defRPr sz="1800">
                <a:solidFill>
                  <a:srgbClr val="38415C"/>
                </a:solidFill>
              </a:defRPr>
            </a:lvl3pPr>
            <a:lvl4pPr marL="1371600" indent="-266700" algn="l">
              <a:lnSpc>
                <a:spcPct val="90000"/>
              </a:lnSpc>
              <a:spcBef>
                <a:spcPts val="375"/>
              </a:spcBef>
              <a:spcAft>
                <a:spcPts val="0"/>
              </a:spcAft>
              <a:buChar char="•"/>
              <a:defRPr sz="1500">
                <a:solidFill>
                  <a:srgbClr val="38415C"/>
                </a:solidFill>
              </a:defRPr>
            </a:lvl4pPr>
            <a:lvl5pPr marL="1714500" indent="-266700" algn="l">
              <a:lnSpc>
                <a:spcPct val="90000"/>
              </a:lnSpc>
              <a:spcBef>
                <a:spcPts val="375"/>
              </a:spcBef>
              <a:spcAft>
                <a:spcPts val="0"/>
              </a:spcAft>
              <a:buChar char="•"/>
              <a:defRPr sz="1500">
                <a:solidFill>
                  <a:srgbClr val="38415C"/>
                </a:solidFill>
              </a:defRPr>
            </a:lvl5pPr>
            <a:lvl6pPr marL="2057400" indent="-257175" algn="l">
              <a:lnSpc>
                <a:spcPct val="90000"/>
              </a:lnSpc>
              <a:spcBef>
                <a:spcPts val="375"/>
              </a:spcBef>
              <a:spcAft>
                <a:spcPts val="0"/>
              </a:spcAft>
              <a:buChar char="•"/>
              <a:defRPr/>
            </a:lvl6pPr>
            <a:lvl7pPr marL="2400300" indent="-257175" algn="l">
              <a:lnSpc>
                <a:spcPct val="90000"/>
              </a:lnSpc>
              <a:spcBef>
                <a:spcPts val="375"/>
              </a:spcBef>
              <a:spcAft>
                <a:spcPts val="0"/>
              </a:spcAft>
              <a:buChar char="•"/>
              <a:defRPr/>
            </a:lvl7pPr>
            <a:lvl8pPr marL="2743200" indent="-257175" algn="l">
              <a:lnSpc>
                <a:spcPct val="90000"/>
              </a:lnSpc>
              <a:spcBef>
                <a:spcPts val="375"/>
              </a:spcBef>
              <a:spcAft>
                <a:spcPts val="0"/>
              </a:spcAft>
              <a:buChar char="•"/>
              <a:defRPr/>
            </a:lvl8pPr>
            <a:lvl9pPr marL="3086100" indent="-257175" algn="l">
              <a:lnSpc>
                <a:spcPct val="90000"/>
              </a:lnSpc>
              <a:spcBef>
                <a:spcPts val="375"/>
              </a:spcBef>
              <a:spcAft>
                <a:spcPts val="0"/>
              </a:spcAft>
              <a:buChar char="•"/>
              <a:defRPr/>
            </a:lvl9pPr>
          </a:lstStyle>
          <a:p>
            <a:endParaRPr/>
          </a:p>
        </p:txBody>
      </p:sp>
      <p:sp>
        <p:nvSpPr>
          <p:cNvPr id="32" name="Google Shape;32;p4">
            <a:extLst>
              <a:ext uri="{FF2B5EF4-FFF2-40B4-BE49-F238E27FC236}">
                <a16:creationId xmlns:a16="http://schemas.microsoft.com/office/drawing/2014/main" id="{50391B8C-40B2-471E-8C7E-9167DE9DE854}"/>
              </a:ext>
            </a:extLst>
          </p:cNvPr>
          <p:cNvSpPr>
            <a:spLocks noGrp="1"/>
          </p:cNvSpPr>
          <p:nvPr>
            <p:ph type="title"/>
          </p:nvPr>
        </p:nvSpPr>
        <p:spPr>
          <a:xfrm>
            <a:off x="866601" y="66183"/>
            <a:ext cx="8185958" cy="1334336"/>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7" name="Google Shape;83;p11">
            <a:extLst>
              <a:ext uri="{FF2B5EF4-FFF2-40B4-BE49-F238E27FC236}">
                <a16:creationId xmlns:a16="http://schemas.microsoft.com/office/drawing/2014/main" id="{701370BF-C132-A715-D273-78D75983D631}"/>
              </a:ext>
            </a:extLst>
          </p:cNvPr>
          <p:cNvSpPr>
            <a:spLocks noGrp="1"/>
          </p:cNvSpPr>
          <p:nvPr>
            <p:ph type="sldNum" idx="12"/>
          </p:nvPr>
        </p:nvSpPr>
        <p:spPr>
          <a:xfrm>
            <a:off x="6600825" y="6350139"/>
            <a:ext cx="20574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fld id="{00000000-1234-1234-1234-123412341234}" type="slidenum">
              <a:t>‹#›</a:t>
            </a:fld>
            <a:endParaRPr/>
          </a:p>
        </p:txBody>
      </p:sp>
      <p:sp>
        <p:nvSpPr>
          <p:cNvPr id="8" name="Google Shape;13;p1">
            <a:extLst>
              <a:ext uri="{FF2B5EF4-FFF2-40B4-BE49-F238E27FC236}">
                <a16:creationId xmlns:a16="http://schemas.microsoft.com/office/drawing/2014/main" id="{4D55328F-AD34-6CA6-9477-5EF26BE4E3BF}"/>
              </a:ext>
            </a:extLst>
          </p:cNvPr>
          <p:cNvSpPr>
            <a:spLocks noGrp="1"/>
          </p:cNvSpPr>
          <p:nvPr/>
        </p:nvSpPr>
        <p:spPr>
          <a:xfrm>
            <a:off x="172583" y="6368185"/>
            <a:ext cx="2057400" cy="365125"/>
          </a:xfrm>
          <a:prstGeom prst="rect">
            <a:avLst/>
          </a:prstGeom>
          <a:noFill/>
          <a:ln>
            <a:noFill/>
          </a:ln>
        </p:spPr>
        <p:txBody>
          <a:bodyPr spcFirstLastPara="1" lIns="91425" tIns="45700" rIns="91425" bIns="45700" anchor="ctr">
            <a:noAutofit/>
          </a:bodyPr>
          <a:lstStyle>
            <a:lvl1pPr algn="l">
              <a:lnSpc>
                <a:spcPct val="100000"/>
              </a:lnSpc>
              <a:spcBef>
                <a:spcPts val="0"/>
              </a:spcBef>
              <a:spcAft>
                <a:spcPts val="0"/>
              </a:spcAft>
              <a:buNone/>
              <a:defRPr sz="900" b="0" i="0" u="none" cap="none">
                <a:solidFill>
                  <a:srgbClr val="EB976D"/>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a:pPr>
              <a:buNone/>
            </a:pPr>
            <a:r>
              <a:rPr sz="675" b="0" i="0">
                <a:solidFill>
                  <a:srgbClr val="EB976D"/>
                </a:solidFill>
                <a:latin typeface="Fira Sans"/>
                <a:ea typeface="Fira Sans"/>
                <a:cs typeface="Fira Sans"/>
              </a:rPr>
              <a:t>Martins · Costa · Lopes</a:t>
            </a:r>
          </a:p>
          <a:p>
            <a:pPr>
              <a:buNone/>
            </a:pPr>
            <a:r>
              <a:rPr sz="675" b="0" i="0">
                <a:solidFill>
                  <a:srgbClr val="EB976D"/>
                </a:solidFill>
                <a:latin typeface="Fira Sans"/>
                <a:ea typeface="Fira Sans"/>
                <a:cs typeface="Fira Sans"/>
              </a:rPr>
              <a:t>joaopedro@cos.ufrj.br</a:t>
            </a:r>
          </a:p>
        </p:txBody>
      </p:sp>
      <p:sp>
        <p:nvSpPr>
          <p:cNvPr id="9" name="Google Shape;14;p1">
            <a:extLst>
              <a:ext uri="{FF2B5EF4-FFF2-40B4-BE49-F238E27FC236}">
                <a16:creationId xmlns:a16="http://schemas.microsoft.com/office/drawing/2014/main" id="{94E57D7B-F424-A53D-4E48-4083B901B5B3}"/>
              </a:ext>
            </a:extLst>
          </p:cNvPr>
          <p:cNvSpPr>
            <a:spLocks noGrp="1"/>
          </p:cNvSpPr>
          <p:nvPr/>
        </p:nvSpPr>
        <p:spPr>
          <a:xfrm>
            <a:off x="2715758" y="6368185"/>
            <a:ext cx="3086100" cy="365125"/>
          </a:xfrm>
          <a:prstGeom prst="rect">
            <a:avLst/>
          </a:prstGeom>
          <a:noFill/>
          <a:ln>
            <a:noFill/>
          </a:ln>
        </p:spPr>
        <p:txBody>
          <a:bodyPr spcFirstLastPara="1" lIns="91425" tIns="45700" rIns="91425" bIns="45700" anchor="ctr">
            <a:noAutofit/>
          </a:bodyPr>
          <a:lstStyle>
            <a:lvl1pPr algn="ctr">
              <a:lnSpc>
                <a:spcPct val="100000"/>
              </a:lnSpc>
              <a:spcBef>
                <a:spcPts val="0"/>
              </a:spcBef>
              <a:spcAft>
                <a:spcPts val="0"/>
              </a:spcAft>
              <a:buNone/>
              <a:defRPr sz="2200" b="0" i="1" u="none" cap="none">
                <a:solidFill>
                  <a:srgbClr val="38415C"/>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a:pPr>
              <a:buNone/>
            </a:pPr>
            <a:r>
              <a:rPr sz="675" b="0" i="0">
                <a:solidFill>
                  <a:srgbClr val="38415C"/>
                </a:solidFill>
                <a:latin typeface="Fira Sans"/>
                <a:ea typeface="Fira Sans"/>
                <a:cs typeface="Fira Sans"/>
              </a:rPr>
              <a:t>MARTINS; COSTA; LOPES (2026) · Retrofit do Modelo 3M</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
        <p:cNvGrpSpPr/>
        <p:nvPr/>
      </p:nvGrpSpPr>
      <p:grpSpPr>
        <a:xfrm>
          <a:off x="0" y="0"/>
          <a:ext cx="0" cy="0"/>
          <a:chOff x="0" y="0"/>
          <a:chExt cx="0" cy="0"/>
        </a:xfrm>
      </p:grpSpPr>
      <p:sp>
        <p:nvSpPr>
          <p:cNvPr id="43" name="Google Shape;43;p6">
            <a:extLst>
              <a:ext uri="{FF2B5EF4-FFF2-40B4-BE49-F238E27FC236}">
                <a16:creationId xmlns:a16="http://schemas.microsoft.com/office/drawing/2014/main" id="{2F93B4C2-A7F9-4FA1-B6E2-A9FCA15A812B}"/>
              </a:ext>
            </a:extLst>
          </p:cNvPr>
          <p:cNvSpPr>
            <a:spLocks noGrp="1"/>
          </p:cNvSpPr>
          <p:nvPr>
            <p:ph type="title"/>
          </p:nvPr>
        </p:nvSpPr>
        <p:spPr>
          <a:xfrm>
            <a:off x="866601" y="66183"/>
            <a:ext cx="8185958" cy="1334336"/>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None/>
              <a:defRPr>
                <a:solidFill>
                  <a:srgbClr val="38415C"/>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44" name="Google Shape;44;p6">
            <a:extLst>
              <a:ext uri="{FF2B5EF4-FFF2-40B4-BE49-F238E27FC236}">
                <a16:creationId xmlns:a16="http://schemas.microsoft.com/office/drawing/2014/main" id="{CBFFC476-108B-4B1E-9958-FB6F2CE5E706}"/>
              </a:ext>
            </a:extLst>
          </p:cNvPr>
          <p:cNvSpPr>
            <a:spLocks noGrp="1"/>
          </p:cNvSpPr>
          <p:nvPr>
            <p:ph type="body" idx="1"/>
          </p:nvPr>
        </p:nvSpPr>
        <p:spPr>
          <a:xfrm>
            <a:off x="156408" y="1500884"/>
            <a:ext cx="4320000" cy="4680000"/>
          </a:xfrm>
          <a:prstGeom prst="rect">
            <a:avLst/>
          </a:prstGeom>
          <a:noFill/>
          <a:ln>
            <a:noFill/>
          </a:ln>
        </p:spPr>
        <p:txBody>
          <a:bodyPr spcFirstLastPara="1" wrap="square" lIns="91425" tIns="45700" rIns="91425" bIns="45700" anchor="t">
            <a:normAutofit/>
          </a:bodyPr>
          <a:lstStyle>
            <a:lvl1pPr marL="342900" indent="-304800" algn="l">
              <a:lnSpc>
                <a:spcPct val="90000"/>
              </a:lnSpc>
              <a:spcBef>
                <a:spcPts val="750"/>
              </a:spcBef>
              <a:spcAft>
                <a:spcPts val="0"/>
              </a:spcAft>
              <a:buChar char="•"/>
              <a:defRPr>
                <a:solidFill>
                  <a:srgbClr val="38415C"/>
                </a:solidFill>
              </a:defRPr>
            </a:lvl1pPr>
            <a:lvl2pPr marL="685800" indent="-285750" algn="l">
              <a:lnSpc>
                <a:spcPct val="90000"/>
              </a:lnSpc>
              <a:spcBef>
                <a:spcPts val="375"/>
              </a:spcBef>
              <a:spcAft>
                <a:spcPts val="0"/>
              </a:spcAft>
              <a:buChar char="•"/>
              <a:defRPr>
                <a:solidFill>
                  <a:srgbClr val="38415C"/>
                </a:solidFill>
              </a:defRPr>
            </a:lvl2pPr>
            <a:lvl3pPr marL="1028700" indent="-266700" algn="l">
              <a:lnSpc>
                <a:spcPct val="90000"/>
              </a:lnSpc>
              <a:spcBef>
                <a:spcPts val="375"/>
              </a:spcBef>
              <a:spcAft>
                <a:spcPts val="0"/>
              </a:spcAft>
              <a:buChar char="•"/>
              <a:defRPr>
                <a:solidFill>
                  <a:srgbClr val="38415C"/>
                </a:solidFill>
              </a:defRPr>
            </a:lvl3pPr>
            <a:lvl4pPr marL="1371600" indent="-257175" algn="l">
              <a:lnSpc>
                <a:spcPct val="90000"/>
              </a:lnSpc>
              <a:spcBef>
                <a:spcPts val="375"/>
              </a:spcBef>
              <a:spcAft>
                <a:spcPts val="0"/>
              </a:spcAft>
              <a:buChar char="•"/>
              <a:defRPr>
                <a:solidFill>
                  <a:srgbClr val="38415C"/>
                </a:solidFill>
              </a:defRPr>
            </a:lvl4pPr>
            <a:lvl5pPr marL="1714500" indent="-257175" algn="l">
              <a:lnSpc>
                <a:spcPct val="90000"/>
              </a:lnSpc>
              <a:spcBef>
                <a:spcPts val="375"/>
              </a:spcBef>
              <a:spcAft>
                <a:spcPts val="0"/>
              </a:spcAft>
              <a:buChar char="•"/>
              <a:defRPr>
                <a:solidFill>
                  <a:srgbClr val="38415C"/>
                </a:solidFill>
              </a:defRPr>
            </a:lvl5pPr>
            <a:lvl6pPr marL="2057400" indent="-257175" algn="l">
              <a:lnSpc>
                <a:spcPct val="90000"/>
              </a:lnSpc>
              <a:spcBef>
                <a:spcPts val="375"/>
              </a:spcBef>
              <a:spcAft>
                <a:spcPts val="0"/>
              </a:spcAft>
              <a:buChar char="•"/>
              <a:defRPr/>
            </a:lvl6pPr>
            <a:lvl7pPr marL="2400300" indent="-257175" algn="l">
              <a:lnSpc>
                <a:spcPct val="90000"/>
              </a:lnSpc>
              <a:spcBef>
                <a:spcPts val="375"/>
              </a:spcBef>
              <a:spcAft>
                <a:spcPts val="0"/>
              </a:spcAft>
              <a:buChar char="•"/>
              <a:defRPr/>
            </a:lvl7pPr>
            <a:lvl8pPr marL="2743200" indent="-257175" algn="l">
              <a:lnSpc>
                <a:spcPct val="90000"/>
              </a:lnSpc>
              <a:spcBef>
                <a:spcPts val="375"/>
              </a:spcBef>
              <a:spcAft>
                <a:spcPts val="0"/>
              </a:spcAft>
              <a:buChar char="•"/>
              <a:defRPr/>
            </a:lvl8pPr>
            <a:lvl9pPr marL="3086100" indent="-257175" algn="l">
              <a:lnSpc>
                <a:spcPct val="90000"/>
              </a:lnSpc>
              <a:spcBef>
                <a:spcPts val="375"/>
              </a:spcBef>
              <a:spcAft>
                <a:spcPts val="0"/>
              </a:spcAft>
              <a:buChar char="•"/>
              <a:defRPr/>
            </a:lvl9pPr>
          </a:lstStyle>
          <a:p>
            <a:endParaRPr/>
          </a:p>
        </p:txBody>
      </p:sp>
      <p:sp>
        <p:nvSpPr>
          <p:cNvPr id="45" name="Google Shape;45;p6">
            <a:extLst>
              <a:ext uri="{FF2B5EF4-FFF2-40B4-BE49-F238E27FC236}">
                <a16:creationId xmlns:a16="http://schemas.microsoft.com/office/drawing/2014/main" id="{26F1552E-FCF9-4583-81A3-F1606D5A6FA2}"/>
              </a:ext>
            </a:extLst>
          </p:cNvPr>
          <p:cNvSpPr>
            <a:spLocks noGrp="1"/>
          </p:cNvSpPr>
          <p:nvPr>
            <p:ph type="body" idx="2"/>
          </p:nvPr>
        </p:nvSpPr>
        <p:spPr>
          <a:xfrm>
            <a:off x="4732559" y="1500884"/>
            <a:ext cx="4320000" cy="4680000"/>
          </a:xfrm>
          <a:prstGeom prst="rect">
            <a:avLst/>
          </a:prstGeom>
          <a:noFill/>
          <a:ln>
            <a:noFill/>
          </a:ln>
        </p:spPr>
        <p:txBody>
          <a:bodyPr spcFirstLastPara="1" wrap="square" lIns="91425" tIns="45700" rIns="91425" bIns="45700" anchor="t">
            <a:normAutofit/>
          </a:bodyPr>
          <a:lstStyle>
            <a:lvl1pPr marL="342900" indent="-257175" algn="l">
              <a:lnSpc>
                <a:spcPct val="90000"/>
              </a:lnSpc>
              <a:spcBef>
                <a:spcPts val="750"/>
              </a:spcBef>
              <a:spcAft>
                <a:spcPts val="0"/>
              </a:spcAft>
              <a:buChar char="•"/>
              <a:defRPr/>
            </a:lvl1pPr>
            <a:lvl2pPr marL="685800" indent="-257175" algn="l">
              <a:lnSpc>
                <a:spcPct val="90000"/>
              </a:lnSpc>
              <a:spcBef>
                <a:spcPts val="375"/>
              </a:spcBef>
              <a:spcAft>
                <a:spcPts val="0"/>
              </a:spcAft>
              <a:buChar char="•"/>
              <a:defRPr/>
            </a:lvl2pPr>
            <a:lvl3pPr marL="1028700" indent="-257175" algn="l">
              <a:lnSpc>
                <a:spcPct val="90000"/>
              </a:lnSpc>
              <a:spcBef>
                <a:spcPts val="375"/>
              </a:spcBef>
              <a:spcAft>
                <a:spcPts val="0"/>
              </a:spcAft>
              <a:buChar char="•"/>
              <a:defRPr/>
            </a:lvl3pPr>
            <a:lvl4pPr marL="1371600" indent="-257175" algn="l">
              <a:lnSpc>
                <a:spcPct val="90000"/>
              </a:lnSpc>
              <a:spcBef>
                <a:spcPts val="375"/>
              </a:spcBef>
              <a:spcAft>
                <a:spcPts val="0"/>
              </a:spcAft>
              <a:buChar char="•"/>
              <a:defRPr/>
            </a:lvl4pPr>
            <a:lvl5pPr marL="1714500" indent="-257175" algn="l">
              <a:lnSpc>
                <a:spcPct val="90000"/>
              </a:lnSpc>
              <a:spcBef>
                <a:spcPts val="375"/>
              </a:spcBef>
              <a:spcAft>
                <a:spcPts val="0"/>
              </a:spcAft>
              <a:buChar char="•"/>
              <a:defRPr/>
            </a:lvl5pPr>
            <a:lvl6pPr marL="2057400" indent="-257175" algn="l">
              <a:lnSpc>
                <a:spcPct val="90000"/>
              </a:lnSpc>
              <a:spcBef>
                <a:spcPts val="375"/>
              </a:spcBef>
              <a:spcAft>
                <a:spcPts val="0"/>
              </a:spcAft>
              <a:buChar char="•"/>
              <a:defRPr/>
            </a:lvl6pPr>
            <a:lvl7pPr marL="2400300" indent="-257175" algn="l">
              <a:lnSpc>
                <a:spcPct val="90000"/>
              </a:lnSpc>
              <a:spcBef>
                <a:spcPts val="375"/>
              </a:spcBef>
              <a:spcAft>
                <a:spcPts val="0"/>
              </a:spcAft>
              <a:buChar char="•"/>
              <a:defRPr/>
            </a:lvl7pPr>
            <a:lvl8pPr marL="2743200" indent="-257175" algn="l">
              <a:lnSpc>
                <a:spcPct val="90000"/>
              </a:lnSpc>
              <a:spcBef>
                <a:spcPts val="375"/>
              </a:spcBef>
              <a:spcAft>
                <a:spcPts val="0"/>
              </a:spcAft>
              <a:buChar char="•"/>
              <a:defRPr/>
            </a:lvl8pPr>
            <a:lvl9pPr marL="3086100" indent="-257175" algn="l">
              <a:lnSpc>
                <a:spcPct val="90000"/>
              </a:lnSpc>
              <a:spcBef>
                <a:spcPts val="375"/>
              </a:spcBef>
              <a:spcAft>
                <a:spcPts val="0"/>
              </a:spcAft>
              <a:buChar char="•"/>
              <a:defRPr/>
            </a:lvl9pPr>
          </a:lstStyle>
          <a:p>
            <a:endParaRPr/>
          </a:p>
        </p:txBody>
      </p:sp>
      <p:sp>
        <p:nvSpPr>
          <p:cNvPr id="7" name="Google Shape;83;p11">
            <a:extLst>
              <a:ext uri="{FF2B5EF4-FFF2-40B4-BE49-F238E27FC236}">
                <a16:creationId xmlns:a16="http://schemas.microsoft.com/office/drawing/2014/main" id="{0762D070-8A19-B8CB-B343-A2D04F195B48}"/>
              </a:ext>
            </a:extLst>
          </p:cNvPr>
          <p:cNvSpPr>
            <a:spLocks noGrp="1"/>
          </p:cNvSpPr>
          <p:nvPr>
            <p:ph type="sldNum" idx="12"/>
          </p:nvPr>
        </p:nvSpPr>
        <p:spPr>
          <a:xfrm>
            <a:off x="6600825" y="6350139"/>
            <a:ext cx="20574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fld id="{00000000-1234-1234-1234-123412341234}" type="slidenum">
              <a:t>‹#›</a:t>
            </a:fld>
            <a:endParaRPr/>
          </a:p>
        </p:txBody>
      </p:sp>
      <p:sp>
        <p:nvSpPr>
          <p:cNvPr id="8" name="Google Shape;13;p1">
            <a:extLst>
              <a:ext uri="{FF2B5EF4-FFF2-40B4-BE49-F238E27FC236}">
                <a16:creationId xmlns:a16="http://schemas.microsoft.com/office/drawing/2014/main" id="{6B296B81-4886-2FF3-AF57-6A1207AEBE18}"/>
              </a:ext>
            </a:extLst>
          </p:cNvPr>
          <p:cNvSpPr>
            <a:spLocks noGrp="1"/>
          </p:cNvSpPr>
          <p:nvPr/>
        </p:nvSpPr>
        <p:spPr>
          <a:xfrm>
            <a:off x="172583" y="6368185"/>
            <a:ext cx="2057400" cy="365125"/>
          </a:xfrm>
          <a:prstGeom prst="rect">
            <a:avLst/>
          </a:prstGeom>
          <a:noFill/>
          <a:ln>
            <a:noFill/>
          </a:ln>
        </p:spPr>
        <p:txBody>
          <a:bodyPr spcFirstLastPara="1" lIns="91425" tIns="45700" rIns="91425" bIns="45700" anchor="ctr">
            <a:noAutofit/>
          </a:bodyPr>
          <a:lstStyle>
            <a:lvl1pPr algn="l">
              <a:lnSpc>
                <a:spcPct val="100000"/>
              </a:lnSpc>
              <a:spcBef>
                <a:spcPts val="0"/>
              </a:spcBef>
              <a:spcAft>
                <a:spcPts val="0"/>
              </a:spcAft>
              <a:buNone/>
              <a:defRPr sz="900" b="0" i="0" u="none" cap="none">
                <a:solidFill>
                  <a:srgbClr val="EB976D"/>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a:pPr>
              <a:buNone/>
            </a:pPr>
            <a:r>
              <a:rPr sz="675" b="0" i="0">
                <a:solidFill>
                  <a:srgbClr val="EB976D"/>
                </a:solidFill>
                <a:latin typeface="Fira Sans"/>
                <a:ea typeface="Fira Sans"/>
                <a:cs typeface="Fira Sans"/>
              </a:rPr>
              <a:t>Martins · Costa · Lopes</a:t>
            </a:r>
          </a:p>
          <a:p>
            <a:pPr>
              <a:buNone/>
            </a:pPr>
            <a:r>
              <a:rPr sz="675" b="0" i="0">
                <a:solidFill>
                  <a:srgbClr val="EB976D"/>
                </a:solidFill>
                <a:latin typeface="Fira Sans"/>
                <a:ea typeface="Fira Sans"/>
                <a:cs typeface="Fira Sans"/>
              </a:rPr>
              <a:t>joaopedro@cos.ufrj.br</a:t>
            </a:r>
          </a:p>
        </p:txBody>
      </p:sp>
      <p:sp>
        <p:nvSpPr>
          <p:cNvPr id="9" name="Google Shape;14;p1">
            <a:extLst>
              <a:ext uri="{FF2B5EF4-FFF2-40B4-BE49-F238E27FC236}">
                <a16:creationId xmlns:a16="http://schemas.microsoft.com/office/drawing/2014/main" id="{F9437BE5-C60A-6BCA-BA8A-841AEA1C2DC3}"/>
              </a:ext>
            </a:extLst>
          </p:cNvPr>
          <p:cNvSpPr>
            <a:spLocks noGrp="1"/>
          </p:cNvSpPr>
          <p:nvPr/>
        </p:nvSpPr>
        <p:spPr>
          <a:xfrm>
            <a:off x="2715758" y="6368185"/>
            <a:ext cx="3086100" cy="365125"/>
          </a:xfrm>
          <a:prstGeom prst="rect">
            <a:avLst/>
          </a:prstGeom>
          <a:noFill/>
          <a:ln>
            <a:noFill/>
          </a:ln>
        </p:spPr>
        <p:txBody>
          <a:bodyPr spcFirstLastPara="1" lIns="91425" tIns="45700" rIns="91425" bIns="45700" anchor="ctr">
            <a:noAutofit/>
          </a:bodyPr>
          <a:lstStyle>
            <a:lvl1pPr algn="ctr">
              <a:lnSpc>
                <a:spcPct val="100000"/>
              </a:lnSpc>
              <a:spcBef>
                <a:spcPts val="0"/>
              </a:spcBef>
              <a:spcAft>
                <a:spcPts val="0"/>
              </a:spcAft>
              <a:buNone/>
              <a:defRPr sz="2200" b="0" i="1" u="none" cap="none">
                <a:solidFill>
                  <a:srgbClr val="38415C"/>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a:pPr>
              <a:buNone/>
            </a:pPr>
            <a:r>
              <a:rPr sz="675" b="0" i="0">
                <a:solidFill>
                  <a:srgbClr val="38415C"/>
                </a:solidFill>
                <a:latin typeface="Fira Sans"/>
                <a:ea typeface="Fira Sans"/>
                <a:cs typeface="Fira Sans"/>
              </a:rPr>
              <a:t>MARTINS; COSTA; LOPES (2026) · Retrofit do Modelo 3M</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2_Two Content">
  <p:cSld name="2_Two Content">
    <p:spTree>
      <p:nvGrpSpPr>
        <p:cNvPr id="1" name=""/>
        <p:cNvGrpSpPr/>
        <p:nvPr/>
      </p:nvGrpSpPr>
      <p:grpSpPr>
        <a:xfrm>
          <a:off x="0" y="0"/>
          <a:ext cx="0" cy="0"/>
          <a:chOff x="0" y="0"/>
          <a:chExt cx="0" cy="0"/>
        </a:xfrm>
      </p:grpSpPr>
      <p:sp>
        <p:nvSpPr>
          <p:cNvPr id="50" name="Google Shape;50;p7">
            <a:extLst>
              <a:ext uri="{FF2B5EF4-FFF2-40B4-BE49-F238E27FC236}">
                <a16:creationId xmlns:a16="http://schemas.microsoft.com/office/drawing/2014/main" id="{1F094840-48D7-46BF-987D-D52D19A15515}"/>
              </a:ext>
            </a:extLst>
          </p:cNvPr>
          <p:cNvSpPr>
            <a:spLocks noGrp="1"/>
          </p:cNvSpPr>
          <p:nvPr>
            <p:ph type="title"/>
          </p:nvPr>
        </p:nvSpPr>
        <p:spPr>
          <a:xfrm>
            <a:off x="866601" y="66183"/>
            <a:ext cx="8185958" cy="1334336"/>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None/>
              <a:defRPr>
                <a:solidFill>
                  <a:srgbClr val="38415C"/>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51" name="Google Shape;51;p7">
            <a:extLst>
              <a:ext uri="{FF2B5EF4-FFF2-40B4-BE49-F238E27FC236}">
                <a16:creationId xmlns:a16="http://schemas.microsoft.com/office/drawing/2014/main" id="{DBA1D6F6-41F8-4463-9938-31E5D44C5ACA}"/>
              </a:ext>
            </a:extLst>
          </p:cNvPr>
          <p:cNvSpPr>
            <a:spLocks noGrp="1"/>
          </p:cNvSpPr>
          <p:nvPr>
            <p:ph type="body" idx="1"/>
          </p:nvPr>
        </p:nvSpPr>
        <p:spPr>
          <a:xfrm>
            <a:off x="4732559" y="1500884"/>
            <a:ext cx="4320000" cy="4680000"/>
          </a:xfrm>
          <a:prstGeom prst="rect">
            <a:avLst/>
          </a:prstGeom>
          <a:noFill/>
          <a:ln>
            <a:noFill/>
          </a:ln>
        </p:spPr>
        <p:txBody>
          <a:bodyPr spcFirstLastPara="1" wrap="square" lIns="91425" tIns="45700" rIns="91425" bIns="45700" anchor="t">
            <a:normAutofit/>
          </a:bodyPr>
          <a:lstStyle>
            <a:lvl1pPr marL="342900" indent="-257175" algn="l">
              <a:lnSpc>
                <a:spcPct val="90000"/>
              </a:lnSpc>
              <a:spcBef>
                <a:spcPts val="750"/>
              </a:spcBef>
              <a:spcAft>
                <a:spcPts val="0"/>
              </a:spcAft>
              <a:buChar char="•"/>
              <a:defRPr/>
            </a:lvl1pPr>
            <a:lvl2pPr marL="685800" indent="-257175" algn="l">
              <a:lnSpc>
                <a:spcPct val="90000"/>
              </a:lnSpc>
              <a:spcBef>
                <a:spcPts val="375"/>
              </a:spcBef>
              <a:spcAft>
                <a:spcPts val="0"/>
              </a:spcAft>
              <a:buChar char="•"/>
              <a:defRPr/>
            </a:lvl2pPr>
            <a:lvl3pPr marL="1028700" indent="-257175" algn="l">
              <a:lnSpc>
                <a:spcPct val="90000"/>
              </a:lnSpc>
              <a:spcBef>
                <a:spcPts val="375"/>
              </a:spcBef>
              <a:spcAft>
                <a:spcPts val="0"/>
              </a:spcAft>
              <a:buChar char="•"/>
              <a:defRPr/>
            </a:lvl3pPr>
            <a:lvl4pPr marL="1371600" indent="-257175" algn="l">
              <a:lnSpc>
                <a:spcPct val="90000"/>
              </a:lnSpc>
              <a:spcBef>
                <a:spcPts val="375"/>
              </a:spcBef>
              <a:spcAft>
                <a:spcPts val="0"/>
              </a:spcAft>
              <a:buChar char="•"/>
              <a:defRPr/>
            </a:lvl4pPr>
            <a:lvl5pPr marL="1714500" indent="-257175" algn="l">
              <a:lnSpc>
                <a:spcPct val="90000"/>
              </a:lnSpc>
              <a:spcBef>
                <a:spcPts val="375"/>
              </a:spcBef>
              <a:spcAft>
                <a:spcPts val="0"/>
              </a:spcAft>
              <a:buChar char="•"/>
              <a:defRPr/>
            </a:lvl5pPr>
            <a:lvl6pPr marL="2057400" indent="-257175" algn="l">
              <a:lnSpc>
                <a:spcPct val="90000"/>
              </a:lnSpc>
              <a:spcBef>
                <a:spcPts val="375"/>
              </a:spcBef>
              <a:spcAft>
                <a:spcPts val="0"/>
              </a:spcAft>
              <a:buChar char="•"/>
              <a:defRPr/>
            </a:lvl6pPr>
            <a:lvl7pPr marL="2400300" indent="-257175" algn="l">
              <a:lnSpc>
                <a:spcPct val="90000"/>
              </a:lnSpc>
              <a:spcBef>
                <a:spcPts val="375"/>
              </a:spcBef>
              <a:spcAft>
                <a:spcPts val="0"/>
              </a:spcAft>
              <a:buChar char="•"/>
              <a:defRPr/>
            </a:lvl7pPr>
            <a:lvl8pPr marL="2743200" indent="-257175" algn="l">
              <a:lnSpc>
                <a:spcPct val="90000"/>
              </a:lnSpc>
              <a:spcBef>
                <a:spcPts val="375"/>
              </a:spcBef>
              <a:spcAft>
                <a:spcPts val="0"/>
              </a:spcAft>
              <a:buChar char="•"/>
              <a:defRPr/>
            </a:lvl8pPr>
            <a:lvl9pPr marL="3086100" indent="-257175" algn="l">
              <a:lnSpc>
                <a:spcPct val="90000"/>
              </a:lnSpc>
              <a:spcBef>
                <a:spcPts val="375"/>
              </a:spcBef>
              <a:spcAft>
                <a:spcPts val="0"/>
              </a:spcAft>
              <a:buChar char="•"/>
              <a:defRPr/>
            </a:lvl9pPr>
          </a:lstStyle>
          <a:p>
            <a:endParaRPr/>
          </a:p>
        </p:txBody>
      </p:sp>
      <p:sp>
        <p:nvSpPr>
          <p:cNvPr id="52" name="Google Shape;52;p7">
            <a:extLst>
              <a:ext uri="{FF2B5EF4-FFF2-40B4-BE49-F238E27FC236}">
                <a16:creationId xmlns:a16="http://schemas.microsoft.com/office/drawing/2014/main" id="{BC69C5D6-D6EC-4C31-AC36-06FDCC8E000C}"/>
              </a:ext>
            </a:extLst>
          </p:cNvPr>
          <p:cNvSpPr>
            <a:spLocks noGrp="1"/>
          </p:cNvSpPr>
          <p:nvPr>
            <p:ph type="dt" idx="10"/>
          </p:nvPr>
        </p:nvSpPr>
        <p:spPr>
          <a:xfrm>
            <a:off x="117418" y="6350139"/>
            <a:ext cx="20574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53" name="Google Shape;53;p7">
            <a:extLst>
              <a:ext uri="{FF2B5EF4-FFF2-40B4-BE49-F238E27FC236}">
                <a16:creationId xmlns:a16="http://schemas.microsoft.com/office/drawing/2014/main" id="{AE205343-2450-4034-AD95-A0C8B5EB83F5}"/>
              </a:ext>
            </a:extLst>
          </p:cNvPr>
          <p:cNvSpPr>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54" name="Google Shape;54;p7">
            <a:extLst>
              <a:ext uri="{FF2B5EF4-FFF2-40B4-BE49-F238E27FC236}">
                <a16:creationId xmlns:a16="http://schemas.microsoft.com/office/drawing/2014/main" id="{F8424025-0FA0-4797-9711-1C76075C5581}"/>
              </a:ext>
            </a:extLst>
          </p:cNvPr>
          <p:cNvSpPr>
            <a:spLocks noGrp="1"/>
          </p:cNvSpPr>
          <p:nvPr>
            <p:ph type="sldNum" idx="12"/>
          </p:nvPr>
        </p:nvSpPr>
        <p:spPr>
          <a:xfrm>
            <a:off x="6600825" y="6350139"/>
            <a:ext cx="20574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fld id="{00000000-1234-1234-1234-123412341234}" type="slidenum">
              <a:t>‹#›</a:t>
            </a:fld>
            <a:endParaRPr/>
          </a:p>
        </p:txBody>
      </p:sp>
      <p:sp>
        <p:nvSpPr>
          <p:cNvPr id="2" name="Google Shape;10;p1">
            <a:extLst>
              <a:ext uri="{FF2B5EF4-FFF2-40B4-BE49-F238E27FC236}">
                <a16:creationId xmlns:a16="http://schemas.microsoft.com/office/drawing/2014/main" id="{4454396F-23D7-D04C-3368-44359CAC864A}"/>
              </a:ext>
            </a:extLst>
          </p:cNvPr>
          <p:cNvSpPr>
            <a:spLocks noGrp="1"/>
          </p:cNvSpPr>
          <p:nvPr/>
        </p:nvSpPr>
        <p:spPr>
          <a:xfrm>
            <a:off x="0" y="6211798"/>
            <a:ext cx="9144000" cy="646203"/>
          </a:xfrm>
          <a:prstGeom prst="rect">
            <a:avLst/>
          </a:prstGeom>
          <a:solidFill>
            <a:srgbClr val="38415C"/>
          </a:solidFill>
          <a:ln w="12700" cmpd="sng">
            <a:solidFill>
              <a:srgbClr val="38415C"/>
            </a:solidFill>
            <a:prstDash val="solid"/>
          </a:ln>
        </p:spPr>
        <p:txBody>
          <a:bodyPr spcFirstLastPara="1" wrap="square" lIns="68569" tIns="34275" rIns="68569" bIns="34275" anchor="ctr">
            <a:noAutofit/>
          </a:bodyPr>
          <a:lstStyle/>
          <a:p>
            <a:pPr marL="0" indent="0" algn="ctr">
              <a:spcBef>
                <a:spcPts val="0"/>
              </a:spcBef>
              <a:spcAft>
                <a:spcPts val="0"/>
              </a:spcAft>
              <a:buNone/>
            </a:pPr>
            <a:endParaRPr/>
          </a:p>
        </p:txBody>
      </p:sp>
      <p:sp>
        <p:nvSpPr>
          <p:cNvPr id="3" name="Google Shape;13;p1">
            <a:extLst>
              <a:ext uri="{FF2B5EF4-FFF2-40B4-BE49-F238E27FC236}">
                <a16:creationId xmlns:a16="http://schemas.microsoft.com/office/drawing/2014/main" id="{A5D92E09-6D01-9E0A-D825-4C52C4B7C8B3}"/>
              </a:ext>
            </a:extLst>
          </p:cNvPr>
          <p:cNvSpPr>
            <a:spLocks noGrp="1"/>
          </p:cNvSpPr>
          <p:nvPr/>
        </p:nvSpPr>
        <p:spPr>
          <a:xfrm>
            <a:off x="117418" y="6350139"/>
            <a:ext cx="2057400" cy="365125"/>
          </a:xfrm>
          <a:prstGeom prst="rect">
            <a:avLst/>
          </a:prstGeom>
          <a:noFill/>
          <a:ln>
            <a:noFill/>
          </a:ln>
        </p:spPr>
        <p:txBody>
          <a:bodyPr spcFirstLastPara="1" lIns="91425" tIns="45700" rIns="91425" bIns="45700" anchor="ctr">
            <a:noAutofit/>
          </a:bodyPr>
          <a:lstStyle>
            <a:lvl1pPr algn="l">
              <a:lnSpc>
                <a:spcPct val="100000"/>
              </a:lnSpc>
              <a:spcBef>
                <a:spcPts val="0"/>
              </a:spcBef>
              <a:spcAft>
                <a:spcPts val="0"/>
              </a:spcAft>
              <a:buNone/>
              <a:defRPr sz="900" b="0" i="0" u="none" cap="none">
                <a:solidFill>
                  <a:srgbClr val="EB976D"/>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a:pPr>
              <a:buNone/>
            </a:pPr>
            <a:r>
              <a:rPr sz="675" b="0" i="0">
                <a:solidFill>
                  <a:srgbClr val="EB976D"/>
                </a:solidFill>
                <a:latin typeface="Fira Sans"/>
                <a:ea typeface="Fira Sans"/>
                <a:cs typeface="Fira Sans"/>
              </a:rPr>
              <a:t>Martins · Costa · Lopes</a:t>
            </a:r>
          </a:p>
          <a:p>
            <a:pPr>
              <a:buNone/>
            </a:pPr>
            <a:r>
              <a:rPr sz="675" b="0" i="0">
                <a:solidFill>
                  <a:srgbClr val="EB976D"/>
                </a:solidFill>
                <a:latin typeface="Fira Sans"/>
                <a:ea typeface="Fira Sans"/>
                <a:cs typeface="Fira Sans"/>
              </a:rPr>
              <a:t>joaopedro@cos.ufrj.br</a:t>
            </a:r>
          </a:p>
        </p:txBody>
      </p:sp>
      <p:sp>
        <p:nvSpPr>
          <p:cNvPr id="4" name="Google Shape;14;p1">
            <a:extLst>
              <a:ext uri="{FF2B5EF4-FFF2-40B4-BE49-F238E27FC236}">
                <a16:creationId xmlns:a16="http://schemas.microsoft.com/office/drawing/2014/main" id="{125D206B-8316-FB78-11AD-FED01E65613A}"/>
              </a:ext>
            </a:extLst>
          </p:cNvPr>
          <p:cNvSpPr>
            <a:spLocks noGrp="1"/>
          </p:cNvSpPr>
          <p:nvPr/>
        </p:nvSpPr>
        <p:spPr>
          <a:xfrm>
            <a:off x="2778576" y="6368186"/>
            <a:ext cx="3086100" cy="365125"/>
          </a:xfrm>
          <a:prstGeom prst="rect">
            <a:avLst/>
          </a:prstGeom>
          <a:noFill/>
          <a:ln>
            <a:noFill/>
          </a:ln>
        </p:spPr>
        <p:txBody>
          <a:bodyPr spcFirstLastPara="1" lIns="91425" tIns="45700" rIns="91425" bIns="45700" anchor="ctr">
            <a:noAutofit/>
          </a:bodyPr>
          <a:lstStyle>
            <a:lvl1pPr algn="ctr">
              <a:lnSpc>
                <a:spcPct val="100000"/>
              </a:lnSpc>
              <a:spcBef>
                <a:spcPts val="0"/>
              </a:spcBef>
              <a:spcAft>
                <a:spcPts val="0"/>
              </a:spcAft>
              <a:buNone/>
              <a:defRPr sz="2200" b="0" i="1" u="none" cap="none">
                <a:solidFill>
                  <a:srgbClr val="38415C"/>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a:pPr>
              <a:buNone/>
            </a:pPr>
            <a:r>
              <a:rPr sz="675" b="0" i="0">
                <a:solidFill>
                  <a:srgbClr val="38415C"/>
                </a:solidFill>
                <a:latin typeface="Fira Sans"/>
                <a:ea typeface="Fira Sans"/>
                <a:cs typeface="Fira Sans"/>
              </a:rPr>
              <a:t>MARTINS; COSTA; LOPES (2026) · Retrofit do Modelo 3M</a:t>
            </a:r>
          </a:p>
        </p:txBody>
      </p:sp>
      <p:sp>
        <p:nvSpPr>
          <p:cNvPr id="5" name="Google Shape;15;p1">
            <a:extLst>
              <a:ext uri="{FF2B5EF4-FFF2-40B4-BE49-F238E27FC236}">
                <a16:creationId xmlns:a16="http://schemas.microsoft.com/office/drawing/2014/main" id="{A7B5C549-B1B2-5631-7949-581BFCF7D0A9}"/>
              </a:ext>
            </a:extLst>
          </p:cNvPr>
          <p:cNvSpPr>
            <a:spLocks noGrp="1"/>
          </p:cNvSpPr>
          <p:nvPr/>
        </p:nvSpPr>
        <p:spPr>
          <a:xfrm>
            <a:off x="6295851" y="6368186"/>
            <a:ext cx="2057400" cy="365125"/>
          </a:xfrm>
          <a:prstGeom prst="rect">
            <a:avLst/>
          </a:prstGeom>
          <a:noFill/>
          <a:ln>
            <a:noFill/>
          </a:ln>
        </p:spPr>
        <p:txBody>
          <a:bodyPr spcFirstLastPara="1" wrap="square" lIns="91425" tIns="45700" rIns="91425" bIns="45700" anchor="ctr">
            <a:noAutofit/>
          </a:bodyPr>
          <a:lstStyle>
            <a:lvl1pPr marL="0" indent="0" algn="r">
              <a:lnSpc>
                <a:spcPct val="100000"/>
              </a:lnSpc>
              <a:spcBef>
                <a:spcPts val="0"/>
              </a:spcBef>
              <a:spcAft>
                <a:spcPts val="0"/>
              </a:spcAft>
              <a:buNone/>
              <a:defRPr sz="5400" b="1" i="0" u="none" cap="none">
                <a:solidFill>
                  <a:srgbClr val="EB976D"/>
                </a:solidFill>
                <a:latin typeface="Fira Sans"/>
                <a:ea typeface="Fira Sans"/>
                <a:cs typeface="Fira Sans"/>
              </a:defRPr>
            </a:lvl1pPr>
            <a:lvl2pPr marL="0" indent="0" algn="r">
              <a:lnSpc>
                <a:spcPct val="100000"/>
              </a:lnSpc>
              <a:spcBef>
                <a:spcPts val="0"/>
              </a:spcBef>
              <a:spcAft>
                <a:spcPts val="0"/>
              </a:spcAft>
              <a:buNone/>
              <a:defRPr sz="5400" b="1" i="0" u="none" cap="none">
                <a:solidFill>
                  <a:srgbClr val="EB976D"/>
                </a:solidFill>
                <a:latin typeface="Fira Sans"/>
                <a:ea typeface="Fira Sans"/>
                <a:cs typeface="Fira Sans"/>
              </a:defRPr>
            </a:lvl2pPr>
            <a:lvl3pPr marL="0" indent="0" algn="r">
              <a:lnSpc>
                <a:spcPct val="100000"/>
              </a:lnSpc>
              <a:spcBef>
                <a:spcPts val="0"/>
              </a:spcBef>
              <a:spcAft>
                <a:spcPts val="0"/>
              </a:spcAft>
              <a:buNone/>
              <a:defRPr sz="5400" b="1" i="0" u="none" cap="none">
                <a:solidFill>
                  <a:srgbClr val="EB976D"/>
                </a:solidFill>
                <a:latin typeface="Fira Sans"/>
                <a:ea typeface="Fira Sans"/>
                <a:cs typeface="Fira Sans"/>
              </a:defRPr>
            </a:lvl3pPr>
            <a:lvl4pPr marL="0" indent="0" algn="r">
              <a:lnSpc>
                <a:spcPct val="100000"/>
              </a:lnSpc>
              <a:spcBef>
                <a:spcPts val="0"/>
              </a:spcBef>
              <a:spcAft>
                <a:spcPts val="0"/>
              </a:spcAft>
              <a:buNone/>
              <a:defRPr sz="5400" b="1" i="0" u="none" cap="none">
                <a:solidFill>
                  <a:srgbClr val="EB976D"/>
                </a:solidFill>
                <a:latin typeface="Fira Sans"/>
                <a:ea typeface="Fira Sans"/>
                <a:cs typeface="Fira Sans"/>
              </a:defRPr>
            </a:lvl4pPr>
            <a:lvl5pPr marL="0" indent="0" algn="r">
              <a:lnSpc>
                <a:spcPct val="100000"/>
              </a:lnSpc>
              <a:spcBef>
                <a:spcPts val="0"/>
              </a:spcBef>
              <a:spcAft>
                <a:spcPts val="0"/>
              </a:spcAft>
              <a:buNone/>
              <a:defRPr sz="5400" b="1" i="0" u="none" cap="none">
                <a:solidFill>
                  <a:srgbClr val="EB976D"/>
                </a:solidFill>
                <a:latin typeface="Fira Sans"/>
                <a:ea typeface="Fira Sans"/>
                <a:cs typeface="Fira Sans"/>
              </a:defRPr>
            </a:lvl5pPr>
            <a:lvl6pPr marL="0" indent="0" algn="r">
              <a:lnSpc>
                <a:spcPct val="100000"/>
              </a:lnSpc>
              <a:spcBef>
                <a:spcPts val="0"/>
              </a:spcBef>
              <a:spcAft>
                <a:spcPts val="0"/>
              </a:spcAft>
              <a:buNone/>
              <a:defRPr sz="5400" b="1" i="0" u="none" cap="none">
                <a:solidFill>
                  <a:srgbClr val="EB976D"/>
                </a:solidFill>
                <a:latin typeface="Fira Sans"/>
                <a:ea typeface="Fira Sans"/>
                <a:cs typeface="Fira Sans"/>
              </a:defRPr>
            </a:lvl6pPr>
            <a:lvl7pPr marL="0" indent="0" algn="r">
              <a:lnSpc>
                <a:spcPct val="100000"/>
              </a:lnSpc>
              <a:spcBef>
                <a:spcPts val="0"/>
              </a:spcBef>
              <a:spcAft>
                <a:spcPts val="0"/>
              </a:spcAft>
              <a:buNone/>
              <a:defRPr sz="5400" b="1" i="0" u="none" cap="none">
                <a:solidFill>
                  <a:srgbClr val="EB976D"/>
                </a:solidFill>
                <a:latin typeface="Fira Sans"/>
                <a:ea typeface="Fira Sans"/>
                <a:cs typeface="Fira Sans"/>
              </a:defRPr>
            </a:lvl7pPr>
            <a:lvl8pPr marL="0" indent="0" algn="r">
              <a:lnSpc>
                <a:spcPct val="100000"/>
              </a:lnSpc>
              <a:spcBef>
                <a:spcPts val="0"/>
              </a:spcBef>
              <a:spcAft>
                <a:spcPts val="0"/>
              </a:spcAft>
              <a:buNone/>
              <a:defRPr sz="5400" b="1" i="0" u="none" cap="none">
                <a:solidFill>
                  <a:srgbClr val="EB976D"/>
                </a:solidFill>
                <a:latin typeface="Fira Sans"/>
                <a:ea typeface="Fira Sans"/>
                <a:cs typeface="Fira Sans"/>
              </a:defRPr>
            </a:lvl8pPr>
            <a:lvl9pPr marL="0" indent="0" algn="r">
              <a:lnSpc>
                <a:spcPct val="100000"/>
              </a:lnSpc>
              <a:spcBef>
                <a:spcPts val="0"/>
              </a:spcBef>
              <a:spcAft>
                <a:spcPts val="0"/>
              </a:spcAft>
              <a:buNone/>
              <a:defRPr sz="5400" b="1" i="0" u="none" cap="none">
                <a:solidFill>
                  <a:srgbClr val="EB976D"/>
                </a:solidFill>
                <a:latin typeface="Fira Sans"/>
                <a:ea typeface="Fira Sans"/>
                <a:cs typeface="Fira Sans"/>
              </a:defRPr>
            </a:lvl9pPr>
          </a:lstStyle>
          <a:p>
            <a:fld id="{46B270FB-0C54-A54F-867B-58A7B95C958C}" type="slidenum">
              <a:t>‹#›</a:t>
            </a:fld>
            <a:endParaRPr/>
          </a:p>
        </p:txBody>
      </p:sp>
      <p:sp>
        <p:nvSpPr>
          <p:cNvPr id="6" name="Google Shape;17;p1">
            <a:extLst>
              <a:ext uri="{FF2B5EF4-FFF2-40B4-BE49-F238E27FC236}">
                <a16:creationId xmlns:a16="http://schemas.microsoft.com/office/drawing/2014/main" id="{23BC0789-0241-F5FA-8256-903089131E1A}"/>
              </a:ext>
            </a:extLst>
          </p:cNvPr>
          <p:cNvSpPr>
            <a:spLocks noGrp="1"/>
          </p:cNvSpPr>
          <p:nvPr/>
        </p:nvSpPr>
        <p:spPr>
          <a:xfrm>
            <a:off x="8470669" y="6309681"/>
            <a:ext cx="555913" cy="482136"/>
          </a:xfrm>
          <a:prstGeom prst="rect">
            <a:avLst/>
          </a:prstGeom>
          <a:noFill/>
          <a:ln w="12700" cmpd="sng">
            <a:solidFill>
              <a:srgbClr val="38415C"/>
            </a:solidFill>
            <a:prstDash val="solid"/>
          </a:ln>
        </p:spPr>
        <p:txBody>
          <a:bodyPr spcFirstLastPara="1" lIns="68569" tIns="34275" rIns="68569" bIns="34275" anchor="ctr">
            <a:noAutofit/>
          </a:bodyPr>
          <a:lstStyle/>
          <a:p>
            <a:pPr marL="0" indent="0" algn="ctr">
              <a:spcBef>
                <a:spcPts val="0"/>
              </a:spcBef>
              <a:spcAft>
                <a:spcPts val="0"/>
              </a:spcAft>
              <a:buNone/>
            </a:pPr>
            <a:r>
              <a:rPr sz="1650" b="1" i="0" u="none" cap="none">
                <a:solidFill>
                  <a:srgbClr val="EB976D"/>
                </a:solidFill>
                <a:latin typeface="Fira Sans"/>
                <a:ea typeface="Fira Sans"/>
                <a:cs typeface="Fira Sans"/>
              </a:rPr>
              <a:t>/23</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
        <p:cNvGrpSpPr/>
        <p:nvPr/>
      </p:nvGrpSpPr>
      <p:grpSpPr>
        <a:xfrm>
          <a:off x="0" y="0"/>
          <a:ext cx="0" cy="0"/>
          <a:chOff x="0" y="0"/>
          <a:chExt cx="0" cy="0"/>
        </a:xfrm>
      </p:grpSpPr>
      <p:sp>
        <p:nvSpPr>
          <p:cNvPr id="56" name="Google Shape;56;p8">
            <a:extLst>
              <a:ext uri="{FF2B5EF4-FFF2-40B4-BE49-F238E27FC236}">
                <a16:creationId xmlns:a16="http://schemas.microsoft.com/office/drawing/2014/main" id="{56B14880-60CA-47DB-A703-5CB5A2AF641A}"/>
              </a:ext>
            </a:extLst>
          </p:cNvPr>
          <p:cNvSpPr>
            <a:spLocks noGrp="1"/>
          </p:cNvSpPr>
          <p:nvPr>
            <p:ph type="body" idx="1"/>
          </p:nvPr>
        </p:nvSpPr>
        <p:spPr>
          <a:xfrm>
            <a:off x="172394" y="1530777"/>
            <a:ext cx="4320000" cy="504000"/>
          </a:xfrm>
          <a:prstGeom prst="rect">
            <a:avLst/>
          </a:prstGeom>
          <a:noFill/>
          <a:ln>
            <a:noFill/>
          </a:ln>
        </p:spPr>
        <p:txBody>
          <a:bodyPr spcFirstLastPara="1" wrap="square" lIns="91425" tIns="45700" rIns="91425" bIns="45700" anchor="b">
            <a:normAutofit/>
          </a:bodyPr>
          <a:lstStyle>
            <a:lvl1pPr marL="342900" indent="-171450" algn="l">
              <a:lnSpc>
                <a:spcPct val="90000"/>
              </a:lnSpc>
              <a:spcBef>
                <a:spcPts val="750"/>
              </a:spcBef>
              <a:spcAft>
                <a:spcPts val="0"/>
              </a:spcAft>
              <a:buNone/>
              <a:defRPr sz="1800" b="1">
                <a:solidFill>
                  <a:srgbClr val="38415C"/>
                </a:solidFill>
              </a:defRPr>
            </a:lvl1pPr>
            <a:lvl2pPr marL="685800" indent="-171450" algn="l">
              <a:lnSpc>
                <a:spcPct val="90000"/>
              </a:lnSpc>
              <a:spcBef>
                <a:spcPts val="375"/>
              </a:spcBef>
              <a:spcAft>
                <a:spcPts val="0"/>
              </a:spcAft>
              <a:buNone/>
              <a:defRPr sz="1500" b="1"/>
            </a:lvl2pPr>
            <a:lvl3pPr marL="1028700" indent="-171450" algn="l">
              <a:lnSpc>
                <a:spcPct val="90000"/>
              </a:lnSpc>
              <a:spcBef>
                <a:spcPts val="375"/>
              </a:spcBef>
              <a:spcAft>
                <a:spcPts val="0"/>
              </a:spcAft>
              <a:buNone/>
              <a:defRPr sz="1350" b="1"/>
            </a:lvl3pPr>
            <a:lvl4pPr marL="1371600" indent="-171450" algn="l">
              <a:lnSpc>
                <a:spcPct val="90000"/>
              </a:lnSpc>
              <a:spcBef>
                <a:spcPts val="375"/>
              </a:spcBef>
              <a:spcAft>
                <a:spcPts val="0"/>
              </a:spcAft>
              <a:buNone/>
              <a:defRPr sz="1200" b="1"/>
            </a:lvl4pPr>
            <a:lvl5pPr marL="1714500" indent="-171450" algn="l">
              <a:lnSpc>
                <a:spcPct val="90000"/>
              </a:lnSpc>
              <a:spcBef>
                <a:spcPts val="375"/>
              </a:spcBef>
              <a:spcAft>
                <a:spcPts val="0"/>
              </a:spcAft>
              <a:buNone/>
              <a:defRPr sz="1200" b="1"/>
            </a:lvl5pPr>
            <a:lvl6pPr marL="2057400" indent="-171450" algn="l">
              <a:lnSpc>
                <a:spcPct val="90000"/>
              </a:lnSpc>
              <a:spcBef>
                <a:spcPts val="375"/>
              </a:spcBef>
              <a:spcAft>
                <a:spcPts val="0"/>
              </a:spcAft>
              <a:buNone/>
              <a:defRPr sz="1200" b="1"/>
            </a:lvl6pPr>
            <a:lvl7pPr marL="2400300" indent="-171450" algn="l">
              <a:lnSpc>
                <a:spcPct val="90000"/>
              </a:lnSpc>
              <a:spcBef>
                <a:spcPts val="375"/>
              </a:spcBef>
              <a:spcAft>
                <a:spcPts val="0"/>
              </a:spcAft>
              <a:buNone/>
              <a:defRPr sz="1200" b="1"/>
            </a:lvl7pPr>
            <a:lvl8pPr marL="2743200" indent="-171450" algn="l">
              <a:lnSpc>
                <a:spcPct val="90000"/>
              </a:lnSpc>
              <a:spcBef>
                <a:spcPts val="375"/>
              </a:spcBef>
              <a:spcAft>
                <a:spcPts val="0"/>
              </a:spcAft>
              <a:buNone/>
              <a:defRPr sz="1200" b="1"/>
            </a:lvl8pPr>
            <a:lvl9pPr marL="3086100" indent="-171450" algn="l">
              <a:lnSpc>
                <a:spcPct val="90000"/>
              </a:lnSpc>
              <a:spcBef>
                <a:spcPts val="375"/>
              </a:spcBef>
              <a:spcAft>
                <a:spcPts val="0"/>
              </a:spcAft>
              <a:buNone/>
              <a:defRPr sz="1200" b="1"/>
            </a:lvl9pPr>
          </a:lstStyle>
          <a:p>
            <a:endParaRPr/>
          </a:p>
        </p:txBody>
      </p:sp>
      <p:sp>
        <p:nvSpPr>
          <p:cNvPr id="57" name="Google Shape;57;p8">
            <a:extLst>
              <a:ext uri="{FF2B5EF4-FFF2-40B4-BE49-F238E27FC236}">
                <a16:creationId xmlns:a16="http://schemas.microsoft.com/office/drawing/2014/main" id="{8AB1706F-9E87-4B81-92AA-A31147280A66}"/>
              </a:ext>
            </a:extLst>
          </p:cNvPr>
          <p:cNvSpPr>
            <a:spLocks noGrp="1"/>
          </p:cNvSpPr>
          <p:nvPr>
            <p:ph type="body" idx="2"/>
          </p:nvPr>
        </p:nvSpPr>
        <p:spPr>
          <a:xfrm>
            <a:off x="172394" y="2184437"/>
            <a:ext cx="4320000" cy="3932614"/>
          </a:xfrm>
          <a:prstGeom prst="rect">
            <a:avLst/>
          </a:prstGeom>
          <a:noFill/>
          <a:ln>
            <a:noFill/>
          </a:ln>
        </p:spPr>
        <p:txBody>
          <a:bodyPr spcFirstLastPara="1" wrap="square" lIns="91425" tIns="45700" rIns="91425" bIns="45700" anchor="t">
            <a:normAutofit/>
          </a:bodyPr>
          <a:lstStyle>
            <a:lvl1pPr marL="342900" indent="-304800" algn="l">
              <a:lnSpc>
                <a:spcPct val="90000"/>
              </a:lnSpc>
              <a:spcBef>
                <a:spcPts val="750"/>
              </a:spcBef>
              <a:spcAft>
                <a:spcPts val="0"/>
              </a:spcAft>
              <a:buChar char="•"/>
              <a:defRPr b="0">
                <a:solidFill>
                  <a:srgbClr val="38415C"/>
                </a:solidFill>
              </a:defRPr>
            </a:lvl1pPr>
            <a:lvl2pPr marL="685800" indent="-285750" algn="l">
              <a:lnSpc>
                <a:spcPct val="90000"/>
              </a:lnSpc>
              <a:spcBef>
                <a:spcPts val="375"/>
              </a:spcBef>
              <a:spcAft>
                <a:spcPts val="0"/>
              </a:spcAft>
              <a:buChar char="•"/>
              <a:defRPr b="0">
                <a:solidFill>
                  <a:srgbClr val="38415C"/>
                </a:solidFill>
              </a:defRPr>
            </a:lvl2pPr>
            <a:lvl3pPr marL="1028700" indent="-266700" algn="l">
              <a:lnSpc>
                <a:spcPct val="90000"/>
              </a:lnSpc>
              <a:spcBef>
                <a:spcPts val="375"/>
              </a:spcBef>
              <a:spcAft>
                <a:spcPts val="0"/>
              </a:spcAft>
              <a:buChar char="•"/>
              <a:defRPr b="0">
                <a:solidFill>
                  <a:srgbClr val="38415C"/>
                </a:solidFill>
              </a:defRPr>
            </a:lvl3pPr>
            <a:lvl4pPr marL="1371600" indent="-257175" algn="l">
              <a:lnSpc>
                <a:spcPct val="90000"/>
              </a:lnSpc>
              <a:spcBef>
                <a:spcPts val="375"/>
              </a:spcBef>
              <a:spcAft>
                <a:spcPts val="0"/>
              </a:spcAft>
              <a:buChar char="•"/>
              <a:defRPr b="0">
                <a:solidFill>
                  <a:srgbClr val="38415C"/>
                </a:solidFill>
              </a:defRPr>
            </a:lvl4pPr>
            <a:lvl5pPr marL="1714500" indent="-257175" algn="l">
              <a:lnSpc>
                <a:spcPct val="90000"/>
              </a:lnSpc>
              <a:spcBef>
                <a:spcPts val="375"/>
              </a:spcBef>
              <a:spcAft>
                <a:spcPts val="0"/>
              </a:spcAft>
              <a:buChar char="•"/>
              <a:defRPr b="0">
                <a:solidFill>
                  <a:srgbClr val="38415C"/>
                </a:solidFill>
              </a:defRPr>
            </a:lvl5pPr>
            <a:lvl6pPr marL="2057400" indent="-257175" algn="l">
              <a:lnSpc>
                <a:spcPct val="90000"/>
              </a:lnSpc>
              <a:spcBef>
                <a:spcPts val="375"/>
              </a:spcBef>
              <a:spcAft>
                <a:spcPts val="0"/>
              </a:spcAft>
              <a:buChar char="•"/>
              <a:defRPr/>
            </a:lvl6pPr>
            <a:lvl7pPr marL="2400300" indent="-257175" algn="l">
              <a:lnSpc>
                <a:spcPct val="90000"/>
              </a:lnSpc>
              <a:spcBef>
                <a:spcPts val="375"/>
              </a:spcBef>
              <a:spcAft>
                <a:spcPts val="0"/>
              </a:spcAft>
              <a:buChar char="•"/>
              <a:defRPr/>
            </a:lvl7pPr>
            <a:lvl8pPr marL="2743200" indent="-257175" algn="l">
              <a:lnSpc>
                <a:spcPct val="90000"/>
              </a:lnSpc>
              <a:spcBef>
                <a:spcPts val="375"/>
              </a:spcBef>
              <a:spcAft>
                <a:spcPts val="0"/>
              </a:spcAft>
              <a:buChar char="•"/>
              <a:defRPr/>
            </a:lvl8pPr>
            <a:lvl9pPr marL="3086100" indent="-257175" algn="l">
              <a:lnSpc>
                <a:spcPct val="90000"/>
              </a:lnSpc>
              <a:spcBef>
                <a:spcPts val="375"/>
              </a:spcBef>
              <a:spcAft>
                <a:spcPts val="0"/>
              </a:spcAft>
              <a:buChar char="•"/>
              <a:defRPr/>
            </a:lvl9pPr>
          </a:lstStyle>
          <a:p>
            <a:endParaRPr/>
          </a:p>
        </p:txBody>
      </p:sp>
      <p:sp>
        <p:nvSpPr>
          <p:cNvPr id="58" name="Google Shape;58;p8">
            <a:extLst>
              <a:ext uri="{FF2B5EF4-FFF2-40B4-BE49-F238E27FC236}">
                <a16:creationId xmlns:a16="http://schemas.microsoft.com/office/drawing/2014/main" id="{BBB38D52-9E3B-4E68-BF67-7E3B8FC185A8}"/>
              </a:ext>
            </a:extLst>
          </p:cNvPr>
          <p:cNvSpPr>
            <a:spLocks noGrp="1"/>
          </p:cNvSpPr>
          <p:nvPr>
            <p:ph type="body" idx="3"/>
          </p:nvPr>
        </p:nvSpPr>
        <p:spPr>
          <a:xfrm>
            <a:off x="4732559" y="1535885"/>
            <a:ext cx="4320000" cy="504000"/>
          </a:xfrm>
          <a:prstGeom prst="rect">
            <a:avLst/>
          </a:prstGeom>
          <a:noFill/>
          <a:ln>
            <a:noFill/>
          </a:ln>
        </p:spPr>
        <p:txBody>
          <a:bodyPr spcFirstLastPara="1" wrap="square" lIns="91425" tIns="45700" rIns="91425" bIns="45700" anchor="b">
            <a:normAutofit/>
          </a:bodyPr>
          <a:lstStyle>
            <a:lvl1pPr marL="342900" indent="-171450" algn="l">
              <a:lnSpc>
                <a:spcPct val="90000"/>
              </a:lnSpc>
              <a:spcBef>
                <a:spcPts val="750"/>
              </a:spcBef>
              <a:spcAft>
                <a:spcPts val="0"/>
              </a:spcAft>
              <a:buNone/>
              <a:defRPr sz="1800" b="1">
                <a:solidFill>
                  <a:srgbClr val="38415C"/>
                </a:solidFill>
              </a:defRPr>
            </a:lvl1pPr>
            <a:lvl2pPr marL="685800" indent="-171450" algn="l">
              <a:lnSpc>
                <a:spcPct val="90000"/>
              </a:lnSpc>
              <a:spcBef>
                <a:spcPts val="375"/>
              </a:spcBef>
              <a:spcAft>
                <a:spcPts val="0"/>
              </a:spcAft>
              <a:buNone/>
              <a:defRPr sz="1500" b="1"/>
            </a:lvl2pPr>
            <a:lvl3pPr marL="1028700" indent="-171450" algn="l">
              <a:lnSpc>
                <a:spcPct val="90000"/>
              </a:lnSpc>
              <a:spcBef>
                <a:spcPts val="375"/>
              </a:spcBef>
              <a:spcAft>
                <a:spcPts val="0"/>
              </a:spcAft>
              <a:buNone/>
              <a:defRPr sz="1350" b="1"/>
            </a:lvl3pPr>
            <a:lvl4pPr marL="1371600" indent="-171450" algn="l">
              <a:lnSpc>
                <a:spcPct val="90000"/>
              </a:lnSpc>
              <a:spcBef>
                <a:spcPts val="375"/>
              </a:spcBef>
              <a:spcAft>
                <a:spcPts val="0"/>
              </a:spcAft>
              <a:buNone/>
              <a:defRPr sz="1200" b="1"/>
            </a:lvl4pPr>
            <a:lvl5pPr marL="1714500" indent="-171450" algn="l">
              <a:lnSpc>
                <a:spcPct val="90000"/>
              </a:lnSpc>
              <a:spcBef>
                <a:spcPts val="375"/>
              </a:spcBef>
              <a:spcAft>
                <a:spcPts val="0"/>
              </a:spcAft>
              <a:buNone/>
              <a:defRPr sz="1200" b="1"/>
            </a:lvl5pPr>
            <a:lvl6pPr marL="2057400" indent="-171450" algn="l">
              <a:lnSpc>
                <a:spcPct val="90000"/>
              </a:lnSpc>
              <a:spcBef>
                <a:spcPts val="375"/>
              </a:spcBef>
              <a:spcAft>
                <a:spcPts val="0"/>
              </a:spcAft>
              <a:buNone/>
              <a:defRPr sz="1200" b="1"/>
            </a:lvl6pPr>
            <a:lvl7pPr marL="2400300" indent="-171450" algn="l">
              <a:lnSpc>
                <a:spcPct val="90000"/>
              </a:lnSpc>
              <a:spcBef>
                <a:spcPts val="375"/>
              </a:spcBef>
              <a:spcAft>
                <a:spcPts val="0"/>
              </a:spcAft>
              <a:buNone/>
              <a:defRPr sz="1200" b="1"/>
            </a:lvl7pPr>
            <a:lvl8pPr marL="2743200" indent="-171450" algn="l">
              <a:lnSpc>
                <a:spcPct val="90000"/>
              </a:lnSpc>
              <a:spcBef>
                <a:spcPts val="375"/>
              </a:spcBef>
              <a:spcAft>
                <a:spcPts val="0"/>
              </a:spcAft>
              <a:buNone/>
              <a:defRPr sz="1200" b="1"/>
            </a:lvl8pPr>
            <a:lvl9pPr marL="3086100" indent="-171450" algn="l">
              <a:lnSpc>
                <a:spcPct val="90000"/>
              </a:lnSpc>
              <a:spcBef>
                <a:spcPts val="375"/>
              </a:spcBef>
              <a:spcAft>
                <a:spcPts val="0"/>
              </a:spcAft>
              <a:buNone/>
              <a:defRPr sz="1200" b="1"/>
            </a:lvl9pPr>
          </a:lstStyle>
          <a:p>
            <a:endParaRPr/>
          </a:p>
        </p:txBody>
      </p:sp>
      <p:sp>
        <p:nvSpPr>
          <p:cNvPr id="59" name="Google Shape;59;p8">
            <a:extLst>
              <a:ext uri="{FF2B5EF4-FFF2-40B4-BE49-F238E27FC236}">
                <a16:creationId xmlns:a16="http://schemas.microsoft.com/office/drawing/2014/main" id="{9E8661ED-2635-4BB2-AA65-240D7BDD099E}"/>
              </a:ext>
            </a:extLst>
          </p:cNvPr>
          <p:cNvSpPr>
            <a:spLocks noGrp="1"/>
          </p:cNvSpPr>
          <p:nvPr>
            <p:ph type="body" idx="4"/>
          </p:nvPr>
        </p:nvSpPr>
        <p:spPr>
          <a:xfrm>
            <a:off x="4732559" y="2184437"/>
            <a:ext cx="4320000" cy="3932615"/>
          </a:xfrm>
          <a:prstGeom prst="rect">
            <a:avLst/>
          </a:prstGeom>
          <a:noFill/>
          <a:ln>
            <a:noFill/>
          </a:ln>
        </p:spPr>
        <p:txBody>
          <a:bodyPr spcFirstLastPara="1" wrap="square" lIns="91425" tIns="45700" rIns="91425" bIns="45700" anchor="t">
            <a:normAutofit/>
          </a:bodyPr>
          <a:lstStyle>
            <a:lvl1pPr marL="342900" indent="-304800" algn="l">
              <a:lnSpc>
                <a:spcPct val="90000"/>
              </a:lnSpc>
              <a:spcBef>
                <a:spcPts val="750"/>
              </a:spcBef>
              <a:spcAft>
                <a:spcPts val="0"/>
              </a:spcAft>
              <a:buChar char="•"/>
              <a:defRPr>
                <a:solidFill>
                  <a:srgbClr val="38415C"/>
                </a:solidFill>
              </a:defRPr>
            </a:lvl1pPr>
            <a:lvl2pPr marL="685800" indent="-285750" algn="l">
              <a:lnSpc>
                <a:spcPct val="90000"/>
              </a:lnSpc>
              <a:spcBef>
                <a:spcPts val="375"/>
              </a:spcBef>
              <a:spcAft>
                <a:spcPts val="0"/>
              </a:spcAft>
              <a:buChar char="•"/>
              <a:defRPr>
                <a:solidFill>
                  <a:srgbClr val="38415C"/>
                </a:solidFill>
              </a:defRPr>
            </a:lvl2pPr>
            <a:lvl3pPr marL="1028700" indent="-266700" algn="l">
              <a:lnSpc>
                <a:spcPct val="90000"/>
              </a:lnSpc>
              <a:spcBef>
                <a:spcPts val="375"/>
              </a:spcBef>
              <a:spcAft>
                <a:spcPts val="0"/>
              </a:spcAft>
              <a:buChar char="•"/>
              <a:defRPr>
                <a:solidFill>
                  <a:srgbClr val="38415C"/>
                </a:solidFill>
              </a:defRPr>
            </a:lvl3pPr>
            <a:lvl4pPr marL="1371600" indent="-257175" algn="l">
              <a:lnSpc>
                <a:spcPct val="90000"/>
              </a:lnSpc>
              <a:spcBef>
                <a:spcPts val="375"/>
              </a:spcBef>
              <a:spcAft>
                <a:spcPts val="0"/>
              </a:spcAft>
              <a:buChar char="•"/>
              <a:defRPr>
                <a:solidFill>
                  <a:srgbClr val="38415C"/>
                </a:solidFill>
              </a:defRPr>
            </a:lvl4pPr>
            <a:lvl5pPr marL="1714500" indent="-257175" algn="l">
              <a:lnSpc>
                <a:spcPct val="90000"/>
              </a:lnSpc>
              <a:spcBef>
                <a:spcPts val="375"/>
              </a:spcBef>
              <a:spcAft>
                <a:spcPts val="0"/>
              </a:spcAft>
              <a:buChar char="•"/>
              <a:defRPr>
                <a:solidFill>
                  <a:srgbClr val="38415C"/>
                </a:solidFill>
              </a:defRPr>
            </a:lvl5pPr>
            <a:lvl6pPr marL="2057400" indent="-257175" algn="l">
              <a:lnSpc>
                <a:spcPct val="90000"/>
              </a:lnSpc>
              <a:spcBef>
                <a:spcPts val="375"/>
              </a:spcBef>
              <a:spcAft>
                <a:spcPts val="0"/>
              </a:spcAft>
              <a:buChar char="•"/>
              <a:defRPr/>
            </a:lvl6pPr>
            <a:lvl7pPr marL="2400300" indent="-257175" algn="l">
              <a:lnSpc>
                <a:spcPct val="90000"/>
              </a:lnSpc>
              <a:spcBef>
                <a:spcPts val="375"/>
              </a:spcBef>
              <a:spcAft>
                <a:spcPts val="0"/>
              </a:spcAft>
              <a:buChar char="•"/>
              <a:defRPr/>
            </a:lvl7pPr>
            <a:lvl8pPr marL="2743200" indent="-257175" algn="l">
              <a:lnSpc>
                <a:spcPct val="90000"/>
              </a:lnSpc>
              <a:spcBef>
                <a:spcPts val="375"/>
              </a:spcBef>
              <a:spcAft>
                <a:spcPts val="0"/>
              </a:spcAft>
              <a:buChar char="•"/>
              <a:defRPr/>
            </a:lvl8pPr>
            <a:lvl9pPr marL="3086100" indent="-257175" algn="l">
              <a:lnSpc>
                <a:spcPct val="90000"/>
              </a:lnSpc>
              <a:spcBef>
                <a:spcPts val="375"/>
              </a:spcBef>
              <a:spcAft>
                <a:spcPts val="0"/>
              </a:spcAft>
              <a:buChar char="•"/>
              <a:defRPr/>
            </a:lvl9pPr>
          </a:lstStyle>
          <a:p>
            <a:endParaRPr/>
          </a:p>
        </p:txBody>
      </p:sp>
      <p:sp>
        <p:nvSpPr>
          <p:cNvPr id="60" name="Google Shape;60;p8">
            <a:extLst>
              <a:ext uri="{FF2B5EF4-FFF2-40B4-BE49-F238E27FC236}">
                <a16:creationId xmlns:a16="http://schemas.microsoft.com/office/drawing/2014/main" id="{1CEC3562-F474-436A-A933-E4A5528C0A91}"/>
              </a:ext>
            </a:extLst>
          </p:cNvPr>
          <p:cNvSpPr>
            <a:spLocks noGrp="1"/>
          </p:cNvSpPr>
          <p:nvPr>
            <p:ph type="title"/>
          </p:nvPr>
        </p:nvSpPr>
        <p:spPr>
          <a:xfrm>
            <a:off x="866601" y="66183"/>
            <a:ext cx="8185958" cy="1334336"/>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None/>
              <a:defRPr>
                <a:solidFill>
                  <a:srgbClr val="38415C"/>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10" name="Google Shape;83;p11">
            <a:extLst>
              <a:ext uri="{FF2B5EF4-FFF2-40B4-BE49-F238E27FC236}">
                <a16:creationId xmlns:a16="http://schemas.microsoft.com/office/drawing/2014/main" id="{B0388D56-D47A-FC41-3073-20A543FD148E}"/>
              </a:ext>
            </a:extLst>
          </p:cNvPr>
          <p:cNvSpPr>
            <a:spLocks noGrp="1"/>
          </p:cNvSpPr>
          <p:nvPr>
            <p:ph type="sldNum" idx="12"/>
          </p:nvPr>
        </p:nvSpPr>
        <p:spPr>
          <a:xfrm>
            <a:off x="6600825" y="6350139"/>
            <a:ext cx="20574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fld id="{00000000-1234-1234-1234-123412341234}" type="slidenum">
              <a:t>‹#›</a:t>
            </a:fld>
            <a:endParaRPr/>
          </a:p>
        </p:txBody>
      </p:sp>
      <p:sp>
        <p:nvSpPr>
          <p:cNvPr id="11" name="Google Shape;13;p1">
            <a:extLst>
              <a:ext uri="{FF2B5EF4-FFF2-40B4-BE49-F238E27FC236}">
                <a16:creationId xmlns:a16="http://schemas.microsoft.com/office/drawing/2014/main" id="{E72668BE-7256-A05E-F820-422C9F991256}"/>
              </a:ext>
            </a:extLst>
          </p:cNvPr>
          <p:cNvSpPr>
            <a:spLocks noGrp="1"/>
          </p:cNvSpPr>
          <p:nvPr/>
        </p:nvSpPr>
        <p:spPr>
          <a:xfrm>
            <a:off x="172583" y="6368185"/>
            <a:ext cx="2057400" cy="365125"/>
          </a:xfrm>
          <a:prstGeom prst="rect">
            <a:avLst/>
          </a:prstGeom>
          <a:noFill/>
          <a:ln>
            <a:noFill/>
          </a:ln>
        </p:spPr>
        <p:txBody>
          <a:bodyPr spcFirstLastPara="1" lIns="91425" tIns="45700" rIns="91425" bIns="45700" anchor="ctr">
            <a:noAutofit/>
          </a:bodyPr>
          <a:lstStyle>
            <a:lvl1pPr algn="l">
              <a:lnSpc>
                <a:spcPct val="100000"/>
              </a:lnSpc>
              <a:spcBef>
                <a:spcPts val="0"/>
              </a:spcBef>
              <a:spcAft>
                <a:spcPts val="0"/>
              </a:spcAft>
              <a:buNone/>
              <a:defRPr sz="900" b="0" i="0" u="none" cap="none">
                <a:solidFill>
                  <a:srgbClr val="EB976D"/>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a:pPr>
              <a:buNone/>
            </a:pPr>
            <a:r>
              <a:rPr sz="675" b="0" i="0">
                <a:solidFill>
                  <a:srgbClr val="EB976D"/>
                </a:solidFill>
                <a:latin typeface="Fira Sans"/>
                <a:ea typeface="Fira Sans"/>
                <a:cs typeface="Fira Sans"/>
              </a:rPr>
              <a:t>Martins · Costa · Lopes</a:t>
            </a:r>
          </a:p>
          <a:p>
            <a:pPr>
              <a:buNone/>
            </a:pPr>
            <a:r>
              <a:rPr sz="675" b="0" i="0">
                <a:solidFill>
                  <a:srgbClr val="EB976D"/>
                </a:solidFill>
                <a:latin typeface="Fira Sans"/>
                <a:ea typeface="Fira Sans"/>
                <a:cs typeface="Fira Sans"/>
              </a:rPr>
              <a:t>joaopedro@cos.ufrj.br</a:t>
            </a:r>
          </a:p>
        </p:txBody>
      </p:sp>
      <p:sp>
        <p:nvSpPr>
          <p:cNvPr id="12" name="Google Shape;14;p1">
            <a:extLst>
              <a:ext uri="{FF2B5EF4-FFF2-40B4-BE49-F238E27FC236}">
                <a16:creationId xmlns:a16="http://schemas.microsoft.com/office/drawing/2014/main" id="{0D83C5E2-8FC9-487A-E9AE-CB77F613FCCA}"/>
              </a:ext>
            </a:extLst>
          </p:cNvPr>
          <p:cNvSpPr>
            <a:spLocks noGrp="1"/>
          </p:cNvSpPr>
          <p:nvPr/>
        </p:nvSpPr>
        <p:spPr>
          <a:xfrm>
            <a:off x="2715758" y="6368185"/>
            <a:ext cx="3086100" cy="365125"/>
          </a:xfrm>
          <a:prstGeom prst="rect">
            <a:avLst/>
          </a:prstGeom>
          <a:noFill/>
          <a:ln>
            <a:noFill/>
          </a:ln>
        </p:spPr>
        <p:txBody>
          <a:bodyPr spcFirstLastPara="1" lIns="91425" tIns="45700" rIns="91425" bIns="45700" anchor="ctr">
            <a:noAutofit/>
          </a:bodyPr>
          <a:lstStyle>
            <a:lvl1pPr algn="ctr">
              <a:lnSpc>
                <a:spcPct val="100000"/>
              </a:lnSpc>
              <a:spcBef>
                <a:spcPts val="0"/>
              </a:spcBef>
              <a:spcAft>
                <a:spcPts val="0"/>
              </a:spcAft>
              <a:buNone/>
              <a:defRPr sz="2200" b="0" i="1" u="none" cap="none">
                <a:solidFill>
                  <a:srgbClr val="38415C"/>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a:pPr>
              <a:buNone/>
            </a:pPr>
            <a:r>
              <a:rPr sz="675" b="0" i="0">
                <a:solidFill>
                  <a:srgbClr val="38415C"/>
                </a:solidFill>
                <a:latin typeface="Fira Sans"/>
                <a:ea typeface="Fira Sans"/>
                <a:cs typeface="Fira Sans"/>
              </a:rPr>
              <a:t>MARTINS; COSTA; LOPES (2026) · Retrofit do Modelo 3M</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Comparison">
  <p:cSld name="1_Comparison">
    <p:spTree>
      <p:nvGrpSpPr>
        <p:cNvPr id="1" name=""/>
        <p:cNvGrpSpPr/>
        <p:nvPr/>
      </p:nvGrpSpPr>
      <p:grpSpPr>
        <a:xfrm>
          <a:off x="0" y="0"/>
          <a:ext cx="0" cy="0"/>
          <a:chOff x="0" y="0"/>
          <a:chExt cx="0" cy="0"/>
        </a:xfrm>
      </p:grpSpPr>
      <p:sp>
        <p:nvSpPr>
          <p:cNvPr id="65" name="Google Shape;65;p9">
            <a:extLst>
              <a:ext uri="{FF2B5EF4-FFF2-40B4-BE49-F238E27FC236}">
                <a16:creationId xmlns:a16="http://schemas.microsoft.com/office/drawing/2014/main" id="{2170472C-1CD1-4B1F-A7A5-262F18EE7369}"/>
              </a:ext>
            </a:extLst>
          </p:cNvPr>
          <p:cNvSpPr>
            <a:spLocks noGrp="1"/>
          </p:cNvSpPr>
          <p:nvPr>
            <p:ph type="body" idx="1"/>
          </p:nvPr>
        </p:nvSpPr>
        <p:spPr>
          <a:xfrm>
            <a:off x="172394" y="1530777"/>
            <a:ext cx="4320000" cy="504000"/>
          </a:xfrm>
          <a:prstGeom prst="rect">
            <a:avLst/>
          </a:prstGeom>
          <a:noFill/>
          <a:ln>
            <a:noFill/>
          </a:ln>
        </p:spPr>
        <p:txBody>
          <a:bodyPr spcFirstLastPara="1" wrap="square" lIns="91425" tIns="45700" rIns="91425" bIns="45700" anchor="b">
            <a:normAutofit/>
          </a:bodyPr>
          <a:lstStyle>
            <a:lvl1pPr marL="342900" indent="-171450" algn="l">
              <a:lnSpc>
                <a:spcPct val="90000"/>
              </a:lnSpc>
              <a:spcBef>
                <a:spcPts val="750"/>
              </a:spcBef>
              <a:spcAft>
                <a:spcPts val="0"/>
              </a:spcAft>
              <a:buNone/>
              <a:defRPr sz="1800" b="1">
                <a:solidFill>
                  <a:srgbClr val="38415C"/>
                </a:solidFill>
              </a:defRPr>
            </a:lvl1pPr>
            <a:lvl2pPr marL="685800" indent="-171450" algn="l">
              <a:lnSpc>
                <a:spcPct val="90000"/>
              </a:lnSpc>
              <a:spcBef>
                <a:spcPts val="375"/>
              </a:spcBef>
              <a:spcAft>
                <a:spcPts val="0"/>
              </a:spcAft>
              <a:buNone/>
              <a:defRPr sz="1500" b="1"/>
            </a:lvl2pPr>
            <a:lvl3pPr marL="1028700" indent="-171450" algn="l">
              <a:lnSpc>
                <a:spcPct val="90000"/>
              </a:lnSpc>
              <a:spcBef>
                <a:spcPts val="375"/>
              </a:spcBef>
              <a:spcAft>
                <a:spcPts val="0"/>
              </a:spcAft>
              <a:buNone/>
              <a:defRPr sz="1350" b="1"/>
            </a:lvl3pPr>
            <a:lvl4pPr marL="1371600" indent="-171450" algn="l">
              <a:lnSpc>
                <a:spcPct val="90000"/>
              </a:lnSpc>
              <a:spcBef>
                <a:spcPts val="375"/>
              </a:spcBef>
              <a:spcAft>
                <a:spcPts val="0"/>
              </a:spcAft>
              <a:buNone/>
              <a:defRPr sz="1200" b="1"/>
            </a:lvl4pPr>
            <a:lvl5pPr marL="1714500" indent="-171450" algn="l">
              <a:lnSpc>
                <a:spcPct val="90000"/>
              </a:lnSpc>
              <a:spcBef>
                <a:spcPts val="375"/>
              </a:spcBef>
              <a:spcAft>
                <a:spcPts val="0"/>
              </a:spcAft>
              <a:buNone/>
              <a:defRPr sz="1200" b="1"/>
            </a:lvl5pPr>
            <a:lvl6pPr marL="2057400" indent="-171450" algn="l">
              <a:lnSpc>
                <a:spcPct val="90000"/>
              </a:lnSpc>
              <a:spcBef>
                <a:spcPts val="375"/>
              </a:spcBef>
              <a:spcAft>
                <a:spcPts val="0"/>
              </a:spcAft>
              <a:buNone/>
              <a:defRPr sz="1200" b="1"/>
            </a:lvl6pPr>
            <a:lvl7pPr marL="2400300" indent="-171450" algn="l">
              <a:lnSpc>
                <a:spcPct val="90000"/>
              </a:lnSpc>
              <a:spcBef>
                <a:spcPts val="375"/>
              </a:spcBef>
              <a:spcAft>
                <a:spcPts val="0"/>
              </a:spcAft>
              <a:buNone/>
              <a:defRPr sz="1200" b="1"/>
            </a:lvl7pPr>
            <a:lvl8pPr marL="2743200" indent="-171450" algn="l">
              <a:lnSpc>
                <a:spcPct val="90000"/>
              </a:lnSpc>
              <a:spcBef>
                <a:spcPts val="375"/>
              </a:spcBef>
              <a:spcAft>
                <a:spcPts val="0"/>
              </a:spcAft>
              <a:buNone/>
              <a:defRPr sz="1200" b="1"/>
            </a:lvl8pPr>
            <a:lvl9pPr marL="3086100" indent="-171450" algn="l">
              <a:lnSpc>
                <a:spcPct val="90000"/>
              </a:lnSpc>
              <a:spcBef>
                <a:spcPts val="375"/>
              </a:spcBef>
              <a:spcAft>
                <a:spcPts val="0"/>
              </a:spcAft>
              <a:buNone/>
              <a:defRPr sz="1200" b="1"/>
            </a:lvl9pPr>
          </a:lstStyle>
          <a:p>
            <a:endParaRPr/>
          </a:p>
        </p:txBody>
      </p:sp>
      <p:sp>
        <p:nvSpPr>
          <p:cNvPr id="66" name="Google Shape;66;p9">
            <a:extLst>
              <a:ext uri="{FF2B5EF4-FFF2-40B4-BE49-F238E27FC236}">
                <a16:creationId xmlns:a16="http://schemas.microsoft.com/office/drawing/2014/main" id="{52F40588-C503-4FD1-84EE-55898AE467BE}"/>
              </a:ext>
            </a:extLst>
          </p:cNvPr>
          <p:cNvSpPr>
            <a:spLocks noGrp="1"/>
          </p:cNvSpPr>
          <p:nvPr>
            <p:ph type="body" idx="2"/>
          </p:nvPr>
        </p:nvSpPr>
        <p:spPr>
          <a:xfrm>
            <a:off x="172394" y="2184437"/>
            <a:ext cx="4320000" cy="3932614"/>
          </a:xfrm>
          <a:prstGeom prst="rect">
            <a:avLst/>
          </a:prstGeom>
          <a:noFill/>
          <a:ln>
            <a:noFill/>
          </a:ln>
        </p:spPr>
        <p:txBody>
          <a:bodyPr spcFirstLastPara="1" wrap="square" lIns="91425" tIns="45700" rIns="91425" bIns="45700" anchor="t">
            <a:normAutofit/>
          </a:bodyPr>
          <a:lstStyle>
            <a:lvl1pPr marL="342900" indent="-304800" algn="l">
              <a:lnSpc>
                <a:spcPct val="90000"/>
              </a:lnSpc>
              <a:spcBef>
                <a:spcPts val="750"/>
              </a:spcBef>
              <a:spcAft>
                <a:spcPts val="0"/>
              </a:spcAft>
              <a:buChar char="•"/>
              <a:defRPr b="0">
                <a:solidFill>
                  <a:srgbClr val="38415C"/>
                </a:solidFill>
              </a:defRPr>
            </a:lvl1pPr>
            <a:lvl2pPr marL="685800" indent="-285750" algn="l">
              <a:lnSpc>
                <a:spcPct val="90000"/>
              </a:lnSpc>
              <a:spcBef>
                <a:spcPts val="375"/>
              </a:spcBef>
              <a:spcAft>
                <a:spcPts val="0"/>
              </a:spcAft>
              <a:buChar char="•"/>
              <a:defRPr b="0">
                <a:solidFill>
                  <a:srgbClr val="38415C"/>
                </a:solidFill>
              </a:defRPr>
            </a:lvl2pPr>
            <a:lvl3pPr marL="1028700" indent="-266700" algn="l">
              <a:lnSpc>
                <a:spcPct val="90000"/>
              </a:lnSpc>
              <a:spcBef>
                <a:spcPts val="375"/>
              </a:spcBef>
              <a:spcAft>
                <a:spcPts val="0"/>
              </a:spcAft>
              <a:buChar char="•"/>
              <a:defRPr b="0">
                <a:solidFill>
                  <a:srgbClr val="38415C"/>
                </a:solidFill>
              </a:defRPr>
            </a:lvl3pPr>
            <a:lvl4pPr marL="1371600" indent="-257175" algn="l">
              <a:lnSpc>
                <a:spcPct val="90000"/>
              </a:lnSpc>
              <a:spcBef>
                <a:spcPts val="375"/>
              </a:spcBef>
              <a:spcAft>
                <a:spcPts val="0"/>
              </a:spcAft>
              <a:buChar char="•"/>
              <a:defRPr b="0">
                <a:solidFill>
                  <a:srgbClr val="38415C"/>
                </a:solidFill>
              </a:defRPr>
            </a:lvl4pPr>
            <a:lvl5pPr marL="1714500" indent="-257175" algn="l">
              <a:lnSpc>
                <a:spcPct val="90000"/>
              </a:lnSpc>
              <a:spcBef>
                <a:spcPts val="375"/>
              </a:spcBef>
              <a:spcAft>
                <a:spcPts val="0"/>
              </a:spcAft>
              <a:buChar char="•"/>
              <a:defRPr b="0">
                <a:solidFill>
                  <a:srgbClr val="38415C"/>
                </a:solidFill>
              </a:defRPr>
            </a:lvl5pPr>
            <a:lvl6pPr marL="2057400" indent="-257175" algn="l">
              <a:lnSpc>
                <a:spcPct val="90000"/>
              </a:lnSpc>
              <a:spcBef>
                <a:spcPts val="375"/>
              </a:spcBef>
              <a:spcAft>
                <a:spcPts val="0"/>
              </a:spcAft>
              <a:buChar char="•"/>
              <a:defRPr/>
            </a:lvl6pPr>
            <a:lvl7pPr marL="2400300" indent="-257175" algn="l">
              <a:lnSpc>
                <a:spcPct val="90000"/>
              </a:lnSpc>
              <a:spcBef>
                <a:spcPts val="375"/>
              </a:spcBef>
              <a:spcAft>
                <a:spcPts val="0"/>
              </a:spcAft>
              <a:buChar char="•"/>
              <a:defRPr/>
            </a:lvl7pPr>
            <a:lvl8pPr marL="2743200" indent="-257175" algn="l">
              <a:lnSpc>
                <a:spcPct val="90000"/>
              </a:lnSpc>
              <a:spcBef>
                <a:spcPts val="375"/>
              </a:spcBef>
              <a:spcAft>
                <a:spcPts val="0"/>
              </a:spcAft>
              <a:buChar char="•"/>
              <a:defRPr/>
            </a:lvl8pPr>
            <a:lvl9pPr marL="3086100" indent="-257175" algn="l">
              <a:lnSpc>
                <a:spcPct val="90000"/>
              </a:lnSpc>
              <a:spcBef>
                <a:spcPts val="375"/>
              </a:spcBef>
              <a:spcAft>
                <a:spcPts val="0"/>
              </a:spcAft>
              <a:buChar char="•"/>
              <a:defRPr/>
            </a:lvl9pPr>
          </a:lstStyle>
          <a:p>
            <a:endParaRPr/>
          </a:p>
        </p:txBody>
      </p:sp>
      <p:sp>
        <p:nvSpPr>
          <p:cNvPr id="67" name="Google Shape;67;p9">
            <a:extLst>
              <a:ext uri="{FF2B5EF4-FFF2-40B4-BE49-F238E27FC236}">
                <a16:creationId xmlns:a16="http://schemas.microsoft.com/office/drawing/2014/main" id="{5A2EF76C-542C-45BE-B099-49AA6E0D8795}"/>
              </a:ext>
            </a:extLst>
          </p:cNvPr>
          <p:cNvSpPr>
            <a:spLocks noGrp="1"/>
          </p:cNvSpPr>
          <p:nvPr>
            <p:ph type="title"/>
          </p:nvPr>
        </p:nvSpPr>
        <p:spPr>
          <a:xfrm>
            <a:off x="866601" y="66183"/>
            <a:ext cx="8185958" cy="1334336"/>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None/>
              <a:defRPr>
                <a:solidFill>
                  <a:srgbClr val="38415C"/>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7" name="Google Shape;83;p11">
            <a:extLst>
              <a:ext uri="{FF2B5EF4-FFF2-40B4-BE49-F238E27FC236}">
                <a16:creationId xmlns:a16="http://schemas.microsoft.com/office/drawing/2014/main" id="{9DA6CF24-B0F2-AF5A-856B-1EA966B0FFD8}"/>
              </a:ext>
            </a:extLst>
          </p:cNvPr>
          <p:cNvSpPr>
            <a:spLocks noGrp="1"/>
          </p:cNvSpPr>
          <p:nvPr>
            <p:ph type="sldNum" idx="12"/>
          </p:nvPr>
        </p:nvSpPr>
        <p:spPr>
          <a:xfrm>
            <a:off x="6600825" y="6350139"/>
            <a:ext cx="20574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fld id="{00000000-1234-1234-1234-123412341234}" type="slidenum">
              <a:t>‹#›</a:t>
            </a:fld>
            <a:endParaRPr/>
          </a:p>
        </p:txBody>
      </p:sp>
      <p:sp>
        <p:nvSpPr>
          <p:cNvPr id="8" name="Google Shape;13;p1">
            <a:extLst>
              <a:ext uri="{FF2B5EF4-FFF2-40B4-BE49-F238E27FC236}">
                <a16:creationId xmlns:a16="http://schemas.microsoft.com/office/drawing/2014/main" id="{BAE9BA02-0D58-DF37-A906-D30C7C67798C}"/>
              </a:ext>
            </a:extLst>
          </p:cNvPr>
          <p:cNvSpPr>
            <a:spLocks noGrp="1"/>
          </p:cNvSpPr>
          <p:nvPr/>
        </p:nvSpPr>
        <p:spPr>
          <a:xfrm>
            <a:off x="172583" y="6368185"/>
            <a:ext cx="2057400" cy="365125"/>
          </a:xfrm>
          <a:prstGeom prst="rect">
            <a:avLst/>
          </a:prstGeom>
          <a:noFill/>
          <a:ln>
            <a:noFill/>
          </a:ln>
        </p:spPr>
        <p:txBody>
          <a:bodyPr spcFirstLastPara="1" lIns="91425" tIns="45700" rIns="91425" bIns="45700" anchor="ctr">
            <a:noAutofit/>
          </a:bodyPr>
          <a:lstStyle>
            <a:lvl1pPr algn="l">
              <a:lnSpc>
                <a:spcPct val="100000"/>
              </a:lnSpc>
              <a:spcBef>
                <a:spcPts val="0"/>
              </a:spcBef>
              <a:spcAft>
                <a:spcPts val="0"/>
              </a:spcAft>
              <a:buNone/>
              <a:defRPr sz="900" b="0" i="0" u="none" cap="none">
                <a:solidFill>
                  <a:srgbClr val="EB976D"/>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a:pPr>
              <a:buNone/>
            </a:pPr>
            <a:r>
              <a:rPr sz="675" b="0" i="0">
                <a:solidFill>
                  <a:srgbClr val="EB976D"/>
                </a:solidFill>
                <a:latin typeface="Fira Sans"/>
                <a:ea typeface="Fira Sans"/>
                <a:cs typeface="Fira Sans"/>
              </a:rPr>
              <a:t>Martins · Costa · Lopes</a:t>
            </a:r>
          </a:p>
          <a:p>
            <a:pPr>
              <a:buNone/>
            </a:pPr>
            <a:r>
              <a:rPr sz="675" b="0" i="0">
                <a:solidFill>
                  <a:srgbClr val="EB976D"/>
                </a:solidFill>
                <a:latin typeface="Fira Sans"/>
                <a:ea typeface="Fira Sans"/>
                <a:cs typeface="Fira Sans"/>
              </a:rPr>
              <a:t>joaopedro@cos.ufrj.br</a:t>
            </a:r>
          </a:p>
        </p:txBody>
      </p:sp>
      <p:sp>
        <p:nvSpPr>
          <p:cNvPr id="9" name="Google Shape;14;p1">
            <a:extLst>
              <a:ext uri="{FF2B5EF4-FFF2-40B4-BE49-F238E27FC236}">
                <a16:creationId xmlns:a16="http://schemas.microsoft.com/office/drawing/2014/main" id="{44C7ADF8-4551-764D-3FAB-EBEF4DF33E09}"/>
              </a:ext>
            </a:extLst>
          </p:cNvPr>
          <p:cNvSpPr>
            <a:spLocks noGrp="1"/>
          </p:cNvSpPr>
          <p:nvPr/>
        </p:nvSpPr>
        <p:spPr>
          <a:xfrm>
            <a:off x="2715758" y="6368185"/>
            <a:ext cx="3086100" cy="365125"/>
          </a:xfrm>
          <a:prstGeom prst="rect">
            <a:avLst/>
          </a:prstGeom>
          <a:noFill/>
          <a:ln>
            <a:noFill/>
          </a:ln>
        </p:spPr>
        <p:txBody>
          <a:bodyPr spcFirstLastPara="1" lIns="91425" tIns="45700" rIns="91425" bIns="45700" anchor="ctr">
            <a:noAutofit/>
          </a:bodyPr>
          <a:lstStyle>
            <a:lvl1pPr algn="ctr">
              <a:lnSpc>
                <a:spcPct val="100000"/>
              </a:lnSpc>
              <a:spcBef>
                <a:spcPts val="0"/>
              </a:spcBef>
              <a:spcAft>
                <a:spcPts val="0"/>
              </a:spcAft>
              <a:buNone/>
              <a:defRPr sz="2200" b="0" i="1" u="none" cap="none">
                <a:solidFill>
                  <a:srgbClr val="38415C"/>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a:pPr>
              <a:buNone/>
            </a:pPr>
            <a:r>
              <a:rPr sz="675" b="0" i="0">
                <a:solidFill>
                  <a:srgbClr val="38415C"/>
                </a:solidFill>
                <a:latin typeface="Fira Sans"/>
                <a:ea typeface="Fira Sans"/>
                <a:cs typeface="Fira Sans"/>
              </a:rPr>
              <a:t>MARTINS; COSTA; LOPES (2026) · Retrofit do Modelo 3M</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2_Comparison">
  <p:cSld name="2_Comparison">
    <p:spTree>
      <p:nvGrpSpPr>
        <p:cNvPr id="1" name=""/>
        <p:cNvGrpSpPr/>
        <p:nvPr/>
      </p:nvGrpSpPr>
      <p:grpSpPr>
        <a:xfrm>
          <a:off x="0" y="0"/>
          <a:ext cx="0" cy="0"/>
          <a:chOff x="0" y="0"/>
          <a:chExt cx="0" cy="0"/>
        </a:xfrm>
      </p:grpSpPr>
      <p:sp>
        <p:nvSpPr>
          <p:cNvPr id="72" name="Google Shape;72;p10">
            <a:extLst>
              <a:ext uri="{FF2B5EF4-FFF2-40B4-BE49-F238E27FC236}">
                <a16:creationId xmlns:a16="http://schemas.microsoft.com/office/drawing/2014/main" id="{E7374C4E-83C1-482B-9152-D2FF6588A0E0}"/>
              </a:ext>
            </a:extLst>
          </p:cNvPr>
          <p:cNvSpPr>
            <a:spLocks noGrp="1"/>
          </p:cNvSpPr>
          <p:nvPr>
            <p:ph type="body" idx="1"/>
          </p:nvPr>
        </p:nvSpPr>
        <p:spPr>
          <a:xfrm>
            <a:off x="4732559" y="1535885"/>
            <a:ext cx="4320000" cy="504000"/>
          </a:xfrm>
          <a:prstGeom prst="rect">
            <a:avLst/>
          </a:prstGeom>
          <a:noFill/>
          <a:ln>
            <a:noFill/>
          </a:ln>
        </p:spPr>
        <p:txBody>
          <a:bodyPr spcFirstLastPara="1" wrap="square" lIns="91425" tIns="45700" rIns="91425" bIns="45700" anchor="b">
            <a:normAutofit/>
          </a:bodyPr>
          <a:lstStyle>
            <a:lvl1pPr marL="342900" indent="-171450" algn="l">
              <a:lnSpc>
                <a:spcPct val="90000"/>
              </a:lnSpc>
              <a:spcBef>
                <a:spcPts val="750"/>
              </a:spcBef>
              <a:spcAft>
                <a:spcPts val="0"/>
              </a:spcAft>
              <a:buNone/>
              <a:defRPr sz="1800" b="1">
                <a:solidFill>
                  <a:srgbClr val="38415C"/>
                </a:solidFill>
              </a:defRPr>
            </a:lvl1pPr>
            <a:lvl2pPr marL="685800" indent="-171450" algn="l">
              <a:lnSpc>
                <a:spcPct val="90000"/>
              </a:lnSpc>
              <a:spcBef>
                <a:spcPts val="375"/>
              </a:spcBef>
              <a:spcAft>
                <a:spcPts val="0"/>
              </a:spcAft>
              <a:buNone/>
              <a:defRPr sz="1500" b="1"/>
            </a:lvl2pPr>
            <a:lvl3pPr marL="1028700" indent="-171450" algn="l">
              <a:lnSpc>
                <a:spcPct val="90000"/>
              </a:lnSpc>
              <a:spcBef>
                <a:spcPts val="375"/>
              </a:spcBef>
              <a:spcAft>
                <a:spcPts val="0"/>
              </a:spcAft>
              <a:buNone/>
              <a:defRPr sz="1350" b="1"/>
            </a:lvl3pPr>
            <a:lvl4pPr marL="1371600" indent="-171450" algn="l">
              <a:lnSpc>
                <a:spcPct val="90000"/>
              </a:lnSpc>
              <a:spcBef>
                <a:spcPts val="375"/>
              </a:spcBef>
              <a:spcAft>
                <a:spcPts val="0"/>
              </a:spcAft>
              <a:buNone/>
              <a:defRPr sz="1200" b="1"/>
            </a:lvl4pPr>
            <a:lvl5pPr marL="1714500" indent="-171450" algn="l">
              <a:lnSpc>
                <a:spcPct val="90000"/>
              </a:lnSpc>
              <a:spcBef>
                <a:spcPts val="375"/>
              </a:spcBef>
              <a:spcAft>
                <a:spcPts val="0"/>
              </a:spcAft>
              <a:buNone/>
              <a:defRPr sz="1200" b="1"/>
            </a:lvl5pPr>
            <a:lvl6pPr marL="2057400" indent="-171450" algn="l">
              <a:lnSpc>
                <a:spcPct val="90000"/>
              </a:lnSpc>
              <a:spcBef>
                <a:spcPts val="375"/>
              </a:spcBef>
              <a:spcAft>
                <a:spcPts val="0"/>
              </a:spcAft>
              <a:buNone/>
              <a:defRPr sz="1200" b="1"/>
            </a:lvl6pPr>
            <a:lvl7pPr marL="2400300" indent="-171450" algn="l">
              <a:lnSpc>
                <a:spcPct val="90000"/>
              </a:lnSpc>
              <a:spcBef>
                <a:spcPts val="375"/>
              </a:spcBef>
              <a:spcAft>
                <a:spcPts val="0"/>
              </a:spcAft>
              <a:buNone/>
              <a:defRPr sz="1200" b="1"/>
            </a:lvl7pPr>
            <a:lvl8pPr marL="2743200" indent="-171450" algn="l">
              <a:lnSpc>
                <a:spcPct val="90000"/>
              </a:lnSpc>
              <a:spcBef>
                <a:spcPts val="375"/>
              </a:spcBef>
              <a:spcAft>
                <a:spcPts val="0"/>
              </a:spcAft>
              <a:buNone/>
              <a:defRPr sz="1200" b="1"/>
            </a:lvl8pPr>
            <a:lvl9pPr marL="3086100" indent="-171450" algn="l">
              <a:lnSpc>
                <a:spcPct val="90000"/>
              </a:lnSpc>
              <a:spcBef>
                <a:spcPts val="375"/>
              </a:spcBef>
              <a:spcAft>
                <a:spcPts val="0"/>
              </a:spcAft>
              <a:buNone/>
              <a:defRPr sz="1200" b="1"/>
            </a:lvl9pPr>
          </a:lstStyle>
          <a:p>
            <a:endParaRPr/>
          </a:p>
        </p:txBody>
      </p:sp>
      <p:sp>
        <p:nvSpPr>
          <p:cNvPr id="73" name="Google Shape;73;p10">
            <a:extLst>
              <a:ext uri="{FF2B5EF4-FFF2-40B4-BE49-F238E27FC236}">
                <a16:creationId xmlns:a16="http://schemas.microsoft.com/office/drawing/2014/main" id="{30939747-B22E-4F08-81B8-F2B85DD60849}"/>
              </a:ext>
            </a:extLst>
          </p:cNvPr>
          <p:cNvSpPr>
            <a:spLocks noGrp="1"/>
          </p:cNvSpPr>
          <p:nvPr>
            <p:ph type="body" idx="2"/>
          </p:nvPr>
        </p:nvSpPr>
        <p:spPr>
          <a:xfrm>
            <a:off x="4732559" y="2184437"/>
            <a:ext cx="4320000" cy="3932615"/>
          </a:xfrm>
          <a:prstGeom prst="rect">
            <a:avLst/>
          </a:prstGeom>
          <a:noFill/>
          <a:ln>
            <a:noFill/>
          </a:ln>
        </p:spPr>
        <p:txBody>
          <a:bodyPr spcFirstLastPara="1" wrap="square" lIns="91425" tIns="45700" rIns="91425" bIns="45700" anchor="t">
            <a:normAutofit/>
          </a:bodyPr>
          <a:lstStyle>
            <a:lvl1pPr marL="342900" indent="-304800" algn="l">
              <a:lnSpc>
                <a:spcPct val="90000"/>
              </a:lnSpc>
              <a:spcBef>
                <a:spcPts val="750"/>
              </a:spcBef>
              <a:spcAft>
                <a:spcPts val="0"/>
              </a:spcAft>
              <a:buChar char="•"/>
              <a:defRPr>
                <a:solidFill>
                  <a:srgbClr val="38415C"/>
                </a:solidFill>
              </a:defRPr>
            </a:lvl1pPr>
            <a:lvl2pPr marL="685800" indent="-285750" algn="l">
              <a:lnSpc>
                <a:spcPct val="90000"/>
              </a:lnSpc>
              <a:spcBef>
                <a:spcPts val="375"/>
              </a:spcBef>
              <a:spcAft>
                <a:spcPts val="0"/>
              </a:spcAft>
              <a:buChar char="•"/>
              <a:defRPr>
                <a:solidFill>
                  <a:srgbClr val="38415C"/>
                </a:solidFill>
              </a:defRPr>
            </a:lvl2pPr>
            <a:lvl3pPr marL="1028700" indent="-266700" algn="l">
              <a:lnSpc>
                <a:spcPct val="90000"/>
              </a:lnSpc>
              <a:spcBef>
                <a:spcPts val="375"/>
              </a:spcBef>
              <a:spcAft>
                <a:spcPts val="0"/>
              </a:spcAft>
              <a:buChar char="•"/>
              <a:defRPr>
                <a:solidFill>
                  <a:srgbClr val="38415C"/>
                </a:solidFill>
              </a:defRPr>
            </a:lvl3pPr>
            <a:lvl4pPr marL="1371600" indent="-257175" algn="l">
              <a:lnSpc>
                <a:spcPct val="90000"/>
              </a:lnSpc>
              <a:spcBef>
                <a:spcPts val="375"/>
              </a:spcBef>
              <a:spcAft>
                <a:spcPts val="0"/>
              </a:spcAft>
              <a:buChar char="•"/>
              <a:defRPr>
                <a:solidFill>
                  <a:srgbClr val="38415C"/>
                </a:solidFill>
              </a:defRPr>
            </a:lvl4pPr>
            <a:lvl5pPr marL="1714500" indent="-257175" algn="l">
              <a:lnSpc>
                <a:spcPct val="90000"/>
              </a:lnSpc>
              <a:spcBef>
                <a:spcPts val="375"/>
              </a:spcBef>
              <a:spcAft>
                <a:spcPts val="0"/>
              </a:spcAft>
              <a:buChar char="•"/>
              <a:defRPr>
                <a:solidFill>
                  <a:srgbClr val="38415C"/>
                </a:solidFill>
              </a:defRPr>
            </a:lvl5pPr>
            <a:lvl6pPr marL="2057400" indent="-257175" algn="l">
              <a:lnSpc>
                <a:spcPct val="90000"/>
              </a:lnSpc>
              <a:spcBef>
                <a:spcPts val="375"/>
              </a:spcBef>
              <a:spcAft>
                <a:spcPts val="0"/>
              </a:spcAft>
              <a:buChar char="•"/>
              <a:defRPr/>
            </a:lvl6pPr>
            <a:lvl7pPr marL="2400300" indent="-257175" algn="l">
              <a:lnSpc>
                <a:spcPct val="90000"/>
              </a:lnSpc>
              <a:spcBef>
                <a:spcPts val="375"/>
              </a:spcBef>
              <a:spcAft>
                <a:spcPts val="0"/>
              </a:spcAft>
              <a:buChar char="•"/>
              <a:defRPr/>
            </a:lvl7pPr>
            <a:lvl8pPr marL="2743200" indent="-257175" algn="l">
              <a:lnSpc>
                <a:spcPct val="90000"/>
              </a:lnSpc>
              <a:spcBef>
                <a:spcPts val="375"/>
              </a:spcBef>
              <a:spcAft>
                <a:spcPts val="0"/>
              </a:spcAft>
              <a:buChar char="•"/>
              <a:defRPr/>
            </a:lvl8pPr>
            <a:lvl9pPr marL="3086100" indent="-257175" algn="l">
              <a:lnSpc>
                <a:spcPct val="90000"/>
              </a:lnSpc>
              <a:spcBef>
                <a:spcPts val="375"/>
              </a:spcBef>
              <a:spcAft>
                <a:spcPts val="0"/>
              </a:spcAft>
              <a:buChar char="•"/>
              <a:defRPr/>
            </a:lvl9pPr>
          </a:lstStyle>
          <a:p>
            <a:endParaRPr/>
          </a:p>
        </p:txBody>
      </p:sp>
      <p:sp>
        <p:nvSpPr>
          <p:cNvPr id="74" name="Google Shape;74;p10">
            <a:extLst>
              <a:ext uri="{FF2B5EF4-FFF2-40B4-BE49-F238E27FC236}">
                <a16:creationId xmlns:a16="http://schemas.microsoft.com/office/drawing/2014/main" id="{0FD20AC1-2A79-4361-B05E-0F3679984E96}"/>
              </a:ext>
            </a:extLst>
          </p:cNvPr>
          <p:cNvSpPr>
            <a:spLocks noGrp="1"/>
          </p:cNvSpPr>
          <p:nvPr>
            <p:ph type="title"/>
          </p:nvPr>
        </p:nvSpPr>
        <p:spPr>
          <a:xfrm>
            <a:off x="866601" y="66183"/>
            <a:ext cx="8185958" cy="1334336"/>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None/>
              <a:defRPr>
                <a:solidFill>
                  <a:srgbClr val="38415C"/>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7" name="Google Shape;83;p11">
            <a:extLst>
              <a:ext uri="{FF2B5EF4-FFF2-40B4-BE49-F238E27FC236}">
                <a16:creationId xmlns:a16="http://schemas.microsoft.com/office/drawing/2014/main" id="{CA122395-EAF2-42E9-C7F2-8364D3F6D7B0}"/>
              </a:ext>
            </a:extLst>
          </p:cNvPr>
          <p:cNvSpPr>
            <a:spLocks noGrp="1"/>
          </p:cNvSpPr>
          <p:nvPr>
            <p:ph type="sldNum" idx="12"/>
          </p:nvPr>
        </p:nvSpPr>
        <p:spPr>
          <a:xfrm>
            <a:off x="6600825" y="6350139"/>
            <a:ext cx="20574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fld id="{00000000-1234-1234-1234-123412341234}" type="slidenum">
              <a:t>‹#›</a:t>
            </a:fld>
            <a:endParaRPr/>
          </a:p>
        </p:txBody>
      </p:sp>
      <p:sp>
        <p:nvSpPr>
          <p:cNvPr id="8" name="Google Shape;13;p1">
            <a:extLst>
              <a:ext uri="{FF2B5EF4-FFF2-40B4-BE49-F238E27FC236}">
                <a16:creationId xmlns:a16="http://schemas.microsoft.com/office/drawing/2014/main" id="{B3ED0C8E-80E8-2251-F3D7-7F2360B109DB}"/>
              </a:ext>
            </a:extLst>
          </p:cNvPr>
          <p:cNvSpPr>
            <a:spLocks noGrp="1"/>
          </p:cNvSpPr>
          <p:nvPr/>
        </p:nvSpPr>
        <p:spPr>
          <a:xfrm>
            <a:off x="172583" y="6368185"/>
            <a:ext cx="2057400" cy="365125"/>
          </a:xfrm>
          <a:prstGeom prst="rect">
            <a:avLst/>
          </a:prstGeom>
          <a:noFill/>
          <a:ln>
            <a:noFill/>
          </a:ln>
        </p:spPr>
        <p:txBody>
          <a:bodyPr spcFirstLastPara="1" lIns="91425" tIns="45700" rIns="91425" bIns="45700" anchor="ctr">
            <a:noAutofit/>
          </a:bodyPr>
          <a:lstStyle>
            <a:lvl1pPr algn="l">
              <a:lnSpc>
                <a:spcPct val="100000"/>
              </a:lnSpc>
              <a:spcBef>
                <a:spcPts val="0"/>
              </a:spcBef>
              <a:spcAft>
                <a:spcPts val="0"/>
              </a:spcAft>
              <a:buNone/>
              <a:defRPr sz="900" b="0" i="0" u="none" cap="none">
                <a:solidFill>
                  <a:srgbClr val="EB976D"/>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a:pPr>
              <a:buNone/>
            </a:pPr>
            <a:r>
              <a:rPr sz="675" b="0" i="0">
                <a:solidFill>
                  <a:srgbClr val="EB976D"/>
                </a:solidFill>
                <a:latin typeface="Fira Sans"/>
                <a:ea typeface="Fira Sans"/>
                <a:cs typeface="Fira Sans"/>
              </a:rPr>
              <a:t>Martins · Costa · Lopes</a:t>
            </a:r>
          </a:p>
          <a:p>
            <a:pPr>
              <a:buNone/>
            </a:pPr>
            <a:r>
              <a:rPr sz="675" b="0" i="0">
                <a:solidFill>
                  <a:srgbClr val="EB976D"/>
                </a:solidFill>
                <a:latin typeface="Fira Sans"/>
                <a:ea typeface="Fira Sans"/>
                <a:cs typeface="Fira Sans"/>
              </a:rPr>
              <a:t>joaopedro@cos.ufrj.br</a:t>
            </a:r>
          </a:p>
        </p:txBody>
      </p:sp>
      <p:sp>
        <p:nvSpPr>
          <p:cNvPr id="9" name="Google Shape;14;p1">
            <a:extLst>
              <a:ext uri="{FF2B5EF4-FFF2-40B4-BE49-F238E27FC236}">
                <a16:creationId xmlns:a16="http://schemas.microsoft.com/office/drawing/2014/main" id="{352FC943-040A-056D-98FF-91ED5D8862EE}"/>
              </a:ext>
            </a:extLst>
          </p:cNvPr>
          <p:cNvSpPr>
            <a:spLocks noGrp="1"/>
          </p:cNvSpPr>
          <p:nvPr/>
        </p:nvSpPr>
        <p:spPr>
          <a:xfrm>
            <a:off x="2715758" y="6368185"/>
            <a:ext cx="3086100" cy="365125"/>
          </a:xfrm>
          <a:prstGeom prst="rect">
            <a:avLst/>
          </a:prstGeom>
          <a:noFill/>
          <a:ln>
            <a:noFill/>
          </a:ln>
        </p:spPr>
        <p:txBody>
          <a:bodyPr spcFirstLastPara="1" lIns="91425" tIns="45700" rIns="91425" bIns="45700" anchor="ctr">
            <a:noAutofit/>
          </a:bodyPr>
          <a:lstStyle>
            <a:lvl1pPr algn="ctr">
              <a:lnSpc>
                <a:spcPct val="100000"/>
              </a:lnSpc>
              <a:spcBef>
                <a:spcPts val="0"/>
              </a:spcBef>
              <a:spcAft>
                <a:spcPts val="0"/>
              </a:spcAft>
              <a:buNone/>
              <a:defRPr sz="2200" b="0" i="1" u="none" cap="none">
                <a:solidFill>
                  <a:srgbClr val="38415C"/>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a:pPr>
              <a:buNone/>
            </a:pPr>
            <a:r>
              <a:rPr sz="675" b="0" i="0">
                <a:solidFill>
                  <a:srgbClr val="38415C"/>
                </a:solidFill>
                <a:latin typeface="Fira Sans"/>
                <a:ea typeface="Fira Sans"/>
                <a:cs typeface="Fira Sans"/>
              </a:rPr>
              <a:t>MARTINS; COSTA; LOPES (2026) · Retrofit do Modelo 3M</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Definição">
  <p:cSld name="Definição">
    <p:spTree>
      <p:nvGrpSpPr>
        <p:cNvPr id="1" name=""/>
        <p:cNvGrpSpPr/>
        <p:nvPr/>
      </p:nvGrpSpPr>
      <p:grpSpPr>
        <a:xfrm>
          <a:off x="0" y="0"/>
          <a:ext cx="0" cy="0"/>
          <a:chOff x="0" y="0"/>
          <a:chExt cx="0" cy="0"/>
        </a:xfrm>
      </p:grpSpPr>
      <p:sp>
        <p:nvSpPr>
          <p:cNvPr id="79" name="Google Shape;79;p11">
            <a:extLst>
              <a:ext uri="{FF2B5EF4-FFF2-40B4-BE49-F238E27FC236}">
                <a16:creationId xmlns:a16="http://schemas.microsoft.com/office/drawing/2014/main" id="{86F0CCA6-4326-4494-9D3C-F5A73263CF09}"/>
              </a:ext>
            </a:extLst>
          </p:cNvPr>
          <p:cNvSpPr>
            <a:spLocks noGrp="1"/>
          </p:cNvSpPr>
          <p:nvPr>
            <p:ph type="body" idx="1"/>
          </p:nvPr>
        </p:nvSpPr>
        <p:spPr>
          <a:xfrm>
            <a:off x="117417" y="1501428"/>
            <a:ext cx="8935142" cy="4680000"/>
          </a:xfrm>
          <a:prstGeom prst="rect">
            <a:avLst/>
          </a:prstGeom>
          <a:noFill/>
          <a:ln>
            <a:noFill/>
          </a:ln>
        </p:spPr>
        <p:txBody>
          <a:bodyPr spcFirstLastPara="1" wrap="square" lIns="91425" tIns="45700" rIns="91425" bIns="45700" anchor="ctr">
            <a:normAutofit/>
          </a:bodyPr>
          <a:lstStyle>
            <a:lvl1pPr marL="342900" indent="-171450" algn="l">
              <a:lnSpc>
                <a:spcPct val="100000"/>
              </a:lnSpc>
              <a:spcBef>
                <a:spcPts val="0"/>
              </a:spcBef>
              <a:spcAft>
                <a:spcPts val="0"/>
              </a:spcAft>
              <a:buNone/>
              <a:defRPr sz="3600" b="1">
                <a:solidFill>
                  <a:srgbClr val="38415C"/>
                </a:solidFill>
              </a:defRPr>
            </a:lvl1pPr>
            <a:lvl2pPr marL="685800" indent="-171450" algn="l">
              <a:lnSpc>
                <a:spcPct val="100000"/>
              </a:lnSpc>
              <a:spcBef>
                <a:spcPts val="0"/>
              </a:spcBef>
              <a:spcAft>
                <a:spcPts val="0"/>
              </a:spcAft>
              <a:buNone/>
              <a:defRPr sz="2400" b="0">
                <a:solidFill>
                  <a:srgbClr val="38415C"/>
                </a:solidFill>
              </a:defRPr>
            </a:lvl2pPr>
            <a:lvl3pPr marL="1028700" indent="-171450" algn="l">
              <a:lnSpc>
                <a:spcPct val="100000"/>
              </a:lnSpc>
              <a:spcBef>
                <a:spcPts val="0"/>
              </a:spcBef>
              <a:spcAft>
                <a:spcPts val="0"/>
              </a:spcAft>
              <a:buNone/>
              <a:defRPr sz="2100" b="0">
                <a:solidFill>
                  <a:srgbClr val="38415C"/>
                </a:solidFill>
              </a:defRPr>
            </a:lvl3pPr>
            <a:lvl4pPr marL="1371600" indent="-171450" algn="l">
              <a:lnSpc>
                <a:spcPct val="100000"/>
              </a:lnSpc>
              <a:spcBef>
                <a:spcPts val="0"/>
              </a:spcBef>
              <a:spcAft>
                <a:spcPts val="0"/>
              </a:spcAft>
              <a:buNone/>
              <a:defRPr sz="1800" b="0">
                <a:solidFill>
                  <a:srgbClr val="38415C"/>
                </a:solidFill>
              </a:defRPr>
            </a:lvl4pPr>
            <a:lvl5pPr marL="1714500" indent="-171450" algn="l">
              <a:lnSpc>
                <a:spcPct val="100000"/>
              </a:lnSpc>
              <a:spcBef>
                <a:spcPts val="0"/>
              </a:spcBef>
              <a:spcAft>
                <a:spcPts val="0"/>
              </a:spcAft>
              <a:buNone/>
              <a:defRPr sz="1800" b="0">
                <a:solidFill>
                  <a:srgbClr val="38415C"/>
                </a:solidFill>
              </a:defRPr>
            </a:lvl5pPr>
            <a:lvl6pPr marL="2057400" indent="-257175" algn="l">
              <a:lnSpc>
                <a:spcPct val="90000"/>
              </a:lnSpc>
              <a:spcBef>
                <a:spcPts val="375"/>
              </a:spcBef>
              <a:spcAft>
                <a:spcPts val="0"/>
              </a:spcAft>
              <a:buChar char="•"/>
              <a:defRPr/>
            </a:lvl6pPr>
            <a:lvl7pPr marL="2400300" indent="-257175" algn="l">
              <a:lnSpc>
                <a:spcPct val="90000"/>
              </a:lnSpc>
              <a:spcBef>
                <a:spcPts val="375"/>
              </a:spcBef>
              <a:spcAft>
                <a:spcPts val="0"/>
              </a:spcAft>
              <a:buChar char="•"/>
              <a:defRPr/>
            </a:lvl7pPr>
            <a:lvl8pPr marL="2743200" indent="-257175" algn="l">
              <a:lnSpc>
                <a:spcPct val="90000"/>
              </a:lnSpc>
              <a:spcBef>
                <a:spcPts val="375"/>
              </a:spcBef>
              <a:spcAft>
                <a:spcPts val="0"/>
              </a:spcAft>
              <a:buChar char="•"/>
              <a:defRPr/>
            </a:lvl8pPr>
            <a:lvl9pPr marL="3086100" indent="-257175" algn="l">
              <a:lnSpc>
                <a:spcPct val="90000"/>
              </a:lnSpc>
              <a:spcBef>
                <a:spcPts val="375"/>
              </a:spcBef>
              <a:spcAft>
                <a:spcPts val="0"/>
              </a:spcAft>
              <a:buChar char="•"/>
              <a:defRPr/>
            </a:lvl9pPr>
          </a:lstStyle>
          <a:p>
            <a:endParaRPr/>
          </a:p>
        </p:txBody>
      </p:sp>
      <p:sp>
        <p:nvSpPr>
          <p:cNvPr id="80" name="Google Shape;80;p11">
            <a:extLst>
              <a:ext uri="{FF2B5EF4-FFF2-40B4-BE49-F238E27FC236}">
                <a16:creationId xmlns:a16="http://schemas.microsoft.com/office/drawing/2014/main" id="{E47B496F-8305-48D6-B5D8-11899F97BC49}"/>
              </a:ext>
            </a:extLst>
          </p:cNvPr>
          <p:cNvSpPr>
            <a:spLocks noGrp="1"/>
          </p:cNvSpPr>
          <p:nvPr>
            <p:ph type="title"/>
          </p:nvPr>
        </p:nvSpPr>
        <p:spPr>
          <a:xfrm>
            <a:off x="866601" y="66183"/>
            <a:ext cx="8185958" cy="1334336"/>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83" name="Google Shape;83;p11">
            <a:extLst>
              <a:ext uri="{FF2B5EF4-FFF2-40B4-BE49-F238E27FC236}">
                <a16:creationId xmlns:a16="http://schemas.microsoft.com/office/drawing/2014/main" id="{A0A5E861-1E5C-4221-8733-7E3E803CD5DA}"/>
              </a:ext>
            </a:extLst>
          </p:cNvPr>
          <p:cNvSpPr>
            <a:spLocks noGrp="1"/>
          </p:cNvSpPr>
          <p:nvPr>
            <p:ph type="sldNum" idx="12"/>
          </p:nvPr>
        </p:nvSpPr>
        <p:spPr>
          <a:xfrm>
            <a:off x="6600825" y="6350139"/>
            <a:ext cx="20574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fld id="{00000000-1234-1234-1234-123412341234}" type="slidenum">
              <a:t>‹#›</a:t>
            </a:fld>
            <a:endParaRPr/>
          </a:p>
        </p:txBody>
      </p:sp>
      <p:sp>
        <p:nvSpPr>
          <p:cNvPr id="3" name="Google Shape;13;p1">
            <a:extLst>
              <a:ext uri="{FF2B5EF4-FFF2-40B4-BE49-F238E27FC236}">
                <a16:creationId xmlns:a16="http://schemas.microsoft.com/office/drawing/2014/main" id="{A4D840F7-DE08-E41F-FF27-B1A0CFEAA4DB}"/>
              </a:ext>
            </a:extLst>
          </p:cNvPr>
          <p:cNvSpPr>
            <a:spLocks noGrp="1"/>
          </p:cNvSpPr>
          <p:nvPr/>
        </p:nvSpPr>
        <p:spPr>
          <a:xfrm>
            <a:off x="172583" y="6368185"/>
            <a:ext cx="2057400" cy="365125"/>
          </a:xfrm>
          <a:prstGeom prst="rect">
            <a:avLst/>
          </a:prstGeom>
          <a:noFill/>
          <a:ln>
            <a:noFill/>
          </a:ln>
        </p:spPr>
        <p:txBody>
          <a:bodyPr spcFirstLastPara="1" lIns="91425" tIns="45700" rIns="91425" bIns="45700" anchor="ctr">
            <a:noAutofit/>
          </a:bodyPr>
          <a:lstStyle>
            <a:lvl1pPr algn="l">
              <a:lnSpc>
                <a:spcPct val="100000"/>
              </a:lnSpc>
              <a:spcBef>
                <a:spcPts val="0"/>
              </a:spcBef>
              <a:spcAft>
                <a:spcPts val="0"/>
              </a:spcAft>
              <a:buNone/>
              <a:defRPr sz="900" b="0" i="0" u="none" cap="none">
                <a:solidFill>
                  <a:srgbClr val="EB976D"/>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a:pPr>
              <a:buNone/>
            </a:pPr>
            <a:r>
              <a:rPr sz="675" b="0" i="0">
                <a:solidFill>
                  <a:srgbClr val="EB976D"/>
                </a:solidFill>
                <a:latin typeface="Fira Sans"/>
                <a:ea typeface="Fira Sans"/>
                <a:cs typeface="Fira Sans"/>
              </a:rPr>
              <a:t>Martins · Costa · Lopes</a:t>
            </a:r>
          </a:p>
          <a:p>
            <a:pPr>
              <a:buNone/>
            </a:pPr>
            <a:r>
              <a:rPr sz="675" b="0" i="0">
                <a:solidFill>
                  <a:srgbClr val="EB976D"/>
                </a:solidFill>
                <a:latin typeface="Fira Sans"/>
                <a:ea typeface="Fira Sans"/>
                <a:cs typeface="Fira Sans"/>
              </a:rPr>
              <a:t>joaopedro@cos.ufrj.br</a:t>
            </a:r>
          </a:p>
        </p:txBody>
      </p:sp>
      <p:sp>
        <p:nvSpPr>
          <p:cNvPr id="4" name="Google Shape;14;p1">
            <a:extLst>
              <a:ext uri="{FF2B5EF4-FFF2-40B4-BE49-F238E27FC236}">
                <a16:creationId xmlns:a16="http://schemas.microsoft.com/office/drawing/2014/main" id="{5C662F7D-C3F7-EB9A-A9AC-52533FC28CD7}"/>
              </a:ext>
            </a:extLst>
          </p:cNvPr>
          <p:cNvSpPr>
            <a:spLocks noGrp="1"/>
          </p:cNvSpPr>
          <p:nvPr/>
        </p:nvSpPr>
        <p:spPr>
          <a:xfrm>
            <a:off x="2715758" y="6368185"/>
            <a:ext cx="3086100" cy="365125"/>
          </a:xfrm>
          <a:prstGeom prst="rect">
            <a:avLst/>
          </a:prstGeom>
          <a:noFill/>
          <a:ln>
            <a:noFill/>
          </a:ln>
        </p:spPr>
        <p:txBody>
          <a:bodyPr spcFirstLastPara="1" lIns="91425" tIns="45700" rIns="91425" bIns="45700" anchor="ctr">
            <a:noAutofit/>
          </a:bodyPr>
          <a:lstStyle>
            <a:lvl1pPr algn="ctr">
              <a:lnSpc>
                <a:spcPct val="100000"/>
              </a:lnSpc>
              <a:spcBef>
                <a:spcPts val="0"/>
              </a:spcBef>
              <a:spcAft>
                <a:spcPts val="0"/>
              </a:spcAft>
              <a:buNone/>
              <a:defRPr sz="2200" b="0" i="1" u="none" cap="none">
                <a:solidFill>
                  <a:srgbClr val="38415C"/>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a:pPr>
              <a:buNone/>
            </a:pPr>
            <a:r>
              <a:rPr sz="675" b="0" i="0">
                <a:solidFill>
                  <a:srgbClr val="38415C"/>
                </a:solidFill>
                <a:latin typeface="Fira Sans"/>
                <a:ea typeface="Fira Sans"/>
                <a:cs typeface="Fira Sans"/>
              </a:rPr>
              <a:t>MARTINS; COSTA; LOPES (2026) · Retrofit do Modelo 3M</a:t>
            </a:r>
          </a:p>
        </p:txBody>
      </p:sp>
      <p:sp>
        <p:nvSpPr>
          <p:cNvPr id="6" name="Google Shape;17;p1">
            <a:extLst>
              <a:ext uri="{FF2B5EF4-FFF2-40B4-BE49-F238E27FC236}">
                <a16:creationId xmlns:a16="http://schemas.microsoft.com/office/drawing/2014/main" id="{C780B7C7-BF3B-09ED-7D49-9212BC9FBF81}"/>
              </a:ext>
            </a:extLst>
          </p:cNvPr>
          <p:cNvSpPr>
            <a:spLocks noGrp="1"/>
          </p:cNvSpPr>
          <p:nvPr/>
        </p:nvSpPr>
        <p:spPr>
          <a:xfrm>
            <a:off x="8470669" y="6309681"/>
            <a:ext cx="555913" cy="482136"/>
          </a:xfrm>
          <a:prstGeom prst="rect">
            <a:avLst/>
          </a:prstGeom>
          <a:noFill/>
          <a:ln w="12700" cmpd="sng">
            <a:solidFill>
              <a:srgbClr val="38415C"/>
            </a:solidFill>
            <a:prstDash val="solid"/>
          </a:ln>
        </p:spPr>
        <p:txBody>
          <a:bodyPr spcFirstLastPara="1" lIns="68569" tIns="34275" rIns="68569" bIns="34275" anchor="ctr">
            <a:noAutofit/>
          </a:bodyPr>
          <a:lstStyle/>
          <a:p>
            <a:pPr marL="0" indent="0" algn="ctr">
              <a:spcBef>
                <a:spcPts val="0"/>
              </a:spcBef>
              <a:spcAft>
                <a:spcPts val="0"/>
              </a:spcAft>
              <a:buNone/>
            </a:pPr>
            <a:r>
              <a:rPr sz="1650" b="1" i="0" u="none" cap="none">
                <a:solidFill>
                  <a:srgbClr val="EB976D"/>
                </a:solidFill>
                <a:latin typeface="Fira Sans"/>
                <a:ea typeface="Fira Sans"/>
                <a:cs typeface="Fira Sans"/>
              </a:rPr>
              <a:t>/23</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Lista de Definições">
  <p:cSld name="Lista de Definições">
    <p:spTree>
      <p:nvGrpSpPr>
        <p:cNvPr id="1" name=""/>
        <p:cNvGrpSpPr/>
        <p:nvPr/>
      </p:nvGrpSpPr>
      <p:grpSpPr>
        <a:xfrm>
          <a:off x="0" y="0"/>
          <a:ext cx="0" cy="0"/>
          <a:chOff x="0" y="0"/>
          <a:chExt cx="0" cy="0"/>
        </a:xfrm>
      </p:grpSpPr>
      <p:sp>
        <p:nvSpPr>
          <p:cNvPr id="85" name="Google Shape;85;p12">
            <a:extLst>
              <a:ext uri="{FF2B5EF4-FFF2-40B4-BE49-F238E27FC236}">
                <a16:creationId xmlns:a16="http://schemas.microsoft.com/office/drawing/2014/main" id="{D67474C1-A9C6-4D26-8811-5C7088856572}"/>
              </a:ext>
            </a:extLst>
          </p:cNvPr>
          <p:cNvSpPr>
            <a:spLocks noGrp="1"/>
          </p:cNvSpPr>
          <p:nvPr>
            <p:ph type="body" idx="1"/>
          </p:nvPr>
        </p:nvSpPr>
        <p:spPr>
          <a:xfrm>
            <a:off x="117417" y="1501428"/>
            <a:ext cx="8935142" cy="4680000"/>
          </a:xfrm>
          <a:prstGeom prst="rect">
            <a:avLst/>
          </a:prstGeom>
          <a:noFill/>
          <a:ln>
            <a:noFill/>
          </a:ln>
        </p:spPr>
        <p:txBody>
          <a:bodyPr spcFirstLastPara="1" wrap="square" lIns="91425" tIns="45700" rIns="91425" bIns="45700" anchor="t">
            <a:normAutofit/>
          </a:bodyPr>
          <a:lstStyle>
            <a:lvl1pPr marL="342900" indent="-323850" algn="l">
              <a:lnSpc>
                <a:spcPct val="90000"/>
              </a:lnSpc>
              <a:spcBef>
                <a:spcPts val="750"/>
              </a:spcBef>
              <a:spcAft>
                <a:spcPts val="0"/>
              </a:spcAft>
              <a:buChar char="•"/>
              <a:defRPr sz="2400" b="1">
                <a:solidFill>
                  <a:srgbClr val="38415C"/>
                </a:solidFill>
              </a:defRPr>
            </a:lvl1pPr>
            <a:lvl2pPr marL="685800" indent="-304800" algn="l">
              <a:lnSpc>
                <a:spcPct val="90000"/>
              </a:lnSpc>
              <a:spcBef>
                <a:spcPts val="375"/>
              </a:spcBef>
              <a:spcAft>
                <a:spcPts val="0"/>
              </a:spcAft>
              <a:buChar char="•"/>
              <a:defRPr sz="2100">
                <a:solidFill>
                  <a:srgbClr val="38415C"/>
                </a:solidFill>
              </a:defRPr>
            </a:lvl2pPr>
            <a:lvl3pPr marL="1028700" indent="-285750" algn="l">
              <a:lnSpc>
                <a:spcPct val="90000"/>
              </a:lnSpc>
              <a:spcBef>
                <a:spcPts val="375"/>
              </a:spcBef>
              <a:spcAft>
                <a:spcPts val="0"/>
              </a:spcAft>
              <a:buChar char="•"/>
              <a:defRPr sz="1800">
                <a:solidFill>
                  <a:srgbClr val="38415C"/>
                </a:solidFill>
              </a:defRPr>
            </a:lvl3pPr>
            <a:lvl4pPr marL="1371600" indent="-266700" algn="l">
              <a:lnSpc>
                <a:spcPct val="90000"/>
              </a:lnSpc>
              <a:spcBef>
                <a:spcPts val="375"/>
              </a:spcBef>
              <a:spcAft>
                <a:spcPts val="0"/>
              </a:spcAft>
              <a:buChar char="•"/>
              <a:defRPr sz="1500">
                <a:solidFill>
                  <a:srgbClr val="38415C"/>
                </a:solidFill>
              </a:defRPr>
            </a:lvl4pPr>
            <a:lvl5pPr marL="1714500" indent="-266700" algn="l">
              <a:lnSpc>
                <a:spcPct val="90000"/>
              </a:lnSpc>
              <a:spcBef>
                <a:spcPts val="375"/>
              </a:spcBef>
              <a:spcAft>
                <a:spcPts val="0"/>
              </a:spcAft>
              <a:buChar char="•"/>
              <a:defRPr sz="1500">
                <a:solidFill>
                  <a:srgbClr val="38415C"/>
                </a:solidFill>
              </a:defRPr>
            </a:lvl5pPr>
            <a:lvl6pPr marL="2057400" indent="-257175" algn="l">
              <a:lnSpc>
                <a:spcPct val="90000"/>
              </a:lnSpc>
              <a:spcBef>
                <a:spcPts val="375"/>
              </a:spcBef>
              <a:spcAft>
                <a:spcPts val="0"/>
              </a:spcAft>
              <a:buChar char="•"/>
              <a:defRPr/>
            </a:lvl6pPr>
            <a:lvl7pPr marL="2400300" indent="-257175" algn="l">
              <a:lnSpc>
                <a:spcPct val="90000"/>
              </a:lnSpc>
              <a:spcBef>
                <a:spcPts val="375"/>
              </a:spcBef>
              <a:spcAft>
                <a:spcPts val="0"/>
              </a:spcAft>
              <a:buChar char="•"/>
              <a:defRPr/>
            </a:lvl7pPr>
            <a:lvl8pPr marL="2743200" indent="-257175" algn="l">
              <a:lnSpc>
                <a:spcPct val="90000"/>
              </a:lnSpc>
              <a:spcBef>
                <a:spcPts val="375"/>
              </a:spcBef>
              <a:spcAft>
                <a:spcPts val="0"/>
              </a:spcAft>
              <a:buChar char="•"/>
              <a:defRPr/>
            </a:lvl8pPr>
            <a:lvl9pPr marL="3086100" indent="-257175" algn="l">
              <a:lnSpc>
                <a:spcPct val="90000"/>
              </a:lnSpc>
              <a:spcBef>
                <a:spcPts val="375"/>
              </a:spcBef>
              <a:spcAft>
                <a:spcPts val="0"/>
              </a:spcAft>
              <a:buChar char="•"/>
              <a:defRPr/>
            </a:lvl9pPr>
          </a:lstStyle>
          <a:p>
            <a:endParaRPr/>
          </a:p>
        </p:txBody>
      </p:sp>
      <p:sp>
        <p:nvSpPr>
          <p:cNvPr id="86" name="Google Shape;86;p12">
            <a:extLst>
              <a:ext uri="{FF2B5EF4-FFF2-40B4-BE49-F238E27FC236}">
                <a16:creationId xmlns:a16="http://schemas.microsoft.com/office/drawing/2014/main" id="{5FF52DF6-77C2-4FCB-AAE2-64C3C4BEEA54}"/>
              </a:ext>
            </a:extLst>
          </p:cNvPr>
          <p:cNvSpPr>
            <a:spLocks noGrp="1"/>
          </p:cNvSpPr>
          <p:nvPr>
            <p:ph type="title"/>
          </p:nvPr>
        </p:nvSpPr>
        <p:spPr>
          <a:xfrm>
            <a:off x="866601" y="66183"/>
            <a:ext cx="8185958" cy="1334336"/>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None/>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7" name="Google Shape;83;p11">
            <a:extLst>
              <a:ext uri="{FF2B5EF4-FFF2-40B4-BE49-F238E27FC236}">
                <a16:creationId xmlns:a16="http://schemas.microsoft.com/office/drawing/2014/main" id="{23AA0777-A0AA-857E-E4DD-23723AA80730}"/>
              </a:ext>
            </a:extLst>
          </p:cNvPr>
          <p:cNvSpPr>
            <a:spLocks noGrp="1"/>
          </p:cNvSpPr>
          <p:nvPr>
            <p:ph type="sldNum" idx="12"/>
          </p:nvPr>
        </p:nvSpPr>
        <p:spPr>
          <a:xfrm>
            <a:off x="6600825" y="6350139"/>
            <a:ext cx="20574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fld id="{00000000-1234-1234-1234-123412341234}" type="slidenum">
              <a:t>‹#›</a:t>
            </a:fld>
            <a:endParaRPr/>
          </a:p>
        </p:txBody>
      </p:sp>
      <p:sp>
        <p:nvSpPr>
          <p:cNvPr id="8" name="Google Shape;13;p1">
            <a:extLst>
              <a:ext uri="{FF2B5EF4-FFF2-40B4-BE49-F238E27FC236}">
                <a16:creationId xmlns:a16="http://schemas.microsoft.com/office/drawing/2014/main" id="{B5912525-BC0A-DCBA-A8A8-8116AE52F6C1}"/>
              </a:ext>
            </a:extLst>
          </p:cNvPr>
          <p:cNvSpPr>
            <a:spLocks noGrp="1"/>
          </p:cNvSpPr>
          <p:nvPr/>
        </p:nvSpPr>
        <p:spPr>
          <a:xfrm>
            <a:off x="172583" y="6368185"/>
            <a:ext cx="2057400" cy="365125"/>
          </a:xfrm>
          <a:prstGeom prst="rect">
            <a:avLst/>
          </a:prstGeom>
          <a:noFill/>
          <a:ln>
            <a:noFill/>
          </a:ln>
        </p:spPr>
        <p:txBody>
          <a:bodyPr spcFirstLastPara="1" lIns="91425" tIns="45700" rIns="91425" bIns="45700" anchor="ctr">
            <a:noAutofit/>
          </a:bodyPr>
          <a:lstStyle>
            <a:lvl1pPr algn="l">
              <a:lnSpc>
                <a:spcPct val="100000"/>
              </a:lnSpc>
              <a:spcBef>
                <a:spcPts val="0"/>
              </a:spcBef>
              <a:spcAft>
                <a:spcPts val="0"/>
              </a:spcAft>
              <a:buNone/>
              <a:defRPr sz="900" b="0" i="0" u="none" cap="none">
                <a:solidFill>
                  <a:srgbClr val="EB976D"/>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a:pPr>
              <a:buNone/>
            </a:pPr>
            <a:r>
              <a:rPr sz="675" b="0" i="0">
                <a:solidFill>
                  <a:srgbClr val="EB976D"/>
                </a:solidFill>
                <a:latin typeface="Fira Sans"/>
                <a:ea typeface="Fira Sans"/>
                <a:cs typeface="Fira Sans"/>
              </a:rPr>
              <a:t>Martins · Costa · Lopes</a:t>
            </a:r>
          </a:p>
          <a:p>
            <a:pPr>
              <a:buNone/>
            </a:pPr>
            <a:r>
              <a:rPr sz="675" b="0" i="0">
                <a:solidFill>
                  <a:srgbClr val="EB976D"/>
                </a:solidFill>
                <a:latin typeface="Fira Sans"/>
                <a:ea typeface="Fira Sans"/>
                <a:cs typeface="Fira Sans"/>
              </a:rPr>
              <a:t>joaopedro@cos.ufrj.br</a:t>
            </a:r>
          </a:p>
        </p:txBody>
      </p:sp>
      <p:sp>
        <p:nvSpPr>
          <p:cNvPr id="9" name="Google Shape;14;p1">
            <a:extLst>
              <a:ext uri="{FF2B5EF4-FFF2-40B4-BE49-F238E27FC236}">
                <a16:creationId xmlns:a16="http://schemas.microsoft.com/office/drawing/2014/main" id="{B3ED1E57-7533-4BCE-95DE-9F8FEA4709F0}"/>
              </a:ext>
            </a:extLst>
          </p:cNvPr>
          <p:cNvSpPr>
            <a:spLocks noGrp="1"/>
          </p:cNvSpPr>
          <p:nvPr/>
        </p:nvSpPr>
        <p:spPr>
          <a:xfrm>
            <a:off x="2715758" y="6368185"/>
            <a:ext cx="3086100" cy="365125"/>
          </a:xfrm>
          <a:prstGeom prst="rect">
            <a:avLst/>
          </a:prstGeom>
          <a:noFill/>
          <a:ln>
            <a:noFill/>
          </a:ln>
        </p:spPr>
        <p:txBody>
          <a:bodyPr spcFirstLastPara="1" lIns="91425" tIns="45700" rIns="91425" bIns="45700" anchor="ctr">
            <a:noAutofit/>
          </a:bodyPr>
          <a:lstStyle>
            <a:lvl1pPr algn="ctr">
              <a:lnSpc>
                <a:spcPct val="100000"/>
              </a:lnSpc>
              <a:spcBef>
                <a:spcPts val="0"/>
              </a:spcBef>
              <a:spcAft>
                <a:spcPts val="0"/>
              </a:spcAft>
              <a:buNone/>
              <a:defRPr sz="2200" b="0" i="1" u="none" cap="none">
                <a:solidFill>
                  <a:srgbClr val="38415C"/>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a:pPr>
              <a:buNone/>
            </a:pPr>
            <a:r>
              <a:rPr sz="675" b="0" i="0">
                <a:solidFill>
                  <a:srgbClr val="38415C"/>
                </a:solidFill>
                <a:latin typeface="Fira Sans"/>
                <a:ea typeface="Fira Sans"/>
                <a:cs typeface="Fira Sans"/>
              </a:rPr>
              <a:t>MARTINS; COSTA; LOPES (2026) · Retrofit do Modelo 3M</a:t>
            </a: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
        <p:cNvGrpSpPr/>
        <p:nvPr/>
      </p:nvGrpSpPr>
      <p:grpSpPr>
        <a:xfrm>
          <a:off x="0" y="0"/>
          <a:ext cx="0" cy="0"/>
          <a:chOff x="0" y="0"/>
          <a:chExt cx="0" cy="0"/>
        </a:xfrm>
      </p:grpSpPr>
      <p:sp>
        <p:nvSpPr>
          <p:cNvPr id="91" name="Google Shape;91;p13">
            <a:extLst>
              <a:ext uri="{FF2B5EF4-FFF2-40B4-BE49-F238E27FC236}">
                <a16:creationId xmlns:a16="http://schemas.microsoft.com/office/drawing/2014/main" id="{2A518710-33E4-49CA-B1DB-2204AFC95901}"/>
              </a:ext>
            </a:extLst>
          </p:cNvPr>
          <p:cNvSpPr>
            <a:spLocks noGrp="1"/>
          </p:cNvSpPr>
          <p:nvPr>
            <p:ph type="title"/>
          </p:nvPr>
        </p:nvSpPr>
        <p:spPr>
          <a:xfrm>
            <a:off x="866601" y="66183"/>
            <a:ext cx="8185958" cy="1334336"/>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None/>
              <a:defRPr>
                <a:solidFill>
                  <a:srgbClr val="38415C"/>
                </a:solidFill>
              </a:defRPr>
            </a:lvl1pPr>
            <a:lvl2pPr>
              <a:spcBef>
                <a:spcPts val="0"/>
              </a:spcBef>
              <a:spcAft>
                <a:spcPts val="0"/>
              </a:spcAft>
              <a:buNone/>
              <a:defRPr/>
            </a:lvl2pPr>
            <a:lvl3pPr>
              <a:spcBef>
                <a:spcPts val="0"/>
              </a:spcBef>
              <a:spcAft>
                <a:spcPts val="0"/>
              </a:spcAft>
              <a:buNone/>
              <a:defRPr/>
            </a:lvl3pPr>
            <a:lvl4pPr>
              <a:spcBef>
                <a:spcPts val="0"/>
              </a:spcBef>
              <a:spcAft>
                <a:spcPts val="0"/>
              </a:spcAft>
              <a:buNone/>
              <a:defRPr/>
            </a:lvl4pPr>
            <a:lvl5pPr>
              <a:spcBef>
                <a:spcPts val="0"/>
              </a:spcBef>
              <a:spcAft>
                <a:spcPts val="0"/>
              </a:spcAft>
              <a:buNone/>
              <a:defRPr/>
            </a:lvl5pPr>
            <a:lvl6pPr>
              <a:spcBef>
                <a:spcPts val="0"/>
              </a:spcBef>
              <a:spcAft>
                <a:spcPts val="0"/>
              </a:spcAft>
              <a:buNone/>
              <a:defRPr/>
            </a:lvl6pPr>
            <a:lvl7pPr>
              <a:spcBef>
                <a:spcPts val="0"/>
              </a:spcBef>
              <a:spcAft>
                <a:spcPts val="0"/>
              </a:spcAft>
              <a:buNone/>
              <a:defRPr/>
            </a:lvl7pPr>
            <a:lvl8pPr>
              <a:spcBef>
                <a:spcPts val="0"/>
              </a:spcBef>
              <a:spcAft>
                <a:spcPts val="0"/>
              </a:spcAft>
              <a:buNone/>
              <a:defRPr/>
            </a:lvl8pPr>
            <a:lvl9pPr>
              <a:spcBef>
                <a:spcPts val="0"/>
              </a:spcBef>
              <a:spcAft>
                <a:spcPts val="0"/>
              </a:spcAft>
              <a:buNone/>
              <a:defRPr/>
            </a:lvl9pPr>
          </a:lstStyle>
          <a:p>
            <a:endParaRPr/>
          </a:p>
        </p:txBody>
      </p:sp>
      <p:sp>
        <p:nvSpPr>
          <p:cNvPr id="7" name="Google Shape;83;p11">
            <a:extLst>
              <a:ext uri="{FF2B5EF4-FFF2-40B4-BE49-F238E27FC236}">
                <a16:creationId xmlns:a16="http://schemas.microsoft.com/office/drawing/2014/main" id="{112471AE-902F-88F5-FB83-1C4E1D519B05}"/>
              </a:ext>
            </a:extLst>
          </p:cNvPr>
          <p:cNvSpPr>
            <a:spLocks noGrp="1"/>
          </p:cNvSpPr>
          <p:nvPr>
            <p:ph type="sldNum" idx="12"/>
          </p:nvPr>
        </p:nvSpPr>
        <p:spPr>
          <a:xfrm>
            <a:off x="6600825" y="6350139"/>
            <a:ext cx="20574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fld id="{00000000-1234-1234-1234-123412341234}" type="slidenum">
              <a:t>‹#›</a:t>
            </a:fld>
            <a:endParaRPr/>
          </a:p>
        </p:txBody>
      </p:sp>
      <p:sp>
        <p:nvSpPr>
          <p:cNvPr id="8" name="Google Shape;13;p1">
            <a:extLst>
              <a:ext uri="{FF2B5EF4-FFF2-40B4-BE49-F238E27FC236}">
                <a16:creationId xmlns:a16="http://schemas.microsoft.com/office/drawing/2014/main" id="{17A17315-56DB-5D15-ECEF-02725F32377D}"/>
              </a:ext>
            </a:extLst>
          </p:cNvPr>
          <p:cNvSpPr>
            <a:spLocks noGrp="1"/>
          </p:cNvSpPr>
          <p:nvPr/>
        </p:nvSpPr>
        <p:spPr>
          <a:xfrm>
            <a:off x="172583" y="6368185"/>
            <a:ext cx="2057400" cy="365125"/>
          </a:xfrm>
          <a:prstGeom prst="rect">
            <a:avLst/>
          </a:prstGeom>
          <a:noFill/>
          <a:ln>
            <a:noFill/>
          </a:ln>
        </p:spPr>
        <p:txBody>
          <a:bodyPr spcFirstLastPara="1" lIns="91425" tIns="45700" rIns="91425" bIns="45700" anchor="ctr">
            <a:noAutofit/>
          </a:bodyPr>
          <a:lstStyle>
            <a:lvl1pPr algn="l">
              <a:lnSpc>
                <a:spcPct val="100000"/>
              </a:lnSpc>
              <a:spcBef>
                <a:spcPts val="0"/>
              </a:spcBef>
              <a:spcAft>
                <a:spcPts val="0"/>
              </a:spcAft>
              <a:buNone/>
              <a:defRPr sz="900" b="0" i="0" u="none" cap="none">
                <a:solidFill>
                  <a:srgbClr val="EB976D"/>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a:pPr>
              <a:buNone/>
            </a:pPr>
            <a:r>
              <a:rPr sz="675" b="0" i="0">
                <a:solidFill>
                  <a:srgbClr val="EB976D"/>
                </a:solidFill>
                <a:latin typeface="Fira Sans"/>
                <a:ea typeface="Fira Sans"/>
                <a:cs typeface="Fira Sans"/>
              </a:rPr>
              <a:t>Martins · Costa · Lopes</a:t>
            </a:r>
          </a:p>
          <a:p>
            <a:pPr>
              <a:buNone/>
            </a:pPr>
            <a:r>
              <a:rPr sz="675" b="0" i="0">
                <a:solidFill>
                  <a:srgbClr val="EB976D"/>
                </a:solidFill>
                <a:latin typeface="Fira Sans"/>
                <a:ea typeface="Fira Sans"/>
                <a:cs typeface="Fira Sans"/>
              </a:rPr>
              <a:t>joaopedro@cos.ufrj.br</a:t>
            </a:r>
          </a:p>
        </p:txBody>
      </p:sp>
      <p:sp>
        <p:nvSpPr>
          <p:cNvPr id="9" name="Google Shape;14;p1">
            <a:extLst>
              <a:ext uri="{FF2B5EF4-FFF2-40B4-BE49-F238E27FC236}">
                <a16:creationId xmlns:a16="http://schemas.microsoft.com/office/drawing/2014/main" id="{41AC2F66-A186-23A5-3DB7-A7900C58377A}"/>
              </a:ext>
            </a:extLst>
          </p:cNvPr>
          <p:cNvSpPr>
            <a:spLocks noGrp="1"/>
          </p:cNvSpPr>
          <p:nvPr/>
        </p:nvSpPr>
        <p:spPr>
          <a:xfrm>
            <a:off x="2715758" y="6368185"/>
            <a:ext cx="3086100" cy="365125"/>
          </a:xfrm>
          <a:prstGeom prst="rect">
            <a:avLst/>
          </a:prstGeom>
          <a:noFill/>
          <a:ln>
            <a:noFill/>
          </a:ln>
        </p:spPr>
        <p:txBody>
          <a:bodyPr spcFirstLastPara="1" lIns="91425" tIns="45700" rIns="91425" bIns="45700" anchor="ctr">
            <a:noAutofit/>
          </a:bodyPr>
          <a:lstStyle>
            <a:lvl1pPr algn="ctr">
              <a:lnSpc>
                <a:spcPct val="100000"/>
              </a:lnSpc>
              <a:spcBef>
                <a:spcPts val="0"/>
              </a:spcBef>
              <a:spcAft>
                <a:spcPts val="0"/>
              </a:spcAft>
              <a:buNone/>
              <a:defRPr sz="2200" b="0" i="1" u="none" cap="none">
                <a:solidFill>
                  <a:srgbClr val="38415C"/>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a:pPr>
              <a:buNone/>
            </a:pPr>
            <a:r>
              <a:rPr sz="675" b="0" i="0">
                <a:solidFill>
                  <a:srgbClr val="38415C"/>
                </a:solidFill>
                <a:latin typeface="Fira Sans"/>
                <a:ea typeface="Fira Sans"/>
                <a:cs typeface="Fira Sans"/>
              </a:rPr>
              <a:t>MARTINS; COSTA; LOPES (2026) · Retrofit do Modelo 3M</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
        <p:cNvGrpSpPr/>
        <p:nvPr/>
      </p:nvGrpSpPr>
      <p:grpSpPr>
        <a:xfrm>
          <a:off x="0" y="0"/>
          <a:ext cx="0" cy="0"/>
          <a:chOff x="0" y="0"/>
          <a:chExt cx="0" cy="0"/>
        </a:xfrm>
      </p:grpSpPr>
      <p:sp>
        <p:nvSpPr>
          <p:cNvPr id="96" name="Google Shape;96;p14">
            <a:extLst>
              <a:ext uri="{FF2B5EF4-FFF2-40B4-BE49-F238E27FC236}">
                <a16:creationId xmlns:a16="http://schemas.microsoft.com/office/drawing/2014/main" id="{BFBDDEBE-BCAB-42C3-9808-FDC2A1FB50E4}"/>
              </a:ext>
            </a:extLst>
          </p:cNvPr>
          <p:cNvSpPr>
            <a:spLocks noGrp="1"/>
          </p:cNvSpPr>
          <p:nvPr>
            <p:ph type="dt" idx="10"/>
          </p:nvPr>
        </p:nvSpPr>
        <p:spPr>
          <a:xfrm>
            <a:off x="117418" y="6350139"/>
            <a:ext cx="2057400" cy="365125"/>
          </a:xfrm>
          <a:prstGeom prst="rect">
            <a:avLst/>
          </a:prstGeom>
          <a:noFill/>
          <a:ln>
            <a:noFill/>
          </a:ln>
        </p:spPr>
        <p:txBody>
          <a:bodyPr spcFirstLastPara="1" wrap="square" lIns="91425" tIns="45700" rIns="91425" bIns="45700" anchor="ctr">
            <a:noAutofit/>
          </a:bodyPr>
          <a:lstStyle>
            <a:lvl1pPr algn="l">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97" name="Google Shape;97;p14">
            <a:extLst>
              <a:ext uri="{FF2B5EF4-FFF2-40B4-BE49-F238E27FC236}">
                <a16:creationId xmlns:a16="http://schemas.microsoft.com/office/drawing/2014/main" id="{8F655A90-4AD5-4807-BB83-0B7F355AD37B}"/>
              </a:ext>
            </a:extLst>
          </p:cNvPr>
          <p:cNvSpPr>
            <a:spLocks noGrp="1"/>
          </p:cNvSpPr>
          <p:nvPr>
            <p:ph type="ftr" idx="11"/>
          </p:nvPr>
        </p:nvSpPr>
        <p:spPr>
          <a:xfrm>
            <a:off x="3028950" y="6356351"/>
            <a:ext cx="3086100" cy="365125"/>
          </a:xfrm>
          <a:prstGeom prst="rect">
            <a:avLst/>
          </a:prstGeom>
          <a:noFill/>
          <a:ln>
            <a:noFill/>
          </a:ln>
        </p:spPr>
        <p:txBody>
          <a:bodyPr spcFirstLastPara="1" wrap="square" lIns="91425" tIns="45700" rIns="91425" bIns="45700" anchor="ctr">
            <a:noAutofit/>
          </a:bodyPr>
          <a:lstStyle>
            <a:lvl1pPr algn="ctr">
              <a:spcBef>
                <a:spcPts val="0"/>
              </a:spcBef>
              <a:spcAft>
                <a:spcPts val="0"/>
              </a:spcAft>
              <a:buNone/>
              <a:defRPr/>
            </a:lvl1pPr>
            <a:lvl2pPr algn="l">
              <a:spcBef>
                <a:spcPts val="0"/>
              </a:spcBef>
              <a:spcAft>
                <a:spcPts val="0"/>
              </a:spcAft>
              <a:buNone/>
              <a:defRPr/>
            </a:lvl2pPr>
            <a:lvl3pPr algn="l">
              <a:spcBef>
                <a:spcPts val="0"/>
              </a:spcBef>
              <a:spcAft>
                <a:spcPts val="0"/>
              </a:spcAft>
              <a:buNone/>
              <a:defRPr/>
            </a:lvl3pPr>
            <a:lvl4pPr algn="l">
              <a:spcBef>
                <a:spcPts val="0"/>
              </a:spcBef>
              <a:spcAft>
                <a:spcPts val="0"/>
              </a:spcAft>
              <a:buNone/>
              <a:defRPr/>
            </a:lvl4pPr>
            <a:lvl5pPr algn="l">
              <a:spcBef>
                <a:spcPts val="0"/>
              </a:spcBef>
              <a:spcAft>
                <a:spcPts val="0"/>
              </a:spcAft>
              <a:buNone/>
              <a:defRPr/>
            </a:lvl5pPr>
            <a:lvl6pPr algn="l">
              <a:spcBef>
                <a:spcPts val="0"/>
              </a:spcBef>
              <a:spcAft>
                <a:spcPts val="0"/>
              </a:spcAft>
              <a:buNone/>
              <a:defRPr/>
            </a:lvl6pPr>
            <a:lvl7pPr algn="l">
              <a:spcBef>
                <a:spcPts val="0"/>
              </a:spcBef>
              <a:spcAft>
                <a:spcPts val="0"/>
              </a:spcAft>
              <a:buNone/>
              <a:defRPr/>
            </a:lvl7pPr>
            <a:lvl8pPr algn="l">
              <a:spcBef>
                <a:spcPts val="0"/>
              </a:spcBef>
              <a:spcAft>
                <a:spcPts val="0"/>
              </a:spcAft>
              <a:buNone/>
              <a:defRPr/>
            </a:lvl8pPr>
            <a:lvl9pPr algn="l">
              <a:spcBef>
                <a:spcPts val="0"/>
              </a:spcBef>
              <a:spcAft>
                <a:spcPts val="0"/>
              </a:spcAft>
              <a:buNone/>
              <a:defRPr/>
            </a:lvl9pPr>
          </a:lstStyle>
          <a:p>
            <a:endParaRPr/>
          </a:p>
        </p:txBody>
      </p:sp>
      <p:sp>
        <p:nvSpPr>
          <p:cNvPr id="98" name="Google Shape;98;p14">
            <a:extLst>
              <a:ext uri="{FF2B5EF4-FFF2-40B4-BE49-F238E27FC236}">
                <a16:creationId xmlns:a16="http://schemas.microsoft.com/office/drawing/2014/main" id="{1598351D-9A61-4172-9B54-644802BB0D66}"/>
              </a:ext>
            </a:extLst>
          </p:cNvPr>
          <p:cNvSpPr>
            <a:spLocks noGrp="1"/>
          </p:cNvSpPr>
          <p:nvPr>
            <p:ph type="sldNum" idx="12"/>
          </p:nvPr>
        </p:nvSpPr>
        <p:spPr>
          <a:xfrm>
            <a:off x="6600825" y="6350139"/>
            <a:ext cx="20574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a:lvl1pPr>
            <a:lvl2pPr marL="0" indent="0" algn="r">
              <a:spcBef>
                <a:spcPts val="0"/>
              </a:spcBef>
              <a:buNone/>
              <a:defRPr/>
            </a:lvl2pPr>
            <a:lvl3pPr marL="0" indent="0" algn="r">
              <a:spcBef>
                <a:spcPts val="0"/>
              </a:spcBef>
              <a:buNone/>
              <a:defRPr/>
            </a:lvl3pPr>
            <a:lvl4pPr marL="0" indent="0" algn="r">
              <a:spcBef>
                <a:spcPts val="0"/>
              </a:spcBef>
              <a:buNone/>
              <a:defRPr/>
            </a:lvl4pPr>
            <a:lvl5pPr marL="0" indent="0" algn="r">
              <a:spcBef>
                <a:spcPts val="0"/>
              </a:spcBef>
              <a:buNone/>
              <a:defRPr/>
            </a:lvl5pPr>
            <a:lvl6pPr marL="0" indent="0" algn="r">
              <a:spcBef>
                <a:spcPts val="0"/>
              </a:spcBef>
              <a:buNone/>
              <a:defRPr/>
            </a:lvl6pPr>
            <a:lvl7pPr marL="0" indent="0" algn="r">
              <a:spcBef>
                <a:spcPts val="0"/>
              </a:spcBef>
              <a:buNone/>
              <a:defRPr/>
            </a:lvl7pPr>
            <a:lvl8pPr marL="0" indent="0" algn="r">
              <a:spcBef>
                <a:spcPts val="0"/>
              </a:spcBef>
              <a:buNone/>
              <a:defRPr/>
            </a:lvl8pPr>
            <a:lvl9pPr marL="0" indent="0" algn="r">
              <a:spcBef>
                <a:spcPts val="0"/>
              </a:spcBef>
              <a:buNone/>
              <a:defRPr/>
            </a:lvl9pPr>
          </a:lstStyle>
          <a:p>
            <a:fld id="{00000000-1234-1234-1234-123412341234}" type="slidenum">
              <a:t>‹#›</a:t>
            </a:fld>
            <a:endParaRPr/>
          </a:p>
        </p:txBody>
      </p:sp>
      <p:sp>
        <p:nvSpPr>
          <p:cNvPr id="2" name="Google Shape;10;p1">
            <a:extLst>
              <a:ext uri="{FF2B5EF4-FFF2-40B4-BE49-F238E27FC236}">
                <a16:creationId xmlns:a16="http://schemas.microsoft.com/office/drawing/2014/main" id="{54F14818-85ED-5EDB-341B-FDDE13A16E76}"/>
              </a:ext>
            </a:extLst>
          </p:cNvPr>
          <p:cNvSpPr>
            <a:spLocks noGrp="1"/>
          </p:cNvSpPr>
          <p:nvPr/>
        </p:nvSpPr>
        <p:spPr>
          <a:xfrm>
            <a:off x="0" y="6211798"/>
            <a:ext cx="9144000" cy="646203"/>
          </a:xfrm>
          <a:prstGeom prst="rect">
            <a:avLst/>
          </a:prstGeom>
          <a:solidFill>
            <a:srgbClr val="38415C"/>
          </a:solidFill>
          <a:ln w="12700" cmpd="sng">
            <a:solidFill>
              <a:srgbClr val="38415C"/>
            </a:solidFill>
            <a:prstDash val="solid"/>
          </a:ln>
        </p:spPr>
        <p:txBody>
          <a:bodyPr spcFirstLastPara="1" wrap="square" lIns="68569" tIns="34275" rIns="68569" bIns="34275" anchor="ctr">
            <a:noAutofit/>
          </a:bodyPr>
          <a:lstStyle/>
          <a:p>
            <a:pPr marL="0" indent="0" algn="ctr">
              <a:spcBef>
                <a:spcPts val="0"/>
              </a:spcBef>
              <a:spcAft>
                <a:spcPts val="0"/>
              </a:spcAft>
              <a:buNone/>
            </a:pPr>
            <a:endParaRPr/>
          </a:p>
        </p:txBody>
      </p:sp>
      <p:sp>
        <p:nvSpPr>
          <p:cNvPr id="3" name="Google Shape;13;p1">
            <a:extLst>
              <a:ext uri="{FF2B5EF4-FFF2-40B4-BE49-F238E27FC236}">
                <a16:creationId xmlns:a16="http://schemas.microsoft.com/office/drawing/2014/main" id="{541749A7-2ED6-B601-3BAD-A19EFDB72887}"/>
              </a:ext>
            </a:extLst>
          </p:cNvPr>
          <p:cNvSpPr>
            <a:spLocks noGrp="1"/>
          </p:cNvSpPr>
          <p:nvPr/>
        </p:nvSpPr>
        <p:spPr>
          <a:xfrm>
            <a:off x="117418" y="6350139"/>
            <a:ext cx="2057400" cy="365125"/>
          </a:xfrm>
          <a:prstGeom prst="rect">
            <a:avLst/>
          </a:prstGeom>
          <a:noFill/>
          <a:ln>
            <a:noFill/>
          </a:ln>
        </p:spPr>
        <p:txBody>
          <a:bodyPr spcFirstLastPara="1" lIns="91425" tIns="45700" rIns="91425" bIns="45700" anchor="ctr">
            <a:noAutofit/>
          </a:bodyPr>
          <a:lstStyle>
            <a:lvl1pPr algn="l">
              <a:lnSpc>
                <a:spcPct val="100000"/>
              </a:lnSpc>
              <a:spcBef>
                <a:spcPts val="0"/>
              </a:spcBef>
              <a:spcAft>
                <a:spcPts val="0"/>
              </a:spcAft>
              <a:buNone/>
              <a:defRPr sz="900" b="0" i="0" u="none" cap="none">
                <a:solidFill>
                  <a:srgbClr val="EB976D"/>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a:pPr>
              <a:buNone/>
            </a:pPr>
            <a:r>
              <a:rPr sz="675" b="0" i="0">
                <a:solidFill>
                  <a:srgbClr val="EB976D"/>
                </a:solidFill>
                <a:latin typeface="Fira Sans"/>
                <a:ea typeface="Fira Sans"/>
                <a:cs typeface="Fira Sans"/>
              </a:rPr>
              <a:t>Martins · Costa · Lopes</a:t>
            </a:r>
          </a:p>
          <a:p>
            <a:pPr>
              <a:buNone/>
            </a:pPr>
            <a:r>
              <a:rPr sz="675" b="0" i="0">
                <a:solidFill>
                  <a:srgbClr val="EB976D"/>
                </a:solidFill>
                <a:latin typeface="Fira Sans"/>
                <a:ea typeface="Fira Sans"/>
                <a:cs typeface="Fira Sans"/>
              </a:rPr>
              <a:t>joaopedro@cos.ufrj.br</a:t>
            </a:r>
          </a:p>
        </p:txBody>
      </p:sp>
      <p:sp>
        <p:nvSpPr>
          <p:cNvPr id="4" name="Google Shape;14;p1">
            <a:extLst>
              <a:ext uri="{FF2B5EF4-FFF2-40B4-BE49-F238E27FC236}">
                <a16:creationId xmlns:a16="http://schemas.microsoft.com/office/drawing/2014/main" id="{2ACBB222-C48B-A68B-53AA-0FDF7B91F30F}"/>
              </a:ext>
            </a:extLst>
          </p:cNvPr>
          <p:cNvSpPr>
            <a:spLocks noGrp="1"/>
          </p:cNvSpPr>
          <p:nvPr/>
        </p:nvSpPr>
        <p:spPr>
          <a:xfrm>
            <a:off x="2778576" y="6368186"/>
            <a:ext cx="3086100" cy="365125"/>
          </a:xfrm>
          <a:prstGeom prst="rect">
            <a:avLst/>
          </a:prstGeom>
          <a:noFill/>
          <a:ln>
            <a:noFill/>
          </a:ln>
        </p:spPr>
        <p:txBody>
          <a:bodyPr spcFirstLastPara="1" lIns="91425" tIns="45700" rIns="91425" bIns="45700" anchor="ctr">
            <a:noAutofit/>
          </a:bodyPr>
          <a:lstStyle>
            <a:lvl1pPr algn="ctr">
              <a:lnSpc>
                <a:spcPct val="100000"/>
              </a:lnSpc>
              <a:spcBef>
                <a:spcPts val="0"/>
              </a:spcBef>
              <a:spcAft>
                <a:spcPts val="0"/>
              </a:spcAft>
              <a:buNone/>
              <a:defRPr sz="2200" b="0" i="1" u="none" cap="none">
                <a:solidFill>
                  <a:srgbClr val="38415C"/>
                </a:solidFill>
                <a:latin typeface="Fira Sans"/>
                <a:ea typeface="Fira Sans"/>
                <a:cs typeface="Fira Sans"/>
              </a:defRPr>
            </a:lvl1pPr>
            <a:lvl2pPr algn="l">
              <a:lnSpc>
                <a:spcPct val="100000"/>
              </a:lnSpc>
              <a:spcBef>
                <a:spcPts val="0"/>
              </a:spcBef>
              <a:spcAft>
                <a:spcPts val="0"/>
              </a:spcAft>
              <a:buNone/>
              <a:defRPr sz="1350" b="0" i="0" u="none" cap="none">
                <a:solidFill>
                  <a:schemeClr val="dk1"/>
                </a:solidFill>
                <a:latin typeface="Calibri"/>
                <a:ea typeface="Calibri"/>
                <a:cs typeface="Calibri"/>
              </a:defRPr>
            </a:lvl2pPr>
            <a:lvl3pPr algn="l">
              <a:lnSpc>
                <a:spcPct val="100000"/>
              </a:lnSpc>
              <a:spcBef>
                <a:spcPts val="0"/>
              </a:spcBef>
              <a:spcAft>
                <a:spcPts val="0"/>
              </a:spcAft>
              <a:buNone/>
              <a:defRPr sz="1350" b="0" i="0" u="none" cap="none">
                <a:solidFill>
                  <a:schemeClr val="dk1"/>
                </a:solidFill>
                <a:latin typeface="Calibri"/>
                <a:ea typeface="Calibri"/>
                <a:cs typeface="Calibri"/>
              </a:defRPr>
            </a:lvl3pPr>
            <a:lvl4pPr algn="l">
              <a:lnSpc>
                <a:spcPct val="100000"/>
              </a:lnSpc>
              <a:spcBef>
                <a:spcPts val="0"/>
              </a:spcBef>
              <a:spcAft>
                <a:spcPts val="0"/>
              </a:spcAft>
              <a:buNone/>
              <a:defRPr sz="1350" b="0" i="0" u="none" cap="none">
                <a:solidFill>
                  <a:schemeClr val="dk1"/>
                </a:solidFill>
                <a:latin typeface="Calibri"/>
                <a:ea typeface="Calibri"/>
                <a:cs typeface="Calibri"/>
              </a:defRPr>
            </a:lvl4pPr>
            <a:lvl5pPr algn="l">
              <a:lnSpc>
                <a:spcPct val="100000"/>
              </a:lnSpc>
              <a:spcBef>
                <a:spcPts val="0"/>
              </a:spcBef>
              <a:spcAft>
                <a:spcPts val="0"/>
              </a:spcAft>
              <a:buNone/>
              <a:defRPr sz="1350" b="0" i="0" u="none" cap="none">
                <a:solidFill>
                  <a:schemeClr val="dk1"/>
                </a:solidFill>
                <a:latin typeface="Calibri"/>
                <a:ea typeface="Calibri"/>
                <a:cs typeface="Calibri"/>
              </a:defRPr>
            </a:lvl5pPr>
            <a:lvl6pPr algn="l">
              <a:lnSpc>
                <a:spcPct val="100000"/>
              </a:lnSpc>
              <a:spcBef>
                <a:spcPts val="0"/>
              </a:spcBef>
              <a:spcAft>
                <a:spcPts val="0"/>
              </a:spcAft>
              <a:buNone/>
              <a:defRPr sz="1350" b="0" i="0" u="none" cap="none">
                <a:solidFill>
                  <a:schemeClr val="dk1"/>
                </a:solidFill>
                <a:latin typeface="Calibri"/>
                <a:ea typeface="Calibri"/>
                <a:cs typeface="Calibri"/>
              </a:defRPr>
            </a:lvl6pPr>
            <a:lvl7pPr algn="l">
              <a:lnSpc>
                <a:spcPct val="100000"/>
              </a:lnSpc>
              <a:spcBef>
                <a:spcPts val="0"/>
              </a:spcBef>
              <a:spcAft>
                <a:spcPts val="0"/>
              </a:spcAft>
              <a:buNone/>
              <a:defRPr sz="1350" b="0" i="0" u="none" cap="none">
                <a:solidFill>
                  <a:schemeClr val="dk1"/>
                </a:solidFill>
                <a:latin typeface="Calibri"/>
                <a:ea typeface="Calibri"/>
                <a:cs typeface="Calibri"/>
              </a:defRPr>
            </a:lvl7pPr>
            <a:lvl8pPr algn="l">
              <a:lnSpc>
                <a:spcPct val="100000"/>
              </a:lnSpc>
              <a:spcBef>
                <a:spcPts val="0"/>
              </a:spcBef>
              <a:spcAft>
                <a:spcPts val="0"/>
              </a:spcAft>
              <a:buNone/>
              <a:defRPr sz="1350" b="0" i="0" u="none" cap="none">
                <a:solidFill>
                  <a:schemeClr val="dk1"/>
                </a:solidFill>
                <a:latin typeface="Calibri"/>
                <a:ea typeface="Calibri"/>
                <a:cs typeface="Calibri"/>
              </a:defRPr>
            </a:lvl8pPr>
            <a:lvl9pPr algn="l">
              <a:lnSpc>
                <a:spcPct val="100000"/>
              </a:lnSpc>
              <a:spcBef>
                <a:spcPts val="0"/>
              </a:spcBef>
              <a:spcAft>
                <a:spcPts val="0"/>
              </a:spcAft>
              <a:buNone/>
              <a:defRPr sz="1350" b="0" i="0" u="none" cap="none">
                <a:solidFill>
                  <a:schemeClr val="dk1"/>
                </a:solidFill>
                <a:latin typeface="Calibri"/>
                <a:ea typeface="Calibri"/>
                <a:cs typeface="Calibri"/>
              </a:defRPr>
            </a:lvl9pPr>
          </a:lstStyle>
          <a:p>
            <a:pPr>
              <a:buNone/>
            </a:pPr>
            <a:r>
              <a:rPr sz="675" b="0" i="0">
                <a:solidFill>
                  <a:srgbClr val="38415C"/>
                </a:solidFill>
                <a:latin typeface="Fira Sans"/>
                <a:ea typeface="Fira Sans"/>
                <a:cs typeface="Fira Sans"/>
              </a:rPr>
              <a:t>MARTINS; COSTA; LOPES (2026) · Retrofit do Modelo 3M</a:t>
            </a:r>
          </a:p>
        </p:txBody>
      </p:sp>
      <p:sp>
        <p:nvSpPr>
          <p:cNvPr id="5" name="Google Shape;15;p1">
            <a:extLst>
              <a:ext uri="{FF2B5EF4-FFF2-40B4-BE49-F238E27FC236}">
                <a16:creationId xmlns:a16="http://schemas.microsoft.com/office/drawing/2014/main" id="{62DC56A7-0483-871C-AAB8-9B1C94E3007F}"/>
              </a:ext>
            </a:extLst>
          </p:cNvPr>
          <p:cNvSpPr>
            <a:spLocks noGrp="1"/>
          </p:cNvSpPr>
          <p:nvPr/>
        </p:nvSpPr>
        <p:spPr>
          <a:xfrm>
            <a:off x="6295851" y="6368186"/>
            <a:ext cx="2057400" cy="365125"/>
          </a:xfrm>
          <a:prstGeom prst="rect">
            <a:avLst/>
          </a:prstGeom>
          <a:noFill/>
          <a:ln>
            <a:noFill/>
          </a:ln>
        </p:spPr>
        <p:txBody>
          <a:bodyPr spcFirstLastPara="1" wrap="square" lIns="91425" tIns="45700" rIns="91425" bIns="45700" anchor="ctr">
            <a:noAutofit/>
          </a:bodyPr>
          <a:lstStyle>
            <a:lvl1pPr marL="0" indent="0" algn="r">
              <a:lnSpc>
                <a:spcPct val="100000"/>
              </a:lnSpc>
              <a:spcBef>
                <a:spcPts val="0"/>
              </a:spcBef>
              <a:spcAft>
                <a:spcPts val="0"/>
              </a:spcAft>
              <a:buNone/>
              <a:defRPr sz="5400" b="1" i="0" u="none" cap="none">
                <a:solidFill>
                  <a:srgbClr val="EB976D"/>
                </a:solidFill>
                <a:latin typeface="Fira Sans"/>
                <a:ea typeface="Fira Sans"/>
                <a:cs typeface="Fira Sans"/>
              </a:defRPr>
            </a:lvl1pPr>
            <a:lvl2pPr marL="0" indent="0" algn="r">
              <a:lnSpc>
                <a:spcPct val="100000"/>
              </a:lnSpc>
              <a:spcBef>
                <a:spcPts val="0"/>
              </a:spcBef>
              <a:spcAft>
                <a:spcPts val="0"/>
              </a:spcAft>
              <a:buNone/>
              <a:defRPr sz="5400" b="1" i="0" u="none" cap="none">
                <a:solidFill>
                  <a:srgbClr val="EB976D"/>
                </a:solidFill>
                <a:latin typeface="Fira Sans"/>
                <a:ea typeface="Fira Sans"/>
                <a:cs typeface="Fira Sans"/>
              </a:defRPr>
            </a:lvl2pPr>
            <a:lvl3pPr marL="0" indent="0" algn="r">
              <a:lnSpc>
                <a:spcPct val="100000"/>
              </a:lnSpc>
              <a:spcBef>
                <a:spcPts val="0"/>
              </a:spcBef>
              <a:spcAft>
                <a:spcPts val="0"/>
              </a:spcAft>
              <a:buNone/>
              <a:defRPr sz="5400" b="1" i="0" u="none" cap="none">
                <a:solidFill>
                  <a:srgbClr val="EB976D"/>
                </a:solidFill>
                <a:latin typeface="Fira Sans"/>
                <a:ea typeface="Fira Sans"/>
                <a:cs typeface="Fira Sans"/>
              </a:defRPr>
            </a:lvl3pPr>
            <a:lvl4pPr marL="0" indent="0" algn="r">
              <a:lnSpc>
                <a:spcPct val="100000"/>
              </a:lnSpc>
              <a:spcBef>
                <a:spcPts val="0"/>
              </a:spcBef>
              <a:spcAft>
                <a:spcPts val="0"/>
              </a:spcAft>
              <a:buNone/>
              <a:defRPr sz="5400" b="1" i="0" u="none" cap="none">
                <a:solidFill>
                  <a:srgbClr val="EB976D"/>
                </a:solidFill>
                <a:latin typeface="Fira Sans"/>
                <a:ea typeface="Fira Sans"/>
                <a:cs typeface="Fira Sans"/>
              </a:defRPr>
            </a:lvl4pPr>
            <a:lvl5pPr marL="0" indent="0" algn="r">
              <a:lnSpc>
                <a:spcPct val="100000"/>
              </a:lnSpc>
              <a:spcBef>
                <a:spcPts val="0"/>
              </a:spcBef>
              <a:spcAft>
                <a:spcPts val="0"/>
              </a:spcAft>
              <a:buNone/>
              <a:defRPr sz="5400" b="1" i="0" u="none" cap="none">
                <a:solidFill>
                  <a:srgbClr val="EB976D"/>
                </a:solidFill>
                <a:latin typeface="Fira Sans"/>
                <a:ea typeface="Fira Sans"/>
                <a:cs typeface="Fira Sans"/>
              </a:defRPr>
            </a:lvl5pPr>
            <a:lvl6pPr marL="0" indent="0" algn="r">
              <a:lnSpc>
                <a:spcPct val="100000"/>
              </a:lnSpc>
              <a:spcBef>
                <a:spcPts val="0"/>
              </a:spcBef>
              <a:spcAft>
                <a:spcPts val="0"/>
              </a:spcAft>
              <a:buNone/>
              <a:defRPr sz="5400" b="1" i="0" u="none" cap="none">
                <a:solidFill>
                  <a:srgbClr val="EB976D"/>
                </a:solidFill>
                <a:latin typeface="Fira Sans"/>
                <a:ea typeface="Fira Sans"/>
                <a:cs typeface="Fira Sans"/>
              </a:defRPr>
            </a:lvl6pPr>
            <a:lvl7pPr marL="0" indent="0" algn="r">
              <a:lnSpc>
                <a:spcPct val="100000"/>
              </a:lnSpc>
              <a:spcBef>
                <a:spcPts val="0"/>
              </a:spcBef>
              <a:spcAft>
                <a:spcPts val="0"/>
              </a:spcAft>
              <a:buNone/>
              <a:defRPr sz="5400" b="1" i="0" u="none" cap="none">
                <a:solidFill>
                  <a:srgbClr val="EB976D"/>
                </a:solidFill>
                <a:latin typeface="Fira Sans"/>
                <a:ea typeface="Fira Sans"/>
                <a:cs typeface="Fira Sans"/>
              </a:defRPr>
            </a:lvl7pPr>
            <a:lvl8pPr marL="0" indent="0" algn="r">
              <a:lnSpc>
                <a:spcPct val="100000"/>
              </a:lnSpc>
              <a:spcBef>
                <a:spcPts val="0"/>
              </a:spcBef>
              <a:spcAft>
                <a:spcPts val="0"/>
              </a:spcAft>
              <a:buNone/>
              <a:defRPr sz="5400" b="1" i="0" u="none" cap="none">
                <a:solidFill>
                  <a:srgbClr val="EB976D"/>
                </a:solidFill>
                <a:latin typeface="Fira Sans"/>
                <a:ea typeface="Fira Sans"/>
                <a:cs typeface="Fira Sans"/>
              </a:defRPr>
            </a:lvl8pPr>
            <a:lvl9pPr marL="0" indent="0" algn="r">
              <a:lnSpc>
                <a:spcPct val="100000"/>
              </a:lnSpc>
              <a:spcBef>
                <a:spcPts val="0"/>
              </a:spcBef>
              <a:spcAft>
                <a:spcPts val="0"/>
              </a:spcAft>
              <a:buNone/>
              <a:defRPr sz="5400" b="1" i="0" u="none" cap="none">
                <a:solidFill>
                  <a:srgbClr val="EB976D"/>
                </a:solidFill>
                <a:latin typeface="Fira Sans"/>
                <a:ea typeface="Fira Sans"/>
                <a:cs typeface="Fira Sans"/>
              </a:defRPr>
            </a:lvl9pPr>
          </a:lstStyle>
          <a:p>
            <a:fld id="{46B270FB-0C54-A54F-867B-58A7B95C958C}" type="slidenum">
              <a:t>‹#›</a:t>
            </a:fld>
            <a:endParaRPr/>
          </a:p>
        </p:txBody>
      </p:sp>
      <p:sp>
        <p:nvSpPr>
          <p:cNvPr id="6" name="Google Shape;17;p1">
            <a:extLst>
              <a:ext uri="{FF2B5EF4-FFF2-40B4-BE49-F238E27FC236}">
                <a16:creationId xmlns:a16="http://schemas.microsoft.com/office/drawing/2014/main" id="{D17C2C70-76CF-A9A8-7D09-6FBABBF45555}"/>
              </a:ext>
            </a:extLst>
          </p:cNvPr>
          <p:cNvSpPr>
            <a:spLocks noGrp="1"/>
          </p:cNvSpPr>
          <p:nvPr/>
        </p:nvSpPr>
        <p:spPr>
          <a:xfrm>
            <a:off x="8470669" y="6309681"/>
            <a:ext cx="555913" cy="482136"/>
          </a:xfrm>
          <a:prstGeom prst="rect">
            <a:avLst/>
          </a:prstGeom>
          <a:noFill/>
          <a:ln w="12700" cmpd="sng">
            <a:solidFill>
              <a:srgbClr val="38415C"/>
            </a:solidFill>
            <a:prstDash val="solid"/>
          </a:ln>
        </p:spPr>
        <p:txBody>
          <a:bodyPr spcFirstLastPara="1" lIns="68569" tIns="34275" rIns="68569" bIns="34275" anchor="ctr">
            <a:noAutofit/>
          </a:bodyPr>
          <a:lstStyle/>
          <a:p>
            <a:pPr marL="0" indent="0" algn="ctr">
              <a:spcBef>
                <a:spcPts val="0"/>
              </a:spcBef>
              <a:spcAft>
                <a:spcPts val="0"/>
              </a:spcAft>
              <a:buNone/>
            </a:pPr>
            <a:r>
              <a:rPr sz="1650" b="1" i="0" u="none" cap="none">
                <a:solidFill>
                  <a:srgbClr val="EB976D"/>
                </a:solidFill>
                <a:latin typeface="Fira Sans"/>
                <a:ea typeface="Fira Sans"/>
                <a:cs typeface="Fira Sans"/>
              </a:rPr>
              <a:t>/23</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Full_Blank">
  <p:cSld name="Full_Blank">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matchingName="Logo50">
  <p:cSld name="Logo50">
    <p:spTree>
      <p:nvGrpSpPr>
        <p:cNvPr id="1" name=""/>
        <p:cNvGrpSpPr/>
        <p:nvPr/>
      </p:nvGrpSpPr>
      <p:grpSpPr>
        <a:xfrm>
          <a:off x="0" y="0"/>
          <a:ext cx="0" cy="0"/>
          <a:chOff x="0" y="0"/>
          <a:chExt cx="0" cy="0"/>
        </a:xfrm>
      </p:grpSpPr>
      <p:pic>
        <p:nvPicPr>
          <p:cNvPr id="2" name="Google Shape;101;p16"/>
          <p:cNvPicPr>
            <a:picLocks noChangeAspect="1"/>
          </p:cNvPicPr>
          <p:nvPr/>
        </p:nvPicPr>
        <p:blipFill rotWithShape="1">
          <a:blip r:embed="rId2"/>
          <a:srcRect/>
          <a:stretch/>
        </p:blipFill>
        <p:spPr>
          <a:xfrm>
            <a:off x="1228725" y="52388"/>
            <a:ext cx="6686550" cy="6753225"/>
          </a:xfrm>
          <a:prstGeom prst="rect">
            <a:avLst/>
          </a:prstGeom>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a:xfrm>
          <a:off x="0" y="0"/>
          <a:ext cx="0" cy="0"/>
          <a:chOff x="0" y="0"/>
          <a:chExt cx="0" cy="0"/>
        </a:xfrm>
      </p:grpSpPr>
      <p:sp>
        <p:nvSpPr>
          <p:cNvPr id="10" name="Google Shape;10;p1">
            <a:extLst>
              <a:ext uri="{FF2B5EF4-FFF2-40B4-BE49-F238E27FC236}">
                <a16:creationId xmlns:a16="http://schemas.microsoft.com/office/drawing/2014/main" id="{230B56B0-5936-48E9-8F9C-036A766970DC}"/>
              </a:ext>
            </a:extLst>
          </p:cNvPr>
          <p:cNvSpPr>
            <a:spLocks noGrp="1"/>
          </p:cNvSpPr>
          <p:nvPr/>
        </p:nvSpPr>
        <p:spPr>
          <a:xfrm>
            <a:off x="0" y="6211798"/>
            <a:ext cx="9144000" cy="646203"/>
          </a:xfrm>
          <a:prstGeom prst="rect">
            <a:avLst/>
          </a:prstGeom>
          <a:solidFill>
            <a:srgbClr val="38415C"/>
          </a:solidFill>
          <a:ln w="12700" cmpd="sng">
            <a:solidFill>
              <a:srgbClr val="38415C"/>
            </a:solidFill>
            <a:prstDash val="solid"/>
          </a:ln>
        </p:spPr>
        <p:txBody>
          <a:bodyPr spcFirstLastPara="1" wrap="square" lIns="68569" tIns="34275" rIns="68569" bIns="34275" anchor="ctr">
            <a:noAutofit/>
          </a:bodyPr>
          <a:lstStyle/>
          <a:p>
            <a:pPr marL="0" indent="0" algn="ctr">
              <a:spcBef>
                <a:spcPts val="0"/>
              </a:spcBef>
              <a:spcAft>
                <a:spcPts val="0"/>
              </a:spcAft>
              <a:buNone/>
            </a:pPr>
            <a:endParaRPr/>
          </a:p>
        </p:txBody>
      </p:sp>
      <p:sp>
        <p:nvSpPr>
          <p:cNvPr id="11" name="Google Shape;11;p1">
            <a:extLst>
              <a:ext uri="{FF2B5EF4-FFF2-40B4-BE49-F238E27FC236}">
                <a16:creationId xmlns:a16="http://schemas.microsoft.com/office/drawing/2014/main" id="{67AF04A8-41B6-47D9-B810-DCFA7659E5EB}"/>
              </a:ext>
            </a:extLst>
          </p:cNvPr>
          <p:cNvSpPr>
            <a:spLocks noGrp="1"/>
          </p:cNvSpPr>
          <p:nvPr>
            <p:ph type="title"/>
          </p:nvPr>
        </p:nvSpPr>
        <p:spPr>
          <a:xfrm>
            <a:off x="866601" y="66183"/>
            <a:ext cx="8185958" cy="1334336"/>
          </a:xfrm>
          <a:prstGeom prst="rect">
            <a:avLst/>
          </a:prstGeom>
          <a:noFill/>
          <a:ln>
            <a:noFill/>
          </a:ln>
        </p:spPr>
        <p:txBody>
          <a:bodyPr spcFirstLastPara="1" wrap="square" lIns="91425" tIns="45700" rIns="91425" bIns="45700" anchor="ctr">
            <a:normAutofit/>
          </a:bodyPr>
          <a:lstStyle>
            <a:lvl1pPr algn="l">
              <a:lnSpc>
                <a:spcPct val="90000"/>
              </a:lnSpc>
              <a:spcBef>
                <a:spcPts val="0"/>
              </a:spcBef>
              <a:spcAft>
                <a:spcPts val="0"/>
              </a:spcAft>
              <a:buNone/>
              <a:defRPr sz="5400" b="1" i="0" u="none" cap="none">
                <a:solidFill>
                  <a:srgbClr val="38415C"/>
                </a:solidFill>
                <a:latin typeface="Fira Sans"/>
                <a:ea typeface="Fira Sans"/>
                <a:cs typeface="Fira Sans"/>
              </a:defRPr>
            </a:lvl1pPr>
            <a:lvl2pPr>
              <a:spcBef>
                <a:spcPts val="0"/>
              </a:spcBef>
              <a:spcAft>
                <a:spcPts val="0"/>
              </a:spcAft>
              <a:buNone/>
              <a:defRPr sz="1800"/>
            </a:lvl2pPr>
            <a:lvl3pPr>
              <a:spcBef>
                <a:spcPts val="0"/>
              </a:spcBef>
              <a:spcAft>
                <a:spcPts val="0"/>
              </a:spcAft>
              <a:buNone/>
              <a:defRPr sz="1800"/>
            </a:lvl3pPr>
            <a:lvl4pPr>
              <a:spcBef>
                <a:spcPts val="0"/>
              </a:spcBef>
              <a:spcAft>
                <a:spcPts val="0"/>
              </a:spcAft>
              <a:buNone/>
              <a:defRPr sz="1800"/>
            </a:lvl4pPr>
            <a:lvl5pPr>
              <a:spcBef>
                <a:spcPts val="0"/>
              </a:spcBef>
              <a:spcAft>
                <a:spcPts val="0"/>
              </a:spcAft>
              <a:buNone/>
              <a:defRPr sz="1800"/>
            </a:lvl5pPr>
            <a:lvl6pPr>
              <a:spcBef>
                <a:spcPts val="0"/>
              </a:spcBef>
              <a:spcAft>
                <a:spcPts val="0"/>
              </a:spcAft>
              <a:buNone/>
              <a:defRPr sz="1800"/>
            </a:lvl6pPr>
            <a:lvl7pPr>
              <a:spcBef>
                <a:spcPts val="0"/>
              </a:spcBef>
              <a:spcAft>
                <a:spcPts val="0"/>
              </a:spcAft>
              <a:buNone/>
              <a:defRPr sz="1800"/>
            </a:lvl7pPr>
            <a:lvl8pPr>
              <a:spcBef>
                <a:spcPts val="0"/>
              </a:spcBef>
              <a:spcAft>
                <a:spcPts val="0"/>
              </a:spcAft>
              <a:buNone/>
              <a:defRPr sz="1800"/>
            </a:lvl8pPr>
            <a:lvl9pPr>
              <a:spcBef>
                <a:spcPts val="0"/>
              </a:spcBef>
              <a:spcAft>
                <a:spcPts val="0"/>
              </a:spcAft>
              <a:buNone/>
              <a:defRPr sz="1800"/>
            </a:lvl9pPr>
          </a:lstStyle>
          <a:p>
            <a:endParaRPr/>
          </a:p>
        </p:txBody>
      </p:sp>
      <p:sp>
        <p:nvSpPr>
          <p:cNvPr id="12" name="Google Shape;12;p1">
            <a:extLst>
              <a:ext uri="{FF2B5EF4-FFF2-40B4-BE49-F238E27FC236}">
                <a16:creationId xmlns:a16="http://schemas.microsoft.com/office/drawing/2014/main" id="{0B57BFDF-CEA1-4AA7-8066-CE7291668DC7}"/>
              </a:ext>
            </a:extLst>
          </p:cNvPr>
          <p:cNvSpPr>
            <a:spLocks noGrp="1"/>
          </p:cNvSpPr>
          <p:nvPr>
            <p:ph type="body" idx="1"/>
          </p:nvPr>
        </p:nvSpPr>
        <p:spPr>
          <a:xfrm>
            <a:off x="117417" y="1501428"/>
            <a:ext cx="8935142" cy="4680000"/>
          </a:xfrm>
          <a:prstGeom prst="rect">
            <a:avLst/>
          </a:prstGeom>
          <a:noFill/>
          <a:ln>
            <a:noFill/>
          </a:ln>
        </p:spPr>
        <p:txBody>
          <a:bodyPr spcFirstLastPara="1" wrap="square" lIns="91425" tIns="45700" rIns="91425" bIns="45700" anchor="t">
            <a:normAutofit/>
          </a:bodyPr>
          <a:lstStyle>
            <a:lvl1pPr marL="457200" indent="-406400" algn="l">
              <a:lnSpc>
                <a:spcPct val="90000"/>
              </a:lnSpc>
              <a:spcBef>
                <a:spcPts val="1000"/>
              </a:spcBef>
              <a:spcAft>
                <a:spcPts val="0"/>
              </a:spcAft>
              <a:buChar char="•"/>
              <a:defRPr sz="2800" b="0" i="0" u="none" cap="none">
                <a:solidFill>
                  <a:srgbClr val="38415C"/>
                </a:solidFill>
                <a:latin typeface="Fira Sans"/>
                <a:ea typeface="Fira Sans"/>
                <a:cs typeface="Fira Sans"/>
              </a:defRPr>
            </a:lvl1pPr>
            <a:lvl2pPr marL="914400" indent="-381000" algn="l">
              <a:lnSpc>
                <a:spcPct val="90000"/>
              </a:lnSpc>
              <a:spcBef>
                <a:spcPts val="500"/>
              </a:spcBef>
              <a:spcAft>
                <a:spcPts val="0"/>
              </a:spcAft>
              <a:buChar char="•"/>
              <a:defRPr sz="2400" b="0" i="0" u="none" cap="none">
                <a:solidFill>
                  <a:srgbClr val="38415C"/>
                </a:solidFill>
                <a:latin typeface="Fira Sans"/>
                <a:ea typeface="Fira Sans"/>
                <a:cs typeface="Fira Sans"/>
              </a:defRPr>
            </a:lvl2pPr>
            <a:lvl3pPr marL="1371600" indent="-355600" algn="l">
              <a:lnSpc>
                <a:spcPct val="90000"/>
              </a:lnSpc>
              <a:spcBef>
                <a:spcPts val="500"/>
              </a:spcBef>
              <a:spcAft>
                <a:spcPts val="0"/>
              </a:spcAft>
              <a:buChar char="•"/>
              <a:defRPr sz="2000" b="0" i="0" u="none" cap="none">
                <a:solidFill>
                  <a:srgbClr val="38415C"/>
                </a:solidFill>
                <a:latin typeface="Fira Sans"/>
                <a:ea typeface="Fira Sans"/>
                <a:cs typeface="Fira Sans"/>
              </a:defRPr>
            </a:lvl3pPr>
            <a:lvl4pPr marL="1828800" indent="-342900" algn="l">
              <a:lnSpc>
                <a:spcPct val="90000"/>
              </a:lnSpc>
              <a:spcBef>
                <a:spcPts val="500"/>
              </a:spcBef>
              <a:spcAft>
                <a:spcPts val="0"/>
              </a:spcAft>
              <a:buChar char="•"/>
              <a:defRPr sz="1800" b="0" i="0" u="none" cap="none">
                <a:solidFill>
                  <a:srgbClr val="38415C"/>
                </a:solidFill>
                <a:latin typeface="Fira Sans"/>
                <a:ea typeface="Fira Sans"/>
                <a:cs typeface="Fira Sans"/>
              </a:defRPr>
            </a:lvl4pPr>
            <a:lvl5pPr marL="2286000" indent="-342900" algn="l">
              <a:lnSpc>
                <a:spcPct val="90000"/>
              </a:lnSpc>
              <a:spcBef>
                <a:spcPts val="500"/>
              </a:spcBef>
              <a:spcAft>
                <a:spcPts val="0"/>
              </a:spcAft>
              <a:buChar char="•"/>
              <a:defRPr sz="1800" b="0" i="0" u="none" cap="none">
                <a:solidFill>
                  <a:srgbClr val="38415C"/>
                </a:solidFill>
                <a:latin typeface="Fira Sans"/>
                <a:ea typeface="Fira Sans"/>
                <a:cs typeface="Fira Sans"/>
              </a:defRPr>
            </a:lvl5pPr>
            <a:lvl6pPr marL="2743200" indent="-342900" algn="l">
              <a:lnSpc>
                <a:spcPct val="90000"/>
              </a:lnSpc>
              <a:spcBef>
                <a:spcPts val="500"/>
              </a:spcBef>
              <a:spcAft>
                <a:spcPts val="0"/>
              </a:spcAft>
              <a:buChar char="•"/>
              <a:defRPr sz="1800" b="0" i="0" u="none" cap="none">
                <a:solidFill>
                  <a:schemeClr val="dk1"/>
                </a:solidFill>
                <a:latin typeface="Calibri"/>
                <a:ea typeface="Calibri"/>
                <a:cs typeface="Calibri"/>
              </a:defRPr>
            </a:lvl6pPr>
            <a:lvl7pPr marL="3200400" indent="-342900" algn="l">
              <a:lnSpc>
                <a:spcPct val="90000"/>
              </a:lnSpc>
              <a:spcBef>
                <a:spcPts val="500"/>
              </a:spcBef>
              <a:spcAft>
                <a:spcPts val="0"/>
              </a:spcAft>
              <a:buChar char="•"/>
              <a:defRPr sz="1800" b="0" i="0" u="none" cap="none">
                <a:solidFill>
                  <a:schemeClr val="dk1"/>
                </a:solidFill>
                <a:latin typeface="Calibri"/>
                <a:ea typeface="Calibri"/>
                <a:cs typeface="Calibri"/>
              </a:defRPr>
            </a:lvl7pPr>
            <a:lvl8pPr marL="3657600" indent="-342900" algn="l">
              <a:lnSpc>
                <a:spcPct val="90000"/>
              </a:lnSpc>
              <a:spcBef>
                <a:spcPts val="500"/>
              </a:spcBef>
              <a:spcAft>
                <a:spcPts val="0"/>
              </a:spcAft>
              <a:buChar char="•"/>
              <a:defRPr sz="1800" b="0" i="0" u="none" cap="none">
                <a:solidFill>
                  <a:schemeClr val="dk1"/>
                </a:solidFill>
                <a:latin typeface="Calibri"/>
                <a:ea typeface="Calibri"/>
                <a:cs typeface="Calibri"/>
              </a:defRPr>
            </a:lvl8pPr>
            <a:lvl9pPr marL="4114800" indent="-342900" algn="l">
              <a:lnSpc>
                <a:spcPct val="90000"/>
              </a:lnSpc>
              <a:spcBef>
                <a:spcPts val="500"/>
              </a:spcBef>
              <a:spcAft>
                <a:spcPts val="0"/>
              </a:spcAft>
              <a:buChar char="•"/>
              <a:defRPr sz="1800" b="0" i="0" u="none" cap="none">
                <a:solidFill>
                  <a:schemeClr val="dk1"/>
                </a:solidFill>
                <a:latin typeface="Calibri"/>
                <a:ea typeface="Calibri"/>
                <a:cs typeface="Calibri"/>
              </a:defRPr>
            </a:lvl9pPr>
          </a:lstStyle>
          <a:p>
            <a:endParaRPr/>
          </a:p>
        </p:txBody>
      </p:sp>
      <p:sp>
        <p:nvSpPr>
          <p:cNvPr id="13" name="Google Shape;13;p1">
            <a:extLst>
              <a:ext uri="{FF2B5EF4-FFF2-40B4-BE49-F238E27FC236}">
                <a16:creationId xmlns:a16="http://schemas.microsoft.com/office/drawing/2014/main" id="{06AF42E5-90B8-48CE-A044-0B4DE9D6903F}"/>
              </a:ext>
            </a:extLst>
          </p:cNvPr>
          <p:cNvSpPr>
            <a:spLocks noGrp="1"/>
          </p:cNvSpPr>
          <p:nvPr>
            <p:ph type="dt" idx="10"/>
          </p:nvPr>
        </p:nvSpPr>
        <p:spPr>
          <a:xfrm>
            <a:off x="117418" y="6350139"/>
            <a:ext cx="2057400" cy="365125"/>
          </a:xfrm>
          <a:prstGeom prst="rect">
            <a:avLst/>
          </a:prstGeom>
          <a:noFill/>
          <a:ln>
            <a:noFill/>
          </a:ln>
        </p:spPr>
        <p:txBody>
          <a:bodyPr spcFirstLastPara="1" lIns="91425" tIns="45700" rIns="91425" bIns="45700" anchor="ctr">
            <a:noAutofit/>
          </a:bodyPr>
          <a:lstStyle>
            <a:lvl1pPr algn="l">
              <a:spcBef>
                <a:spcPts val="0"/>
              </a:spcBef>
              <a:spcAft>
                <a:spcPts val="0"/>
              </a:spcAft>
              <a:buNone/>
              <a:defRPr sz="900" b="0" i="0" u="none" cap="none">
                <a:solidFill>
                  <a:srgbClr val="EB976D"/>
                </a:solidFill>
                <a:latin typeface="Fira Sans"/>
                <a:ea typeface="Fira Sans"/>
                <a:cs typeface="Fira Sans"/>
              </a:defRPr>
            </a:lvl1pPr>
            <a:lvl2pPr algn="l">
              <a:spcBef>
                <a:spcPts val="0"/>
              </a:spcBef>
              <a:spcAft>
                <a:spcPts val="0"/>
              </a:spcAft>
              <a:buNone/>
              <a:defRPr sz="1350" b="0" i="0" u="none" cap="none">
                <a:solidFill>
                  <a:schemeClr val="dk1"/>
                </a:solidFill>
                <a:latin typeface="Calibri"/>
                <a:ea typeface="Calibri"/>
                <a:cs typeface="Calibri"/>
              </a:defRPr>
            </a:lvl2pPr>
            <a:lvl3pPr algn="l">
              <a:spcBef>
                <a:spcPts val="0"/>
              </a:spcBef>
              <a:spcAft>
                <a:spcPts val="0"/>
              </a:spcAft>
              <a:buNone/>
              <a:defRPr sz="1350" b="0" i="0" u="none" cap="none">
                <a:solidFill>
                  <a:schemeClr val="dk1"/>
                </a:solidFill>
                <a:latin typeface="Calibri"/>
                <a:ea typeface="Calibri"/>
                <a:cs typeface="Calibri"/>
              </a:defRPr>
            </a:lvl3pPr>
            <a:lvl4pPr algn="l">
              <a:spcBef>
                <a:spcPts val="0"/>
              </a:spcBef>
              <a:spcAft>
                <a:spcPts val="0"/>
              </a:spcAft>
              <a:buNone/>
              <a:defRPr sz="1350" b="0" i="0" u="none" cap="none">
                <a:solidFill>
                  <a:schemeClr val="dk1"/>
                </a:solidFill>
                <a:latin typeface="Calibri"/>
                <a:ea typeface="Calibri"/>
                <a:cs typeface="Calibri"/>
              </a:defRPr>
            </a:lvl4pPr>
            <a:lvl5pPr algn="l">
              <a:spcBef>
                <a:spcPts val="0"/>
              </a:spcBef>
              <a:spcAft>
                <a:spcPts val="0"/>
              </a:spcAft>
              <a:buNone/>
              <a:defRPr sz="1350" b="0" i="0" u="none" cap="none">
                <a:solidFill>
                  <a:schemeClr val="dk1"/>
                </a:solidFill>
                <a:latin typeface="Calibri"/>
                <a:ea typeface="Calibri"/>
                <a:cs typeface="Calibri"/>
              </a:defRPr>
            </a:lvl5pPr>
            <a:lvl6pPr algn="l">
              <a:spcBef>
                <a:spcPts val="0"/>
              </a:spcBef>
              <a:spcAft>
                <a:spcPts val="0"/>
              </a:spcAft>
              <a:buNone/>
              <a:defRPr sz="1350" b="0" i="0" u="none" cap="none">
                <a:solidFill>
                  <a:schemeClr val="dk1"/>
                </a:solidFill>
                <a:latin typeface="Calibri"/>
                <a:ea typeface="Calibri"/>
                <a:cs typeface="Calibri"/>
              </a:defRPr>
            </a:lvl6pPr>
            <a:lvl7pPr algn="l">
              <a:spcBef>
                <a:spcPts val="0"/>
              </a:spcBef>
              <a:spcAft>
                <a:spcPts val="0"/>
              </a:spcAft>
              <a:buNone/>
              <a:defRPr sz="1350" b="0" i="0" u="none" cap="none">
                <a:solidFill>
                  <a:schemeClr val="dk1"/>
                </a:solidFill>
                <a:latin typeface="Calibri"/>
                <a:ea typeface="Calibri"/>
                <a:cs typeface="Calibri"/>
              </a:defRPr>
            </a:lvl7pPr>
            <a:lvl8pPr algn="l">
              <a:spcBef>
                <a:spcPts val="0"/>
              </a:spcBef>
              <a:spcAft>
                <a:spcPts val="0"/>
              </a:spcAft>
              <a:buNone/>
              <a:defRPr sz="1350" b="0" i="0" u="none" cap="none">
                <a:solidFill>
                  <a:schemeClr val="dk1"/>
                </a:solidFill>
                <a:latin typeface="Calibri"/>
                <a:ea typeface="Calibri"/>
                <a:cs typeface="Calibri"/>
              </a:defRPr>
            </a:lvl8pPr>
            <a:lvl9pPr algn="l">
              <a:spcBef>
                <a:spcPts val="0"/>
              </a:spcBef>
              <a:spcAft>
                <a:spcPts val="0"/>
              </a:spcAft>
              <a:buNone/>
              <a:defRPr sz="1350" b="0" i="0" u="none" cap="none">
                <a:solidFill>
                  <a:schemeClr val="dk1"/>
                </a:solidFill>
                <a:latin typeface="Calibri"/>
                <a:ea typeface="Calibri"/>
                <a:cs typeface="Calibri"/>
              </a:defRPr>
            </a:lvl9pPr>
          </a:lstStyle>
          <a:p>
            <a:pPr>
              <a:buNone/>
            </a:pPr>
            <a:fld id="{746028C4-6B07-106E-1307-2C72CCB60849}" type="datetime1">
              <a:rPr lang="en-BR" sz="675" b="0" i="0">
                <a:solidFill>
                  <a:srgbClr val="EB976D"/>
                </a:solidFill>
                <a:latin typeface="Fira Sans"/>
                <a:ea typeface="Fira Sans"/>
                <a:cs typeface="Fira Sans"/>
              </a:rPr>
              <a:t>12/06/26</a:t>
            </a:fld>
            <a:endParaRPr sz="675" b="0" i="0">
              <a:solidFill>
                <a:srgbClr val="EB976D"/>
              </a:solidFill>
              <a:latin typeface="Fira Sans"/>
              <a:ea typeface="Fira Sans"/>
              <a:cs typeface="Fira Sans"/>
            </a:endParaRPr>
          </a:p>
          <a:p>
            <a:pPr>
              <a:buNone/>
            </a:pPr>
            <a:fld id="{31565867-3632-2F3A-10CA-ED795683A44F}" type="datetime1">
              <a:rPr lang="en-BR" sz="675" b="0" i="0">
                <a:solidFill>
                  <a:srgbClr val="EB976D"/>
                </a:solidFill>
                <a:latin typeface="Fira Sans"/>
                <a:ea typeface="Fira Sans"/>
                <a:cs typeface="Fira Sans"/>
              </a:rPr>
              <a:t>12/06/26</a:t>
            </a:fld>
            <a:endParaRPr sz="675" b="0" i="0">
              <a:solidFill>
                <a:srgbClr val="EB976D"/>
              </a:solidFill>
              <a:latin typeface="Fira Sans"/>
              <a:ea typeface="Fira Sans"/>
              <a:cs typeface="Fira Sans"/>
            </a:endParaRPr>
          </a:p>
        </p:txBody>
      </p:sp>
      <p:sp>
        <p:nvSpPr>
          <p:cNvPr id="14" name="Google Shape;14;p1">
            <a:extLst>
              <a:ext uri="{FF2B5EF4-FFF2-40B4-BE49-F238E27FC236}">
                <a16:creationId xmlns:a16="http://schemas.microsoft.com/office/drawing/2014/main" id="{AB42448F-38B9-4D06-84B8-DBE891EBB3CA}"/>
              </a:ext>
            </a:extLst>
          </p:cNvPr>
          <p:cNvSpPr>
            <a:spLocks noGrp="1"/>
          </p:cNvSpPr>
          <p:nvPr>
            <p:ph type="ftr" idx="11"/>
          </p:nvPr>
        </p:nvSpPr>
        <p:spPr>
          <a:xfrm>
            <a:off x="2778576" y="6368186"/>
            <a:ext cx="3086100" cy="365125"/>
          </a:xfrm>
          <a:prstGeom prst="rect">
            <a:avLst/>
          </a:prstGeom>
          <a:noFill/>
          <a:ln>
            <a:noFill/>
          </a:ln>
        </p:spPr>
        <p:txBody>
          <a:bodyPr spcFirstLastPara="1" lIns="91425" tIns="45700" rIns="91425" bIns="45700" anchor="ctr">
            <a:noAutofit/>
          </a:bodyPr>
          <a:lstStyle>
            <a:lvl1pPr algn="ctr">
              <a:spcBef>
                <a:spcPts val="0"/>
              </a:spcBef>
              <a:spcAft>
                <a:spcPts val="0"/>
              </a:spcAft>
              <a:buNone/>
              <a:defRPr sz="2200" b="0" i="1" u="none" cap="none">
                <a:solidFill>
                  <a:srgbClr val="38415C"/>
                </a:solidFill>
                <a:latin typeface="Fira Sans"/>
                <a:ea typeface="Fira Sans"/>
                <a:cs typeface="Fira Sans"/>
              </a:defRPr>
            </a:lvl1pPr>
            <a:lvl2pPr algn="l">
              <a:spcBef>
                <a:spcPts val="0"/>
              </a:spcBef>
              <a:spcAft>
                <a:spcPts val="0"/>
              </a:spcAft>
              <a:buNone/>
              <a:defRPr sz="1350" b="0" i="0" u="none" cap="none">
                <a:solidFill>
                  <a:schemeClr val="dk1"/>
                </a:solidFill>
                <a:latin typeface="Calibri"/>
                <a:ea typeface="Calibri"/>
                <a:cs typeface="Calibri"/>
              </a:defRPr>
            </a:lvl2pPr>
            <a:lvl3pPr algn="l">
              <a:spcBef>
                <a:spcPts val="0"/>
              </a:spcBef>
              <a:spcAft>
                <a:spcPts val="0"/>
              </a:spcAft>
              <a:buNone/>
              <a:defRPr sz="1350" b="0" i="0" u="none" cap="none">
                <a:solidFill>
                  <a:schemeClr val="dk1"/>
                </a:solidFill>
                <a:latin typeface="Calibri"/>
                <a:ea typeface="Calibri"/>
                <a:cs typeface="Calibri"/>
              </a:defRPr>
            </a:lvl3pPr>
            <a:lvl4pPr algn="l">
              <a:spcBef>
                <a:spcPts val="0"/>
              </a:spcBef>
              <a:spcAft>
                <a:spcPts val="0"/>
              </a:spcAft>
              <a:buNone/>
              <a:defRPr sz="1350" b="0" i="0" u="none" cap="none">
                <a:solidFill>
                  <a:schemeClr val="dk1"/>
                </a:solidFill>
                <a:latin typeface="Calibri"/>
                <a:ea typeface="Calibri"/>
                <a:cs typeface="Calibri"/>
              </a:defRPr>
            </a:lvl4pPr>
            <a:lvl5pPr algn="l">
              <a:spcBef>
                <a:spcPts val="0"/>
              </a:spcBef>
              <a:spcAft>
                <a:spcPts val="0"/>
              </a:spcAft>
              <a:buNone/>
              <a:defRPr sz="1350" b="0" i="0" u="none" cap="none">
                <a:solidFill>
                  <a:schemeClr val="dk1"/>
                </a:solidFill>
                <a:latin typeface="Calibri"/>
                <a:ea typeface="Calibri"/>
                <a:cs typeface="Calibri"/>
              </a:defRPr>
            </a:lvl5pPr>
            <a:lvl6pPr algn="l">
              <a:spcBef>
                <a:spcPts val="0"/>
              </a:spcBef>
              <a:spcAft>
                <a:spcPts val="0"/>
              </a:spcAft>
              <a:buNone/>
              <a:defRPr sz="1350" b="0" i="0" u="none" cap="none">
                <a:solidFill>
                  <a:schemeClr val="dk1"/>
                </a:solidFill>
                <a:latin typeface="Calibri"/>
                <a:ea typeface="Calibri"/>
                <a:cs typeface="Calibri"/>
              </a:defRPr>
            </a:lvl6pPr>
            <a:lvl7pPr algn="l">
              <a:spcBef>
                <a:spcPts val="0"/>
              </a:spcBef>
              <a:spcAft>
                <a:spcPts val="0"/>
              </a:spcAft>
              <a:buNone/>
              <a:defRPr sz="1350" b="0" i="0" u="none" cap="none">
                <a:solidFill>
                  <a:schemeClr val="dk1"/>
                </a:solidFill>
                <a:latin typeface="Calibri"/>
                <a:ea typeface="Calibri"/>
                <a:cs typeface="Calibri"/>
              </a:defRPr>
            </a:lvl7pPr>
            <a:lvl8pPr algn="l">
              <a:spcBef>
                <a:spcPts val="0"/>
              </a:spcBef>
              <a:spcAft>
                <a:spcPts val="0"/>
              </a:spcAft>
              <a:buNone/>
              <a:defRPr sz="1350" b="0" i="0" u="none" cap="none">
                <a:solidFill>
                  <a:schemeClr val="dk1"/>
                </a:solidFill>
                <a:latin typeface="Calibri"/>
                <a:ea typeface="Calibri"/>
                <a:cs typeface="Calibri"/>
              </a:defRPr>
            </a:lvl8pPr>
            <a:lvl9pPr algn="l">
              <a:spcBef>
                <a:spcPts val="0"/>
              </a:spcBef>
              <a:spcAft>
                <a:spcPts val="0"/>
              </a:spcAft>
              <a:buNone/>
              <a:defRPr sz="1350" b="0" i="0" u="none" cap="none">
                <a:solidFill>
                  <a:schemeClr val="dk1"/>
                </a:solidFill>
                <a:latin typeface="Calibri"/>
                <a:ea typeface="Calibri"/>
                <a:cs typeface="Calibri"/>
              </a:defRPr>
            </a:lvl9pPr>
          </a:lstStyle>
          <a:p>
            <a:pPr>
              <a:buNone/>
            </a:pPr>
            <a:r>
              <a:rPr sz="675" b="0" i="0">
                <a:solidFill>
                  <a:srgbClr val="38415C"/>
                </a:solidFill>
                <a:latin typeface="Fira Sans"/>
                <a:ea typeface="Fira Sans"/>
                <a:cs typeface="Fira Sans"/>
              </a:rPr>
              <a:t>MARTINS; COSTA; LOPES (2026) · Retrofit do Modelo 3M</a:t>
            </a:r>
          </a:p>
        </p:txBody>
      </p:sp>
      <p:sp>
        <p:nvSpPr>
          <p:cNvPr id="15" name="Google Shape;15;p1">
            <a:extLst>
              <a:ext uri="{FF2B5EF4-FFF2-40B4-BE49-F238E27FC236}">
                <a16:creationId xmlns:a16="http://schemas.microsoft.com/office/drawing/2014/main" id="{246C54BC-DF1B-43AF-94AF-29C331CA72F6}"/>
              </a:ext>
            </a:extLst>
          </p:cNvPr>
          <p:cNvSpPr>
            <a:spLocks noGrp="1"/>
          </p:cNvSpPr>
          <p:nvPr>
            <p:ph type="sldNum" idx="12"/>
          </p:nvPr>
        </p:nvSpPr>
        <p:spPr>
          <a:xfrm>
            <a:off x="6295851" y="6368186"/>
            <a:ext cx="2057400" cy="365125"/>
          </a:xfrm>
          <a:prstGeom prst="rect">
            <a:avLst/>
          </a:prstGeom>
          <a:noFill/>
          <a:ln>
            <a:noFill/>
          </a:ln>
        </p:spPr>
        <p:txBody>
          <a:bodyPr spcFirstLastPara="1" wrap="square" lIns="91425" tIns="45700" rIns="91425" bIns="45700" anchor="ctr">
            <a:noAutofit/>
          </a:bodyPr>
          <a:lstStyle>
            <a:lvl1pPr marL="0" indent="0" algn="r">
              <a:spcBef>
                <a:spcPts val="0"/>
              </a:spcBef>
              <a:buNone/>
              <a:defRPr sz="5400" b="1" i="0" u="none" cap="none">
                <a:solidFill>
                  <a:srgbClr val="EB976D"/>
                </a:solidFill>
                <a:latin typeface="Fira Sans"/>
                <a:ea typeface="Fira Sans"/>
                <a:cs typeface="Fira Sans"/>
              </a:defRPr>
            </a:lvl1pPr>
            <a:lvl2pPr marL="0" indent="0" algn="r">
              <a:spcBef>
                <a:spcPts val="0"/>
              </a:spcBef>
              <a:buNone/>
              <a:defRPr sz="5400" b="1" i="0" u="none" cap="none">
                <a:solidFill>
                  <a:srgbClr val="EB976D"/>
                </a:solidFill>
                <a:latin typeface="Fira Sans"/>
                <a:ea typeface="Fira Sans"/>
                <a:cs typeface="Fira Sans"/>
              </a:defRPr>
            </a:lvl2pPr>
            <a:lvl3pPr marL="0" indent="0" algn="r">
              <a:spcBef>
                <a:spcPts val="0"/>
              </a:spcBef>
              <a:buNone/>
              <a:defRPr sz="5400" b="1" i="0" u="none" cap="none">
                <a:solidFill>
                  <a:srgbClr val="EB976D"/>
                </a:solidFill>
                <a:latin typeface="Fira Sans"/>
                <a:ea typeface="Fira Sans"/>
                <a:cs typeface="Fira Sans"/>
              </a:defRPr>
            </a:lvl3pPr>
            <a:lvl4pPr marL="0" indent="0" algn="r">
              <a:spcBef>
                <a:spcPts val="0"/>
              </a:spcBef>
              <a:buNone/>
              <a:defRPr sz="5400" b="1" i="0" u="none" cap="none">
                <a:solidFill>
                  <a:srgbClr val="EB976D"/>
                </a:solidFill>
                <a:latin typeface="Fira Sans"/>
                <a:ea typeface="Fira Sans"/>
                <a:cs typeface="Fira Sans"/>
              </a:defRPr>
            </a:lvl4pPr>
            <a:lvl5pPr marL="0" indent="0" algn="r">
              <a:spcBef>
                <a:spcPts val="0"/>
              </a:spcBef>
              <a:buNone/>
              <a:defRPr sz="5400" b="1" i="0" u="none" cap="none">
                <a:solidFill>
                  <a:srgbClr val="EB976D"/>
                </a:solidFill>
                <a:latin typeface="Fira Sans"/>
                <a:ea typeface="Fira Sans"/>
                <a:cs typeface="Fira Sans"/>
              </a:defRPr>
            </a:lvl5pPr>
            <a:lvl6pPr marL="0" indent="0" algn="r">
              <a:spcBef>
                <a:spcPts val="0"/>
              </a:spcBef>
              <a:buNone/>
              <a:defRPr sz="5400" b="1" i="0" u="none" cap="none">
                <a:solidFill>
                  <a:srgbClr val="EB976D"/>
                </a:solidFill>
                <a:latin typeface="Fira Sans"/>
                <a:ea typeface="Fira Sans"/>
                <a:cs typeface="Fira Sans"/>
              </a:defRPr>
            </a:lvl6pPr>
            <a:lvl7pPr marL="0" indent="0" algn="r">
              <a:spcBef>
                <a:spcPts val="0"/>
              </a:spcBef>
              <a:buNone/>
              <a:defRPr sz="5400" b="1" i="0" u="none" cap="none">
                <a:solidFill>
                  <a:srgbClr val="EB976D"/>
                </a:solidFill>
                <a:latin typeface="Fira Sans"/>
                <a:ea typeface="Fira Sans"/>
                <a:cs typeface="Fira Sans"/>
              </a:defRPr>
            </a:lvl7pPr>
            <a:lvl8pPr marL="0" indent="0" algn="r">
              <a:spcBef>
                <a:spcPts val="0"/>
              </a:spcBef>
              <a:buNone/>
              <a:defRPr sz="5400" b="1" i="0" u="none" cap="none">
                <a:solidFill>
                  <a:srgbClr val="EB976D"/>
                </a:solidFill>
                <a:latin typeface="Fira Sans"/>
                <a:ea typeface="Fira Sans"/>
                <a:cs typeface="Fira Sans"/>
              </a:defRPr>
            </a:lvl8pPr>
            <a:lvl9pPr marL="0" indent="0" algn="r">
              <a:spcBef>
                <a:spcPts val="0"/>
              </a:spcBef>
              <a:buNone/>
              <a:defRPr sz="5400" b="1" i="0" u="none" cap="none">
                <a:solidFill>
                  <a:srgbClr val="EB976D"/>
                </a:solidFill>
                <a:latin typeface="Fira Sans"/>
                <a:ea typeface="Fira Sans"/>
                <a:cs typeface="Fira Sans"/>
              </a:defRPr>
            </a:lvl9pPr>
          </a:lstStyle>
          <a:p>
            <a:fld id="{46B270FB-0C54-A54F-867B-58A7B95C958C}" type="slidenum">
              <a:t>‹#›</a:t>
            </a:fld>
            <a:endParaRPr/>
          </a:p>
        </p:txBody>
      </p:sp>
      <p:pic>
        <p:nvPicPr>
          <p:cNvPr id="16" name="Google Shape;16;p1"/>
          <p:cNvPicPr>
            <a:picLocks noChangeAspect="1"/>
          </p:cNvPicPr>
          <p:nvPr/>
        </p:nvPicPr>
        <p:blipFill rotWithShape="1">
          <a:blip r:embed="rId15"/>
          <a:srcRect/>
          <a:stretch/>
        </p:blipFill>
        <p:spPr>
          <a:xfrm>
            <a:off x="117418" y="91016"/>
            <a:ext cx="775161" cy="1324688"/>
          </a:xfrm>
          <a:prstGeom prst="rect">
            <a:avLst/>
          </a:prstGeom>
          <a:ln>
            <a:noFill/>
          </a:ln>
        </p:spPr>
      </p:pic>
      <p:sp>
        <p:nvSpPr>
          <p:cNvPr id="17" name="Google Shape;17;p1">
            <a:extLst>
              <a:ext uri="{FF2B5EF4-FFF2-40B4-BE49-F238E27FC236}">
                <a16:creationId xmlns:a16="http://schemas.microsoft.com/office/drawing/2014/main" id="{BADE7D8E-D5A4-4FDE-B8EC-175684A18D63}"/>
              </a:ext>
            </a:extLst>
          </p:cNvPr>
          <p:cNvSpPr>
            <a:spLocks noGrp="1"/>
          </p:cNvSpPr>
          <p:nvPr/>
        </p:nvSpPr>
        <p:spPr>
          <a:xfrm>
            <a:off x="8470669" y="6309681"/>
            <a:ext cx="555913" cy="482136"/>
          </a:xfrm>
          <a:prstGeom prst="rect">
            <a:avLst/>
          </a:prstGeom>
          <a:noFill/>
          <a:ln w="12700" cmpd="sng">
            <a:solidFill>
              <a:srgbClr val="38415C"/>
            </a:solidFill>
            <a:prstDash val="solid"/>
          </a:ln>
        </p:spPr>
        <p:txBody>
          <a:bodyPr spcFirstLastPara="1" lIns="68569" tIns="34275" rIns="68569" bIns="34275" anchor="ctr">
            <a:noAutofit/>
          </a:bodyPr>
          <a:lstStyle/>
          <a:p>
            <a:pPr marL="0" indent="0" algn="ctr">
              <a:spcBef>
                <a:spcPts val="0"/>
              </a:spcBef>
              <a:spcAft>
                <a:spcPts val="0"/>
              </a:spcAft>
              <a:buNone/>
            </a:pPr>
            <a:r>
              <a:rPr sz="1650" b="1" i="0" u="none" cap="none">
                <a:solidFill>
                  <a:srgbClr val="EB976D"/>
                </a:solidFill>
                <a:latin typeface="Fira Sans"/>
                <a:ea typeface="Fira Sans"/>
                <a:cs typeface="Fira Sans"/>
              </a:rPr>
              <a:t>/23</a:t>
            </a: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lvl1pPr algn="l">
        <a:lnSpc>
          <a:spcPct val="100000"/>
        </a:lnSpc>
        <a:spcBef>
          <a:spcPts val="0"/>
        </a:spcBef>
        <a:spcAft>
          <a:spcPts val="0"/>
        </a:spcAft>
        <a:buNone/>
        <a:defRPr sz="1050" b="0" i="0" u="none" cap="none">
          <a:solidFill>
            <a:srgbClr val="000000"/>
          </a:solidFill>
          <a:latin typeface="Arial"/>
          <a:ea typeface="Arial"/>
          <a:cs typeface="Arial"/>
        </a:defRPr>
      </a:lvl1pPr>
      <a:lvl2pPr algn="l">
        <a:lnSpc>
          <a:spcPct val="100000"/>
        </a:lnSpc>
        <a:spcBef>
          <a:spcPts val="0"/>
        </a:spcBef>
        <a:spcAft>
          <a:spcPts val="0"/>
        </a:spcAft>
        <a:buNone/>
        <a:defRPr sz="1050" b="0" i="0" u="none" cap="none">
          <a:solidFill>
            <a:srgbClr val="000000"/>
          </a:solidFill>
          <a:latin typeface="Arial"/>
          <a:ea typeface="Arial"/>
          <a:cs typeface="Arial"/>
        </a:defRPr>
      </a:lvl2pPr>
      <a:lvl3pPr algn="l">
        <a:lnSpc>
          <a:spcPct val="100000"/>
        </a:lnSpc>
        <a:spcBef>
          <a:spcPts val="0"/>
        </a:spcBef>
        <a:spcAft>
          <a:spcPts val="0"/>
        </a:spcAft>
        <a:buNone/>
        <a:defRPr sz="1050" b="0" i="0" u="none" cap="none">
          <a:solidFill>
            <a:srgbClr val="000000"/>
          </a:solidFill>
          <a:latin typeface="Arial"/>
          <a:ea typeface="Arial"/>
          <a:cs typeface="Arial"/>
        </a:defRPr>
      </a:lvl3pPr>
      <a:lvl4pPr algn="l">
        <a:lnSpc>
          <a:spcPct val="100000"/>
        </a:lnSpc>
        <a:spcBef>
          <a:spcPts val="0"/>
        </a:spcBef>
        <a:spcAft>
          <a:spcPts val="0"/>
        </a:spcAft>
        <a:buNone/>
        <a:defRPr sz="1050" b="0" i="0" u="none" cap="none">
          <a:solidFill>
            <a:srgbClr val="000000"/>
          </a:solidFill>
          <a:latin typeface="Arial"/>
          <a:ea typeface="Arial"/>
          <a:cs typeface="Arial"/>
        </a:defRPr>
      </a:lvl4pPr>
      <a:lvl5pPr algn="l">
        <a:lnSpc>
          <a:spcPct val="100000"/>
        </a:lnSpc>
        <a:spcBef>
          <a:spcPts val="0"/>
        </a:spcBef>
        <a:spcAft>
          <a:spcPts val="0"/>
        </a:spcAft>
        <a:buNone/>
        <a:defRPr sz="1050" b="0" i="0" u="none" cap="none">
          <a:solidFill>
            <a:srgbClr val="000000"/>
          </a:solidFill>
          <a:latin typeface="Arial"/>
          <a:ea typeface="Arial"/>
          <a:cs typeface="Arial"/>
        </a:defRPr>
      </a:lvl5pPr>
      <a:lvl6pPr algn="l">
        <a:lnSpc>
          <a:spcPct val="100000"/>
        </a:lnSpc>
        <a:spcBef>
          <a:spcPts val="0"/>
        </a:spcBef>
        <a:spcAft>
          <a:spcPts val="0"/>
        </a:spcAft>
        <a:buNone/>
        <a:defRPr sz="1050" b="0" i="0" u="none" cap="none">
          <a:solidFill>
            <a:srgbClr val="000000"/>
          </a:solidFill>
          <a:latin typeface="Arial"/>
          <a:ea typeface="Arial"/>
          <a:cs typeface="Arial"/>
        </a:defRPr>
      </a:lvl6pPr>
      <a:lvl7pPr algn="l">
        <a:lnSpc>
          <a:spcPct val="100000"/>
        </a:lnSpc>
        <a:spcBef>
          <a:spcPts val="0"/>
        </a:spcBef>
        <a:spcAft>
          <a:spcPts val="0"/>
        </a:spcAft>
        <a:buNone/>
        <a:defRPr sz="1050" b="0" i="0" u="none" cap="none">
          <a:solidFill>
            <a:srgbClr val="000000"/>
          </a:solidFill>
          <a:latin typeface="Arial"/>
          <a:ea typeface="Arial"/>
          <a:cs typeface="Arial"/>
        </a:defRPr>
      </a:lvl7pPr>
      <a:lvl8pPr algn="l">
        <a:lnSpc>
          <a:spcPct val="100000"/>
        </a:lnSpc>
        <a:spcBef>
          <a:spcPts val="0"/>
        </a:spcBef>
        <a:spcAft>
          <a:spcPts val="0"/>
        </a:spcAft>
        <a:buNone/>
        <a:defRPr sz="1050" b="0" i="0" u="none" cap="none">
          <a:solidFill>
            <a:srgbClr val="000000"/>
          </a:solidFill>
          <a:latin typeface="Arial"/>
          <a:ea typeface="Arial"/>
          <a:cs typeface="Arial"/>
        </a:defRPr>
      </a:lvl8pPr>
      <a:lvl9pPr algn="l">
        <a:lnSpc>
          <a:spcPct val="100000"/>
        </a:lnSpc>
        <a:spcBef>
          <a:spcPts val="0"/>
        </a:spcBef>
        <a:spcAft>
          <a:spcPts val="0"/>
        </a:spcAft>
        <a:buNone/>
        <a:defRPr sz="1050" b="0" i="0" u="none" cap="none">
          <a:solidFill>
            <a:srgbClr val="000000"/>
          </a:solidFill>
          <a:latin typeface="Arial"/>
          <a:ea typeface="Arial"/>
          <a:cs typeface="Arial"/>
        </a:defRPr>
      </a:lvl9pPr>
    </p:titleStyle>
    <p:bodyStyle>
      <a:lvl1pPr algn="l">
        <a:lnSpc>
          <a:spcPct val="100000"/>
        </a:lnSpc>
        <a:spcBef>
          <a:spcPts val="0"/>
        </a:spcBef>
        <a:spcAft>
          <a:spcPts val="0"/>
        </a:spcAft>
        <a:buNone/>
        <a:defRPr sz="900" b="0" i="0" u="none" cap="none">
          <a:solidFill>
            <a:srgbClr val="EB976D"/>
          </a:solidFill>
          <a:latin typeface="Fira Sans"/>
          <a:ea typeface="Fira Sans"/>
          <a:cs typeface="Fira Sans"/>
        </a:defRPr>
      </a:lvl1pPr>
      <a:lvl2pPr algn="l">
        <a:lnSpc>
          <a:spcPct val="100000"/>
        </a:lnSpc>
        <a:spcBef>
          <a:spcPts val="0"/>
        </a:spcBef>
        <a:spcAft>
          <a:spcPts val="0"/>
        </a:spcAft>
        <a:buNone/>
        <a:defRPr sz="1050" b="0" i="0" u="none" cap="none">
          <a:solidFill>
            <a:srgbClr val="000000"/>
          </a:solidFill>
          <a:latin typeface="Arial"/>
          <a:ea typeface="Arial"/>
          <a:cs typeface="Arial"/>
        </a:defRPr>
      </a:lvl2pPr>
      <a:lvl3pPr algn="l">
        <a:lnSpc>
          <a:spcPct val="100000"/>
        </a:lnSpc>
        <a:spcBef>
          <a:spcPts val="0"/>
        </a:spcBef>
        <a:spcAft>
          <a:spcPts val="0"/>
        </a:spcAft>
        <a:buNone/>
        <a:defRPr sz="1050" b="0" i="0" u="none" cap="none">
          <a:solidFill>
            <a:srgbClr val="000000"/>
          </a:solidFill>
          <a:latin typeface="Arial"/>
          <a:ea typeface="Arial"/>
          <a:cs typeface="Arial"/>
        </a:defRPr>
      </a:lvl3pPr>
      <a:lvl4pPr algn="l">
        <a:lnSpc>
          <a:spcPct val="100000"/>
        </a:lnSpc>
        <a:spcBef>
          <a:spcPts val="0"/>
        </a:spcBef>
        <a:spcAft>
          <a:spcPts val="0"/>
        </a:spcAft>
        <a:buNone/>
        <a:defRPr sz="1050" b="0" i="0" u="none" cap="none">
          <a:solidFill>
            <a:srgbClr val="000000"/>
          </a:solidFill>
          <a:latin typeface="Arial"/>
          <a:ea typeface="Arial"/>
          <a:cs typeface="Arial"/>
        </a:defRPr>
      </a:lvl4pPr>
      <a:lvl5pPr algn="l">
        <a:lnSpc>
          <a:spcPct val="100000"/>
        </a:lnSpc>
        <a:spcBef>
          <a:spcPts val="0"/>
        </a:spcBef>
        <a:spcAft>
          <a:spcPts val="0"/>
        </a:spcAft>
        <a:buNone/>
        <a:defRPr sz="1050" b="0" i="0" u="none" cap="none">
          <a:solidFill>
            <a:srgbClr val="000000"/>
          </a:solidFill>
          <a:latin typeface="Arial"/>
          <a:ea typeface="Arial"/>
          <a:cs typeface="Arial"/>
        </a:defRPr>
      </a:lvl5pPr>
      <a:lvl6pPr algn="l">
        <a:lnSpc>
          <a:spcPct val="100000"/>
        </a:lnSpc>
        <a:spcBef>
          <a:spcPts val="0"/>
        </a:spcBef>
        <a:spcAft>
          <a:spcPts val="0"/>
        </a:spcAft>
        <a:buNone/>
        <a:defRPr sz="1050" b="0" i="0" u="none" cap="none">
          <a:solidFill>
            <a:srgbClr val="000000"/>
          </a:solidFill>
          <a:latin typeface="Arial"/>
          <a:ea typeface="Arial"/>
          <a:cs typeface="Arial"/>
        </a:defRPr>
      </a:lvl6pPr>
      <a:lvl7pPr algn="l">
        <a:lnSpc>
          <a:spcPct val="100000"/>
        </a:lnSpc>
        <a:spcBef>
          <a:spcPts val="0"/>
        </a:spcBef>
        <a:spcAft>
          <a:spcPts val="0"/>
        </a:spcAft>
        <a:buNone/>
        <a:defRPr sz="1050" b="0" i="0" u="none" cap="none">
          <a:solidFill>
            <a:srgbClr val="000000"/>
          </a:solidFill>
          <a:latin typeface="Arial"/>
          <a:ea typeface="Arial"/>
          <a:cs typeface="Arial"/>
        </a:defRPr>
      </a:lvl7pPr>
      <a:lvl8pPr algn="l">
        <a:lnSpc>
          <a:spcPct val="100000"/>
        </a:lnSpc>
        <a:spcBef>
          <a:spcPts val="0"/>
        </a:spcBef>
        <a:spcAft>
          <a:spcPts val="0"/>
        </a:spcAft>
        <a:buNone/>
        <a:defRPr sz="1050" b="0" i="0" u="none" cap="none">
          <a:solidFill>
            <a:srgbClr val="000000"/>
          </a:solidFill>
          <a:latin typeface="Arial"/>
          <a:ea typeface="Arial"/>
          <a:cs typeface="Arial"/>
        </a:defRPr>
      </a:lvl8pPr>
      <a:lvl9pPr algn="l">
        <a:lnSpc>
          <a:spcPct val="100000"/>
        </a:lnSpc>
        <a:spcBef>
          <a:spcPts val="0"/>
        </a:spcBef>
        <a:spcAft>
          <a:spcPts val="0"/>
        </a:spcAft>
        <a:buNone/>
        <a:defRPr sz="1050" b="0" i="0" u="none" cap="none">
          <a:solidFill>
            <a:srgbClr val="000000"/>
          </a:solidFill>
          <a:latin typeface="Arial"/>
          <a:ea typeface="Arial"/>
          <a:cs typeface="Arial"/>
        </a:defRPr>
      </a:lvl9pPr>
    </p:bodyStyle>
    <p:otherStyle>
      <a:lvl1pPr algn="l">
        <a:lnSpc>
          <a:spcPct val="100000"/>
        </a:lnSpc>
        <a:spcBef>
          <a:spcPts val="0"/>
        </a:spcBef>
        <a:spcAft>
          <a:spcPts val="0"/>
        </a:spcAft>
        <a:buNone/>
        <a:defRPr sz="1050" b="0" i="0" u="none" cap="none">
          <a:solidFill>
            <a:srgbClr val="000000"/>
          </a:solidFill>
          <a:latin typeface="Arial"/>
          <a:ea typeface="Arial"/>
          <a:cs typeface="Arial"/>
        </a:defRPr>
      </a:lvl1pPr>
      <a:lvl2pPr algn="l">
        <a:lnSpc>
          <a:spcPct val="100000"/>
        </a:lnSpc>
        <a:spcBef>
          <a:spcPts val="0"/>
        </a:spcBef>
        <a:spcAft>
          <a:spcPts val="0"/>
        </a:spcAft>
        <a:buNone/>
        <a:defRPr sz="1050" b="0" i="0" u="none" cap="none">
          <a:solidFill>
            <a:srgbClr val="000000"/>
          </a:solidFill>
          <a:latin typeface="Arial"/>
          <a:ea typeface="Arial"/>
          <a:cs typeface="Arial"/>
        </a:defRPr>
      </a:lvl2pPr>
      <a:lvl3pPr algn="l">
        <a:lnSpc>
          <a:spcPct val="100000"/>
        </a:lnSpc>
        <a:spcBef>
          <a:spcPts val="0"/>
        </a:spcBef>
        <a:spcAft>
          <a:spcPts val="0"/>
        </a:spcAft>
        <a:buNone/>
        <a:defRPr sz="1050" b="0" i="0" u="none" cap="none">
          <a:solidFill>
            <a:srgbClr val="000000"/>
          </a:solidFill>
          <a:latin typeface="Arial"/>
          <a:ea typeface="Arial"/>
          <a:cs typeface="Arial"/>
        </a:defRPr>
      </a:lvl3pPr>
      <a:lvl4pPr algn="l">
        <a:lnSpc>
          <a:spcPct val="100000"/>
        </a:lnSpc>
        <a:spcBef>
          <a:spcPts val="0"/>
        </a:spcBef>
        <a:spcAft>
          <a:spcPts val="0"/>
        </a:spcAft>
        <a:buNone/>
        <a:defRPr sz="1050" b="0" i="0" u="none" cap="none">
          <a:solidFill>
            <a:srgbClr val="000000"/>
          </a:solidFill>
          <a:latin typeface="Arial"/>
          <a:ea typeface="Arial"/>
          <a:cs typeface="Arial"/>
        </a:defRPr>
      </a:lvl4pPr>
      <a:lvl5pPr algn="l">
        <a:lnSpc>
          <a:spcPct val="100000"/>
        </a:lnSpc>
        <a:spcBef>
          <a:spcPts val="0"/>
        </a:spcBef>
        <a:spcAft>
          <a:spcPts val="0"/>
        </a:spcAft>
        <a:buNone/>
        <a:defRPr sz="1050" b="0" i="0" u="none" cap="none">
          <a:solidFill>
            <a:srgbClr val="000000"/>
          </a:solidFill>
          <a:latin typeface="Arial"/>
          <a:ea typeface="Arial"/>
          <a:cs typeface="Arial"/>
        </a:defRPr>
      </a:lvl5pPr>
      <a:lvl6pPr algn="l">
        <a:lnSpc>
          <a:spcPct val="100000"/>
        </a:lnSpc>
        <a:spcBef>
          <a:spcPts val="0"/>
        </a:spcBef>
        <a:spcAft>
          <a:spcPts val="0"/>
        </a:spcAft>
        <a:buNone/>
        <a:defRPr sz="1050" b="0" i="0" u="none" cap="none">
          <a:solidFill>
            <a:srgbClr val="000000"/>
          </a:solidFill>
          <a:latin typeface="Arial"/>
          <a:ea typeface="Arial"/>
          <a:cs typeface="Arial"/>
        </a:defRPr>
      </a:lvl6pPr>
      <a:lvl7pPr algn="l">
        <a:lnSpc>
          <a:spcPct val="100000"/>
        </a:lnSpc>
        <a:spcBef>
          <a:spcPts val="0"/>
        </a:spcBef>
        <a:spcAft>
          <a:spcPts val="0"/>
        </a:spcAft>
        <a:buNone/>
        <a:defRPr sz="1050" b="0" i="0" u="none" cap="none">
          <a:solidFill>
            <a:srgbClr val="000000"/>
          </a:solidFill>
          <a:latin typeface="Arial"/>
          <a:ea typeface="Arial"/>
          <a:cs typeface="Arial"/>
        </a:defRPr>
      </a:lvl7pPr>
      <a:lvl8pPr algn="l">
        <a:lnSpc>
          <a:spcPct val="100000"/>
        </a:lnSpc>
        <a:spcBef>
          <a:spcPts val="0"/>
        </a:spcBef>
        <a:spcAft>
          <a:spcPts val="0"/>
        </a:spcAft>
        <a:buNone/>
        <a:defRPr sz="1050" b="0" i="0" u="none" cap="none">
          <a:solidFill>
            <a:srgbClr val="000000"/>
          </a:solidFill>
          <a:latin typeface="Arial"/>
          <a:ea typeface="Arial"/>
          <a:cs typeface="Arial"/>
        </a:defRPr>
      </a:lvl8pPr>
      <a:lvl9pPr algn="l">
        <a:lnSpc>
          <a:spcPct val="100000"/>
        </a:lnSpc>
        <a:spcBef>
          <a:spcPts val="0"/>
        </a:spcBef>
        <a:spcAft>
          <a:spcPts val="0"/>
        </a:spcAft>
        <a:buNone/>
        <a:defRPr sz="1050" b="0" i="0" u="none" cap="none">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6FA069-7035-493C-9EB3-3217A1C4C139}"/>
              </a:ext>
            </a:extLst>
          </p:cNvPr>
          <p:cNvSpPr>
            <a:spLocks noGrp="1"/>
          </p:cNvSpPr>
          <p:nvPr>
            <p:ph type="ctrTitle"/>
          </p:nvPr>
        </p:nvSpPr>
        <p:spPr/>
        <p:txBody>
          <a:bodyPr/>
          <a:lstStyle/>
          <a:p>
            <a:r>
              <a:rPr sz="2100" b="1">
                <a:solidFill>
                  <a:srgbClr val="38415C"/>
                </a:solidFill>
                <a:latin typeface="Fira Sans"/>
                <a:ea typeface="Fira Sans"/>
                <a:cs typeface="Fira Sans"/>
              </a:rPr>
              <a:t>Retrofit do Modelo 3M de Universidade Corporativa: Reinterpretação de seus Três Pilares à Luz da Inteligência Artificial</a:t>
            </a:r>
          </a:p>
        </p:txBody>
      </p:sp>
      <p:sp>
        <p:nvSpPr>
          <p:cNvPr id="3" name="Subtitle 2">
            <a:extLst>
              <a:ext uri="{FF2B5EF4-FFF2-40B4-BE49-F238E27FC236}">
                <a16:creationId xmlns:a16="http://schemas.microsoft.com/office/drawing/2014/main" id="{C771212D-E83A-4B0E-8861-31066D3EFB67}"/>
              </a:ext>
            </a:extLst>
          </p:cNvPr>
          <p:cNvSpPr>
            <a:spLocks noGrp="1"/>
          </p:cNvSpPr>
          <p:nvPr>
            <p:ph type="subTitle" idx="1"/>
          </p:nvPr>
        </p:nvSpPr>
        <p:spPr/>
        <p:txBody>
          <a:bodyPr/>
          <a:lstStyle/>
          <a:p>
            <a:pPr>
              <a:buNone/>
            </a:pPr>
            <a:r>
              <a:rPr sz="1200" b="0" i="0">
                <a:solidFill>
                  <a:srgbClr val="38415C"/>
                </a:solidFill>
                <a:latin typeface="Fira Sans"/>
                <a:ea typeface="Fira Sans"/>
                <a:cs typeface="Fira Sans"/>
              </a:rPr>
              <a:t>João Pedro Barbosa Martins · Viviane Cunha Farias da Costa · Emily Lopes</a:t>
            </a:r>
          </a:p>
          <a:p>
            <a:pPr>
              <a:buNone/>
            </a:pPr>
            <a:r>
              <a:rPr sz="1200" b="0" i="0">
                <a:solidFill>
                  <a:srgbClr val="38415C"/>
                </a:solidFill>
                <a:latin typeface="Fira Sans"/>
                <a:ea typeface="Fira Sans"/>
                <a:cs typeface="Fira Sans"/>
              </a:rPr>
              <a:t>CPS831 — Gestão Aumentada do Conhecimento 5.0 · PESC/COPPE-UFRJ · 2026</a:t>
            </a:r>
          </a:p>
        </p:txBody>
      </p:sp>
    </p:spTree>
    <p:extLst>
      <p:ext uri="{BB962C8B-B14F-4D97-AF65-F5344CB8AC3E}">
        <p14:creationId xmlns:p14="http://schemas.microsoft.com/office/powerpoint/2010/main" val="918032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88670-A8B0-4F9D-978D-34926F056ACE}"/>
              </a:ext>
            </a:extLst>
          </p:cNvPr>
          <p:cNvSpPr>
            <a:spLocks noGrp="1"/>
          </p:cNvSpPr>
          <p:nvPr>
            <p:ph type="title"/>
          </p:nvPr>
        </p:nvSpPr>
        <p:spPr/>
        <p:txBody>
          <a:bodyPr/>
          <a:lstStyle/>
          <a:p>
            <a:r>
              <a:rPr sz="2100" b="1">
                <a:solidFill>
                  <a:srgbClr val="38415C"/>
                </a:solidFill>
                <a:latin typeface="Fira Sans"/>
                <a:ea typeface="Fira Sans"/>
                <a:cs typeface="Fira Sans"/>
              </a:rPr>
              <a:t>Agenda</a:t>
            </a:r>
          </a:p>
        </p:txBody>
      </p:sp>
      <p:sp>
        <p:nvSpPr>
          <p:cNvPr id="3" name="Content Placeholder 2">
            <a:extLst>
              <a:ext uri="{FF2B5EF4-FFF2-40B4-BE49-F238E27FC236}">
                <a16:creationId xmlns:a16="http://schemas.microsoft.com/office/drawing/2014/main" id="{37088C56-992D-44E4-ACAE-81A4521EA0CA}"/>
              </a:ext>
            </a:extLst>
          </p:cNvPr>
          <p:cNvSpPr>
            <a:spLocks noGrp="1"/>
          </p:cNvSpPr>
          <p:nvPr>
            <p:ph idx="1"/>
          </p:nvPr>
        </p:nvSpPr>
        <p:spPr>
          <a:xfrm>
            <a:off x="1200150" y="1428750"/>
            <a:ext cx="7524750" cy="4238625"/>
          </a:xfrm>
        </p:spPr>
        <p:txBody>
          <a:bodyPr anchor="t">
            <a:normAutofit/>
          </a:bodyPr>
          <a:lstStyle/>
          <a:p>
            <a:pPr marL="18" indent="-10">
              <a:spcAft>
                <a:spcPts val="7"/>
              </a:spcAft>
              <a:buChar char="•"/>
            </a:pPr>
            <a:r>
              <a:rPr sz="1680" b="1" i="0">
                <a:solidFill>
                  <a:srgbClr val="EB976D"/>
                </a:solidFill>
                <a:latin typeface="Fira Sans"/>
                <a:ea typeface="Fira Sans"/>
                <a:cs typeface="Fira Sans"/>
              </a:rPr>
              <a:t>1. Contexto e problema: </a:t>
            </a:r>
            <a:r>
              <a:rPr sz="1680" b="1" i="0">
                <a:solidFill>
                  <a:srgbClr val="38415C"/>
                </a:solidFill>
                <a:latin typeface="Fira Sans"/>
                <a:ea typeface="Fira Sans"/>
                <a:cs typeface="Fira Sans"/>
              </a:rPr>
              <a:t>o que mudou nas Universidades Corporativas.</a:t>
            </a:r>
          </a:p>
          <a:p>
            <a:pPr marL="18" indent="-10">
              <a:spcBef>
                <a:spcPts val="3450"/>
              </a:spcBef>
              <a:spcAft>
                <a:spcPts val="7"/>
              </a:spcAft>
              <a:buChar char="•"/>
            </a:pPr>
            <a:r>
              <a:rPr sz="1680" b="1" i="0">
                <a:solidFill>
                  <a:srgbClr val="EB976D"/>
                </a:solidFill>
                <a:latin typeface="Fira Sans"/>
                <a:ea typeface="Fira Sans"/>
                <a:cs typeface="Fira Sans"/>
              </a:rPr>
              <a:t>2. Referencial: </a:t>
            </a:r>
            <a:r>
              <a:rPr sz="1680" b="1" i="0">
                <a:solidFill>
                  <a:srgbClr val="38415C"/>
                </a:solidFill>
                <a:latin typeface="Fira Sans"/>
                <a:ea typeface="Fira Sans"/>
                <a:cs typeface="Fira Sans"/>
              </a:rPr>
              <a:t>GC, IA Generativa, aprendizagem, agência e governança.</a:t>
            </a:r>
          </a:p>
          <a:p>
            <a:pPr marL="18" indent="-10">
              <a:spcBef>
                <a:spcPts val="3450"/>
              </a:spcBef>
              <a:spcAft>
                <a:spcPts val="7"/>
              </a:spcAft>
              <a:buChar char="•"/>
            </a:pPr>
            <a:r>
              <a:rPr sz="1680" b="1" i="0">
                <a:solidFill>
                  <a:srgbClr val="EB976D"/>
                </a:solidFill>
                <a:latin typeface="Fira Sans"/>
                <a:ea typeface="Fira Sans"/>
                <a:cs typeface="Fira Sans"/>
              </a:rPr>
              <a:t>3. Método: </a:t>
            </a:r>
            <a:r>
              <a:rPr sz="1680" b="1" i="0">
                <a:solidFill>
                  <a:srgbClr val="38415C"/>
                </a:solidFill>
                <a:latin typeface="Fira Sans"/>
                <a:ea typeface="Fira Sans"/>
                <a:cs typeface="Fira Sans"/>
              </a:rPr>
              <a:t>revisão de escopo assistida e estratégia de retrofit.</a:t>
            </a:r>
          </a:p>
          <a:p>
            <a:pPr marL="18" indent="-10">
              <a:spcBef>
                <a:spcPts val="3450"/>
              </a:spcBef>
              <a:spcAft>
                <a:spcPts val="7"/>
              </a:spcAft>
              <a:buChar char="•"/>
            </a:pPr>
            <a:r>
              <a:rPr sz="1680" b="1" i="0">
                <a:solidFill>
                  <a:srgbClr val="EB976D"/>
                </a:solidFill>
                <a:latin typeface="Fira Sans"/>
                <a:ea typeface="Fira Sans"/>
                <a:cs typeface="Fira Sans"/>
              </a:rPr>
              <a:t>4. Proposta e análise: </a:t>
            </a:r>
            <a:r>
              <a:rPr sz="1680" b="1" i="0">
                <a:solidFill>
                  <a:srgbClr val="38415C"/>
                </a:solidFill>
                <a:latin typeface="Fira Sans"/>
                <a:ea typeface="Fira Sans"/>
                <a:cs typeface="Fira Sans"/>
              </a:rPr>
              <a:t>Modelo 3M reinterpretado e cobertura conceitual.</a:t>
            </a:r>
          </a:p>
          <a:p>
            <a:pPr marL="18" indent="-10">
              <a:spcBef>
                <a:spcPts val="3450"/>
              </a:spcBef>
              <a:spcAft>
                <a:spcPts val="7"/>
              </a:spcAft>
              <a:buChar char="•"/>
            </a:pPr>
            <a:r>
              <a:rPr sz="1680" b="1" i="0">
                <a:solidFill>
                  <a:srgbClr val="EB976D"/>
                </a:solidFill>
                <a:latin typeface="Fira Sans"/>
                <a:ea typeface="Fira Sans"/>
                <a:cs typeface="Fira Sans"/>
              </a:rPr>
              <a:t>5. Discussão, limitações e conclusão.</a:t>
            </a:r>
          </a:p>
        </p:txBody>
      </p:sp>
    </p:spTree>
    <p:extLst>
      <p:ext uri="{BB962C8B-B14F-4D97-AF65-F5344CB8AC3E}">
        <p14:creationId xmlns:p14="http://schemas.microsoft.com/office/powerpoint/2010/main" val="615055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A6B2E-56E1-4D71-A9EF-CEACD0F9A9B2}"/>
              </a:ext>
            </a:extLst>
          </p:cNvPr>
          <p:cNvSpPr>
            <a:spLocks noGrp="1"/>
          </p:cNvSpPr>
          <p:nvPr>
            <p:ph type="title"/>
          </p:nvPr>
        </p:nvSpPr>
        <p:spPr/>
        <p:txBody>
          <a:bodyPr/>
          <a:lstStyle/>
          <a:p>
            <a:r>
              <a:rPr sz="2100" b="1">
                <a:solidFill>
                  <a:srgbClr val="38415C"/>
                </a:solidFill>
                <a:latin typeface="Fira Sans"/>
                <a:ea typeface="Fira Sans"/>
                <a:cs typeface="Fira Sans"/>
              </a:rPr>
              <a:t>Universidades Corporativas e o Modelo 3M</a:t>
            </a:r>
          </a:p>
        </p:txBody>
      </p:sp>
      <p:sp>
        <p:nvSpPr>
          <p:cNvPr id="3" name="Content Placeholder 2">
            <a:extLst>
              <a:ext uri="{FF2B5EF4-FFF2-40B4-BE49-F238E27FC236}">
                <a16:creationId xmlns:a16="http://schemas.microsoft.com/office/drawing/2014/main" id="{E63E9F10-9414-451D-A060-14725ABCB89C}"/>
              </a:ext>
            </a:extLst>
          </p:cNvPr>
          <p:cNvSpPr>
            <a:spLocks noGrp="1"/>
          </p:cNvSpPr>
          <p:nvPr>
            <p:ph idx="1"/>
          </p:nvPr>
        </p:nvSpPr>
        <p:spPr>
          <a:xfrm>
            <a:off x="1200150" y="1428750"/>
            <a:ext cx="7524750" cy="4238625"/>
          </a:xfrm>
        </p:spPr>
        <p:txBody>
          <a:bodyPr anchor="t">
            <a:normAutofit/>
          </a:bodyPr>
          <a:lstStyle/>
          <a:p>
            <a:pPr marL="18" indent="-10">
              <a:spcAft>
                <a:spcPts val="7"/>
              </a:spcAft>
              <a:buChar char="•"/>
            </a:pPr>
            <a:r>
              <a:rPr sz="1630" b="1" i="0">
                <a:solidFill>
                  <a:srgbClr val="EB976D"/>
                </a:solidFill>
                <a:latin typeface="Fira Sans"/>
                <a:ea typeface="Fira Sans"/>
                <a:cs typeface="Fira Sans"/>
              </a:rPr>
              <a:t>Universidade Corporativa: </a:t>
            </a:r>
            <a:r>
              <a:rPr sz="1630" i="0">
                <a:solidFill>
                  <a:srgbClr val="38415C"/>
                </a:solidFill>
                <a:latin typeface="Fira Sans"/>
                <a:ea typeface="Fira Sans"/>
                <a:cs typeface="Fira Sans"/>
              </a:rPr>
              <a:t>articula estratégia, aprendizagem e Gestão do Conhecimento (GC).</a:t>
            </a:r>
          </a:p>
          <a:p>
            <a:pPr marL="18" indent="-10">
              <a:spcBef>
                <a:spcPts val="3120"/>
              </a:spcBef>
              <a:spcAft>
                <a:spcPts val="7"/>
              </a:spcAft>
              <a:buChar char="•"/>
            </a:pPr>
            <a:r>
              <a:rPr sz="1630" b="1" i="0">
                <a:solidFill>
                  <a:srgbClr val="EB976D"/>
                </a:solidFill>
                <a:latin typeface="Fira Sans"/>
                <a:ea typeface="Fira Sans"/>
                <a:cs typeface="Fira Sans"/>
              </a:rPr>
              <a:t>Motive — por quê: </a:t>
            </a:r>
            <a:r>
              <a:rPr sz="1630" b="1" i="0">
                <a:solidFill>
                  <a:srgbClr val="38415C"/>
                </a:solidFill>
                <a:latin typeface="Fira Sans"/>
                <a:ea typeface="Fira Sans"/>
                <a:cs typeface="Fira Sans"/>
              </a:rPr>
              <a:t>alinhamento estratégico e competências críticas.</a:t>
            </a:r>
          </a:p>
          <a:p>
            <a:pPr marL="18" indent="-10">
              <a:spcBef>
                <a:spcPts val="3120"/>
              </a:spcBef>
              <a:spcAft>
                <a:spcPts val="7"/>
              </a:spcAft>
              <a:buChar char="•"/>
            </a:pPr>
            <a:r>
              <a:rPr sz="1630" b="1" i="0">
                <a:solidFill>
                  <a:srgbClr val="EB976D"/>
                </a:solidFill>
                <a:latin typeface="Fira Sans"/>
                <a:ea typeface="Fira Sans"/>
                <a:cs typeface="Fira Sans"/>
              </a:rPr>
              <a:t>Model — como: </a:t>
            </a:r>
            <a:r>
              <a:rPr sz="1630" b="1" i="0">
                <a:solidFill>
                  <a:srgbClr val="38415C"/>
                </a:solidFill>
                <a:latin typeface="Fira Sans"/>
                <a:ea typeface="Fira Sans"/>
                <a:cs typeface="Fira Sans"/>
              </a:rPr>
              <a:t>arquitetura educacional, currículos, programas e públicos.</a:t>
            </a:r>
          </a:p>
          <a:p>
            <a:pPr marL="18" indent="-10">
              <a:spcBef>
                <a:spcPts val="3120"/>
              </a:spcBef>
              <a:spcAft>
                <a:spcPts val="7"/>
              </a:spcAft>
              <a:buChar char="•"/>
            </a:pPr>
            <a:r>
              <a:rPr sz="1630" b="1" i="0">
                <a:solidFill>
                  <a:srgbClr val="EB976D"/>
                </a:solidFill>
                <a:latin typeface="Fira Sans"/>
                <a:ea typeface="Fira Sans"/>
                <a:cs typeface="Fira Sans"/>
              </a:rPr>
              <a:t>Moment — quando: </a:t>
            </a:r>
            <a:r>
              <a:rPr sz="1630" b="1" i="0">
                <a:solidFill>
                  <a:srgbClr val="38415C"/>
                </a:solidFill>
                <a:latin typeface="Fira Sans"/>
                <a:ea typeface="Fira Sans"/>
                <a:cs typeface="Fira Sans"/>
              </a:rPr>
              <a:t>resposta às mudanças dinâmicas e imprevisíveis do ambiente.</a:t>
            </a:r>
          </a:p>
          <a:p>
            <a:pPr marL="18" indent="-10">
              <a:spcBef>
                <a:spcPts val="3120"/>
              </a:spcBef>
              <a:spcAft>
                <a:spcPts val="7"/>
              </a:spcAft>
              <a:buChar char="•"/>
            </a:pPr>
            <a:r>
              <a:rPr sz="1630" b="1" i="0">
                <a:solidFill>
                  <a:srgbClr val="EB976D"/>
                </a:solidFill>
                <a:latin typeface="Fira Sans"/>
                <a:ea typeface="Fira Sans"/>
                <a:cs typeface="Fira Sans"/>
              </a:rPr>
              <a:t>Base do modelo: </a:t>
            </a:r>
            <a:r>
              <a:rPr sz="1630" b="1" i="0">
                <a:solidFill>
                  <a:srgbClr val="38415C"/>
                </a:solidFill>
                <a:latin typeface="Fira Sans"/>
                <a:ea typeface="Fira Sans"/>
                <a:cs typeface="Fira Sans"/>
              </a:rPr>
              <a:t>mapeamento das três visões aos processos de GC de Prat.</a:t>
            </a:r>
          </a:p>
        </p:txBody>
      </p:sp>
    </p:spTree>
    <p:extLst>
      <p:ext uri="{BB962C8B-B14F-4D97-AF65-F5344CB8AC3E}">
        <p14:creationId xmlns:p14="http://schemas.microsoft.com/office/powerpoint/2010/main" val="8901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6F0288-AEC5-4F4F-BE59-3BFA6E3E21A6}"/>
              </a:ext>
            </a:extLst>
          </p:cNvPr>
          <p:cNvSpPr>
            <a:spLocks noGrp="1"/>
          </p:cNvSpPr>
          <p:nvPr>
            <p:ph type="title"/>
          </p:nvPr>
        </p:nvSpPr>
        <p:spPr/>
        <p:txBody>
          <a:bodyPr/>
          <a:lstStyle/>
          <a:p>
            <a:r>
              <a:rPr sz="2100" b="1">
                <a:solidFill>
                  <a:srgbClr val="38415C"/>
                </a:solidFill>
                <a:latin typeface="Fira Sans"/>
                <a:ea typeface="Fira Sans"/>
                <a:cs typeface="Fira Sans"/>
              </a:rPr>
              <a:t>Problema e questão de pesquisa</a:t>
            </a:r>
          </a:p>
        </p:txBody>
      </p:sp>
      <p:sp>
        <p:nvSpPr>
          <p:cNvPr id="3" name="Content Placeholder 2">
            <a:extLst>
              <a:ext uri="{FF2B5EF4-FFF2-40B4-BE49-F238E27FC236}">
                <a16:creationId xmlns:a16="http://schemas.microsoft.com/office/drawing/2014/main" id="{252F4B97-4F66-4189-B919-B855D80F400C}"/>
              </a:ext>
            </a:extLst>
          </p:cNvPr>
          <p:cNvSpPr>
            <a:spLocks noGrp="1"/>
          </p:cNvSpPr>
          <p:nvPr>
            <p:ph idx="1"/>
          </p:nvPr>
        </p:nvSpPr>
        <p:spPr>
          <a:xfrm>
            <a:off x="1200150" y="1428750"/>
            <a:ext cx="7524750" cy="4238625"/>
          </a:xfrm>
        </p:spPr>
        <p:txBody>
          <a:bodyPr anchor="t">
            <a:normAutofit/>
          </a:bodyPr>
          <a:lstStyle/>
          <a:p>
            <a:pPr marL="18" indent="-10">
              <a:spcAft>
                <a:spcPts val="7"/>
              </a:spcAft>
              <a:buChar char="•"/>
            </a:pPr>
            <a:r>
              <a:rPr sz="1730" b="1" i="0">
                <a:solidFill>
                  <a:srgbClr val="EB976D"/>
                </a:solidFill>
                <a:latin typeface="Fira Sans"/>
                <a:ea typeface="Fira Sans"/>
                <a:cs typeface="Fira Sans"/>
              </a:rPr>
              <a:t>Lacuna: </a:t>
            </a:r>
            <a:r>
              <a:rPr sz="1730" i="0">
                <a:solidFill>
                  <a:srgbClr val="38415C"/>
                </a:solidFill>
                <a:latin typeface="Fira Sans"/>
                <a:ea typeface="Fira Sans"/>
                <a:cs typeface="Fira Sans"/>
              </a:rPr>
              <a:t>os 19 modelos anteriores catalogados por Mora-Mora et al. não explicitam IA Generativa agêntica em sua arquitetura.</a:t>
            </a:r>
          </a:p>
          <a:p>
            <a:pPr marL="18" indent="-10">
              <a:spcBef>
                <a:spcPts val="1080"/>
              </a:spcBef>
              <a:spcAft>
                <a:spcPts val="7"/>
              </a:spcAft>
              <a:buChar char="•"/>
            </a:pPr>
            <a:r>
              <a:rPr sz="1730" b="1" i="0">
                <a:solidFill>
                  <a:srgbClr val="EB976D"/>
                </a:solidFill>
                <a:latin typeface="Fira Sans"/>
                <a:ea typeface="Fira Sans"/>
                <a:cs typeface="Fira Sans"/>
              </a:rPr>
              <a:t>Cuidado interpretativo: </a:t>
            </a:r>
            <a:r>
              <a:rPr sz="1730" i="0">
                <a:solidFill>
                  <a:srgbClr val="38415C"/>
                </a:solidFill>
                <a:latin typeface="Fira Sans"/>
                <a:ea typeface="Fira Sans"/>
                <a:cs typeface="Fira Sans"/>
              </a:rPr>
              <a:t>o estudo de 2025 também propõe um novo modelo que integra tecnologias de Indústria 4.0/5.0.</a:t>
            </a:r>
          </a:p>
          <a:p>
            <a:pPr marL="18" indent="-10">
              <a:spcBef>
                <a:spcPts val="1080"/>
              </a:spcBef>
              <a:spcAft>
                <a:spcPts val="7"/>
              </a:spcAft>
              <a:buChar char="•"/>
            </a:pPr>
            <a:r>
              <a:rPr sz="1730" b="1" i="0">
                <a:solidFill>
                  <a:srgbClr val="EB976D"/>
                </a:solidFill>
                <a:latin typeface="Fira Sans"/>
                <a:ea typeface="Fira Sans"/>
                <a:cs typeface="Fira Sans"/>
              </a:rPr>
              <a:t>Questão: </a:t>
            </a:r>
            <a:r>
              <a:rPr sz="1730" b="1" i="0">
                <a:solidFill>
                  <a:srgbClr val="38415C"/>
                </a:solidFill>
                <a:latin typeface="Fira Sans"/>
                <a:ea typeface="Fira Sans"/>
                <a:cs typeface="Fira Sans"/>
              </a:rPr>
              <a:t>como reconfigurar o Modelo 3M para integrar IA como ferramenta e agente, alinhada à GC e à governança algorítmica?</a:t>
            </a:r>
          </a:p>
          <a:p>
            <a:pPr marL="18" indent="-10">
              <a:spcBef>
                <a:spcPts val="1080"/>
              </a:spcBef>
              <a:spcAft>
                <a:spcPts val="7"/>
              </a:spcAft>
              <a:buChar char="•"/>
            </a:pPr>
            <a:r>
              <a:rPr sz="1730" b="1" i="0">
                <a:solidFill>
                  <a:srgbClr val="EB976D"/>
                </a:solidFill>
                <a:latin typeface="Fira Sans"/>
                <a:ea typeface="Fira Sans"/>
                <a:cs typeface="Fira Sans"/>
              </a:rPr>
              <a:t>Objetivo: </a:t>
            </a:r>
            <a:r>
              <a:rPr sz="1730" b="1" i="0">
                <a:solidFill>
                  <a:srgbClr val="38415C"/>
                </a:solidFill>
                <a:latin typeface="Fira Sans"/>
                <a:ea typeface="Fira Sans"/>
                <a:cs typeface="Fira Sans"/>
              </a:rPr>
              <a:t>propor o retrofit, mapear seus processos de GC e examinar sua cobertura conceitual.</a:t>
            </a:r>
          </a:p>
          <a:p>
            <a:pPr marL="18" indent="-10">
              <a:spcBef>
                <a:spcPts val="1080"/>
              </a:spcBef>
              <a:spcAft>
                <a:spcPts val="7"/>
              </a:spcAft>
              <a:buNone/>
            </a:pPr>
            <a:r>
              <a:rPr sz="1485" b="1" i="0">
                <a:solidFill>
                  <a:srgbClr val="EB976D"/>
                </a:solidFill>
                <a:latin typeface="Fira Sans"/>
                <a:ea typeface="Fira Sans"/>
                <a:cs typeface="Fira Sans"/>
              </a:rPr>
              <a:t>Escopo: </a:t>
            </a:r>
            <a:r>
              <a:rPr sz="1485" i="1">
                <a:solidFill>
                  <a:srgbClr val="8C8C96"/>
                </a:solidFill>
                <a:latin typeface="Fira Sans"/>
                <a:ea typeface="Fira Sans"/>
                <a:cs typeface="Fira Sans"/>
              </a:rPr>
              <a:t>contribuição teórica; não constitui validação empírica de efetividade.</a:t>
            </a:r>
          </a:p>
        </p:txBody>
      </p:sp>
    </p:spTree>
    <p:extLst>
      <p:ext uri="{BB962C8B-B14F-4D97-AF65-F5344CB8AC3E}">
        <p14:creationId xmlns:p14="http://schemas.microsoft.com/office/powerpoint/2010/main" val="7644774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59D064-E306-4095-B82A-D37E86CD2EC4}"/>
              </a:ext>
            </a:extLst>
          </p:cNvPr>
          <p:cNvSpPr>
            <a:spLocks noGrp="1"/>
          </p:cNvSpPr>
          <p:nvPr>
            <p:ph type="title"/>
          </p:nvPr>
        </p:nvSpPr>
        <p:spPr/>
        <p:txBody>
          <a:bodyPr/>
          <a:lstStyle/>
          <a:p>
            <a:r>
              <a:rPr sz="2100" b="1">
                <a:solidFill>
                  <a:srgbClr val="38415C"/>
                </a:solidFill>
                <a:latin typeface="Fira Sans"/>
                <a:ea typeface="Fira Sans"/>
                <a:cs typeface="Fira Sans"/>
              </a:rPr>
              <a:t>Fundamentos de Gestão do Conhecimento</a:t>
            </a:r>
          </a:p>
        </p:txBody>
      </p:sp>
      <p:sp>
        <p:nvSpPr>
          <p:cNvPr id="3" name="Content Placeholder 2">
            <a:extLst>
              <a:ext uri="{FF2B5EF4-FFF2-40B4-BE49-F238E27FC236}">
                <a16:creationId xmlns:a16="http://schemas.microsoft.com/office/drawing/2014/main" id="{0B602575-7DE4-4981-9E20-124AAEE9B632}"/>
              </a:ext>
            </a:extLst>
          </p:cNvPr>
          <p:cNvSpPr>
            <a:spLocks noGrp="1"/>
          </p:cNvSpPr>
          <p:nvPr>
            <p:ph idx="1"/>
          </p:nvPr>
        </p:nvSpPr>
        <p:spPr>
          <a:xfrm>
            <a:off x="1200150" y="1428750"/>
            <a:ext cx="7524750" cy="4238625"/>
          </a:xfrm>
        </p:spPr>
        <p:txBody>
          <a:bodyPr anchor="t">
            <a:normAutofit/>
          </a:bodyPr>
          <a:lstStyle/>
          <a:p>
            <a:pPr marL="18" indent="-10">
              <a:spcAft>
                <a:spcPts val="7"/>
              </a:spcAft>
              <a:buChar char="•"/>
            </a:pPr>
            <a:r>
              <a:rPr sz="1680" b="1" i="0">
                <a:solidFill>
                  <a:srgbClr val="EB976D"/>
                </a:solidFill>
                <a:latin typeface="Fira Sans"/>
                <a:ea typeface="Fira Sans"/>
                <a:cs typeface="Fira Sans"/>
              </a:rPr>
              <a:t>Prat: </a:t>
            </a:r>
            <a:r>
              <a:rPr sz="1680" i="0">
                <a:solidFill>
                  <a:srgbClr val="38415C"/>
                </a:solidFill>
                <a:latin typeface="Fira Sans"/>
                <a:ea typeface="Fira Sans"/>
                <a:cs typeface="Fira Sans"/>
              </a:rPr>
              <a:t>processos estratégicos e operacionais sustentam o diagnóstico de maturidade da UC.</a:t>
            </a:r>
          </a:p>
          <a:p>
            <a:pPr marL="18" indent="-10">
              <a:spcBef>
                <a:spcPts val="2440"/>
              </a:spcBef>
              <a:spcAft>
                <a:spcPts val="7"/>
              </a:spcAft>
              <a:buChar char="•"/>
            </a:pPr>
            <a:r>
              <a:rPr sz="1680" b="1" i="0">
                <a:solidFill>
                  <a:srgbClr val="EB976D"/>
                </a:solidFill>
                <a:latin typeface="Fira Sans"/>
                <a:ea typeface="Fira Sans"/>
                <a:cs typeface="Fira Sans"/>
              </a:rPr>
              <a:t>Stollenwerk: </a:t>
            </a:r>
            <a:r>
              <a:rPr sz="1680" i="0">
                <a:solidFill>
                  <a:srgbClr val="38415C"/>
                </a:solidFill>
                <a:latin typeface="Fira Sans"/>
                <a:ea typeface="Fira Sans"/>
                <a:cs typeface="Fira Sans"/>
              </a:rPr>
              <a:t>controle e descarte complementam o ciclo de geração, codificação, armazenamento, distribuição e aplicação.</a:t>
            </a:r>
          </a:p>
          <a:p>
            <a:pPr marL="18" indent="-10">
              <a:spcBef>
                <a:spcPts val="2440"/>
              </a:spcBef>
              <a:spcAft>
                <a:spcPts val="7"/>
              </a:spcAft>
              <a:buChar char="•"/>
            </a:pPr>
            <a:r>
              <a:rPr sz="1680" b="1" i="0">
                <a:solidFill>
                  <a:srgbClr val="EB976D"/>
                </a:solidFill>
                <a:latin typeface="Fira Sans"/>
                <a:ea typeface="Fira Sans"/>
                <a:cs typeface="Fira Sans"/>
              </a:rPr>
              <a:t>SECI: </a:t>
            </a:r>
            <a:r>
              <a:rPr sz="1680" i="0">
                <a:solidFill>
                  <a:srgbClr val="38415C"/>
                </a:solidFill>
                <a:latin typeface="Fira Sans"/>
                <a:ea typeface="Fira Sans"/>
                <a:cs typeface="Fira Sans"/>
              </a:rPr>
              <a:t>referência clássica para conversão entre conhecimento tácito e explícito.</a:t>
            </a:r>
          </a:p>
          <a:p>
            <a:pPr marL="18" indent="-10">
              <a:spcBef>
                <a:spcPts val="2440"/>
              </a:spcBef>
              <a:spcAft>
                <a:spcPts val="7"/>
              </a:spcAft>
              <a:buChar char="•"/>
            </a:pPr>
            <a:r>
              <a:rPr sz="1680" b="1" i="0">
                <a:solidFill>
                  <a:srgbClr val="EB976D"/>
                </a:solidFill>
                <a:latin typeface="Fira Sans"/>
                <a:ea typeface="Fira Sans"/>
                <a:cs typeface="Fira Sans"/>
              </a:rPr>
              <a:t>GRAI: </a:t>
            </a:r>
            <a:r>
              <a:rPr sz="1680" i="0">
                <a:solidFill>
                  <a:srgbClr val="38415C"/>
                </a:solidFill>
                <a:latin typeface="Fira Sans"/>
                <a:ea typeface="Fira Sans"/>
                <a:cs typeface="Fira Sans"/>
              </a:rPr>
              <a:t>extensão recente que busca representar interações dinâmicas entre humanos e IA; ainda requer validação independente.</a:t>
            </a:r>
          </a:p>
          <a:p>
            <a:pPr marL="18" indent="-10">
              <a:spcBef>
                <a:spcPts val="2440"/>
              </a:spcBef>
              <a:spcAft>
                <a:spcPts val="7"/>
              </a:spcAft>
              <a:buNone/>
            </a:pPr>
            <a:r>
              <a:rPr sz="1440" b="1" i="0">
                <a:solidFill>
                  <a:srgbClr val="EB976D"/>
                </a:solidFill>
                <a:latin typeface="Fira Sans"/>
                <a:ea typeface="Fira Sans"/>
                <a:cs typeface="Fira Sans"/>
              </a:rPr>
              <a:t>Uso no estudo: </a:t>
            </a:r>
            <a:r>
              <a:rPr sz="1440" i="1">
                <a:solidFill>
                  <a:srgbClr val="8C8C96"/>
                </a:solidFill>
                <a:latin typeface="Fira Sans"/>
                <a:ea typeface="Fira Sans"/>
                <a:cs typeface="Fira Sans"/>
              </a:rPr>
              <a:t>lente processual, não substituição consensual do SECI.</a:t>
            </a:r>
          </a:p>
        </p:txBody>
      </p:sp>
    </p:spTree>
    <p:extLst>
      <p:ext uri="{BB962C8B-B14F-4D97-AF65-F5344CB8AC3E}">
        <p14:creationId xmlns:p14="http://schemas.microsoft.com/office/powerpoint/2010/main" val="735550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C48BE-B120-4EA3-8442-93A3FDC444FB}"/>
              </a:ext>
            </a:extLst>
          </p:cNvPr>
          <p:cNvSpPr>
            <a:spLocks noGrp="1"/>
          </p:cNvSpPr>
          <p:nvPr>
            <p:ph type="title"/>
          </p:nvPr>
        </p:nvSpPr>
        <p:spPr/>
        <p:txBody>
          <a:bodyPr/>
          <a:lstStyle/>
          <a:p>
            <a:r>
              <a:rPr sz="2100" b="1">
                <a:solidFill>
                  <a:srgbClr val="38415C"/>
                </a:solidFill>
                <a:latin typeface="Fira Sans"/>
                <a:ea typeface="Fira Sans"/>
                <a:cs typeface="Fira Sans"/>
              </a:rPr>
              <a:t>IA Generativa e Gestão do Conhecimento</a:t>
            </a:r>
          </a:p>
        </p:txBody>
      </p:sp>
      <p:sp>
        <p:nvSpPr>
          <p:cNvPr id="3" name="Content Placeholder 2">
            <a:extLst>
              <a:ext uri="{FF2B5EF4-FFF2-40B4-BE49-F238E27FC236}">
                <a16:creationId xmlns:a16="http://schemas.microsoft.com/office/drawing/2014/main" id="{43DC13BA-AB2B-4AD2-A323-A526EAE5B6A7}"/>
              </a:ext>
            </a:extLst>
          </p:cNvPr>
          <p:cNvSpPr>
            <a:spLocks noGrp="1"/>
          </p:cNvSpPr>
          <p:nvPr>
            <p:ph idx="1"/>
          </p:nvPr>
        </p:nvSpPr>
        <p:spPr>
          <a:xfrm>
            <a:off x="1200150" y="1428750"/>
            <a:ext cx="7524750" cy="4238625"/>
          </a:xfrm>
        </p:spPr>
        <p:txBody>
          <a:bodyPr anchor="t">
            <a:normAutofit/>
          </a:bodyPr>
          <a:lstStyle/>
          <a:p>
            <a:pPr marL="18" indent="-10">
              <a:spcAft>
                <a:spcPts val="7"/>
              </a:spcAft>
              <a:buChar char="•"/>
            </a:pPr>
            <a:r>
              <a:rPr sz="1575" b="1" i="0">
                <a:solidFill>
                  <a:srgbClr val="EB976D"/>
                </a:solidFill>
                <a:latin typeface="Fira Sans"/>
                <a:ea typeface="Fira Sans"/>
                <a:cs typeface="Fira Sans"/>
              </a:rPr>
              <a:t>LLMs: </a:t>
            </a:r>
            <a:r>
              <a:rPr sz="1575" b="1" i="0">
                <a:solidFill>
                  <a:srgbClr val="38415C"/>
                </a:solidFill>
                <a:latin typeface="Fira Sans"/>
                <a:ea typeface="Fira Sans"/>
                <a:cs typeface="Fira Sans"/>
              </a:rPr>
              <a:t>ampliam síntese, busca semântica e geração de artefatos, mas podem alucinar.</a:t>
            </a:r>
          </a:p>
          <a:p>
            <a:pPr marL="18" indent="-10">
              <a:spcBef>
                <a:spcPts val="3420"/>
              </a:spcBef>
              <a:spcAft>
                <a:spcPts val="7"/>
              </a:spcAft>
              <a:buChar char="•"/>
            </a:pPr>
            <a:r>
              <a:rPr sz="1575" b="1" i="0">
                <a:solidFill>
                  <a:srgbClr val="EB976D"/>
                </a:solidFill>
                <a:latin typeface="Fira Sans"/>
                <a:ea typeface="Fira Sans"/>
                <a:cs typeface="Fira Sans"/>
              </a:rPr>
              <a:t>RAG: </a:t>
            </a:r>
            <a:r>
              <a:rPr sz="1575" b="1" i="0">
                <a:solidFill>
                  <a:srgbClr val="38415C"/>
                </a:solidFill>
                <a:latin typeface="Fira Sans"/>
                <a:ea typeface="Fira Sans"/>
                <a:cs typeface="Fira Sans"/>
              </a:rPr>
              <a:t>combina geração com recuperação de fontes corporativas para aumentar rastreabilidade factual.</a:t>
            </a:r>
          </a:p>
          <a:p>
            <a:pPr marL="18" indent="-10">
              <a:spcBef>
                <a:spcPts val="3420"/>
              </a:spcBef>
              <a:spcAft>
                <a:spcPts val="7"/>
              </a:spcAft>
              <a:buChar char="•"/>
            </a:pPr>
            <a:r>
              <a:rPr sz="1575" b="1" i="0">
                <a:solidFill>
                  <a:srgbClr val="EB976D"/>
                </a:solidFill>
                <a:latin typeface="Fira Sans"/>
                <a:ea typeface="Fira Sans"/>
                <a:cs typeface="Fira Sans"/>
              </a:rPr>
              <a:t>Grafos de conhecimento: </a:t>
            </a:r>
            <a:r>
              <a:rPr sz="1575" b="1" i="0">
                <a:solidFill>
                  <a:srgbClr val="38415C"/>
                </a:solidFill>
                <a:latin typeface="Fira Sans"/>
                <a:ea typeface="Fira Sans"/>
                <a:cs typeface="Fira Sans"/>
              </a:rPr>
              <a:t>estruturam entidades e relações; complementam a flexibilidade semântica dos LLMs.</a:t>
            </a:r>
          </a:p>
          <a:p>
            <a:pPr marL="18" indent="-10">
              <a:spcBef>
                <a:spcPts val="3420"/>
              </a:spcBef>
              <a:spcAft>
                <a:spcPts val="7"/>
              </a:spcAft>
              <a:buChar char="•"/>
            </a:pPr>
            <a:r>
              <a:rPr sz="1575" b="1" i="0">
                <a:solidFill>
                  <a:srgbClr val="EB976D"/>
                </a:solidFill>
                <a:latin typeface="Fira Sans"/>
                <a:ea typeface="Fira Sans"/>
                <a:cs typeface="Fira Sans"/>
              </a:rPr>
              <a:t>Simbiose humano–IA: </a:t>
            </a:r>
            <a:r>
              <a:rPr sz="1575" b="1" i="0">
                <a:solidFill>
                  <a:srgbClr val="38415C"/>
                </a:solidFill>
                <a:latin typeface="Fira Sans"/>
                <a:ea typeface="Fira Sans"/>
                <a:cs typeface="Fira Sans"/>
              </a:rPr>
              <a:t>escala computacional combinada a julgamento, contexto, empatia e responsabilidade humanos.</a:t>
            </a:r>
          </a:p>
          <a:p>
            <a:pPr marL="18" indent="-10">
              <a:spcBef>
                <a:spcPts val="3420"/>
              </a:spcBef>
              <a:spcAft>
                <a:spcPts val="7"/>
              </a:spcAft>
              <a:buNone/>
            </a:pPr>
            <a:r>
              <a:rPr sz="1350" b="1" i="0">
                <a:solidFill>
                  <a:srgbClr val="EB976D"/>
                </a:solidFill>
                <a:latin typeface="Fira Sans"/>
                <a:ea typeface="Fira Sans"/>
                <a:cs typeface="Fira Sans"/>
              </a:rPr>
              <a:t>Implicação: </a:t>
            </a:r>
            <a:r>
              <a:rPr sz="1350" b="1" i="1">
                <a:solidFill>
                  <a:srgbClr val="8C8C96"/>
                </a:solidFill>
                <a:latin typeface="Fira Sans"/>
                <a:ea typeface="Fira Sans"/>
                <a:cs typeface="Fira Sans"/>
              </a:rPr>
              <a:t>a IA medeia processos de GC, sem eliminar a curadoria humana.</a:t>
            </a:r>
          </a:p>
        </p:txBody>
      </p:sp>
    </p:spTree>
    <p:extLst>
      <p:ext uri="{BB962C8B-B14F-4D97-AF65-F5344CB8AC3E}">
        <p14:creationId xmlns:p14="http://schemas.microsoft.com/office/powerpoint/2010/main" val="1312496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5C287-6364-41BF-9FEA-8C6D080B1CF1}"/>
              </a:ext>
            </a:extLst>
          </p:cNvPr>
          <p:cNvSpPr>
            <a:spLocks noGrp="1"/>
          </p:cNvSpPr>
          <p:nvPr>
            <p:ph type="title"/>
          </p:nvPr>
        </p:nvSpPr>
        <p:spPr/>
        <p:txBody>
          <a:bodyPr/>
          <a:lstStyle/>
          <a:p>
            <a:r>
              <a:rPr sz="2100" b="1">
                <a:solidFill>
                  <a:srgbClr val="38415C"/>
                </a:solidFill>
                <a:latin typeface="Fira Sans"/>
                <a:ea typeface="Fira Sans"/>
                <a:cs typeface="Fira Sans"/>
              </a:rPr>
              <a:t>Aprendizagem no fluxo de trabalho</a:t>
            </a:r>
          </a:p>
        </p:txBody>
      </p:sp>
      <p:sp>
        <p:nvSpPr>
          <p:cNvPr id="3" name="Content Placeholder 2">
            <a:extLst>
              <a:ext uri="{FF2B5EF4-FFF2-40B4-BE49-F238E27FC236}">
                <a16:creationId xmlns:a16="http://schemas.microsoft.com/office/drawing/2014/main" id="{73BDEA5E-AB9E-48BC-817F-1ABF33EA731D}"/>
              </a:ext>
            </a:extLst>
          </p:cNvPr>
          <p:cNvSpPr>
            <a:spLocks noGrp="1"/>
          </p:cNvSpPr>
          <p:nvPr>
            <p:ph idx="1"/>
          </p:nvPr>
        </p:nvSpPr>
        <p:spPr>
          <a:xfrm>
            <a:off x="1200150" y="1428750"/>
            <a:ext cx="7524750" cy="4238625"/>
          </a:xfrm>
        </p:spPr>
        <p:txBody>
          <a:bodyPr anchor="t">
            <a:normAutofit/>
          </a:bodyPr>
          <a:lstStyle/>
          <a:p>
            <a:pPr marL="18" indent="-10">
              <a:spcAft>
                <a:spcPts val="7"/>
              </a:spcAft>
              <a:buChar char="•"/>
            </a:pPr>
            <a:r>
              <a:rPr sz="1630" b="1" i="0">
                <a:solidFill>
                  <a:srgbClr val="EB976D"/>
                </a:solidFill>
                <a:latin typeface="Fira Sans"/>
                <a:ea typeface="Fira Sans"/>
                <a:cs typeface="Fira Sans"/>
              </a:rPr>
              <a:t>Learning in the flow of work: </a:t>
            </a:r>
            <a:r>
              <a:rPr sz="1630" b="1" i="0">
                <a:solidFill>
                  <a:srgbClr val="38415C"/>
                </a:solidFill>
                <a:latin typeface="Fira Sans"/>
                <a:ea typeface="Fira Sans"/>
                <a:cs typeface="Fira Sans"/>
              </a:rPr>
              <a:t>suporte contextual no momento da necessidade operacional.</a:t>
            </a:r>
          </a:p>
          <a:p>
            <a:pPr marL="18" indent="-10">
              <a:spcBef>
                <a:spcPts val="3270"/>
              </a:spcBef>
              <a:spcAft>
                <a:spcPts val="7"/>
              </a:spcAft>
              <a:buChar char="•"/>
            </a:pPr>
            <a:r>
              <a:rPr sz="1630" b="1" i="0">
                <a:solidFill>
                  <a:srgbClr val="EB976D"/>
                </a:solidFill>
                <a:latin typeface="Fira Sans"/>
                <a:ea typeface="Fira Sans"/>
                <a:cs typeface="Fira Sans"/>
              </a:rPr>
              <a:t>Scaffolding: </a:t>
            </a:r>
            <a:r>
              <a:rPr sz="1630" b="1" i="0">
                <a:solidFill>
                  <a:srgbClr val="38415C"/>
                </a:solidFill>
                <a:latin typeface="Fira Sans"/>
                <a:ea typeface="Fira Sans"/>
                <a:cs typeface="Fira Sans"/>
              </a:rPr>
              <a:t>andaimes orientam a formulação de dúvidas, a avaliação de fontes e a aplicação segura.</a:t>
            </a:r>
          </a:p>
          <a:p>
            <a:pPr marL="18" indent="-10">
              <a:spcBef>
                <a:spcPts val="3270"/>
              </a:spcBef>
              <a:spcAft>
                <a:spcPts val="7"/>
              </a:spcAft>
              <a:buChar char="•"/>
            </a:pPr>
            <a:r>
              <a:rPr sz="1630" b="1" i="0">
                <a:solidFill>
                  <a:srgbClr val="EB976D"/>
                </a:solidFill>
                <a:latin typeface="Fira Sans"/>
                <a:ea typeface="Fira Sans"/>
                <a:cs typeface="Fira Sans"/>
              </a:rPr>
              <a:t>AI literacy: </a:t>
            </a:r>
            <a:r>
              <a:rPr sz="1630" b="1" i="0">
                <a:solidFill>
                  <a:srgbClr val="38415C"/>
                </a:solidFill>
                <a:latin typeface="Fira Sans"/>
                <a:ea typeface="Fira Sans"/>
                <a:cs typeface="Fira Sans"/>
              </a:rPr>
              <a:t>capacidade de compreender, auditar, contestar e refinar saídas algorítmicas.</a:t>
            </a:r>
          </a:p>
          <a:p>
            <a:pPr marL="18" indent="-10">
              <a:spcBef>
                <a:spcPts val="3270"/>
              </a:spcBef>
              <a:spcAft>
                <a:spcPts val="7"/>
              </a:spcAft>
              <a:buChar char="•"/>
            </a:pPr>
            <a:r>
              <a:rPr sz="1630" b="1" i="0">
                <a:solidFill>
                  <a:srgbClr val="EB976D"/>
                </a:solidFill>
                <a:latin typeface="Fira Sans"/>
                <a:ea typeface="Fira Sans"/>
                <a:cs typeface="Fira Sans"/>
              </a:rPr>
              <a:t>Deskilling: </a:t>
            </a:r>
            <a:r>
              <a:rPr sz="1630" b="1" i="0">
                <a:solidFill>
                  <a:srgbClr val="38415C"/>
                </a:solidFill>
                <a:latin typeface="Fira Sans"/>
                <a:ea typeface="Fira Sans"/>
                <a:cs typeface="Fira Sans"/>
              </a:rPr>
              <a:t>habilidades operacionais podem perder centralidade quando a solução é terceirizada sem reflexão.</a:t>
            </a:r>
          </a:p>
          <a:p>
            <a:pPr marL="18" indent="-10">
              <a:spcBef>
                <a:spcPts val="3270"/>
              </a:spcBef>
              <a:spcAft>
                <a:spcPts val="7"/>
              </a:spcAft>
              <a:buNone/>
            </a:pPr>
            <a:r>
              <a:rPr sz="1395" b="1" i="0">
                <a:solidFill>
                  <a:srgbClr val="EB976D"/>
                </a:solidFill>
                <a:latin typeface="Fira Sans"/>
                <a:ea typeface="Fira Sans"/>
                <a:cs typeface="Fira Sans"/>
              </a:rPr>
              <a:t>Papel da UC: </a:t>
            </a:r>
            <a:r>
              <a:rPr sz="1395" b="1" i="1">
                <a:solidFill>
                  <a:srgbClr val="8C8C96"/>
                </a:solidFill>
                <a:latin typeface="Fira Sans"/>
                <a:ea typeface="Fira Sans"/>
                <a:cs typeface="Fira Sans"/>
              </a:rPr>
              <a:t>facilitar aprendizagem crítica, não apenas entregar conteúdo.</a:t>
            </a:r>
          </a:p>
        </p:txBody>
      </p:sp>
    </p:spTree>
    <p:extLst>
      <p:ext uri="{BB962C8B-B14F-4D97-AF65-F5344CB8AC3E}">
        <p14:creationId xmlns:p14="http://schemas.microsoft.com/office/powerpoint/2010/main" val="12231691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C70AAA-F261-4A14-AB65-87C040D4621E}"/>
              </a:ext>
            </a:extLst>
          </p:cNvPr>
          <p:cNvSpPr>
            <a:spLocks noGrp="1"/>
          </p:cNvSpPr>
          <p:nvPr>
            <p:ph type="title"/>
          </p:nvPr>
        </p:nvSpPr>
        <p:spPr/>
        <p:txBody>
          <a:bodyPr/>
          <a:lstStyle/>
          <a:p>
            <a:r>
              <a:rPr sz="2100" b="1">
                <a:solidFill>
                  <a:srgbClr val="38415C"/>
                </a:solidFill>
                <a:latin typeface="Fira Sans"/>
                <a:ea typeface="Fira Sans"/>
                <a:cs typeface="Fira Sans"/>
              </a:rPr>
              <a:t>IA como agente organizacional</a:t>
            </a:r>
          </a:p>
        </p:txBody>
      </p:sp>
      <p:sp>
        <p:nvSpPr>
          <p:cNvPr id="3" name="Content Placeholder 2">
            <a:extLst>
              <a:ext uri="{FF2B5EF4-FFF2-40B4-BE49-F238E27FC236}">
                <a16:creationId xmlns:a16="http://schemas.microsoft.com/office/drawing/2014/main" id="{C7E5944F-17BC-4859-9237-13FCC53B7645}"/>
              </a:ext>
            </a:extLst>
          </p:cNvPr>
          <p:cNvSpPr>
            <a:spLocks noGrp="1"/>
          </p:cNvSpPr>
          <p:nvPr>
            <p:ph idx="1"/>
          </p:nvPr>
        </p:nvSpPr>
        <p:spPr>
          <a:xfrm>
            <a:off x="1200150" y="1428750"/>
            <a:ext cx="7524750" cy="4238625"/>
          </a:xfrm>
        </p:spPr>
        <p:txBody>
          <a:bodyPr anchor="t">
            <a:normAutofit/>
          </a:bodyPr>
          <a:lstStyle/>
          <a:p>
            <a:pPr marL="18" indent="-10">
              <a:spcAft>
                <a:spcPts val="7"/>
              </a:spcAft>
              <a:buChar char="•"/>
            </a:pPr>
            <a:r>
              <a:rPr sz="1630" b="1" i="0">
                <a:solidFill>
                  <a:srgbClr val="EB976D"/>
                </a:solidFill>
                <a:latin typeface="Fira Sans"/>
                <a:ea typeface="Fira Sans"/>
                <a:cs typeface="Fira Sans"/>
              </a:rPr>
              <a:t>Ferramenta: </a:t>
            </a:r>
            <a:r>
              <a:rPr sz="1630" i="0">
                <a:solidFill>
                  <a:srgbClr val="38415C"/>
                </a:solidFill>
                <a:latin typeface="Fira Sans"/>
                <a:ea typeface="Fira Sans"/>
                <a:cs typeface="Fira Sans"/>
              </a:rPr>
              <a:t>infraestrutura semântica para recuperar, sintetizar e distribuir conhecimento.</a:t>
            </a:r>
          </a:p>
          <a:p>
            <a:pPr marL="18" indent="-10">
              <a:spcBef>
                <a:spcPts val="3190"/>
              </a:spcBef>
              <a:spcAft>
                <a:spcPts val="7"/>
              </a:spcAft>
              <a:buChar char="•"/>
            </a:pPr>
            <a:r>
              <a:rPr sz="1630" b="1" i="0">
                <a:solidFill>
                  <a:srgbClr val="EB976D"/>
                </a:solidFill>
                <a:latin typeface="Fira Sans"/>
                <a:ea typeface="Fira Sans"/>
                <a:cs typeface="Fira Sans"/>
              </a:rPr>
              <a:t>Agente operacional: </a:t>
            </a:r>
            <a:r>
              <a:rPr sz="1630" b="1" i="0">
                <a:solidFill>
                  <a:srgbClr val="38415C"/>
                </a:solidFill>
                <a:latin typeface="Fira Sans"/>
                <a:ea typeface="Fira Sans"/>
                <a:cs typeface="Fira Sans"/>
              </a:rPr>
              <a:t>sistema que recebe objetivos delegados, planeja etapas e usa ferramentas dentro de limites definidos.</a:t>
            </a:r>
          </a:p>
          <a:p>
            <a:pPr marL="18" indent="-10">
              <a:spcBef>
                <a:spcPts val="3190"/>
              </a:spcBef>
              <a:spcAft>
                <a:spcPts val="7"/>
              </a:spcAft>
              <a:buChar char="•"/>
            </a:pPr>
            <a:r>
              <a:rPr sz="1630" b="1" i="0">
                <a:solidFill>
                  <a:srgbClr val="EB976D"/>
                </a:solidFill>
                <a:latin typeface="Fira Sans"/>
                <a:ea typeface="Fira Sans"/>
                <a:cs typeface="Fira Sans"/>
              </a:rPr>
              <a:t>Agência material: </a:t>
            </a:r>
            <a:r>
              <a:rPr sz="1630" b="1" i="0">
                <a:solidFill>
                  <a:srgbClr val="38415C"/>
                </a:solidFill>
                <a:latin typeface="Fira Sans"/>
                <a:ea typeface="Fira Sans"/>
                <a:cs typeface="Fira Sans"/>
              </a:rPr>
              <a:t>suas ações alteram fluxos, decisões e práticas sociotécnicas da organização.</a:t>
            </a:r>
          </a:p>
          <a:p>
            <a:pPr marL="18" indent="-10">
              <a:spcBef>
                <a:spcPts val="3190"/>
              </a:spcBef>
              <a:spcAft>
                <a:spcPts val="7"/>
              </a:spcAft>
              <a:buChar char="•"/>
            </a:pPr>
            <a:r>
              <a:rPr sz="1630" b="1" i="0">
                <a:solidFill>
                  <a:srgbClr val="EB976D"/>
                </a:solidFill>
                <a:latin typeface="Fira Sans"/>
                <a:ea typeface="Fira Sans"/>
                <a:cs typeface="Fira Sans"/>
              </a:rPr>
              <a:t>Limite conceitual: </a:t>
            </a:r>
            <a:r>
              <a:rPr sz="1630" b="1" i="0">
                <a:solidFill>
                  <a:srgbClr val="38415C"/>
                </a:solidFill>
                <a:latin typeface="Fira Sans"/>
                <a:ea typeface="Fira Sans"/>
                <a:cs typeface="Fira Sans"/>
              </a:rPr>
              <a:t>agência não implica consciência, intenção própria ou aprendizagem contínua garantida.</a:t>
            </a:r>
          </a:p>
          <a:p>
            <a:pPr marL="18" indent="-10">
              <a:spcBef>
                <a:spcPts val="3190"/>
              </a:spcBef>
              <a:spcAft>
                <a:spcPts val="7"/>
              </a:spcAft>
              <a:buNone/>
            </a:pPr>
            <a:r>
              <a:rPr sz="1395" b="1" i="0">
                <a:solidFill>
                  <a:srgbClr val="EB976D"/>
                </a:solidFill>
                <a:latin typeface="Fira Sans"/>
                <a:ea typeface="Fira Sans"/>
                <a:cs typeface="Fira Sans"/>
              </a:rPr>
              <a:t>Controle: </a:t>
            </a:r>
            <a:r>
              <a:rPr sz="1395" b="1" i="1">
                <a:solidFill>
                  <a:srgbClr val="8C8C96"/>
                </a:solidFill>
                <a:latin typeface="Fira Sans"/>
                <a:ea typeface="Fira Sans"/>
                <a:cs typeface="Fira Sans"/>
              </a:rPr>
              <a:t>responsabilidade e autoridade decisória permanecem organizacionais e humanas.</a:t>
            </a:r>
          </a:p>
        </p:txBody>
      </p:sp>
    </p:spTree>
    <p:extLst>
      <p:ext uri="{BB962C8B-B14F-4D97-AF65-F5344CB8AC3E}">
        <p14:creationId xmlns:p14="http://schemas.microsoft.com/office/powerpoint/2010/main" val="1889150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C1A88-C3EC-445E-9E60-7D4473CB11F2}"/>
              </a:ext>
            </a:extLst>
          </p:cNvPr>
          <p:cNvSpPr>
            <a:spLocks noGrp="1"/>
          </p:cNvSpPr>
          <p:nvPr>
            <p:ph type="title"/>
          </p:nvPr>
        </p:nvSpPr>
        <p:spPr/>
        <p:txBody>
          <a:bodyPr/>
          <a:lstStyle/>
          <a:p>
            <a:r>
              <a:rPr sz="2100" b="1">
                <a:solidFill>
                  <a:srgbClr val="38415C"/>
                </a:solidFill>
                <a:latin typeface="Fira Sans"/>
                <a:ea typeface="Fira Sans"/>
                <a:cs typeface="Fira Sans"/>
              </a:rPr>
              <a:t>Governança de IA como ciclo de aprendizagem</a:t>
            </a:r>
          </a:p>
        </p:txBody>
      </p:sp>
      <p:sp>
        <p:nvSpPr>
          <p:cNvPr id="3" name="Content Placeholder 2">
            <a:extLst>
              <a:ext uri="{FF2B5EF4-FFF2-40B4-BE49-F238E27FC236}">
                <a16:creationId xmlns:a16="http://schemas.microsoft.com/office/drawing/2014/main" id="{26DA40BB-8025-4C13-A47C-855565CD2948}"/>
              </a:ext>
            </a:extLst>
          </p:cNvPr>
          <p:cNvSpPr>
            <a:spLocks noGrp="1"/>
          </p:cNvSpPr>
          <p:nvPr>
            <p:ph idx="1"/>
          </p:nvPr>
        </p:nvSpPr>
        <p:spPr>
          <a:xfrm>
            <a:off x="1200150" y="1428750"/>
            <a:ext cx="7524750" cy="4238625"/>
          </a:xfrm>
        </p:spPr>
        <p:txBody>
          <a:bodyPr anchor="t">
            <a:normAutofit/>
          </a:bodyPr>
          <a:lstStyle/>
          <a:p>
            <a:pPr marL="18" indent="-10">
              <a:spcAft>
                <a:spcPts val="7"/>
              </a:spcAft>
              <a:buChar char="•"/>
            </a:pPr>
            <a:r>
              <a:rPr sz="1520" b="1" i="0">
                <a:solidFill>
                  <a:srgbClr val="EB976D"/>
                </a:solidFill>
                <a:latin typeface="Fira Sans"/>
                <a:ea typeface="Fira Sans"/>
                <a:cs typeface="Fira Sans"/>
              </a:rPr>
              <a:t>Ética e direitos: </a:t>
            </a:r>
            <a:r>
              <a:rPr sz="1520" i="0">
                <a:solidFill>
                  <a:srgbClr val="38415C"/>
                </a:solidFill>
                <a:latin typeface="Fira Sans"/>
                <a:ea typeface="Fira Sans"/>
                <a:cs typeface="Fira Sans"/>
              </a:rPr>
              <a:t>finalidades legítimas, privacidade, não discriminação e segurança psicológica.</a:t>
            </a:r>
          </a:p>
          <a:p>
            <a:pPr marL="18" indent="-10">
              <a:spcBef>
                <a:spcPts val="2370"/>
              </a:spcBef>
              <a:spcAft>
                <a:spcPts val="7"/>
              </a:spcAft>
              <a:buChar char="•"/>
            </a:pPr>
            <a:r>
              <a:rPr sz="1520" b="1" i="0">
                <a:solidFill>
                  <a:srgbClr val="EB976D"/>
                </a:solidFill>
                <a:latin typeface="Fira Sans"/>
                <a:ea typeface="Fira Sans"/>
                <a:cs typeface="Fira Sans"/>
              </a:rPr>
              <a:t>Accountability: </a:t>
            </a:r>
            <a:r>
              <a:rPr sz="1520" b="1" i="0">
                <a:solidFill>
                  <a:srgbClr val="38415C"/>
                </a:solidFill>
                <a:latin typeface="Fira Sans"/>
                <a:ea typeface="Fira Sans"/>
                <a:cs typeface="Fira Sans"/>
              </a:rPr>
              <a:t>papéis, rastreabilidade, apelação e responsabilização por decisões.</a:t>
            </a:r>
          </a:p>
          <a:p>
            <a:pPr marL="18" indent="-10">
              <a:spcBef>
                <a:spcPts val="2370"/>
              </a:spcBef>
              <a:spcAft>
                <a:spcPts val="7"/>
              </a:spcAft>
              <a:buChar char="•"/>
            </a:pPr>
            <a:r>
              <a:rPr sz="1520" b="1" i="0">
                <a:solidFill>
                  <a:srgbClr val="EB976D"/>
                </a:solidFill>
                <a:latin typeface="Fira Sans"/>
                <a:ea typeface="Fira Sans"/>
                <a:cs typeface="Fira Sans"/>
              </a:rPr>
              <a:t>Transparência: </a:t>
            </a:r>
            <a:r>
              <a:rPr sz="1520" b="1" i="0">
                <a:solidFill>
                  <a:srgbClr val="38415C"/>
                </a:solidFill>
                <a:latin typeface="Fira Sans"/>
                <a:ea typeface="Fira Sans"/>
                <a:cs typeface="Fira Sans"/>
              </a:rPr>
              <a:t>fontes, critérios, limitações e registro das intervenções.</a:t>
            </a:r>
          </a:p>
          <a:p>
            <a:pPr marL="18" indent="-10">
              <a:spcBef>
                <a:spcPts val="2370"/>
              </a:spcBef>
              <a:spcAft>
                <a:spcPts val="7"/>
              </a:spcAft>
              <a:buChar char="•"/>
            </a:pPr>
            <a:r>
              <a:rPr sz="1520" b="1" i="0">
                <a:solidFill>
                  <a:srgbClr val="EB976D"/>
                </a:solidFill>
                <a:latin typeface="Fira Sans"/>
                <a:ea typeface="Fira Sans"/>
                <a:cs typeface="Fira Sans"/>
              </a:rPr>
              <a:t>Controle: </a:t>
            </a:r>
            <a:r>
              <a:rPr sz="1520" b="1" i="0">
                <a:solidFill>
                  <a:srgbClr val="38415C"/>
                </a:solidFill>
                <a:latin typeface="Fira Sans"/>
                <a:ea typeface="Fira Sans"/>
                <a:cs typeface="Fira Sans"/>
              </a:rPr>
              <a:t>human-in/on/out-of-the-loop conforme risco, reversibilidade e impacto.</a:t>
            </a:r>
          </a:p>
          <a:p>
            <a:pPr marL="18" indent="-10">
              <a:spcBef>
                <a:spcPts val="2370"/>
              </a:spcBef>
              <a:spcAft>
                <a:spcPts val="7"/>
              </a:spcAft>
              <a:buChar char="•"/>
            </a:pPr>
            <a:r>
              <a:rPr sz="1520" b="1" i="0">
                <a:solidFill>
                  <a:srgbClr val="EB976D"/>
                </a:solidFill>
                <a:latin typeface="Fira Sans"/>
                <a:ea typeface="Fira Sans"/>
                <a:cs typeface="Fira Sans"/>
              </a:rPr>
              <a:t>Ciclo pedagógico: </a:t>
            </a:r>
            <a:r>
              <a:rPr sz="1520" b="1" i="0">
                <a:solidFill>
                  <a:srgbClr val="38415C"/>
                </a:solidFill>
                <a:latin typeface="Fira Sans"/>
                <a:ea typeface="Fira Sans"/>
                <a:cs typeface="Fira Sans"/>
              </a:rPr>
              <a:t>contestar, corrigir e incorporar aprendizados ao sistema e às práticas.</a:t>
            </a:r>
          </a:p>
          <a:p>
            <a:pPr marL="18" indent="-10">
              <a:spcBef>
                <a:spcPts val="2370"/>
              </a:spcBef>
              <a:spcAft>
                <a:spcPts val="7"/>
              </a:spcAft>
              <a:buNone/>
            </a:pPr>
            <a:r>
              <a:rPr sz="1305" b="1" i="0">
                <a:solidFill>
                  <a:srgbClr val="EB976D"/>
                </a:solidFill>
                <a:latin typeface="Fira Sans"/>
                <a:ea typeface="Fira Sans"/>
                <a:cs typeface="Fira Sans"/>
              </a:rPr>
              <a:t>Síntese: </a:t>
            </a:r>
            <a:r>
              <a:rPr sz="1305" b="1" i="1">
                <a:solidFill>
                  <a:srgbClr val="8C8C96"/>
                </a:solidFill>
                <a:latin typeface="Fira Sans"/>
                <a:ea typeface="Fira Sans"/>
                <a:cs typeface="Fira Sans"/>
              </a:rPr>
              <a:t>capacitação é um mecanismo de mitigação, não garantia suficiente.</a:t>
            </a:r>
          </a:p>
        </p:txBody>
      </p:sp>
    </p:spTree>
    <p:extLst>
      <p:ext uri="{BB962C8B-B14F-4D97-AF65-F5344CB8AC3E}">
        <p14:creationId xmlns:p14="http://schemas.microsoft.com/office/powerpoint/2010/main" val="116763980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07615A-39EE-4B38-B188-14E9DE0C0C02}"/>
              </a:ext>
            </a:extLst>
          </p:cNvPr>
          <p:cNvSpPr>
            <a:spLocks noGrp="1"/>
          </p:cNvSpPr>
          <p:nvPr>
            <p:ph type="title"/>
          </p:nvPr>
        </p:nvSpPr>
        <p:spPr/>
        <p:txBody>
          <a:bodyPr/>
          <a:lstStyle/>
          <a:p>
            <a:r>
              <a:rPr sz="2100" b="1">
                <a:solidFill>
                  <a:srgbClr val="38415C"/>
                </a:solidFill>
                <a:latin typeface="Fira Sans"/>
                <a:ea typeface="Fira Sans"/>
                <a:cs typeface="Fira Sans"/>
              </a:rPr>
              <a:t>Revisão de escopo — funil de seleção</a:t>
            </a:r>
          </a:p>
        </p:txBody>
      </p:sp>
      <p:graphicFrame>
        <p:nvGraphicFramePr>
          <p:cNvPr id="3" name="Tabela Triagem"/>
          <p:cNvGraphicFramePr/>
          <p:nvPr>
            <p:extLst>
              <p:ext uri="{D42A27DB-BD31-4B8C-83A1-F6EECF244321}">
                <p14:modId xmlns:p14="http://schemas.microsoft.com/office/powerpoint/2010/main" val="1686410448"/>
              </p:ext>
            </p:extLst>
          </p:nvPr>
        </p:nvGraphicFramePr>
        <p:xfrm>
          <a:off x="117417" y="1428749"/>
          <a:ext cx="8817033" cy="2824275"/>
        </p:xfrm>
        <a:graphic>
          <a:graphicData uri="http://schemas.openxmlformats.org/drawingml/2006/table">
            <a:tbl>
              <a:tblPr firstRow="1" lastRow="1">
                <a:tableStyleId>{5C22544A-7EE6-4342-B048-85BDC9FD1C3A}</a:tableStyleId>
              </a:tblPr>
              <a:tblGrid>
                <a:gridCol w="962558">
                  <a:extLst>
                    <a:ext uri="{9D8B030D-6E8A-4147-A177-3AD203B41FA5}">
                      <a16:colId xmlns:a16="http://schemas.microsoft.com/office/drawing/2014/main" val="20000"/>
                    </a:ext>
                  </a:extLst>
                </a:gridCol>
                <a:gridCol w="721919">
                  <a:extLst>
                    <a:ext uri="{9D8B030D-6E8A-4147-A177-3AD203B41FA5}">
                      <a16:colId xmlns:a16="http://schemas.microsoft.com/office/drawing/2014/main" val="20001"/>
                    </a:ext>
                  </a:extLst>
                </a:gridCol>
                <a:gridCol w="818174">
                  <a:extLst>
                    <a:ext uri="{9D8B030D-6E8A-4147-A177-3AD203B41FA5}">
                      <a16:colId xmlns:a16="http://schemas.microsoft.com/office/drawing/2014/main" val="20002"/>
                    </a:ext>
                  </a:extLst>
                </a:gridCol>
                <a:gridCol w="721919">
                  <a:extLst>
                    <a:ext uri="{9D8B030D-6E8A-4147-A177-3AD203B41FA5}">
                      <a16:colId xmlns:a16="http://schemas.microsoft.com/office/drawing/2014/main" val="20003"/>
                    </a:ext>
                  </a:extLst>
                </a:gridCol>
                <a:gridCol w="3176442">
                  <a:extLst>
                    <a:ext uri="{9D8B030D-6E8A-4147-A177-3AD203B41FA5}">
                      <a16:colId xmlns:a16="http://schemas.microsoft.com/office/drawing/2014/main" val="20004"/>
                    </a:ext>
                  </a:extLst>
                </a:gridCol>
                <a:gridCol w="2416021">
                  <a:extLst>
                    <a:ext uri="{9D8B030D-6E8A-4147-A177-3AD203B41FA5}">
                      <a16:colId xmlns:a16="http://schemas.microsoft.com/office/drawing/2014/main" val="20005"/>
                    </a:ext>
                  </a:extLst>
                </a:gridCol>
              </a:tblGrid>
              <a:tr h="564855">
                <a:tc>
                  <a:txBody>
                    <a:bodyPr/>
                    <a:lstStyle/>
                    <a:p>
                      <a:pPr algn="ctr">
                        <a:buNone/>
                      </a:pPr>
                      <a:r>
                        <a:rPr sz="750" b="1" dirty="0">
                          <a:solidFill>
                            <a:schemeClr val="bg1"/>
                          </a:solidFill>
                          <a:latin typeface="Fira Sans"/>
                          <a:ea typeface="Fira Sans"/>
                          <a:cs typeface="Fira Sans"/>
                        </a:rPr>
                        <a:t>Etapa</a:t>
                      </a:r>
                    </a:p>
                  </a:txBody>
                  <a:tcPr marL="45720" marR="45720" marT="22860" marB="22860" anchor="ctr"/>
                </a:tc>
                <a:tc>
                  <a:txBody>
                    <a:bodyPr/>
                    <a:lstStyle/>
                    <a:p>
                      <a:pPr algn="ctr">
                        <a:buNone/>
                      </a:pPr>
                      <a:r>
                        <a:rPr sz="750" b="1" dirty="0">
                          <a:solidFill>
                            <a:schemeClr val="bg1"/>
                          </a:solidFill>
                          <a:latin typeface="Fira Sans"/>
                          <a:ea typeface="Fira Sans"/>
                          <a:cs typeface="Fira Sans"/>
                        </a:rPr>
                        <a:t>Entrada</a:t>
                      </a:r>
                    </a:p>
                  </a:txBody>
                  <a:tcPr marL="45720" marR="45720" marT="22860" marB="22860" anchor="ctr"/>
                </a:tc>
                <a:tc>
                  <a:txBody>
                    <a:bodyPr/>
                    <a:lstStyle/>
                    <a:p>
                      <a:pPr algn="ctr">
                        <a:buNone/>
                      </a:pPr>
                      <a:r>
                        <a:rPr sz="750" b="1" dirty="0" err="1">
                          <a:solidFill>
                            <a:schemeClr val="bg1"/>
                          </a:solidFill>
                          <a:latin typeface="Fira Sans"/>
                          <a:ea typeface="Fira Sans"/>
                          <a:cs typeface="Fira Sans"/>
                        </a:rPr>
                        <a:t>Exclusões</a:t>
                      </a:r>
                      <a:endParaRPr sz="750" b="1" dirty="0">
                        <a:solidFill>
                          <a:schemeClr val="bg1"/>
                        </a:solidFill>
                        <a:latin typeface="Fira Sans"/>
                        <a:ea typeface="Fira Sans"/>
                        <a:cs typeface="Fira Sans"/>
                      </a:endParaRPr>
                    </a:p>
                  </a:txBody>
                  <a:tcPr marL="45720" marR="45720" marT="22860" marB="22860" anchor="ctr"/>
                </a:tc>
                <a:tc>
                  <a:txBody>
                    <a:bodyPr/>
                    <a:lstStyle/>
                    <a:p>
                      <a:pPr algn="ctr">
                        <a:buNone/>
                      </a:pPr>
                      <a:r>
                        <a:rPr sz="750" b="1" dirty="0" err="1">
                          <a:solidFill>
                            <a:schemeClr val="bg1"/>
                          </a:solidFill>
                          <a:latin typeface="Fira Sans"/>
                          <a:ea typeface="Fira Sans"/>
                          <a:cs typeface="Fira Sans"/>
                        </a:rPr>
                        <a:t>Saída</a:t>
                      </a:r>
                      <a:endParaRPr sz="750" b="1" dirty="0">
                        <a:solidFill>
                          <a:schemeClr val="bg1"/>
                        </a:solidFill>
                        <a:latin typeface="Fira Sans"/>
                        <a:ea typeface="Fira Sans"/>
                        <a:cs typeface="Fira Sans"/>
                      </a:endParaRPr>
                    </a:p>
                  </a:txBody>
                  <a:tcPr marL="45720" marR="45720" marT="22860" marB="22860" anchor="ctr"/>
                </a:tc>
                <a:tc>
                  <a:txBody>
                    <a:bodyPr/>
                    <a:lstStyle/>
                    <a:p>
                      <a:pPr algn="ctr">
                        <a:buNone/>
                      </a:pPr>
                      <a:r>
                        <a:rPr sz="750" b="1" dirty="0" err="1">
                          <a:solidFill>
                            <a:schemeClr val="bg1"/>
                          </a:solidFill>
                          <a:latin typeface="Fira Sans"/>
                          <a:ea typeface="Fira Sans"/>
                          <a:cs typeface="Fira Sans"/>
                        </a:rPr>
                        <a:t>Critério</a:t>
                      </a:r>
                      <a:endParaRPr sz="750" b="1" dirty="0">
                        <a:solidFill>
                          <a:schemeClr val="bg1"/>
                        </a:solidFill>
                        <a:latin typeface="Fira Sans"/>
                        <a:ea typeface="Fira Sans"/>
                        <a:cs typeface="Fira Sans"/>
                      </a:endParaRPr>
                    </a:p>
                  </a:txBody>
                  <a:tcPr marL="45720" marR="45720" marT="22860" marB="22860" anchor="ctr"/>
                </a:tc>
                <a:tc>
                  <a:txBody>
                    <a:bodyPr/>
                    <a:lstStyle/>
                    <a:p>
                      <a:pPr algn="ctr">
                        <a:buNone/>
                      </a:pPr>
                      <a:r>
                        <a:rPr sz="750" b="1" dirty="0" err="1">
                          <a:solidFill>
                            <a:schemeClr val="bg1"/>
                          </a:solidFill>
                          <a:latin typeface="Fira Sans"/>
                          <a:ea typeface="Fira Sans"/>
                          <a:cs typeface="Fira Sans"/>
                        </a:rPr>
                        <a:t>Decisão</a:t>
                      </a:r>
                      <a:r>
                        <a:rPr sz="750" b="1" dirty="0">
                          <a:solidFill>
                            <a:schemeClr val="bg1"/>
                          </a:solidFill>
                          <a:latin typeface="Fira Sans"/>
                          <a:ea typeface="Fira Sans"/>
                          <a:cs typeface="Fira Sans"/>
                        </a:rPr>
                        <a:t> humana</a:t>
                      </a:r>
                    </a:p>
                  </a:txBody>
                  <a:tcPr marL="45720" marR="45720" marT="22860" marB="22860" anchor="ctr"/>
                </a:tc>
                <a:extLst>
                  <a:ext uri="{0D108BD9-81ED-4DB2-BD59-A6C34878D82A}">
                    <a16:rowId xmlns:a16="http://schemas.microsoft.com/office/drawing/2014/main" val="10000"/>
                  </a:ext>
                </a:extLst>
              </a:tr>
              <a:tr h="564855">
                <a:tc>
                  <a:txBody>
                    <a:bodyPr/>
                    <a:lstStyle/>
                    <a:p>
                      <a:pPr algn="ctr">
                        <a:buNone/>
                      </a:pPr>
                      <a:r>
                        <a:rPr sz="713" b="1" dirty="0" err="1">
                          <a:solidFill>
                            <a:srgbClr val="38415C"/>
                          </a:solidFill>
                          <a:latin typeface="Fira Sans"/>
                          <a:ea typeface="Fira Sans"/>
                          <a:cs typeface="Fira Sans"/>
                        </a:rPr>
                        <a:t>Identificação</a:t>
                      </a:r>
                      <a:endParaRPr sz="713" b="1" dirty="0">
                        <a:solidFill>
                          <a:srgbClr val="38415C"/>
                        </a:solidFill>
                        <a:latin typeface="Fira Sans"/>
                        <a:ea typeface="Fira Sans"/>
                        <a:cs typeface="Fira Sans"/>
                      </a:endParaRPr>
                    </a:p>
                  </a:txBody>
                  <a:tcPr marL="45720" marR="45720" marT="22860" marB="22860" anchor="ctr"/>
                </a:tc>
                <a:tc>
                  <a:txBody>
                    <a:bodyPr/>
                    <a:lstStyle/>
                    <a:p>
                      <a:pPr algn="l">
                        <a:buNone/>
                      </a:pPr>
                      <a:r>
                        <a:rPr sz="713" b="0" i="1">
                          <a:solidFill>
                            <a:srgbClr val="38415C"/>
                          </a:solidFill>
                          <a:latin typeface="Fira Sans"/>
                          <a:ea typeface="Fira Sans"/>
                          <a:cs typeface="Fira Sans"/>
                        </a:rPr>
                        <a:t>129</a:t>
                      </a:r>
                    </a:p>
                  </a:txBody>
                  <a:tcPr marL="45720" marR="45720" marT="22860" marB="22860" anchor="ctr"/>
                </a:tc>
                <a:tc>
                  <a:txBody>
                    <a:bodyPr/>
                    <a:lstStyle/>
                    <a:p>
                      <a:pPr algn="ctr">
                        <a:buNone/>
                      </a:pPr>
                      <a:r>
                        <a:rPr sz="713" b="0">
                          <a:solidFill>
                            <a:srgbClr val="38415C"/>
                          </a:solidFill>
                          <a:latin typeface="Fira Sans"/>
                          <a:ea typeface="Fira Sans"/>
                          <a:cs typeface="Fira Sans"/>
                        </a:rPr>
                        <a:t>—</a:t>
                      </a:r>
                    </a:p>
                  </a:txBody>
                  <a:tcPr marL="45720" marR="45720" marT="22860" marB="22860" anchor="ctr"/>
                </a:tc>
                <a:tc>
                  <a:txBody>
                    <a:bodyPr/>
                    <a:lstStyle/>
                    <a:p>
                      <a:pPr algn="ctr">
                        <a:buNone/>
                      </a:pPr>
                      <a:r>
                        <a:rPr sz="713" b="0">
                          <a:solidFill>
                            <a:srgbClr val="38415C"/>
                          </a:solidFill>
                          <a:latin typeface="Fira Sans"/>
                          <a:ea typeface="Fira Sans"/>
                          <a:cs typeface="Fira Sans"/>
                        </a:rPr>
                        <a:t>129</a:t>
                      </a:r>
                    </a:p>
                  </a:txBody>
                  <a:tcPr marL="45720" marR="45720" marT="22860" marB="22860" anchor="ctr"/>
                </a:tc>
                <a:tc>
                  <a:txBody>
                    <a:bodyPr/>
                    <a:lstStyle/>
                    <a:p>
                      <a:pPr algn="ctr">
                        <a:buNone/>
                      </a:pPr>
                      <a:r>
                        <a:rPr sz="713" b="0">
                          <a:solidFill>
                            <a:srgbClr val="38415C"/>
                          </a:solidFill>
                          <a:latin typeface="Fira Sans"/>
                          <a:ea typeface="Fira Sans"/>
                          <a:cs typeface="Fira Sans"/>
                        </a:rPr>
                        <a:t>Base + equações</a:t>
                      </a:r>
                    </a:p>
                  </a:txBody>
                  <a:tcPr marL="45720" marR="45720" marT="22860" marB="22860" anchor="ctr"/>
                </a:tc>
                <a:tc>
                  <a:txBody>
                    <a:bodyPr/>
                    <a:lstStyle/>
                    <a:p>
                      <a:pPr algn="ctr">
                        <a:buNone/>
                      </a:pPr>
                      <a:r>
                        <a:rPr sz="713" b="0">
                          <a:solidFill>
                            <a:srgbClr val="38415C"/>
                          </a:solidFill>
                          <a:latin typeface="Fira Sans"/>
                          <a:ea typeface="Fira Sans"/>
                          <a:cs typeface="Fira Sans"/>
                        </a:rPr>
                        <a:t>Definição das buscas</a:t>
                      </a:r>
                    </a:p>
                  </a:txBody>
                  <a:tcPr marL="45720" marR="45720" marT="22860" marB="22860" anchor="ctr"/>
                </a:tc>
                <a:extLst>
                  <a:ext uri="{0D108BD9-81ED-4DB2-BD59-A6C34878D82A}">
                    <a16:rowId xmlns:a16="http://schemas.microsoft.com/office/drawing/2014/main" val="10001"/>
                  </a:ext>
                </a:extLst>
              </a:tr>
              <a:tr h="564855">
                <a:tc>
                  <a:txBody>
                    <a:bodyPr/>
                    <a:lstStyle/>
                    <a:p>
                      <a:pPr algn="ctr">
                        <a:buNone/>
                      </a:pPr>
                      <a:r>
                        <a:rPr sz="713" b="1">
                          <a:solidFill>
                            <a:srgbClr val="38415C"/>
                          </a:solidFill>
                          <a:latin typeface="Fira Sans"/>
                          <a:ea typeface="Fira Sans"/>
                          <a:cs typeface="Fira Sans"/>
                        </a:rPr>
                        <a:t>Deduplicação</a:t>
                      </a:r>
                    </a:p>
                  </a:txBody>
                  <a:tcPr marL="45720" marR="45720" marT="22860" marB="22860" anchor="ctr"/>
                </a:tc>
                <a:tc>
                  <a:txBody>
                    <a:bodyPr/>
                    <a:lstStyle/>
                    <a:p>
                      <a:pPr algn="l">
                        <a:buNone/>
                      </a:pPr>
                      <a:r>
                        <a:rPr sz="713" b="0">
                          <a:solidFill>
                            <a:srgbClr val="38415C"/>
                          </a:solidFill>
                          <a:latin typeface="Fira Sans"/>
                          <a:ea typeface="Fira Sans"/>
                          <a:cs typeface="Fira Sans"/>
                        </a:rPr>
                        <a:t>129</a:t>
                      </a:r>
                    </a:p>
                  </a:txBody>
                  <a:tcPr marL="45720" marR="45720" marT="22860" marB="22860" anchor="ctr"/>
                </a:tc>
                <a:tc>
                  <a:txBody>
                    <a:bodyPr/>
                    <a:lstStyle/>
                    <a:p>
                      <a:pPr algn="ctr">
                        <a:buNone/>
                      </a:pPr>
                      <a:r>
                        <a:rPr sz="713" b="0">
                          <a:solidFill>
                            <a:srgbClr val="38415C"/>
                          </a:solidFill>
                          <a:latin typeface="Fira Sans"/>
                          <a:ea typeface="Fira Sans"/>
                          <a:cs typeface="Fira Sans"/>
                        </a:rPr>
                        <a:t>15</a:t>
                      </a:r>
                    </a:p>
                  </a:txBody>
                  <a:tcPr marL="45720" marR="45720" marT="22860" marB="22860" anchor="ctr"/>
                </a:tc>
                <a:tc>
                  <a:txBody>
                    <a:bodyPr/>
                    <a:lstStyle/>
                    <a:p>
                      <a:pPr algn="ctr">
                        <a:buNone/>
                      </a:pPr>
                      <a:r>
                        <a:rPr sz="713" b="0">
                          <a:solidFill>
                            <a:srgbClr val="38415C"/>
                          </a:solidFill>
                          <a:latin typeface="Fira Sans"/>
                          <a:ea typeface="Fira Sans"/>
                          <a:cs typeface="Fira Sans"/>
                        </a:rPr>
                        <a:t>114</a:t>
                      </a:r>
                    </a:p>
                  </a:txBody>
                  <a:tcPr marL="45720" marR="45720" marT="22860" marB="22860" anchor="ctr"/>
                </a:tc>
                <a:tc>
                  <a:txBody>
                    <a:bodyPr/>
                    <a:lstStyle/>
                    <a:p>
                      <a:pPr algn="ctr">
                        <a:buNone/>
                      </a:pPr>
                      <a:r>
                        <a:rPr sz="713" b="0">
                          <a:solidFill>
                            <a:srgbClr val="38415C"/>
                          </a:solidFill>
                          <a:latin typeface="Fira Sans"/>
                          <a:ea typeface="Fira Sans"/>
                          <a:cs typeface="Fira Sans"/>
                        </a:rPr>
                        <a:t>Duplicatas/não validados</a:t>
                      </a:r>
                    </a:p>
                  </a:txBody>
                  <a:tcPr marL="45720" marR="45720" marT="22860" marB="22860" anchor="ctr"/>
                </a:tc>
                <a:tc>
                  <a:txBody>
                    <a:bodyPr/>
                    <a:lstStyle/>
                    <a:p>
                      <a:pPr algn="ctr">
                        <a:buNone/>
                      </a:pPr>
                      <a:r>
                        <a:rPr sz="713" b="0">
                          <a:solidFill>
                            <a:srgbClr val="38415C"/>
                          </a:solidFill>
                          <a:latin typeface="Fira Sans"/>
                          <a:ea typeface="Fira Sans"/>
                          <a:cs typeface="Fira Sans"/>
                        </a:rPr>
                        <a:t>Auditoria dos registros</a:t>
                      </a:r>
                    </a:p>
                  </a:txBody>
                  <a:tcPr marL="45720" marR="45720" marT="22860" marB="22860" anchor="ctr"/>
                </a:tc>
                <a:extLst>
                  <a:ext uri="{0D108BD9-81ED-4DB2-BD59-A6C34878D82A}">
                    <a16:rowId xmlns:a16="http://schemas.microsoft.com/office/drawing/2014/main" val="10002"/>
                  </a:ext>
                </a:extLst>
              </a:tr>
              <a:tr h="564855">
                <a:tc>
                  <a:txBody>
                    <a:bodyPr/>
                    <a:lstStyle/>
                    <a:p>
                      <a:pPr algn="ctr">
                        <a:buNone/>
                      </a:pPr>
                      <a:r>
                        <a:rPr sz="713" b="1">
                          <a:solidFill>
                            <a:srgbClr val="38415C"/>
                          </a:solidFill>
                          <a:latin typeface="Fira Sans"/>
                          <a:ea typeface="Fira Sans"/>
                          <a:cs typeface="Fira Sans"/>
                        </a:rPr>
                        <a:t>Acesso integral</a:t>
                      </a:r>
                    </a:p>
                  </a:txBody>
                  <a:tcPr marL="45720" marR="45720" marT="22860" marB="22860" anchor="ctr"/>
                </a:tc>
                <a:tc>
                  <a:txBody>
                    <a:bodyPr/>
                    <a:lstStyle/>
                    <a:p>
                      <a:pPr algn="l">
                        <a:buNone/>
                      </a:pPr>
                      <a:r>
                        <a:rPr sz="713" b="0">
                          <a:solidFill>
                            <a:srgbClr val="38415C"/>
                          </a:solidFill>
                          <a:latin typeface="Fira Sans"/>
                          <a:ea typeface="Fira Sans"/>
                          <a:cs typeface="Fira Sans"/>
                        </a:rPr>
                        <a:t>114</a:t>
                      </a:r>
                    </a:p>
                  </a:txBody>
                  <a:tcPr marL="45720" marR="45720" marT="22860" marB="22860" anchor="ctr"/>
                </a:tc>
                <a:tc>
                  <a:txBody>
                    <a:bodyPr/>
                    <a:lstStyle/>
                    <a:p>
                      <a:pPr algn="ctr">
                        <a:buNone/>
                      </a:pPr>
                      <a:r>
                        <a:rPr sz="713" b="0">
                          <a:solidFill>
                            <a:srgbClr val="38415C"/>
                          </a:solidFill>
                          <a:latin typeface="Fira Sans"/>
                          <a:ea typeface="Fira Sans"/>
                          <a:cs typeface="Fira Sans"/>
                        </a:rPr>
                        <a:t>21</a:t>
                      </a:r>
                    </a:p>
                  </a:txBody>
                  <a:tcPr marL="45720" marR="45720" marT="22860" marB="22860" anchor="ctr"/>
                </a:tc>
                <a:tc>
                  <a:txBody>
                    <a:bodyPr/>
                    <a:lstStyle/>
                    <a:p>
                      <a:pPr algn="ctr">
                        <a:buNone/>
                      </a:pPr>
                      <a:r>
                        <a:rPr sz="713" b="0">
                          <a:solidFill>
                            <a:srgbClr val="38415C"/>
                          </a:solidFill>
                          <a:latin typeface="Fira Sans"/>
                          <a:ea typeface="Fira Sans"/>
                          <a:cs typeface="Fira Sans"/>
                        </a:rPr>
                        <a:t>93</a:t>
                      </a:r>
                    </a:p>
                  </a:txBody>
                  <a:tcPr marL="45720" marR="45720" marT="22860" marB="22860" anchor="ctr"/>
                </a:tc>
                <a:tc>
                  <a:txBody>
                    <a:bodyPr/>
                    <a:lstStyle/>
                    <a:p>
                      <a:pPr algn="ctr">
                        <a:buNone/>
                      </a:pPr>
                      <a:r>
                        <a:rPr sz="713" b="0">
                          <a:solidFill>
                            <a:srgbClr val="38415C"/>
                          </a:solidFill>
                          <a:latin typeface="Fira Sans"/>
                          <a:ea typeface="Fira Sans"/>
                          <a:cs typeface="Fira Sans"/>
                        </a:rPr>
                        <a:t>PDF completo</a:t>
                      </a:r>
                    </a:p>
                  </a:txBody>
                  <a:tcPr marL="45720" marR="45720" marT="22860" marB="22860" anchor="ctr"/>
                </a:tc>
                <a:tc>
                  <a:txBody>
                    <a:bodyPr/>
                    <a:lstStyle/>
                    <a:p>
                      <a:pPr algn="ctr">
                        <a:buNone/>
                      </a:pPr>
                      <a:r>
                        <a:rPr sz="713" b="0">
                          <a:solidFill>
                            <a:srgbClr val="38415C"/>
                          </a:solidFill>
                          <a:latin typeface="Fira Sans"/>
                          <a:ea typeface="Fira Sans"/>
                          <a:cs typeface="Fira Sans"/>
                        </a:rPr>
                        <a:t>Revisão de acesso</a:t>
                      </a:r>
                    </a:p>
                  </a:txBody>
                  <a:tcPr marL="45720" marR="45720" marT="22860" marB="22860" anchor="ctr"/>
                </a:tc>
                <a:extLst>
                  <a:ext uri="{0D108BD9-81ED-4DB2-BD59-A6C34878D82A}">
                    <a16:rowId xmlns:a16="http://schemas.microsoft.com/office/drawing/2014/main" val="10003"/>
                  </a:ext>
                </a:extLst>
              </a:tr>
              <a:tr h="564855">
                <a:tc>
                  <a:txBody>
                    <a:bodyPr/>
                    <a:lstStyle/>
                    <a:p>
                      <a:pPr algn="ctr">
                        <a:buNone/>
                      </a:pPr>
                      <a:r>
                        <a:rPr sz="713" b="1">
                          <a:solidFill>
                            <a:schemeClr val="bg1"/>
                          </a:solidFill>
                          <a:latin typeface="Fira Sans"/>
                          <a:ea typeface="Fira Sans"/>
                          <a:cs typeface="Fira Sans"/>
                        </a:rPr>
                        <a:t>Curadoria conceitual</a:t>
                      </a:r>
                    </a:p>
                  </a:txBody>
                  <a:tcPr marL="45720" marR="45720" marT="22860" marB="22860" anchor="ctr"/>
                </a:tc>
                <a:tc>
                  <a:txBody>
                    <a:bodyPr/>
                    <a:lstStyle/>
                    <a:p>
                      <a:pPr algn="l">
                        <a:buNone/>
                      </a:pPr>
                      <a:r>
                        <a:rPr sz="713" b="0">
                          <a:solidFill>
                            <a:schemeClr val="bg1"/>
                          </a:solidFill>
                          <a:latin typeface="Fira Sans"/>
                          <a:ea typeface="Fira Sans"/>
                          <a:cs typeface="Fira Sans"/>
                        </a:rPr>
                        <a:t>93</a:t>
                      </a:r>
                    </a:p>
                  </a:txBody>
                  <a:tcPr marL="45720" marR="45720" marT="22860" marB="22860" anchor="ctr"/>
                </a:tc>
                <a:tc>
                  <a:txBody>
                    <a:bodyPr/>
                    <a:lstStyle/>
                    <a:p>
                      <a:pPr algn="ctr">
                        <a:buNone/>
                      </a:pPr>
                      <a:r>
                        <a:rPr sz="713" b="0">
                          <a:solidFill>
                            <a:schemeClr val="bg1"/>
                          </a:solidFill>
                          <a:latin typeface="Fira Sans"/>
                          <a:ea typeface="Fira Sans"/>
                          <a:cs typeface="Fira Sans"/>
                        </a:rPr>
                        <a:t>73</a:t>
                      </a:r>
                    </a:p>
                  </a:txBody>
                  <a:tcPr marL="45720" marR="45720" marT="22860" marB="22860" anchor="ctr"/>
                </a:tc>
                <a:tc>
                  <a:txBody>
                    <a:bodyPr/>
                    <a:lstStyle/>
                    <a:p>
                      <a:pPr algn="ctr">
                        <a:buNone/>
                      </a:pPr>
                      <a:r>
                        <a:rPr sz="713" b="0">
                          <a:solidFill>
                            <a:schemeClr val="bg1"/>
                          </a:solidFill>
                          <a:latin typeface="Fira Sans"/>
                          <a:ea typeface="Fira Sans"/>
                          <a:cs typeface="Fira Sans"/>
                        </a:rPr>
                        <a:t>20</a:t>
                      </a:r>
                    </a:p>
                  </a:txBody>
                  <a:tcPr marL="45720" marR="45720" marT="22860" marB="22860" anchor="ctr"/>
                </a:tc>
                <a:tc>
                  <a:txBody>
                    <a:bodyPr/>
                    <a:lstStyle/>
                    <a:p>
                      <a:pPr algn="ctr">
                        <a:buNone/>
                      </a:pPr>
                      <a:r>
                        <a:rPr sz="713" b="0" dirty="0" err="1">
                          <a:solidFill>
                            <a:schemeClr val="bg1"/>
                          </a:solidFill>
                          <a:latin typeface="Fira Sans"/>
                          <a:ea typeface="Fira Sans"/>
                          <a:cs typeface="Fira Sans"/>
                        </a:rPr>
                        <a:t>Aderência</a:t>
                      </a:r>
                      <a:r>
                        <a:rPr sz="713" b="0" dirty="0">
                          <a:solidFill>
                            <a:schemeClr val="bg1"/>
                          </a:solidFill>
                          <a:latin typeface="Fira Sans"/>
                          <a:ea typeface="Fira Sans"/>
                          <a:cs typeface="Fira Sans"/>
                        </a:rPr>
                        <a:t>, </a:t>
                      </a:r>
                      <a:r>
                        <a:rPr sz="713" b="0" dirty="0" err="1">
                          <a:solidFill>
                            <a:schemeClr val="bg1"/>
                          </a:solidFill>
                          <a:latin typeface="Fira Sans"/>
                          <a:ea typeface="Fira Sans"/>
                          <a:cs typeface="Fira Sans"/>
                        </a:rPr>
                        <a:t>centralidade</a:t>
                      </a:r>
                      <a:r>
                        <a:rPr sz="713" b="0" dirty="0">
                          <a:solidFill>
                            <a:schemeClr val="bg1"/>
                          </a:solidFill>
                          <a:latin typeface="Fira Sans"/>
                          <a:ea typeface="Fira Sans"/>
                          <a:cs typeface="Fira Sans"/>
                        </a:rPr>
                        <a:t> e </a:t>
                      </a:r>
                      <a:r>
                        <a:rPr sz="713" b="0" dirty="0" err="1">
                          <a:solidFill>
                            <a:schemeClr val="bg1"/>
                          </a:solidFill>
                          <a:latin typeface="Fira Sans"/>
                          <a:ea typeface="Fira Sans"/>
                          <a:cs typeface="Fira Sans"/>
                        </a:rPr>
                        <a:t>cobertura</a:t>
                      </a:r>
                      <a:endParaRPr sz="713" b="0" dirty="0">
                        <a:solidFill>
                          <a:schemeClr val="bg1"/>
                        </a:solidFill>
                        <a:latin typeface="Fira Sans"/>
                        <a:ea typeface="Fira Sans"/>
                        <a:cs typeface="Fira Sans"/>
                      </a:endParaRPr>
                    </a:p>
                  </a:txBody>
                  <a:tcPr marL="45720" marR="45720" marT="22860" marB="22860" anchor="ctr"/>
                </a:tc>
                <a:tc>
                  <a:txBody>
                    <a:bodyPr/>
                    <a:lstStyle/>
                    <a:p>
                      <a:pPr algn="ctr">
                        <a:buNone/>
                      </a:pPr>
                      <a:r>
                        <a:rPr sz="713" b="0" dirty="0" err="1">
                          <a:solidFill>
                            <a:schemeClr val="bg1"/>
                          </a:solidFill>
                          <a:latin typeface="Fira Sans"/>
                          <a:ea typeface="Fira Sans"/>
                          <a:cs typeface="Fira Sans"/>
                        </a:rPr>
                        <a:t>Seleção</a:t>
                      </a:r>
                      <a:r>
                        <a:rPr sz="713" b="0" dirty="0">
                          <a:solidFill>
                            <a:schemeClr val="bg1"/>
                          </a:solidFill>
                          <a:latin typeface="Fira Sans"/>
                          <a:ea typeface="Fira Sans"/>
                          <a:cs typeface="Fira Sans"/>
                        </a:rPr>
                        <a:t> final</a:t>
                      </a:r>
                    </a:p>
                  </a:txBody>
                  <a:tcPr marL="45720" marR="45720" marT="22860" marB="22860" anchor="ctr"/>
                </a:tc>
                <a:extLst>
                  <a:ext uri="{0D108BD9-81ED-4DB2-BD59-A6C34878D82A}">
                    <a16:rowId xmlns:a16="http://schemas.microsoft.com/office/drawing/2014/main" val="10004"/>
                  </a:ext>
                </a:extLst>
              </a:tr>
            </a:tbl>
          </a:graphicData>
        </a:graphic>
      </p:graphicFrame>
      <p:sp>
        <p:nvSpPr>
          <p:cNvPr id="5" name="Destaque Resultado">
            <a:extLst>
              <a:ext uri="{FF2B5EF4-FFF2-40B4-BE49-F238E27FC236}">
                <a16:creationId xmlns:a16="http://schemas.microsoft.com/office/drawing/2014/main" id="{215C4499-6FD1-4AA3-9075-64A1090E022A}"/>
              </a:ext>
            </a:extLst>
          </p:cNvPr>
          <p:cNvSpPr>
            <a:spLocks noGrp="1"/>
          </p:cNvSpPr>
          <p:nvPr/>
        </p:nvSpPr>
        <p:spPr>
          <a:xfrm>
            <a:off x="117417" y="4570000"/>
            <a:ext cx="8900000" cy="1500000"/>
          </a:xfrm>
          <a:prstGeom prst="roundRect">
            <a:avLst>
              <a:gd name="adj" fmla="val 6000"/>
            </a:avLst>
          </a:prstGeom>
          <a:solidFill>
            <a:srgbClr val="F2F2F4"/>
          </a:solidFill>
          <a:ln>
            <a:noFill/>
          </a:ln>
        </p:spPr>
        <p:txBody>
          <a:bodyPr/>
          <a:lstStyle/>
          <a:p>
            <a:endParaRPr/>
          </a:p>
        </p:txBody>
      </p:sp>
      <p:sp>
        <p:nvSpPr>
          <p:cNvPr id="6" name="Stat 93">
            <a:extLst>
              <a:ext uri="{FF2B5EF4-FFF2-40B4-BE49-F238E27FC236}">
                <a16:creationId xmlns:a16="http://schemas.microsoft.com/office/drawing/2014/main" id="{A8ED8048-47E3-454F-BE56-9D408622BF9A}"/>
              </a:ext>
            </a:extLst>
          </p:cNvPr>
          <p:cNvSpPr>
            <a:spLocks noGrp="1"/>
          </p:cNvSpPr>
          <p:nvPr/>
        </p:nvSpPr>
        <p:spPr>
          <a:xfrm>
            <a:off x="449961" y="4670012"/>
            <a:ext cx="3649980" cy="1238250"/>
          </a:xfrm>
          <a:prstGeom prst="rect">
            <a:avLst/>
          </a:prstGeom>
          <a:noFill/>
          <a:ln>
            <a:noFill/>
          </a:ln>
        </p:spPr>
        <p:txBody>
          <a:bodyPr anchor="ctr">
            <a:noAutofit/>
          </a:bodyPr>
          <a:lstStyle/>
          <a:p>
            <a:pPr algn="ctr">
              <a:buNone/>
            </a:pPr>
            <a:r>
              <a:rPr sz="1425" b="1" i="0">
                <a:solidFill>
                  <a:srgbClr val="38415C"/>
                </a:solidFill>
                <a:latin typeface="Fira Sans"/>
                <a:ea typeface="Fira Sans"/>
                <a:cs typeface="Fira Sans"/>
              </a:rPr>
              <a:t>93</a:t>
            </a:r>
          </a:p>
          <a:p>
            <a:pPr algn="ctr">
              <a:buNone/>
            </a:pPr>
            <a:r>
              <a:rPr sz="1425" b="1" i="0">
                <a:solidFill>
                  <a:srgbClr val="38415C"/>
                </a:solidFill>
                <a:latin typeface="Fira Sans"/>
                <a:ea typeface="Fira Sans"/>
                <a:cs typeface="Fira Sans"/>
              </a:rPr>
              <a:t>artigos com texto integral</a:t>
            </a:r>
          </a:p>
        </p:txBody>
      </p:sp>
      <p:sp>
        <p:nvSpPr>
          <p:cNvPr id="7" name="Seta Resultado">
            <a:extLst>
              <a:ext uri="{FF2B5EF4-FFF2-40B4-BE49-F238E27FC236}">
                <a16:creationId xmlns:a16="http://schemas.microsoft.com/office/drawing/2014/main" id="{A684A6B4-A22A-455B-B888-A336D6BDAD6E}"/>
              </a:ext>
            </a:extLst>
          </p:cNvPr>
          <p:cNvSpPr>
            <a:spLocks noGrp="1"/>
          </p:cNvSpPr>
          <p:nvPr/>
        </p:nvSpPr>
        <p:spPr>
          <a:xfrm>
            <a:off x="4249960" y="4670012"/>
            <a:ext cx="619125" cy="1238250"/>
          </a:xfrm>
          <a:prstGeom prst="rect">
            <a:avLst/>
          </a:prstGeom>
          <a:noFill/>
          <a:ln>
            <a:noFill/>
          </a:ln>
        </p:spPr>
        <p:txBody>
          <a:bodyPr anchor="ctr">
            <a:noAutofit/>
          </a:bodyPr>
          <a:lstStyle/>
          <a:p>
            <a:pPr algn="ctr">
              <a:buNone/>
            </a:pPr>
            <a:r>
              <a:rPr sz="2550" b="1" i="0">
                <a:solidFill>
                  <a:srgbClr val="EB976D"/>
                </a:solidFill>
                <a:latin typeface="Fira Sans"/>
                <a:ea typeface="Fira Sans"/>
                <a:cs typeface="Fira Sans"/>
              </a:rPr>
              <a:t>→</a:t>
            </a:r>
          </a:p>
        </p:txBody>
      </p:sp>
      <p:sp>
        <p:nvSpPr>
          <p:cNvPr id="8" name="Stat 20">
            <a:extLst>
              <a:ext uri="{FF2B5EF4-FFF2-40B4-BE49-F238E27FC236}">
                <a16:creationId xmlns:a16="http://schemas.microsoft.com/office/drawing/2014/main" id="{E80B7D5B-81E2-4485-A0CF-243E3D41D871}"/>
              </a:ext>
            </a:extLst>
          </p:cNvPr>
          <p:cNvSpPr>
            <a:spLocks noGrp="1"/>
          </p:cNvSpPr>
          <p:nvPr/>
        </p:nvSpPr>
        <p:spPr>
          <a:xfrm>
            <a:off x="5143500" y="4670012"/>
            <a:ext cx="3454718" cy="1238250"/>
          </a:xfrm>
          <a:prstGeom prst="rect">
            <a:avLst/>
          </a:prstGeom>
          <a:noFill/>
          <a:ln>
            <a:noFill/>
          </a:ln>
        </p:spPr>
        <p:txBody>
          <a:bodyPr anchor="ctr">
            <a:noAutofit/>
          </a:bodyPr>
          <a:lstStyle/>
          <a:p>
            <a:pPr algn="ctr">
              <a:buNone/>
            </a:pPr>
            <a:r>
              <a:rPr sz="1425" b="1" i="0">
                <a:solidFill>
                  <a:srgbClr val="2D7A4A"/>
                </a:solidFill>
                <a:latin typeface="Fira Sans"/>
                <a:ea typeface="Fira Sans"/>
                <a:cs typeface="Fira Sans"/>
              </a:rPr>
              <a:t>20</a:t>
            </a:r>
          </a:p>
          <a:p>
            <a:pPr algn="ctr">
              <a:buNone/>
            </a:pPr>
            <a:r>
              <a:rPr sz="1425" b="1" i="0">
                <a:solidFill>
                  <a:srgbClr val="2D7A4A"/>
                </a:solidFill>
                <a:latin typeface="Fira Sans"/>
                <a:ea typeface="Fira Sans"/>
                <a:cs typeface="Fira Sans"/>
              </a:rPr>
              <a:t>referências centrais ao retrofit</a:t>
            </a:r>
          </a:p>
        </p:txBody>
      </p:sp>
    </p:spTree>
    <p:extLst>
      <p:ext uri="{BB962C8B-B14F-4D97-AF65-F5344CB8AC3E}">
        <p14:creationId xmlns:p14="http://schemas.microsoft.com/office/powerpoint/2010/main" val="1215209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6C849-8EEA-4804-903C-EFE4F920EECD}"/>
              </a:ext>
            </a:extLst>
          </p:cNvPr>
          <p:cNvSpPr>
            <a:spLocks noGrp="1"/>
          </p:cNvSpPr>
          <p:nvPr>
            <p:ph type="title"/>
          </p:nvPr>
        </p:nvSpPr>
        <p:spPr/>
        <p:txBody>
          <a:bodyPr/>
          <a:lstStyle/>
          <a:p>
            <a:r>
              <a:rPr sz="2100" b="1">
                <a:solidFill>
                  <a:srgbClr val="38415C"/>
                </a:solidFill>
                <a:latin typeface="Fira Sans"/>
                <a:ea typeface="Fira Sans"/>
                <a:cs typeface="Fira Sans"/>
              </a:rPr>
              <a:t>Protocolo de revisão e síntese</a:t>
            </a:r>
          </a:p>
        </p:txBody>
      </p:sp>
      <p:sp>
        <p:nvSpPr>
          <p:cNvPr id="3" name="Content Placeholder 2">
            <a:extLst>
              <a:ext uri="{FF2B5EF4-FFF2-40B4-BE49-F238E27FC236}">
                <a16:creationId xmlns:a16="http://schemas.microsoft.com/office/drawing/2014/main" id="{795AC24E-1677-402B-8EAF-0FFAC3CBC4F8}"/>
              </a:ext>
            </a:extLst>
          </p:cNvPr>
          <p:cNvSpPr>
            <a:spLocks noGrp="1"/>
          </p:cNvSpPr>
          <p:nvPr>
            <p:ph idx="1"/>
          </p:nvPr>
        </p:nvSpPr>
        <p:spPr>
          <a:xfrm>
            <a:off x="1200150" y="1428750"/>
            <a:ext cx="7524750" cy="4238625"/>
          </a:xfrm>
        </p:spPr>
        <p:txBody>
          <a:bodyPr anchor="t">
            <a:normAutofit/>
          </a:bodyPr>
          <a:lstStyle/>
          <a:p>
            <a:pPr marL="18" indent="-10">
              <a:spcAft>
                <a:spcPts val="7"/>
              </a:spcAft>
              <a:buChar char="•"/>
            </a:pPr>
            <a:r>
              <a:rPr sz="1520" b="1" i="0">
                <a:solidFill>
                  <a:srgbClr val="EB976D"/>
                </a:solidFill>
                <a:latin typeface="Fira Sans"/>
                <a:ea typeface="Fira Sans"/>
                <a:cs typeface="Fira Sans"/>
              </a:rPr>
              <a:t>1. Busca: </a:t>
            </a:r>
            <a:r>
              <a:rPr sz="1520" i="0">
                <a:solidFill>
                  <a:srgbClr val="38415C"/>
                </a:solidFill>
                <a:latin typeface="Fira Sans"/>
                <a:ea typeface="Fira Sans"/>
                <a:cs typeface="Fira Sans"/>
              </a:rPr>
              <a:t>base inicial e equações temáticas documentadas.</a:t>
            </a:r>
          </a:p>
          <a:p>
            <a:pPr marL="18" indent="-10">
              <a:spcBef>
                <a:spcPts val="2730"/>
              </a:spcBef>
              <a:spcAft>
                <a:spcPts val="7"/>
              </a:spcAft>
              <a:buChar char="•"/>
            </a:pPr>
            <a:r>
              <a:rPr sz="1520" b="1" i="0">
                <a:solidFill>
                  <a:srgbClr val="EB976D"/>
                </a:solidFill>
                <a:latin typeface="Fira Sans"/>
                <a:ea typeface="Fira Sans"/>
                <a:cs typeface="Fira Sans"/>
              </a:rPr>
              <a:t>2. Deduplicação e acesso: </a:t>
            </a:r>
            <a:r>
              <a:rPr sz="1520" b="1" i="0">
                <a:solidFill>
                  <a:srgbClr val="38415C"/>
                </a:solidFill>
                <a:latin typeface="Fira Sans"/>
                <a:ea typeface="Fira Sans"/>
                <a:cs typeface="Fira Sans"/>
              </a:rPr>
              <a:t>registros únicos e verificação de texto integral.</a:t>
            </a:r>
          </a:p>
          <a:p>
            <a:pPr marL="18" indent="-10">
              <a:spcBef>
                <a:spcPts val="2730"/>
              </a:spcBef>
              <a:spcAft>
                <a:spcPts val="7"/>
              </a:spcAft>
              <a:buChar char="•"/>
            </a:pPr>
            <a:r>
              <a:rPr sz="1520" b="1" i="0">
                <a:solidFill>
                  <a:srgbClr val="EB976D"/>
                </a:solidFill>
                <a:latin typeface="Fira Sans"/>
                <a:ea typeface="Fira Sans"/>
                <a:cs typeface="Fira Sans"/>
              </a:rPr>
              <a:t>3. Triagem assistida: </a:t>
            </a:r>
            <a:r>
              <a:rPr sz="1520" b="1" i="0">
                <a:solidFill>
                  <a:srgbClr val="38415C"/>
                </a:solidFill>
                <a:latin typeface="Fira Sans"/>
                <a:ea typeface="Fira Sans"/>
                <a:cs typeface="Fira Sans"/>
              </a:rPr>
              <a:t>recuperação semântica e classificação por LLM.</a:t>
            </a:r>
          </a:p>
          <a:p>
            <a:pPr marL="18" indent="-10">
              <a:spcBef>
                <a:spcPts val="2730"/>
              </a:spcBef>
              <a:spcAft>
                <a:spcPts val="7"/>
              </a:spcAft>
              <a:buChar char="•"/>
            </a:pPr>
            <a:r>
              <a:rPr sz="1520" b="1" i="0">
                <a:solidFill>
                  <a:srgbClr val="EB976D"/>
                </a:solidFill>
                <a:latin typeface="Fira Sans"/>
                <a:ea typeface="Fira Sans"/>
                <a:cs typeface="Fira Sans"/>
              </a:rPr>
              <a:t>4. Curadoria humana: </a:t>
            </a:r>
            <a:r>
              <a:rPr sz="1520" b="1" i="0">
                <a:solidFill>
                  <a:srgbClr val="38415C"/>
                </a:solidFill>
                <a:latin typeface="Fira Sans"/>
                <a:ea typeface="Fira Sans"/>
                <a:cs typeface="Fira Sans"/>
              </a:rPr>
              <a:t>decisão final sobre aderência e centralidade teórica.</a:t>
            </a:r>
          </a:p>
          <a:p>
            <a:pPr marL="18" indent="-10">
              <a:spcBef>
                <a:spcPts val="2730"/>
              </a:spcBef>
              <a:spcAft>
                <a:spcPts val="7"/>
              </a:spcAft>
              <a:buChar char="•"/>
            </a:pPr>
            <a:r>
              <a:rPr sz="1520" b="1" i="0">
                <a:solidFill>
                  <a:srgbClr val="EB976D"/>
                </a:solidFill>
                <a:latin typeface="Fira Sans"/>
                <a:ea typeface="Fira Sans"/>
                <a:cs typeface="Fira Sans"/>
              </a:rPr>
              <a:t>5. Síntese auditável: </a:t>
            </a:r>
            <a:r>
              <a:rPr sz="1520" b="1" i="0">
                <a:solidFill>
                  <a:srgbClr val="38415C"/>
                </a:solidFill>
                <a:latin typeface="Fira Sans"/>
                <a:ea typeface="Fira Sans"/>
                <a:cs typeface="Fira Sans"/>
              </a:rPr>
              <a:t>fichas estruturadas e rastreabilidade das referências.</a:t>
            </a:r>
          </a:p>
          <a:p>
            <a:pPr marL="18" indent="-10">
              <a:spcBef>
                <a:spcPts val="2730"/>
              </a:spcBef>
              <a:spcAft>
                <a:spcPts val="7"/>
              </a:spcAft>
              <a:buNone/>
            </a:pPr>
            <a:r>
              <a:rPr sz="1305" b="1" i="0">
                <a:solidFill>
                  <a:srgbClr val="EB976D"/>
                </a:solidFill>
                <a:latin typeface="Fira Sans"/>
                <a:ea typeface="Fira Sans"/>
                <a:cs typeface="Fira Sans"/>
              </a:rPr>
              <a:t>Princípio: </a:t>
            </a:r>
            <a:r>
              <a:rPr sz="1305" b="1" i="1">
                <a:solidFill>
                  <a:srgbClr val="8C8C96"/>
                </a:solidFill>
                <a:latin typeface="Fira Sans"/>
                <a:ea typeface="Fira Sans"/>
                <a:cs typeface="Fira Sans"/>
              </a:rPr>
              <a:t>automação apoia a revisão; não substitui o julgamento dos autores.</a:t>
            </a:r>
          </a:p>
        </p:txBody>
      </p:sp>
    </p:spTree>
    <p:extLst>
      <p:ext uri="{BB962C8B-B14F-4D97-AF65-F5344CB8AC3E}">
        <p14:creationId xmlns:p14="http://schemas.microsoft.com/office/powerpoint/2010/main" val="20175992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55CBF3-4FA5-40B2-9A4F-DF729ED9DD44}"/>
              </a:ext>
            </a:extLst>
          </p:cNvPr>
          <p:cNvSpPr>
            <a:spLocks noGrp="1"/>
          </p:cNvSpPr>
          <p:nvPr>
            <p:ph type="title"/>
          </p:nvPr>
        </p:nvSpPr>
        <p:spPr/>
        <p:txBody>
          <a:bodyPr/>
          <a:lstStyle/>
          <a:p>
            <a:r>
              <a:rPr sz="2100" b="1">
                <a:solidFill>
                  <a:srgbClr val="38415C"/>
                </a:solidFill>
                <a:latin typeface="Fira Sans"/>
                <a:ea typeface="Fira Sans"/>
                <a:cs typeface="Fira Sans"/>
              </a:rPr>
              <a:t>Estratégia de retrofit e avaliação</a:t>
            </a:r>
          </a:p>
        </p:txBody>
      </p:sp>
      <p:sp>
        <p:nvSpPr>
          <p:cNvPr id="3" name="Content Placeholder 2">
            <a:extLst>
              <a:ext uri="{FF2B5EF4-FFF2-40B4-BE49-F238E27FC236}">
                <a16:creationId xmlns:a16="http://schemas.microsoft.com/office/drawing/2014/main" id="{2CF5DB59-D3B4-4404-8420-A3ECA861A639}"/>
              </a:ext>
            </a:extLst>
          </p:cNvPr>
          <p:cNvSpPr>
            <a:spLocks noGrp="1"/>
          </p:cNvSpPr>
          <p:nvPr>
            <p:ph idx="1"/>
          </p:nvPr>
        </p:nvSpPr>
        <p:spPr>
          <a:xfrm>
            <a:off x="1200150" y="1428750"/>
            <a:ext cx="7524750" cy="4238625"/>
          </a:xfrm>
        </p:spPr>
        <p:txBody>
          <a:bodyPr anchor="t">
            <a:normAutofit/>
          </a:bodyPr>
          <a:lstStyle/>
          <a:p>
            <a:pPr marL="18" indent="-10">
              <a:spcAft>
                <a:spcPts val="7"/>
              </a:spcAft>
              <a:buChar char="•"/>
            </a:pPr>
            <a:r>
              <a:rPr sz="1520" b="1" i="0">
                <a:solidFill>
                  <a:srgbClr val="EB976D"/>
                </a:solidFill>
                <a:latin typeface="Fira Sans"/>
                <a:ea typeface="Fira Sans"/>
                <a:cs typeface="Fira Sans"/>
              </a:rPr>
              <a:t>Unidade de análise: </a:t>
            </a:r>
            <a:r>
              <a:rPr sz="1520" b="1" i="0">
                <a:solidFill>
                  <a:srgbClr val="38415C"/>
                </a:solidFill>
                <a:latin typeface="Fira Sans"/>
                <a:ea typeface="Fira Sans"/>
                <a:cs typeface="Fira Sans"/>
              </a:rPr>
              <a:t>arquiteturas conceituais de Universidade Corporativa.</a:t>
            </a:r>
          </a:p>
          <a:p>
            <a:pPr marL="18" indent="-10">
              <a:spcBef>
                <a:spcPts val="2370"/>
              </a:spcBef>
              <a:spcAft>
                <a:spcPts val="7"/>
              </a:spcAft>
              <a:buChar char="•"/>
            </a:pPr>
            <a:r>
              <a:rPr sz="1520" b="1" i="0">
                <a:solidFill>
                  <a:srgbClr val="EB976D"/>
                </a:solidFill>
                <a:latin typeface="Fira Sans"/>
                <a:ea typeface="Fira Sans"/>
                <a:cs typeface="Fira Sans"/>
              </a:rPr>
              <a:t>Operação do retrofit: </a:t>
            </a:r>
            <a:r>
              <a:rPr sz="1520" b="1" i="0">
                <a:solidFill>
                  <a:srgbClr val="38415C"/>
                </a:solidFill>
                <a:latin typeface="Fira Sans"/>
                <a:ea typeface="Fira Sans"/>
                <a:cs typeface="Fira Sans"/>
              </a:rPr>
              <a:t>preservar Motive, Model e Moment e adicionar capacidades de IA e governança.</a:t>
            </a:r>
          </a:p>
          <a:p>
            <a:pPr marL="18" indent="-10">
              <a:spcBef>
                <a:spcPts val="2370"/>
              </a:spcBef>
              <a:spcAft>
                <a:spcPts val="7"/>
              </a:spcAft>
              <a:buChar char="•"/>
            </a:pPr>
            <a:r>
              <a:rPr sz="1520" b="1" i="0">
                <a:solidFill>
                  <a:srgbClr val="EB976D"/>
                </a:solidFill>
                <a:latin typeface="Fira Sans"/>
                <a:ea typeface="Fira Sans"/>
                <a:cs typeface="Fira Sans"/>
              </a:rPr>
              <a:t>Cinco dimensões: </a:t>
            </a:r>
            <a:r>
              <a:rPr sz="1520" b="1" i="0">
                <a:solidFill>
                  <a:srgbClr val="38415C"/>
                </a:solidFill>
                <a:latin typeface="Fira Sans"/>
                <a:ea typeface="Fira Sans"/>
                <a:cs typeface="Fira Sans"/>
              </a:rPr>
              <a:t>agência, simbiose, ciclo de GC, governança/integridade e aprendizagem no fluxo.</a:t>
            </a:r>
          </a:p>
          <a:p>
            <a:pPr marL="18" indent="-10">
              <a:spcBef>
                <a:spcPts val="2370"/>
              </a:spcBef>
              <a:spcAft>
                <a:spcPts val="7"/>
              </a:spcAft>
              <a:buChar char="•"/>
            </a:pPr>
            <a:r>
              <a:rPr sz="1520" b="1" i="0">
                <a:solidFill>
                  <a:srgbClr val="EB976D"/>
                </a:solidFill>
                <a:latin typeface="Fira Sans"/>
                <a:ea typeface="Fira Sans"/>
                <a:cs typeface="Fira Sans"/>
              </a:rPr>
              <a:t>Rubrica ordinal: </a:t>
            </a:r>
            <a:r>
              <a:rPr sz="1520" b="1" i="0">
                <a:solidFill>
                  <a:srgbClr val="38415C"/>
                </a:solidFill>
                <a:latin typeface="Fira Sans"/>
                <a:ea typeface="Fira Sans"/>
                <a:cs typeface="Fira Sans"/>
              </a:rPr>
              <a:t>Ausente, Parcial ou Pleno, conforme centralidade explícita no modelo.</a:t>
            </a:r>
          </a:p>
          <a:p>
            <a:pPr marL="18" indent="-10">
              <a:spcBef>
                <a:spcPts val="2370"/>
              </a:spcBef>
              <a:spcAft>
                <a:spcPts val="7"/>
              </a:spcAft>
              <a:buChar char="•"/>
            </a:pPr>
            <a:r>
              <a:rPr sz="1520" b="1" i="0">
                <a:solidFill>
                  <a:srgbClr val="EB976D"/>
                </a:solidFill>
                <a:latin typeface="Fira Sans"/>
                <a:ea typeface="Fira Sans"/>
                <a:cs typeface="Fira Sans"/>
              </a:rPr>
              <a:t>Evidência: </a:t>
            </a:r>
            <a:r>
              <a:rPr sz="1520" b="1" i="0">
                <a:solidFill>
                  <a:srgbClr val="38415C"/>
                </a:solidFill>
                <a:latin typeface="Fira Sans"/>
                <a:ea typeface="Fira Sans"/>
                <a:cs typeface="Fira Sans"/>
              </a:rPr>
              <a:t>descrições dos 19 modelos catalogados e literatura de ancoragem.</a:t>
            </a:r>
          </a:p>
          <a:p>
            <a:pPr marL="18" indent="-10">
              <a:spcBef>
                <a:spcPts val="2370"/>
              </a:spcBef>
              <a:spcAft>
                <a:spcPts val="7"/>
              </a:spcAft>
              <a:buNone/>
            </a:pPr>
            <a:r>
              <a:rPr sz="1305" b="1" i="0">
                <a:solidFill>
                  <a:srgbClr val="EB976D"/>
                </a:solidFill>
                <a:latin typeface="Fira Sans"/>
                <a:ea typeface="Fira Sans"/>
                <a:cs typeface="Fira Sans"/>
              </a:rPr>
              <a:t>Limite: </a:t>
            </a:r>
            <a:r>
              <a:rPr sz="1305" b="1" i="1">
                <a:solidFill>
                  <a:srgbClr val="8C8C96"/>
                </a:solidFill>
                <a:latin typeface="Fira Sans"/>
                <a:ea typeface="Fira Sans"/>
                <a:cs typeface="Fira Sans"/>
              </a:rPr>
              <a:t>classificação atribuída pelos autores, sem avaliadores independentes.</a:t>
            </a:r>
          </a:p>
        </p:txBody>
      </p:sp>
    </p:spTree>
    <p:extLst>
      <p:ext uri="{BB962C8B-B14F-4D97-AF65-F5344CB8AC3E}">
        <p14:creationId xmlns:p14="http://schemas.microsoft.com/office/powerpoint/2010/main" val="140080915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7A190-9059-4085-A03A-593A121DB482}"/>
              </a:ext>
            </a:extLst>
          </p:cNvPr>
          <p:cNvSpPr>
            <a:spLocks noGrp="1"/>
          </p:cNvSpPr>
          <p:nvPr>
            <p:ph type="title"/>
          </p:nvPr>
        </p:nvSpPr>
        <p:spPr/>
        <p:txBody>
          <a:bodyPr/>
          <a:lstStyle/>
          <a:p>
            <a:r>
              <a:rPr sz="2100" b="1">
                <a:solidFill>
                  <a:srgbClr val="38415C"/>
                </a:solidFill>
                <a:latin typeface="Fira Sans"/>
                <a:ea typeface="Fira Sans"/>
                <a:cs typeface="Fira Sans"/>
              </a:rPr>
              <a:t>Modelo 3M 5.0 proposto</a:t>
            </a:r>
          </a:p>
        </p:txBody>
      </p:sp>
      <p:graphicFrame>
        <p:nvGraphicFramePr>
          <p:cNvPr id="3" name="Tabela Sintese Retrofit"/>
          <p:cNvGraphicFramePr/>
          <p:nvPr>
            <p:extLst>
              <p:ext uri="{D42A27DB-BD31-4B8C-83A1-F6EECF244321}">
                <p14:modId xmlns:p14="http://schemas.microsoft.com/office/powerpoint/2010/main" val="3280505351"/>
              </p:ext>
            </p:extLst>
          </p:nvPr>
        </p:nvGraphicFramePr>
        <p:xfrm>
          <a:off x="117417" y="1420000"/>
          <a:ext cx="8667750" cy="4450000"/>
        </p:xfrm>
        <a:graphic>
          <a:graphicData uri="http://schemas.openxmlformats.org/drawingml/2006/table">
            <a:tbl>
              <a:tblPr firstRow="1">
                <a:tableStyleId>{5C22544A-7EE6-4342-B048-85BDC9FD1C3A}</a:tableStyleId>
              </a:tblPr>
              <a:tblGrid>
                <a:gridCol w="1285875">
                  <a:extLst>
                    <a:ext uri="{9D8B030D-6E8A-4147-A177-3AD203B41FA5}">
                      <a16:colId xmlns:a16="http://schemas.microsoft.com/office/drawing/2014/main" val="20000"/>
                    </a:ext>
                  </a:extLst>
                </a:gridCol>
                <a:gridCol w="2333625">
                  <a:extLst>
                    <a:ext uri="{9D8B030D-6E8A-4147-A177-3AD203B41FA5}">
                      <a16:colId xmlns:a16="http://schemas.microsoft.com/office/drawing/2014/main" val="20001"/>
                    </a:ext>
                  </a:extLst>
                </a:gridCol>
                <a:gridCol w="2333625">
                  <a:extLst>
                    <a:ext uri="{9D8B030D-6E8A-4147-A177-3AD203B41FA5}">
                      <a16:colId xmlns:a16="http://schemas.microsoft.com/office/drawing/2014/main" val="20002"/>
                    </a:ext>
                  </a:extLst>
                </a:gridCol>
                <a:gridCol w="2714625">
                  <a:extLst>
                    <a:ext uri="{9D8B030D-6E8A-4147-A177-3AD203B41FA5}">
                      <a16:colId xmlns:a16="http://schemas.microsoft.com/office/drawing/2014/main" val="20003"/>
                    </a:ext>
                  </a:extLst>
                </a:gridCol>
              </a:tblGrid>
              <a:tr h="250000">
                <a:tc>
                  <a:txBody>
                    <a:bodyPr/>
                    <a:lstStyle/>
                    <a:p>
                      <a:pPr algn="ctr">
                        <a:buNone/>
                      </a:pPr>
                      <a:r>
                        <a:rPr sz="788" b="1" dirty="0" err="1">
                          <a:solidFill>
                            <a:schemeClr val="bg1"/>
                          </a:solidFill>
                          <a:latin typeface="Fira Sans"/>
                          <a:ea typeface="Fira Sans"/>
                          <a:cs typeface="Fira Sans"/>
                        </a:rPr>
                        <a:t>Dimensão</a:t>
                      </a:r>
                      <a:endParaRPr sz="788" b="1" dirty="0">
                        <a:solidFill>
                          <a:schemeClr val="bg1"/>
                        </a:solidFill>
                        <a:latin typeface="Fira Sans"/>
                        <a:ea typeface="Fira Sans"/>
                        <a:cs typeface="Fira Sans"/>
                      </a:endParaRPr>
                    </a:p>
                  </a:txBody>
                  <a:tcPr marL="45720" marR="45720" marT="22860" marB="22860" anchor="ctr"/>
                </a:tc>
                <a:tc>
                  <a:txBody>
                    <a:bodyPr/>
                    <a:lstStyle/>
                    <a:p>
                      <a:pPr algn="ctr">
                        <a:buNone/>
                      </a:pPr>
                      <a:r>
                        <a:rPr sz="788" b="1" dirty="0">
                          <a:solidFill>
                            <a:schemeClr val="bg1"/>
                          </a:solidFill>
                          <a:latin typeface="Fira Sans"/>
                          <a:ea typeface="Fira Sans"/>
                          <a:cs typeface="Fira Sans"/>
                        </a:rPr>
                        <a:t>Modelo 3M original</a:t>
                      </a:r>
                    </a:p>
                  </a:txBody>
                  <a:tcPr marL="45720" marR="45720" marT="22860" marB="22860" anchor="ctr"/>
                </a:tc>
                <a:tc>
                  <a:txBody>
                    <a:bodyPr/>
                    <a:lstStyle/>
                    <a:p>
                      <a:pPr algn="ctr">
                        <a:buNone/>
                      </a:pPr>
                      <a:r>
                        <a:rPr sz="788" b="1" dirty="0">
                          <a:solidFill>
                            <a:schemeClr val="bg1"/>
                          </a:solidFill>
                          <a:latin typeface="Fira Sans"/>
                          <a:ea typeface="Fira Sans"/>
                          <a:cs typeface="Fira Sans"/>
                        </a:rPr>
                        <a:t>IA </a:t>
                      </a:r>
                      <a:r>
                        <a:rPr sz="788" b="1" dirty="0" err="1">
                          <a:solidFill>
                            <a:schemeClr val="bg1"/>
                          </a:solidFill>
                          <a:latin typeface="Fira Sans"/>
                          <a:ea typeface="Fira Sans"/>
                          <a:cs typeface="Fira Sans"/>
                        </a:rPr>
                        <a:t>como</a:t>
                      </a:r>
                      <a:r>
                        <a:rPr sz="788" b="1" dirty="0">
                          <a:solidFill>
                            <a:schemeClr val="bg1"/>
                          </a:solidFill>
                          <a:latin typeface="Fira Sans"/>
                          <a:ea typeface="Fira Sans"/>
                          <a:cs typeface="Fira Sans"/>
                        </a:rPr>
                        <a:t> ferramenta</a:t>
                      </a:r>
                    </a:p>
                  </a:txBody>
                  <a:tcPr marL="45720" marR="45720" marT="22860" marB="22860" anchor="ctr"/>
                </a:tc>
                <a:tc>
                  <a:txBody>
                    <a:bodyPr/>
                    <a:lstStyle/>
                    <a:p>
                      <a:pPr algn="ctr">
                        <a:buNone/>
                      </a:pPr>
                      <a:r>
                        <a:rPr sz="788" b="1" dirty="0">
                          <a:solidFill>
                            <a:schemeClr val="bg1"/>
                          </a:solidFill>
                          <a:latin typeface="Fira Sans"/>
                          <a:ea typeface="Fira Sans"/>
                          <a:cs typeface="Fira Sans"/>
                        </a:rPr>
                        <a:t>IA </a:t>
                      </a:r>
                      <a:r>
                        <a:rPr sz="788" b="1" dirty="0" err="1">
                          <a:solidFill>
                            <a:schemeClr val="bg1"/>
                          </a:solidFill>
                          <a:latin typeface="Fira Sans"/>
                          <a:ea typeface="Fira Sans"/>
                          <a:cs typeface="Fira Sans"/>
                        </a:rPr>
                        <a:t>como</a:t>
                      </a:r>
                      <a:r>
                        <a:rPr sz="788" b="1" dirty="0">
                          <a:solidFill>
                            <a:schemeClr val="bg1"/>
                          </a:solidFill>
                          <a:latin typeface="Fira Sans"/>
                          <a:ea typeface="Fira Sans"/>
                          <a:cs typeface="Fira Sans"/>
                        </a:rPr>
                        <a:t> </a:t>
                      </a:r>
                      <a:r>
                        <a:rPr sz="788" b="1" dirty="0" err="1">
                          <a:solidFill>
                            <a:schemeClr val="bg1"/>
                          </a:solidFill>
                          <a:latin typeface="Fira Sans"/>
                          <a:ea typeface="Fira Sans"/>
                          <a:cs typeface="Fira Sans"/>
                        </a:rPr>
                        <a:t>agente</a:t>
                      </a:r>
                      <a:r>
                        <a:rPr sz="788" b="1" dirty="0">
                          <a:solidFill>
                            <a:schemeClr val="bg1"/>
                          </a:solidFill>
                          <a:latin typeface="Fira Sans"/>
                          <a:ea typeface="Fira Sans"/>
                          <a:cs typeface="Fira Sans"/>
                        </a:rPr>
                        <a:t> </a:t>
                      </a:r>
                      <a:r>
                        <a:rPr sz="788" b="1" dirty="0" err="1">
                          <a:solidFill>
                            <a:schemeClr val="bg1"/>
                          </a:solidFill>
                          <a:latin typeface="Fira Sans"/>
                          <a:ea typeface="Fira Sans"/>
                          <a:cs typeface="Fira Sans"/>
                        </a:rPr>
                        <a:t>operacional</a:t>
                      </a:r>
                      <a:endParaRPr sz="788" b="1" dirty="0">
                        <a:solidFill>
                          <a:schemeClr val="bg1"/>
                        </a:solidFill>
                        <a:latin typeface="Fira Sans"/>
                        <a:ea typeface="Fira Sans"/>
                        <a:cs typeface="Fira Sans"/>
                      </a:endParaRPr>
                    </a:p>
                  </a:txBody>
                  <a:tcPr marL="45720" marR="45720" marT="22860" marB="22860" anchor="ctr"/>
                </a:tc>
                <a:extLst>
                  <a:ext uri="{0D108BD9-81ED-4DB2-BD59-A6C34878D82A}">
                    <a16:rowId xmlns:a16="http://schemas.microsoft.com/office/drawing/2014/main" val="10000"/>
                  </a:ext>
                </a:extLst>
              </a:tr>
              <a:tr h="1050000">
                <a:tc>
                  <a:txBody>
                    <a:bodyPr/>
                    <a:lstStyle/>
                    <a:p>
                      <a:pPr algn="ctr">
                        <a:buNone/>
                      </a:pPr>
                      <a:r>
                        <a:rPr sz="713" b="1">
                          <a:solidFill>
                            <a:srgbClr val="38415C"/>
                          </a:solidFill>
                          <a:latin typeface="Fira Sans"/>
                          <a:ea typeface="Fira Sans"/>
                          <a:cs typeface="Fira Sans"/>
                        </a:rPr>
                        <a:t>Motive</a:t>
                      </a:r>
                    </a:p>
                  </a:txBody>
                  <a:tcPr marL="45720" marR="45720" marT="22860" marB="22860" anchor="ctr"/>
                </a:tc>
                <a:tc>
                  <a:txBody>
                    <a:bodyPr/>
                    <a:lstStyle/>
                    <a:p>
                      <a:pPr algn="l">
                        <a:buNone/>
                      </a:pPr>
                      <a:r>
                        <a:rPr sz="713" b="0">
                          <a:solidFill>
                            <a:srgbClr val="38415C"/>
                          </a:solidFill>
                          <a:latin typeface="Fira Sans"/>
                          <a:ea typeface="Fira Sans"/>
                          <a:cs typeface="Fira Sans"/>
                        </a:rPr>
                        <a:t>Alinhar estratégia e competências</a:t>
                      </a:r>
                    </a:p>
                  </a:txBody>
                  <a:tcPr marL="45720" marR="45720" marT="22860" marB="22860" anchor="ctr"/>
                </a:tc>
                <a:tc>
                  <a:txBody>
                    <a:bodyPr/>
                    <a:lstStyle/>
                    <a:p>
                      <a:pPr algn="l">
                        <a:buNone/>
                      </a:pPr>
                      <a:r>
                        <a:rPr sz="713" b="0" dirty="0" err="1">
                          <a:solidFill>
                            <a:srgbClr val="38415C"/>
                          </a:solidFill>
                          <a:latin typeface="Fira Sans"/>
                          <a:ea typeface="Fira Sans"/>
                          <a:cs typeface="Fira Sans"/>
                        </a:rPr>
                        <a:t>Analisar</a:t>
                      </a:r>
                      <a:r>
                        <a:rPr sz="713" b="0" dirty="0">
                          <a:solidFill>
                            <a:srgbClr val="38415C"/>
                          </a:solidFill>
                          <a:latin typeface="Fira Sans"/>
                          <a:ea typeface="Fira Sans"/>
                          <a:cs typeface="Fira Sans"/>
                        </a:rPr>
                        <a:t> </a:t>
                      </a:r>
                      <a:r>
                        <a:rPr sz="713" b="0" dirty="0" err="1">
                          <a:solidFill>
                            <a:srgbClr val="38415C"/>
                          </a:solidFill>
                          <a:latin typeface="Fira Sans"/>
                          <a:ea typeface="Fira Sans"/>
                          <a:cs typeface="Fira Sans"/>
                        </a:rPr>
                        <a:t>sinais</a:t>
                      </a:r>
                      <a:r>
                        <a:rPr sz="713" b="0" dirty="0">
                          <a:solidFill>
                            <a:srgbClr val="38415C"/>
                          </a:solidFill>
                          <a:latin typeface="Fira Sans"/>
                          <a:ea typeface="Fira Sans"/>
                          <a:cs typeface="Fira Sans"/>
                        </a:rPr>
                        <a:t> e lacunas</a:t>
                      </a:r>
                    </a:p>
                  </a:txBody>
                  <a:tcPr marL="45720" marR="45720" marT="22860" marB="22860" anchor="ctr"/>
                </a:tc>
                <a:tc>
                  <a:txBody>
                    <a:bodyPr/>
                    <a:lstStyle/>
                    <a:p>
                      <a:pPr algn="l">
                        <a:buNone/>
                      </a:pPr>
                      <a:r>
                        <a:rPr sz="713" b="0" dirty="0">
                          <a:solidFill>
                            <a:srgbClr val="38415C"/>
                          </a:solidFill>
                          <a:latin typeface="Fira Sans"/>
                          <a:ea typeface="Fira Sans"/>
                          <a:cs typeface="Fira Sans"/>
                        </a:rPr>
                        <a:t>Sugerir </a:t>
                      </a:r>
                      <a:r>
                        <a:rPr sz="713" b="0" dirty="0" err="1">
                          <a:solidFill>
                            <a:srgbClr val="38415C"/>
                          </a:solidFill>
                          <a:latin typeface="Fira Sans"/>
                          <a:ea typeface="Fira Sans"/>
                          <a:cs typeface="Fira Sans"/>
                        </a:rPr>
                        <a:t>prioridades</a:t>
                      </a:r>
                      <a:r>
                        <a:rPr sz="713" b="0" dirty="0">
                          <a:solidFill>
                            <a:srgbClr val="38415C"/>
                          </a:solidFill>
                          <a:latin typeface="Fira Sans"/>
                          <a:ea typeface="Fira Sans"/>
                          <a:cs typeface="Fira Sans"/>
                        </a:rPr>
                        <a:t> sob </a:t>
                      </a:r>
                      <a:r>
                        <a:rPr sz="713" b="0" dirty="0" err="1">
                          <a:solidFill>
                            <a:srgbClr val="38415C"/>
                          </a:solidFill>
                          <a:latin typeface="Fira Sans"/>
                          <a:ea typeface="Fira Sans"/>
                          <a:cs typeface="Fira Sans"/>
                        </a:rPr>
                        <a:t>decisão</a:t>
                      </a:r>
                      <a:r>
                        <a:rPr sz="713" b="0" dirty="0">
                          <a:solidFill>
                            <a:srgbClr val="38415C"/>
                          </a:solidFill>
                          <a:latin typeface="Fira Sans"/>
                          <a:ea typeface="Fira Sans"/>
                          <a:cs typeface="Fira Sans"/>
                        </a:rPr>
                        <a:t> humana</a:t>
                      </a:r>
                    </a:p>
                  </a:txBody>
                  <a:tcPr marL="45720" marR="45720" marT="22860" marB="22860" anchor="ctr"/>
                </a:tc>
                <a:extLst>
                  <a:ext uri="{0D108BD9-81ED-4DB2-BD59-A6C34878D82A}">
                    <a16:rowId xmlns:a16="http://schemas.microsoft.com/office/drawing/2014/main" val="10001"/>
                  </a:ext>
                </a:extLst>
              </a:tr>
              <a:tr h="1050000">
                <a:tc>
                  <a:txBody>
                    <a:bodyPr/>
                    <a:lstStyle/>
                    <a:p>
                      <a:pPr algn="ctr">
                        <a:buNone/>
                      </a:pPr>
                      <a:r>
                        <a:rPr sz="713" b="1">
                          <a:solidFill>
                            <a:srgbClr val="38415C"/>
                          </a:solidFill>
                          <a:latin typeface="Fira Sans"/>
                          <a:ea typeface="Fira Sans"/>
                          <a:cs typeface="Fira Sans"/>
                        </a:rPr>
                        <a:t>Model</a:t>
                      </a:r>
                    </a:p>
                  </a:txBody>
                  <a:tcPr marL="45720" marR="45720" marT="22860" marB="22860" anchor="ctr"/>
                </a:tc>
                <a:tc>
                  <a:txBody>
                    <a:bodyPr/>
                    <a:lstStyle/>
                    <a:p>
                      <a:pPr algn="l">
                        <a:buNone/>
                      </a:pPr>
                      <a:r>
                        <a:rPr sz="713" b="0">
                          <a:solidFill>
                            <a:srgbClr val="38415C"/>
                          </a:solidFill>
                          <a:latin typeface="Fira Sans"/>
                          <a:ea typeface="Fira Sans"/>
                          <a:cs typeface="Fira Sans"/>
                        </a:rPr>
                        <a:t>Estruturar programas e métodos</a:t>
                      </a:r>
                    </a:p>
                  </a:txBody>
                  <a:tcPr marL="45720" marR="45720" marT="22860" marB="22860" anchor="ctr"/>
                </a:tc>
                <a:tc>
                  <a:txBody>
                    <a:bodyPr/>
                    <a:lstStyle/>
                    <a:p>
                      <a:pPr algn="l">
                        <a:buNone/>
                      </a:pPr>
                      <a:r>
                        <a:rPr sz="713" b="0">
                          <a:solidFill>
                            <a:srgbClr val="38415C"/>
                          </a:solidFill>
                          <a:latin typeface="Fira Sans"/>
                          <a:ea typeface="Fira Sans"/>
                          <a:cs typeface="Fira Sans"/>
                        </a:rPr>
                        <a:t>RAG, LLMs e grafos</a:t>
                      </a:r>
                    </a:p>
                  </a:txBody>
                  <a:tcPr marL="45720" marR="45720" marT="22860" marB="22860" anchor="ctr"/>
                </a:tc>
                <a:tc>
                  <a:txBody>
                    <a:bodyPr/>
                    <a:lstStyle/>
                    <a:p>
                      <a:pPr algn="l">
                        <a:buNone/>
                      </a:pPr>
                      <a:r>
                        <a:rPr sz="713" b="0">
                          <a:solidFill>
                            <a:srgbClr val="38415C"/>
                          </a:solidFill>
                          <a:latin typeface="Fira Sans"/>
                          <a:ea typeface="Fira Sans"/>
                          <a:cs typeface="Fira Sans"/>
                        </a:rPr>
                        <a:t>Apoiar prática, registrar e sintetizar</a:t>
                      </a:r>
                    </a:p>
                  </a:txBody>
                  <a:tcPr marL="45720" marR="45720" marT="22860" marB="22860" anchor="ctr"/>
                </a:tc>
                <a:extLst>
                  <a:ext uri="{0D108BD9-81ED-4DB2-BD59-A6C34878D82A}">
                    <a16:rowId xmlns:a16="http://schemas.microsoft.com/office/drawing/2014/main" val="10002"/>
                  </a:ext>
                </a:extLst>
              </a:tr>
              <a:tr h="1050000">
                <a:tc>
                  <a:txBody>
                    <a:bodyPr/>
                    <a:lstStyle/>
                    <a:p>
                      <a:pPr algn="ctr">
                        <a:buNone/>
                      </a:pPr>
                      <a:r>
                        <a:rPr sz="713" b="1">
                          <a:solidFill>
                            <a:srgbClr val="38415C"/>
                          </a:solidFill>
                          <a:latin typeface="Fira Sans"/>
                          <a:ea typeface="Fira Sans"/>
                          <a:cs typeface="Fira Sans"/>
                        </a:rPr>
                        <a:t>Moment</a:t>
                      </a:r>
                    </a:p>
                  </a:txBody>
                  <a:tcPr marL="45720" marR="45720" marT="22860" marB="22860" anchor="ctr"/>
                </a:tc>
                <a:tc>
                  <a:txBody>
                    <a:bodyPr/>
                    <a:lstStyle/>
                    <a:p>
                      <a:pPr algn="l">
                        <a:buNone/>
                      </a:pPr>
                      <a:r>
                        <a:rPr sz="713" b="0">
                          <a:solidFill>
                            <a:srgbClr val="38415C"/>
                          </a:solidFill>
                          <a:latin typeface="Fira Sans"/>
                          <a:ea typeface="Fira Sans"/>
                          <a:cs typeface="Fira Sans"/>
                        </a:rPr>
                        <a:t>Responder às mudanças do ambiente</a:t>
                      </a:r>
                    </a:p>
                  </a:txBody>
                  <a:tcPr marL="45720" marR="45720" marT="22860" marB="22860" anchor="ctr"/>
                </a:tc>
                <a:tc>
                  <a:txBody>
                    <a:bodyPr/>
                    <a:lstStyle/>
                    <a:p>
                      <a:pPr algn="l">
                        <a:buNone/>
                      </a:pPr>
                      <a:r>
                        <a:rPr sz="713" b="0">
                          <a:solidFill>
                            <a:srgbClr val="38415C"/>
                          </a:solidFill>
                          <a:latin typeface="Fira Sans"/>
                          <a:ea typeface="Fira Sans"/>
                          <a:cs typeface="Fira Sans"/>
                        </a:rPr>
                        <a:t>Monitorar riscos e desempenho</a:t>
                      </a:r>
                    </a:p>
                  </a:txBody>
                  <a:tcPr marL="45720" marR="45720" marT="22860" marB="22860" anchor="ctr"/>
                </a:tc>
                <a:tc>
                  <a:txBody>
                    <a:bodyPr/>
                    <a:lstStyle/>
                    <a:p>
                      <a:pPr algn="l">
                        <a:buNone/>
                      </a:pPr>
                      <a:r>
                        <a:rPr sz="713" b="0">
                          <a:solidFill>
                            <a:srgbClr val="38415C"/>
                          </a:solidFill>
                          <a:latin typeface="Fira Sans"/>
                          <a:ea typeface="Fira Sans"/>
                          <a:cs typeface="Fira Sans"/>
                        </a:rPr>
                        <a:t>Acionar controles e contestação</a:t>
                      </a:r>
                    </a:p>
                  </a:txBody>
                  <a:tcPr marL="45720" marR="45720" marT="22860" marB="22860" anchor="ctr"/>
                </a:tc>
                <a:extLst>
                  <a:ext uri="{0D108BD9-81ED-4DB2-BD59-A6C34878D82A}">
                    <a16:rowId xmlns:a16="http://schemas.microsoft.com/office/drawing/2014/main" val="10003"/>
                  </a:ext>
                </a:extLst>
              </a:tr>
              <a:tr h="1050000">
                <a:tc>
                  <a:txBody>
                    <a:bodyPr/>
                    <a:lstStyle/>
                    <a:p>
                      <a:pPr algn="ctr">
                        <a:buNone/>
                      </a:pPr>
                      <a:r>
                        <a:rPr sz="713" b="1">
                          <a:solidFill>
                            <a:srgbClr val="38415C"/>
                          </a:solidFill>
                          <a:latin typeface="Fira Sans"/>
                          <a:ea typeface="Fira Sans"/>
                          <a:cs typeface="Fira Sans"/>
                        </a:rPr>
                        <a:t>Transversal</a:t>
                      </a:r>
                    </a:p>
                  </a:txBody>
                  <a:tcPr marL="45720" marR="45720" marT="22860" marB="22860" anchor="ctr"/>
                </a:tc>
                <a:tc>
                  <a:txBody>
                    <a:bodyPr/>
                    <a:lstStyle/>
                    <a:p>
                      <a:pPr algn="l">
                        <a:buNone/>
                      </a:pPr>
                      <a:r>
                        <a:rPr sz="713" b="0">
                          <a:solidFill>
                            <a:srgbClr val="38415C"/>
                          </a:solidFill>
                          <a:latin typeface="Fira Sans"/>
                          <a:ea typeface="Fira Sans"/>
                          <a:cs typeface="Fira Sans"/>
                        </a:rPr>
                        <a:t>Tecnologia como variável contextual</a:t>
                      </a:r>
                    </a:p>
                  </a:txBody>
                  <a:tcPr marL="45720" marR="45720" marT="22860" marB="22860" anchor="ctr"/>
                </a:tc>
                <a:tc>
                  <a:txBody>
                    <a:bodyPr/>
                    <a:lstStyle/>
                    <a:p>
                      <a:pPr algn="l">
                        <a:buNone/>
                      </a:pPr>
                      <a:r>
                        <a:rPr sz="713" b="0">
                          <a:solidFill>
                            <a:srgbClr val="38415C"/>
                          </a:solidFill>
                          <a:latin typeface="Fira Sans"/>
                          <a:ea typeface="Fira Sans"/>
                          <a:cs typeface="Fira Sans"/>
                        </a:rPr>
                        <a:t>Infraestrutura sociotécnica</a:t>
                      </a:r>
                    </a:p>
                  </a:txBody>
                  <a:tcPr marL="45720" marR="45720" marT="22860" marB="22860" anchor="ctr"/>
                </a:tc>
                <a:tc>
                  <a:txBody>
                    <a:bodyPr/>
                    <a:lstStyle/>
                    <a:p>
                      <a:pPr algn="l">
                        <a:buNone/>
                      </a:pPr>
                      <a:r>
                        <a:rPr sz="713" b="0" dirty="0" err="1">
                          <a:solidFill>
                            <a:srgbClr val="38415C"/>
                          </a:solidFill>
                          <a:latin typeface="Fira Sans"/>
                          <a:ea typeface="Fira Sans"/>
                          <a:cs typeface="Fira Sans"/>
                        </a:rPr>
                        <a:t>Agência</a:t>
                      </a:r>
                      <a:r>
                        <a:rPr sz="713" b="0" dirty="0">
                          <a:solidFill>
                            <a:srgbClr val="38415C"/>
                          </a:solidFill>
                          <a:latin typeface="Fira Sans"/>
                          <a:ea typeface="Fira Sans"/>
                          <a:cs typeface="Fira Sans"/>
                        </a:rPr>
                        <a:t> </a:t>
                      </a:r>
                      <a:r>
                        <a:rPr sz="713" b="0" dirty="0" err="1">
                          <a:solidFill>
                            <a:srgbClr val="38415C"/>
                          </a:solidFill>
                          <a:latin typeface="Fira Sans"/>
                          <a:ea typeface="Fira Sans"/>
                          <a:cs typeface="Fira Sans"/>
                        </a:rPr>
                        <a:t>limitada</a:t>
                      </a:r>
                      <a:r>
                        <a:rPr sz="713" b="0" dirty="0">
                          <a:solidFill>
                            <a:srgbClr val="38415C"/>
                          </a:solidFill>
                          <a:latin typeface="Fira Sans"/>
                          <a:ea typeface="Fira Sans"/>
                          <a:cs typeface="Fira Sans"/>
                        </a:rPr>
                        <a:t> </a:t>
                      </a:r>
                      <a:r>
                        <a:rPr sz="713" b="0" dirty="0" err="1">
                          <a:solidFill>
                            <a:srgbClr val="38415C"/>
                          </a:solidFill>
                          <a:latin typeface="Fira Sans"/>
                          <a:ea typeface="Fira Sans"/>
                          <a:cs typeface="Fira Sans"/>
                        </a:rPr>
                        <a:t>por</a:t>
                      </a:r>
                      <a:r>
                        <a:rPr sz="713" b="0" dirty="0">
                          <a:solidFill>
                            <a:srgbClr val="38415C"/>
                          </a:solidFill>
                          <a:latin typeface="Fira Sans"/>
                          <a:ea typeface="Fira Sans"/>
                          <a:cs typeface="Fira Sans"/>
                        </a:rPr>
                        <a:t> </a:t>
                      </a:r>
                      <a:r>
                        <a:rPr sz="713" b="0" dirty="0" err="1">
                          <a:solidFill>
                            <a:srgbClr val="38415C"/>
                          </a:solidFill>
                          <a:latin typeface="Fira Sans"/>
                          <a:ea typeface="Fira Sans"/>
                          <a:cs typeface="Fira Sans"/>
                        </a:rPr>
                        <a:t>governança</a:t>
                      </a:r>
                      <a:endParaRPr sz="713" b="0" dirty="0">
                        <a:solidFill>
                          <a:srgbClr val="38415C"/>
                        </a:solidFill>
                        <a:latin typeface="Fira Sans"/>
                        <a:ea typeface="Fira Sans"/>
                        <a:cs typeface="Fira Sans"/>
                      </a:endParaRPr>
                    </a:p>
                  </a:txBody>
                  <a:tcPr marL="45720" marR="45720" marT="22860" marB="22860"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671166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1F9B81-B4EF-4862-BFAB-1947CB358A88}"/>
              </a:ext>
            </a:extLst>
          </p:cNvPr>
          <p:cNvSpPr>
            <a:spLocks noGrp="1"/>
          </p:cNvSpPr>
          <p:nvPr>
            <p:ph type="title"/>
          </p:nvPr>
        </p:nvSpPr>
        <p:spPr/>
        <p:txBody>
          <a:bodyPr/>
          <a:lstStyle/>
          <a:p>
            <a:r>
              <a:rPr sz="2100" b="1">
                <a:solidFill>
                  <a:srgbClr val="38415C"/>
                </a:solidFill>
                <a:latin typeface="Fira Sans"/>
                <a:ea typeface="Fira Sans"/>
                <a:cs typeface="Fira Sans"/>
              </a:rPr>
              <a:t>Cobertura conceitual exploratória (classificação autoral)</a:t>
            </a:r>
          </a:p>
        </p:txBody>
      </p:sp>
      <p:graphicFrame>
        <p:nvGraphicFramePr>
          <p:cNvPr id="3" name="Tabela Comparativo Modelos"/>
          <p:cNvGraphicFramePr/>
          <p:nvPr>
            <p:extLst>
              <p:ext uri="{D42A27DB-BD31-4B8C-83A1-F6EECF244321}">
                <p14:modId xmlns:p14="http://schemas.microsoft.com/office/powerpoint/2010/main" val="3787878067"/>
              </p:ext>
            </p:extLst>
          </p:nvPr>
        </p:nvGraphicFramePr>
        <p:xfrm>
          <a:off x="117417" y="1420000"/>
          <a:ext cx="8667750" cy="4450000"/>
        </p:xfrm>
        <a:graphic>
          <a:graphicData uri="http://schemas.openxmlformats.org/drawingml/2006/table">
            <a:tbl>
              <a:tblPr firstRow="1">
                <a:tableStyleId>{5C22544A-7EE6-4342-B048-85BDC9FD1C3A}</a:tableStyleId>
              </a:tblPr>
              <a:tblGrid>
                <a:gridCol w="1952625">
                  <a:extLst>
                    <a:ext uri="{9D8B030D-6E8A-4147-A177-3AD203B41FA5}">
                      <a16:colId xmlns:a16="http://schemas.microsoft.com/office/drawing/2014/main" val="20000"/>
                    </a:ext>
                  </a:extLst>
                </a:gridCol>
                <a:gridCol w="2238375">
                  <a:extLst>
                    <a:ext uri="{9D8B030D-6E8A-4147-A177-3AD203B41FA5}">
                      <a16:colId xmlns:a16="http://schemas.microsoft.com/office/drawing/2014/main" val="20001"/>
                    </a:ext>
                  </a:extLst>
                </a:gridCol>
                <a:gridCol w="1952625">
                  <a:extLst>
                    <a:ext uri="{9D8B030D-6E8A-4147-A177-3AD203B41FA5}">
                      <a16:colId xmlns:a16="http://schemas.microsoft.com/office/drawing/2014/main" val="20002"/>
                    </a:ext>
                  </a:extLst>
                </a:gridCol>
                <a:gridCol w="2524125">
                  <a:extLst>
                    <a:ext uri="{9D8B030D-6E8A-4147-A177-3AD203B41FA5}">
                      <a16:colId xmlns:a16="http://schemas.microsoft.com/office/drawing/2014/main" val="20003"/>
                    </a:ext>
                  </a:extLst>
                </a:gridCol>
              </a:tblGrid>
              <a:tr h="200000">
                <a:tc>
                  <a:txBody>
                    <a:bodyPr/>
                    <a:lstStyle/>
                    <a:p>
                      <a:pPr algn="ctr">
                        <a:buNone/>
                      </a:pPr>
                      <a:r>
                        <a:rPr sz="750" b="1" dirty="0" err="1">
                          <a:solidFill>
                            <a:schemeClr val="bg1"/>
                          </a:solidFill>
                          <a:latin typeface="Fira Sans"/>
                          <a:ea typeface="Fira Sans"/>
                          <a:cs typeface="Fira Sans"/>
                        </a:rPr>
                        <a:t>Dimensão</a:t>
                      </a:r>
                      <a:endParaRPr sz="750" b="1" dirty="0">
                        <a:solidFill>
                          <a:schemeClr val="bg1"/>
                        </a:solidFill>
                        <a:latin typeface="Fira Sans"/>
                        <a:ea typeface="Fira Sans"/>
                        <a:cs typeface="Fira Sans"/>
                      </a:endParaRPr>
                    </a:p>
                  </a:txBody>
                  <a:tcPr marL="45720" marR="45720" marT="22860" marB="22860" anchor="ctr"/>
                </a:tc>
                <a:tc>
                  <a:txBody>
                    <a:bodyPr/>
                    <a:lstStyle/>
                    <a:p>
                      <a:pPr algn="ctr">
                        <a:buNone/>
                      </a:pPr>
                      <a:r>
                        <a:rPr sz="750" b="1" dirty="0">
                          <a:solidFill>
                            <a:schemeClr val="bg1"/>
                          </a:solidFill>
                          <a:latin typeface="Fira Sans"/>
                          <a:ea typeface="Fira Sans"/>
                          <a:cs typeface="Fira Sans"/>
                        </a:rPr>
                        <a:t>19 </a:t>
                      </a:r>
                      <a:r>
                        <a:rPr sz="750" b="1" dirty="0" err="1">
                          <a:solidFill>
                            <a:schemeClr val="bg1"/>
                          </a:solidFill>
                          <a:latin typeface="Fira Sans"/>
                          <a:ea typeface="Fira Sans"/>
                          <a:cs typeface="Fira Sans"/>
                        </a:rPr>
                        <a:t>modelos</a:t>
                      </a:r>
                      <a:r>
                        <a:rPr sz="750" b="1" dirty="0">
                          <a:solidFill>
                            <a:schemeClr val="bg1"/>
                          </a:solidFill>
                          <a:latin typeface="Fira Sans"/>
                          <a:ea typeface="Fira Sans"/>
                          <a:cs typeface="Fira Sans"/>
                        </a:rPr>
                        <a:t> </a:t>
                      </a:r>
                      <a:r>
                        <a:rPr sz="750" b="1" dirty="0" err="1">
                          <a:solidFill>
                            <a:schemeClr val="bg1"/>
                          </a:solidFill>
                          <a:latin typeface="Fira Sans"/>
                          <a:ea typeface="Fira Sans"/>
                          <a:cs typeface="Fira Sans"/>
                        </a:rPr>
                        <a:t>anteriores</a:t>
                      </a:r>
                      <a:endParaRPr sz="750" b="1" dirty="0">
                        <a:solidFill>
                          <a:schemeClr val="bg1"/>
                        </a:solidFill>
                        <a:latin typeface="Fira Sans"/>
                        <a:ea typeface="Fira Sans"/>
                        <a:cs typeface="Fira Sans"/>
                      </a:endParaRPr>
                    </a:p>
                  </a:txBody>
                  <a:tcPr marL="45720" marR="45720" marT="22860" marB="22860" anchor="ctr"/>
                </a:tc>
                <a:tc>
                  <a:txBody>
                    <a:bodyPr/>
                    <a:lstStyle/>
                    <a:p>
                      <a:pPr algn="ctr">
                        <a:buNone/>
                      </a:pPr>
                      <a:r>
                        <a:rPr sz="750" b="1" dirty="0">
                          <a:solidFill>
                            <a:schemeClr val="bg1"/>
                          </a:solidFill>
                          <a:latin typeface="Fira Sans"/>
                          <a:ea typeface="Fira Sans"/>
                          <a:cs typeface="Fira Sans"/>
                        </a:rPr>
                        <a:t>IA </a:t>
                      </a:r>
                      <a:r>
                        <a:rPr sz="750" b="1" dirty="0" err="1">
                          <a:solidFill>
                            <a:schemeClr val="bg1"/>
                          </a:solidFill>
                          <a:latin typeface="Fira Sans"/>
                          <a:ea typeface="Fira Sans"/>
                          <a:cs typeface="Fira Sans"/>
                        </a:rPr>
                        <a:t>como</a:t>
                      </a:r>
                      <a:r>
                        <a:rPr sz="750" b="1" dirty="0">
                          <a:solidFill>
                            <a:schemeClr val="bg1"/>
                          </a:solidFill>
                          <a:latin typeface="Fira Sans"/>
                          <a:ea typeface="Fira Sans"/>
                          <a:cs typeface="Fira Sans"/>
                        </a:rPr>
                        <a:t> ferramenta</a:t>
                      </a:r>
                    </a:p>
                  </a:txBody>
                  <a:tcPr marL="45720" marR="45720" marT="22860" marB="22860" anchor="ctr"/>
                </a:tc>
                <a:tc>
                  <a:txBody>
                    <a:bodyPr/>
                    <a:lstStyle/>
                    <a:p>
                      <a:pPr algn="ctr">
                        <a:buNone/>
                      </a:pPr>
                      <a:r>
                        <a:rPr sz="750" b="1" dirty="0">
                          <a:solidFill>
                            <a:schemeClr val="bg1"/>
                          </a:solidFill>
                          <a:latin typeface="Fira Sans"/>
                          <a:ea typeface="Fira Sans"/>
                          <a:cs typeface="Fira Sans"/>
                        </a:rPr>
                        <a:t>IA </a:t>
                      </a:r>
                      <a:r>
                        <a:rPr sz="750" b="1" dirty="0" err="1">
                          <a:solidFill>
                            <a:schemeClr val="bg1"/>
                          </a:solidFill>
                          <a:latin typeface="Fira Sans"/>
                          <a:ea typeface="Fira Sans"/>
                          <a:cs typeface="Fira Sans"/>
                        </a:rPr>
                        <a:t>como</a:t>
                      </a:r>
                      <a:r>
                        <a:rPr sz="750" b="1" dirty="0">
                          <a:solidFill>
                            <a:schemeClr val="bg1"/>
                          </a:solidFill>
                          <a:latin typeface="Fira Sans"/>
                          <a:ea typeface="Fira Sans"/>
                          <a:cs typeface="Fira Sans"/>
                        </a:rPr>
                        <a:t> </a:t>
                      </a:r>
                      <a:r>
                        <a:rPr sz="750" b="1" dirty="0" err="1">
                          <a:solidFill>
                            <a:schemeClr val="bg1"/>
                          </a:solidFill>
                          <a:latin typeface="Fira Sans"/>
                          <a:ea typeface="Fira Sans"/>
                          <a:cs typeface="Fira Sans"/>
                        </a:rPr>
                        <a:t>agente</a:t>
                      </a:r>
                      <a:endParaRPr sz="750" b="1" dirty="0">
                        <a:solidFill>
                          <a:schemeClr val="bg1"/>
                        </a:solidFill>
                        <a:latin typeface="Fira Sans"/>
                        <a:ea typeface="Fira Sans"/>
                        <a:cs typeface="Fira Sans"/>
                      </a:endParaRPr>
                    </a:p>
                  </a:txBody>
                  <a:tcPr marL="45720" marR="45720" marT="22860" marB="22860" anchor="ctr"/>
                </a:tc>
                <a:extLst>
                  <a:ext uri="{0D108BD9-81ED-4DB2-BD59-A6C34878D82A}">
                    <a16:rowId xmlns:a16="http://schemas.microsoft.com/office/drawing/2014/main" val="10000"/>
                  </a:ext>
                </a:extLst>
              </a:tr>
              <a:tr h="850000">
                <a:tc>
                  <a:txBody>
                    <a:bodyPr/>
                    <a:lstStyle/>
                    <a:p>
                      <a:pPr algn="ctr">
                        <a:buNone/>
                      </a:pPr>
                      <a:r>
                        <a:rPr sz="675" b="1">
                          <a:solidFill>
                            <a:srgbClr val="38415C"/>
                          </a:solidFill>
                          <a:latin typeface="Fira Sans"/>
                          <a:ea typeface="Fira Sans"/>
                          <a:cs typeface="Fira Sans"/>
                        </a:rPr>
                        <a:t>Agência ativa</a:t>
                      </a:r>
                    </a:p>
                  </a:txBody>
                  <a:tcPr marL="45720" marR="45720" marT="22860" marB="22860" anchor="ctr"/>
                </a:tc>
                <a:tc>
                  <a:txBody>
                    <a:bodyPr/>
                    <a:lstStyle/>
                    <a:p>
                      <a:pPr algn="l">
                        <a:buNone/>
                      </a:pPr>
                      <a:r>
                        <a:rPr sz="675" b="0">
                          <a:solidFill>
                            <a:srgbClr val="38415C"/>
                          </a:solidFill>
                          <a:latin typeface="Fira Sans"/>
                          <a:ea typeface="Fira Sans"/>
                          <a:cs typeface="Fira Sans"/>
                        </a:rPr>
                        <a:t>Não explicitada</a:t>
                      </a:r>
                    </a:p>
                  </a:txBody>
                  <a:tcPr marL="45720" marR="45720" marT="22860" marB="22860" anchor="ctr"/>
                </a:tc>
                <a:tc>
                  <a:txBody>
                    <a:bodyPr/>
                    <a:lstStyle/>
                    <a:p>
                      <a:pPr algn="l">
                        <a:buNone/>
                      </a:pPr>
                      <a:r>
                        <a:rPr sz="675" b="0">
                          <a:solidFill>
                            <a:srgbClr val="38415C"/>
                          </a:solidFill>
                          <a:latin typeface="Fira Sans"/>
                          <a:ea typeface="Fira Sans"/>
                          <a:cs typeface="Fira Sans"/>
                        </a:rPr>
                        <a:t>Parcial</a:t>
                      </a:r>
                    </a:p>
                  </a:txBody>
                  <a:tcPr marL="45720" marR="45720" marT="22860" marB="22860" anchor="ctr"/>
                </a:tc>
                <a:tc>
                  <a:txBody>
                    <a:bodyPr/>
                    <a:lstStyle/>
                    <a:p>
                      <a:pPr algn="l">
                        <a:buNone/>
                      </a:pPr>
                      <a:r>
                        <a:rPr sz="675" b="0">
                          <a:solidFill>
                            <a:srgbClr val="38415C"/>
                          </a:solidFill>
                          <a:latin typeface="Fira Sans"/>
                          <a:ea typeface="Fira Sans"/>
                          <a:cs typeface="Fira Sans"/>
                        </a:rPr>
                        <a:t>Prevista no desenho</a:t>
                      </a:r>
                    </a:p>
                  </a:txBody>
                  <a:tcPr marL="45720" marR="45720" marT="22860" marB="22860" anchor="ctr"/>
                </a:tc>
                <a:extLst>
                  <a:ext uri="{0D108BD9-81ED-4DB2-BD59-A6C34878D82A}">
                    <a16:rowId xmlns:a16="http://schemas.microsoft.com/office/drawing/2014/main" val="10001"/>
                  </a:ext>
                </a:extLst>
              </a:tr>
              <a:tr h="850000">
                <a:tc>
                  <a:txBody>
                    <a:bodyPr/>
                    <a:lstStyle/>
                    <a:p>
                      <a:pPr algn="ctr">
                        <a:buNone/>
                      </a:pPr>
                      <a:r>
                        <a:rPr sz="675" b="1">
                          <a:solidFill>
                            <a:srgbClr val="38415C"/>
                          </a:solidFill>
                          <a:latin typeface="Fira Sans"/>
                          <a:ea typeface="Fira Sans"/>
                          <a:cs typeface="Fira Sans"/>
                        </a:rPr>
                        <a:t>Simbiose humano–IA</a:t>
                      </a:r>
                    </a:p>
                  </a:txBody>
                  <a:tcPr marL="45720" marR="45720" marT="22860" marB="22860" anchor="ctr"/>
                </a:tc>
                <a:tc>
                  <a:txBody>
                    <a:bodyPr/>
                    <a:lstStyle/>
                    <a:p>
                      <a:pPr algn="l">
                        <a:buNone/>
                      </a:pPr>
                      <a:r>
                        <a:rPr sz="675" b="0">
                          <a:solidFill>
                            <a:srgbClr val="38415C"/>
                          </a:solidFill>
                          <a:latin typeface="Fira Sans"/>
                          <a:ea typeface="Fira Sans"/>
                          <a:cs typeface="Fira Sans"/>
                        </a:rPr>
                        <a:t>Não explicitada</a:t>
                      </a:r>
                    </a:p>
                  </a:txBody>
                  <a:tcPr marL="45720" marR="45720" marT="22860" marB="22860" anchor="ctr"/>
                </a:tc>
                <a:tc>
                  <a:txBody>
                    <a:bodyPr/>
                    <a:lstStyle/>
                    <a:p>
                      <a:pPr algn="l">
                        <a:buNone/>
                      </a:pPr>
                      <a:r>
                        <a:rPr sz="675" b="0">
                          <a:solidFill>
                            <a:srgbClr val="38415C"/>
                          </a:solidFill>
                          <a:latin typeface="Fira Sans"/>
                          <a:ea typeface="Fira Sans"/>
                          <a:cs typeface="Fira Sans"/>
                        </a:rPr>
                        <a:t>Parcial</a:t>
                      </a:r>
                    </a:p>
                  </a:txBody>
                  <a:tcPr marL="45720" marR="45720" marT="22860" marB="22860" anchor="ctr"/>
                </a:tc>
                <a:tc>
                  <a:txBody>
                    <a:bodyPr/>
                    <a:lstStyle/>
                    <a:p>
                      <a:pPr algn="l">
                        <a:buNone/>
                      </a:pPr>
                      <a:r>
                        <a:rPr sz="675" b="0">
                          <a:solidFill>
                            <a:srgbClr val="38415C"/>
                          </a:solidFill>
                          <a:latin typeface="Fira Sans"/>
                          <a:ea typeface="Fira Sans"/>
                          <a:cs typeface="Fira Sans"/>
                        </a:rPr>
                        <a:t>Prevista no desenho</a:t>
                      </a:r>
                    </a:p>
                  </a:txBody>
                  <a:tcPr marL="45720" marR="45720" marT="22860" marB="22860" anchor="ctr"/>
                </a:tc>
                <a:extLst>
                  <a:ext uri="{0D108BD9-81ED-4DB2-BD59-A6C34878D82A}">
                    <a16:rowId xmlns:a16="http://schemas.microsoft.com/office/drawing/2014/main" val="10002"/>
                  </a:ext>
                </a:extLst>
              </a:tr>
              <a:tr h="850000">
                <a:tc>
                  <a:txBody>
                    <a:bodyPr/>
                    <a:lstStyle/>
                    <a:p>
                      <a:pPr algn="ctr">
                        <a:buNone/>
                      </a:pPr>
                      <a:r>
                        <a:rPr sz="675" b="1">
                          <a:solidFill>
                            <a:srgbClr val="38415C"/>
                          </a:solidFill>
                          <a:latin typeface="Fira Sans"/>
                          <a:ea typeface="Fira Sans"/>
                          <a:cs typeface="Fira Sans"/>
                        </a:rPr>
                        <a:t>Ciclo dinâmico de GC</a:t>
                      </a:r>
                    </a:p>
                  </a:txBody>
                  <a:tcPr marL="45720" marR="45720" marT="22860" marB="22860" anchor="ctr"/>
                </a:tc>
                <a:tc>
                  <a:txBody>
                    <a:bodyPr/>
                    <a:lstStyle/>
                    <a:p>
                      <a:pPr algn="l">
                        <a:buNone/>
                      </a:pPr>
                      <a:r>
                        <a:rPr sz="675" b="0">
                          <a:solidFill>
                            <a:srgbClr val="38415C"/>
                          </a:solidFill>
                          <a:latin typeface="Fira Sans"/>
                          <a:ea typeface="Fira Sans"/>
                          <a:cs typeface="Fira Sans"/>
                        </a:rPr>
                        <a:t>Parcial</a:t>
                      </a:r>
                    </a:p>
                  </a:txBody>
                  <a:tcPr marL="45720" marR="45720" marT="22860" marB="22860" anchor="ctr"/>
                </a:tc>
                <a:tc>
                  <a:txBody>
                    <a:bodyPr/>
                    <a:lstStyle/>
                    <a:p>
                      <a:pPr algn="l">
                        <a:buNone/>
                      </a:pPr>
                      <a:r>
                        <a:rPr sz="675" b="0">
                          <a:solidFill>
                            <a:srgbClr val="38415C"/>
                          </a:solidFill>
                          <a:latin typeface="Fira Sans"/>
                          <a:ea typeface="Fira Sans"/>
                          <a:cs typeface="Fira Sans"/>
                        </a:rPr>
                        <a:t>Parcial</a:t>
                      </a:r>
                    </a:p>
                  </a:txBody>
                  <a:tcPr marL="45720" marR="45720" marT="22860" marB="22860" anchor="ctr"/>
                </a:tc>
                <a:tc>
                  <a:txBody>
                    <a:bodyPr/>
                    <a:lstStyle/>
                    <a:p>
                      <a:pPr algn="l">
                        <a:buNone/>
                      </a:pPr>
                      <a:r>
                        <a:rPr sz="675" b="0">
                          <a:solidFill>
                            <a:srgbClr val="38415C"/>
                          </a:solidFill>
                          <a:latin typeface="Fira Sans"/>
                          <a:ea typeface="Fira Sans"/>
                          <a:cs typeface="Fira Sans"/>
                        </a:rPr>
                        <a:t>Previsto no desenho</a:t>
                      </a:r>
                    </a:p>
                  </a:txBody>
                  <a:tcPr marL="45720" marR="45720" marT="22860" marB="22860" anchor="ctr"/>
                </a:tc>
                <a:extLst>
                  <a:ext uri="{0D108BD9-81ED-4DB2-BD59-A6C34878D82A}">
                    <a16:rowId xmlns:a16="http://schemas.microsoft.com/office/drawing/2014/main" val="10003"/>
                  </a:ext>
                </a:extLst>
              </a:tr>
              <a:tr h="850000">
                <a:tc>
                  <a:txBody>
                    <a:bodyPr/>
                    <a:lstStyle/>
                    <a:p>
                      <a:pPr algn="ctr">
                        <a:buNone/>
                      </a:pPr>
                      <a:r>
                        <a:rPr sz="675" b="1">
                          <a:solidFill>
                            <a:srgbClr val="38415C"/>
                          </a:solidFill>
                          <a:latin typeface="Fira Sans"/>
                          <a:ea typeface="Fira Sans"/>
                          <a:cs typeface="Fira Sans"/>
                        </a:rPr>
                        <a:t>Governança e integridade</a:t>
                      </a:r>
                    </a:p>
                  </a:txBody>
                  <a:tcPr marL="45720" marR="45720" marT="22860" marB="22860" anchor="ctr"/>
                </a:tc>
                <a:tc>
                  <a:txBody>
                    <a:bodyPr/>
                    <a:lstStyle/>
                    <a:p>
                      <a:pPr algn="l">
                        <a:buNone/>
                      </a:pPr>
                      <a:r>
                        <a:rPr sz="675" b="0">
                          <a:solidFill>
                            <a:srgbClr val="38415C"/>
                          </a:solidFill>
                          <a:latin typeface="Fira Sans"/>
                          <a:ea typeface="Fira Sans"/>
                          <a:cs typeface="Fira Sans"/>
                        </a:rPr>
                        <a:t>Ausente ou periférica</a:t>
                      </a:r>
                    </a:p>
                  </a:txBody>
                  <a:tcPr marL="45720" marR="45720" marT="22860" marB="22860" anchor="ctr"/>
                </a:tc>
                <a:tc>
                  <a:txBody>
                    <a:bodyPr/>
                    <a:lstStyle/>
                    <a:p>
                      <a:pPr algn="l">
                        <a:buNone/>
                      </a:pPr>
                      <a:r>
                        <a:rPr sz="675" b="0">
                          <a:solidFill>
                            <a:srgbClr val="38415C"/>
                          </a:solidFill>
                          <a:latin typeface="Fira Sans"/>
                          <a:ea typeface="Fira Sans"/>
                          <a:cs typeface="Fira Sans"/>
                        </a:rPr>
                        <a:t>Parcial</a:t>
                      </a:r>
                    </a:p>
                  </a:txBody>
                  <a:tcPr marL="45720" marR="45720" marT="22860" marB="22860" anchor="ctr"/>
                </a:tc>
                <a:tc>
                  <a:txBody>
                    <a:bodyPr/>
                    <a:lstStyle/>
                    <a:p>
                      <a:pPr algn="l">
                        <a:buNone/>
                      </a:pPr>
                      <a:r>
                        <a:rPr sz="675" b="0">
                          <a:solidFill>
                            <a:srgbClr val="38415C"/>
                          </a:solidFill>
                          <a:latin typeface="Fira Sans"/>
                          <a:ea typeface="Fira Sans"/>
                          <a:cs typeface="Fira Sans"/>
                        </a:rPr>
                        <a:t>Prevista no desenho</a:t>
                      </a:r>
                    </a:p>
                  </a:txBody>
                  <a:tcPr marL="45720" marR="45720" marT="22860" marB="22860" anchor="ctr"/>
                </a:tc>
                <a:extLst>
                  <a:ext uri="{0D108BD9-81ED-4DB2-BD59-A6C34878D82A}">
                    <a16:rowId xmlns:a16="http://schemas.microsoft.com/office/drawing/2014/main" val="10004"/>
                  </a:ext>
                </a:extLst>
              </a:tr>
              <a:tr h="850000">
                <a:tc>
                  <a:txBody>
                    <a:bodyPr/>
                    <a:lstStyle/>
                    <a:p>
                      <a:pPr algn="ctr">
                        <a:buNone/>
                      </a:pPr>
                      <a:r>
                        <a:rPr sz="675" b="1">
                          <a:solidFill>
                            <a:srgbClr val="38415C"/>
                          </a:solidFill>
                          <a:latin typeface="Fira Sans"/>
                          <a:ea typeface="Fira Sans"/>
                          <a:cs typeface="Fira Sans"/>
                        </a:rPr>
                        <a:t>Aprendizagem no fluxo</a:t>
                      </a:r>
                    </a:p>
                  </a:txBody>
                  <a:tcPr marL="45720" marR="45720" marT="22860" marB="22860" anchor="ctr"/>
                </a:tc>
                <a:tc>
                  <a:txBody>
                    <a:bodyPr/>
                    <a:lstStyle/>
                    <a:p>
                      <a:pPr algn="l">
                        <a:buNone/>
                      </a:pPr>
                      <a:r>
                        <a:rPr sz="675" b="0">
                          <a:solidFill>
                            <a:srgbClr val="38415C"/>
                          </a:solidFill>
                          <a:latin typeface="Fira Sans"/>
                          <a:ea typeface="Fira Sans"/>
                          <a:cs typeface="Fira Sans"/>
                        </a:rPr>
                        <a:t>Parcial</a:t>
                      </a:r>
                    </a:p>
                  </a:txBody>
                  <a:tcPr marL="45720" marR="45720" marT="22860" marB="22860" anchor="ctr"/>
                </a:tc>
                <a:tc>
                  <a:txBody>
                    <a:bodyPr/>
                    <a:lstStyle/>
                    <a:p>
                      <a:pPr algn="l">
                        <a:buNone/>
                      </a:pPr>
                      <a:r>
                        <a:rPr sz="675" b="0">
                          <a:solidFill>
                            <a:srgbClr val="38415C"/>
                          </a:solidFill>
                          <a:latin typeface="Fira Sans"/>
                          <a:ea typeface="Fira Sans"/>
                          <a:cs typeface="Fira Sans"/>
                        </a:rPr>
                        <a:t>Parcial</a:t>
                      </a:r>
                    </a:p>
                  </a:txBody>
                  <a:tcPr marL="45720" marR="45720" marT="22860" marB="22860" anchor="ctr"/>
                </a:tc>
                <a:tc>
                  <a:txBody>
                    <a:bodyPr/>
                    <a:lstStyle/>
                    <a:p>
                      <a:pPr algn="l">
                        <a:buNone/>
                      </a:pPr>
                      <a:r>
                        <a:rPr sz="675" b="0" dirty="0" err="1">
                          <a:solidFill>
                            <a:srgbClr val="38415C"/>
                          </a:solidFill>
                          <a:latin typeface="Fira Sans"/>
                          <a:ea typeface="Fira Sans"/>
                          <a:cs typeface="Fira Sans"/>
                        </a:rPr>
                        <a:t>Prevista</a:t>
                      </a:r>
                      <a:r>
                        <a:rPr sz="675" b="0" dirty="0">
                          <a:solidFill>
                            <a:srgbClr val="38415C"/>
                          </a:solidFill>
                          <a:latin typeface="Fira Sans"/>
                          <a:ea typeface="Fira Sans"/>
                          <a:cs typeface="Fira Sans"/>
                        </a:rPr>
                        <a:t> no </a:t>
                      </a:r>
                      <a:r>
                        <a:rPr sz="675" b="0" dirty="0" err="1">
                          <a:solidFill>
                            <a:srgbClr val="38415C"/>
                          </a:solidFill>
                          <a:latin typeface="Fira Sans"/>
                          <a:ea typeface="Fira Sans"/>
                          <a:cs typeface="Fira Sans"/>
                        </a:rPr>
                        <a:t>desenho</a:t>
                      </a:r>
                      <a:endParaRPr sz="675" b="0" dirty="0">
                        <a:solidFill>
                          <a:srgbClr val="38415C"/>
                        </a:solidFill>
                        <a:latin typeface="Fira Sans"/>
                        <a:ea typeface="Fira Sans"/>
                        <a:cs typeface="Fira Sans"/>
                      </a:endParaRPr>
                    </a:p>
                  </a:txBody>
                  <a:tcPr marL="45720" marR="45720" marT="22860" marB="22860" anchor="ct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8898656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F36E1-7A15-4A08-8646-044FB1DB1375}"/>
              </a:ext>
            </a:extLst>
          </p:cNvPr>
          <p:cNvSpPr>
            <a:spLocks noGrp="1"/>
          </p:cNvSpPr>
          <p:nvPr>
            <p:ph type="title"/>
          </p:nvPr>
        </p:nvSpPr>
        <p:spPr/>
        <p:txBody>
          <a:bodyPr/>
          <a:lstStyle/>
          <a:p>
            <a:r>
              <a:rPr sz="2100" b="1">
                <a:solidFill>
                  <a:srgbClr val="38415C"/>
                </a:solidFill>
                <a:latin typeface="Fira Sans"/>
                <a:ea typeface="Fira Sans"/>
                <a:cs typeface="Fira Sans"/>
              </a:rPr>
              <a:t>Discussão: contribuição e tensões</a:t>
            </a:r>
          </a:p>
        </p:txBody>
      </p:sp>
      <p:sp>
        <p:nvSpPr>
          <p:cNvPr id="3" name="Content Placeholder 2">
            <a:extLst>
              <a:ext uri="{FF2B5EF4-FFF2-40B4-BE49-F238E27FC236}">
                <a16:creationId xmlns:a16="http://schemas.microsoft.com/office/drawing/2014/main" id="{C631AB94-0234-4134-9A7F-4F59ECA788EF}"/>
              </a:ext>
            </a:extLst>
          </p:cNvPr>
          <p:cNvSpPr>
            <a:spLocks noGrp="1"/>
          </p:cNvSpPr>
          <p:nvPr>
            <p:ph idx="1"/>
          </p:nvPr>
        </p:nvSpPr>
        <p:spPr>
          <a:xfrm>
            <a:off x="1200150" y="1428750"/>
            <a:ext cx="7524750" cy="4238625"/>
          </a:xfrm>
        </p:spPr>
        <p:txBody>
          <a:bodyPr anchor="t">
            <a:normAutofit/>
          </a:bodyPr>
          <a:lstStyle/>
          <a:p>
            <a:pPr marL="18" indent="-10">
              <a:spcAft>
                <a:spcPts val="7"/>
              </a:spcAft>
              <a:buChar char="•"/>
            </a:pPr>
            <a:r>
              <a:rPr sz="1520" b="1" i="0">
                <a:solidFill>
                  <a:srgbClr val="EB976D"/>
                </a:solidFill>
                <a:latin typeface="Fira Sans"/>
                <a:ea typeface="Fira Sans"/>
                <a:cs typeface="Fira Sans"/>
              </a:rPr>
              <a:t>Contribuição original: </a:t>
            </a:r>
            <a:r>
              <a:rPr sz="1520" b="1" i="0">
                <a:solidFill>
                  <a:srgbClr val="38415C"/>
                </a:solidFill>
                <a:latin typeface="Fira Sans"/>
                <a:ea typeface="Fira Sans"/>
                <a:cs typeface="Fira Sans"/>
              </a:rPr>
              <a:t>integração explícita da dupla perspectiva da IA aos três pilares do Modelo 3M.</a:t>
            </a:r>
          </a:p>
          <a:p>
            <a:pPr marL="18" indent="-10">
              <a:spcBef>
                <a:spcPts val="2075"/>
              </a:spcBef>
              <a:spcAft>
                <a:spcPts val="7"/>
              </a:spcAft>
              <a:buChar char="•"/>
            </a:pPr>
            <a:r>
              <a:rPr sz="1520" b="1" i="0">
                <a:solidFill>
                  <a:srgbClr val="EB976D"/>
                </a:solidFill>
                <a:latin typeface="Fira Sans"/>
                <a:ea typeface="Fira Sans"/>
                <a:cs typeface="Fira Sans"/>
              </a:rPr>
              <a:t>Contribuição processual: </a:t>
            </a:r>
            <a:r>
              <a:rPr sz="1520" b="1" i="0">
                <a:solidFill>
                  <a:srgbClr val="38415C"/>
                </a:solidFill>
                <a:latin typeface="Fira Sans"/>
                <a:ea typeface="Fira Sans"/>
                <a:cs typeface="Fira Sans"/>
              </a:rPr>
              <a:t>GC, aprendizagem e governança passam a operar como ciclo sociotécnico.</a:t>
            </a:r>
          </a:p>
          <a:p>
            <a:pPr marL="18" indent="-10">
              <a:spcBef>
                <a:spcPts val="2075"/>
              </a:spcBef>
              <a:spcAft>
                <a:spcPts val="7"/>
              </a:spcAft>
              <a:buChar char="•"/>
            </a:pPr>
            <a:r>
              <a:rPr sz="1520" b="1" i="0">
                <a:solidFill>
                  <a:srgbClr val="EB976D"/>
                </a:solidFill>
                <a:latin typeface="Fira Sans"/>
                <a:ea typeface="Fira Sans"/>
                <a:cs typeface="Fira Sans"/>
              </a:rPr>
              <a:t>Tensão cognitiva: </a:t>
            </a:r>
            <a:r>
              <a:rPr sz="1520" b="1" i="0">
                <a:solidFill>
                  <a:srgbClr val="38415C"/>
                </a:solidFill>
                <a:latin typeface="Fira Sans"/>
                <a:ea typeface="Fira Sans"/>
                <a:cs typeface="Fira Sans"/>
              </a:rPr>
              <a:t>scaffolding e AI literacy devem reduzir dependência e perda de autonomia.</a:t>
            </a:r>
          </a:p>
          <a:p>
            <a:pPr marL="18" indent="-10">
              <a:spcBef>
                <a:spcPts val="2075"/>
              </a:spcBef>
              <a:spcAft>
                <a:spcPts val="7"/>
              </a:spcAft>
              <a:buChar char="•"/>
            </a:pPr>
            <a:r>
              <a:rPr sz="1520" b="1" i="0">
                <a:solidFill>
                  <a:srgbClr val="EB976D"/>
                </a:solidFill>
                <a:latin typeface="Fira Sans"/>
                <a:ea typeface="Fira Sans"/>
                <a:cs typeface="Fira Sans"/>
              </a:rPr>
              <a:t>Tensão ética: </a:t>
            </a:r>
            <a:r>
              <a:rPr sz="1520" b="1" i="0">
                <a:solidFill>
                  <a:srgbClr val="38415C"/>
                </a:solidFill>
                <a:latin typeface="Fira Sans"/>
                <a:ea typeface="Fira Sans"/>
                <a:cs typeface="Fira Sans"/>
              </a:rPr>
              <a:t>sensing de competências exige finalidade, consentimento, anonimização e separação de usos punitivos.</a:t>
            </a:r>
          </a:p>
          <a:p>
            <a:pPr marL="18" indent="-10">
              <a:spcBef>
                <a:spcPts val="2075"/>
              </a:spcBef>
              <a:spcAft>
                <a:spcPts val="7"/>
              </a:spcAft>
              <a:buChar char="•"/>
            </a:pPr>
            <a:r>
              <a:rPr sz="1520" b="1" i="0">
                <a:solidFill>
                  <a:srgbClr val="EB976D"/>
                </a:solidFill>
                <a:latin typeface="Fira Sans"/>
                <a:ea typeface="Fira Sans"/>
                <a:cs typeface="Fira Sans"/>
              </a:rPr>
              <a:t>Tensão decisória: </a:t>
            </a:r>
            <a:r>
              <a:rPr sz="1520" b="1" i="0">
                <a:solidFill>
                  <a:srgbClr val="38415C"/>
                </a:solidFill>
                <a:latin typeface="Fira Sans"/>
                <a:ea typeface="Fira Sans"/>
                <a:cs typeface="Fira Sans"/>
              </a:rPr>
              <a:t>nível de supervisão humana deve acompanhar risco, impacto e reversibilidade.</a:t>
            </a:r>
          </a:p>
          <a:p>
            <a:pPr marL="18" indent="-10">
              <a:spcBef>
                <a:spcPts val="2075"/>
              </a:spcBef>
              <a:spcAft>
                <a:spcPts val="7"/>
              </a:spcAft>
              <a:buNone/>
            </a:pPr>
            <a:r>
              <a:rPr sz="1305" b="1" i="0">
                <a:solidFill>
                  <a:srgbClr val="EB976D"/>
                </a:solidFill>
                <a:latin typeface="Fira Sans"/>
                <a:ea typeface="Fira Sans"/>
                <a:cs typeface="Fira Sans"/>
              </a:rPr>
              <a:t>Enquadramento: </a:t>
            </a:r>
            <a:r>
              <a:rPr sz="1305" b="1" i="1">
                <a:solidFill>
                  <a:srgbClr val="8C8C96"/>
                </a:solidFill>
                <a:latin typeface="Fira Sans"/>
                <a:ea typeface="Fira Sans"/>
                <a:cs typeface="Fira Sans"/>
              </a:rPr>
              <a:t>o AI Act é referência de governança; não valida nem determina, por si só, o modelo.</a:t>
            </a:r>
          </a:p>
        </p:txBody>
      </p:sp>
    </p:spTree>
    <p:extLst>
      <p:ext uri="{BB962C8B-B14F-4D97-AF65-F5344CB8AC3E}">
        <p14:creationId xmlns:p14="http://schemas.microsoft.com/office/powerpoint/2010/main" val="68618543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B530F2-A311-404C-ABEA-1D3BE2B281CE}"/>
              </a:ext>
            </a:extLst>
          </p:cNvPr>
          <p:cNvSpPr>
            <a:spLocks noGrp="1"/>
          </p:cNvSpPr>
          <p:nvPr>
            <p:ph type="title"/>
          </p:nvPr>
        </p:nvSpPr>
        <p:spPr/>
        <p:txBody>
          <a:bodyPr/>
          <a:lstStyle/>
          <a:p>
            <a:r>
              <a:rPr sz="2100" b="1">
                <a:solidFill>
                  <a:srgbClr val="38415C"/>
                </a:solidFill>
                <a:latin typeface="Fira Sans"/>
                <a:ea typeface="Fira Sans"/>
                <a:cs typeface="Fira Sans"/>
              </a:rPr>
              <a:t>Limitações e agenda de pesquisa</a:t>
            </a:r>
          </a:p>
        </p:txBody>
      </p:sp>
      <p:sp>
        <p:nvSpPr>
          <p:cNvPr id="3" name="Header Left">
            <a:extLst>
              <a:ext uri="{FF2B5EF4-FFF2-40B4-BE49-F238E27FC236}">
                <a16:creationId xmlns:a16="http://schemas.microsoft.com/office/drawing/2014/main" id="{C3DD868F-519F-40E9-A4CE-587B3086C92D}"/>
              </a:ext>
            </a:extLst>
          </p:cNvPr>
          <p:cNvSpPr>
            <a:spLocks noGrp="1"/>
          </p:cNvSpPr>
          <p:nvPr>
            <p:ph idx="1"/>
          </p:nvPr>
        </p:nvSpPr>
        <p:spPr>
          <a:xfrm>
            <a:off x="1200150" y="1428750"/>
            <a:ext cx="3429000" cy="333375"/>
          </a:xfrm>
        </p:spPr>
        <p:txBody>
          <a:bodyPr/>
          <a:lstStyle/>
          <a:p>
            <a:pPr>
              <a:buNone/>
            </a:pPr>
            <a:r>
              <a:rPr sz="1520" b="1" i="0">
                <a:solidFill>
                  <a:srgbClr val="EB976D"/>
                </a:solidFill>
                <a:latin typeface="Fira Sans"/>
                <a:ea typeface="Fira Sans"/>
                <a:cs typeface="Fira Sans"/>
              </a:rPr>
              <a:t>LIMITAÇÕES</a:t>
            </a:r>
          </a:p>
        </p:txBody>
      </p:sp>
      <p:sp>
        <p:nvSpPr>
          <p:cNvPr id="4" name="Content Left">
            <a:extLst>
              <a:ext uri="{FF2B5EF4-FFF2-40B4-BE49-F238E27FC236}">
                <a16:creationId xmlns:a16="http://schemas.microsoft.com/office/drawing/2014/main" id="{7ED24810-1531-4CC4-9C4B-7ED724073E54}"/>
              </a:ext>
            </a:extLst>
          </p:cNvPr>
          <p:cNvSpPr>
            <a:spLocks noGrp="1"/>
          </p:cNvSpPr>
          <p:nvPr>
            <p:ph idx="2"/>
          </p:nvPr>
        </p:nvSpPr>
        <p:spPr>
          <a:xfrm>
            <a:off x="1200150" y="1857375"/>
            <a:ext cx="3429000" cy="3714750"/>
          </a:xfrm>
        </p:spPr>
        <p:txBody>
          <a:bodyPr anchor="t">
            <a:normAutofit/>
          </a:bodyPr>
          <a:lstStyle/>
          <a:p>
            <a:pPr marL="18" indent="-10">
              <a:spcBef>
                <a:spcPts val="1300"/>
              </a:spcBef>
              <a:spcAft>
                <a:spcPts val="7"/>
              </a:spcAft>
              <a:buChar char="•"/>
            </a:pPr>
            <a:r>
              <a:rPr sz="1315" b="1" i="0">
                <a:solidFill>
                  <a:srgbClr val="EB976D"/>
                </a:solidFill>
                <a:latin typeface="Fira Sans"/>
                <a:ea typeface="Fira Sans"/>
                <a:cs typeface="Fira Sans"/>
              </a:rPr>
              <a:t>Natureza: </a:t>
            </a:r>
            <a:r>
              <a:rPr sz="1315" b="1" i="0">
                <a:solidFill>
                  <a:srgbClr val="38415C"/>
                </a:solidFill>
                <a:latin typeface="Fira Sans"/>
                <a:ea typeface="Fira Sans"/>
                <a:cs typeface="Fira Sans"/>
              </a:rPr>
              <a:t>proposta teórico-conceitual.</a:t>
            </a:r>
          </a:p>
          <a:p>
            <a:pPr marL="18" indent="-10">
              <a:spcBef>
                <a:spcPts val="1300"/>
              </a:spcBef>
              <a:spcAft>
                <a:spcPts val="7"/>
              </a:spcAft>
              <a:buChar char="•"/>
            </a:pPr>
            <a:r>
              <a:rPr sz="1315" b="1" i="0">
                <a:solidFill>
                  <a:srgbClr val="EB976D"/>
                </a:solidFill>
                <a:latin typeface="Fira Sans"/>
                <a:ea typeface="Fira Sans"/>
                <a:cs typeface="Fira Sans"/>
              </a:rPr>
              <a:t>Avaliação: </a:t>
            </a:r>
            <a:r>
              <a:rPr sz="1315" b="1" i="0">
                <a:solidFill>
                  <a:srgbClr val="38415C"/>
                </a:solidFill>
                <a:latin typeface="Fira Sans"/>
                <a:ea typeface="Fira Sans"/>
                <a:cs typeface="Fira Sans"/>
              </a:rPr>
              <a:t>dimensões e classificações definidas pelos autores.</a:t>
            </a:r>
          </a:p>
          <a:p>
            <a:pPr marL="18" indent="-10">
              <a:spcBef>
                <a:spcPts val="1300"/>
              </a:spcBef>
              <a:spcAft>
                <a:spcPts val="7"/>
              </a:spcAft>
              <a:buChar char="•"/>
            </a:pPr>
            <a:r>
              <a:rPr sz="1315" b="1" i="0">
                <a:solidFill>
                  <a:srgbClr val="EB976D"/>
                </a:solidFill>
                <a:latin typeface="Fira Sans"/>
                <a:ea typeface="Fira Sans"/>
                <a:cs typeface="Fira Sans"/>
              </a:rPr>
              <a:t>Corpus: </a:t>
            </a:r>
            <a:r>
              <a:rPr sz="1315" b="1" i="0">
                <a:solidFill>
                  <a:srgbClr val="38415C"/>
                </a:solidFill>
                <a:latin typeface="Fira Sans"/>
                <a:ea typeface="Fira Sans"/>
                <a:cs typeface="Fira Sans"/>
              </a:rPr>
              <a:t>dependência da síntese dos 19 modelos de referência.</a:t>
            </a:r>
          </a:p>
          <a:p>
            <a:pPr marL="18" indent="-10">
              <a:spcBef>
                <a:spcPts val="1300"/>
              </a:spcBef>
              <a:spcAft>
                <a:spcPts val="7"/>
              </a:spcAft>
              <a:buChar char="•"/>
            </a:pPr>
            <a:r>
              <a:rPr sz="1315" b="1" i="0">
                <a:solidFill>
                  <a:srgbClr val="EB976D"/>
                </a:solidFill>
                <a:latin typeface="Fira Sans"/>
                <a:ea typeface="Fira Sans"/>
                <a:cs typeface="Fira Sans"/>
              </a:rPr>
              <a:t>GRAI: </a:t>
            </a:r>
            <a:r>
              <a:rPr sz="1315" b="1" i="0">
                <a:solidFill>
                  <a:srgbClr val="38415C"/>
                </a:solidFill>
                <a:latin typeface="Fira Sans"/>
                <a:ea typeface="Fira Sans"/>
                <a:cs typeface="Fira Sans"/>
              </a:rPr>
              <a:t>framework recente, com evidência independente limitada.</a:t>
            </a:r>
          </a:p>
          <a:p>
            <a:pPr marL="18" indent="-10">
              <a:spcBef>
                <a:spcPts val="1300"/>
              </a:spcBef>
              <a:spcAft>
                <a:spcPts val="7"/>
              </a:spcAft>
              <a:buChar char="•"/>
            </a:pPr>
            <a:r>
              <a:rPr sz="1315" b="1" i="0">
                <a:solidFill>
                  <a:srgbClr val="EB976D"/>
                </a:solidFill>
                <a:latin typeface="Fira Sans"/>
                <a:ea typeface="Fira Sans"/>
                <a:cs typeface="Fira Sans"/>
              </a:rPr>
              <a:t>Pipeline: </a:t>
            </a:r>
            <a:r>
              <a:rPr sz="1315" b="1" i="0">
                <a:solidFill>
                  <a:srgbClr val="38415C"/>
                </a:solidFill>
                <a:latin typeface="Fira Sans"/>
                <a:ea typeface="Fira Sans"/>
                <a:cs typeface="Fira Sans"/>
              </a:rPr>
              <a:t>triagem assistida por LLM sujeita a erro e viés.</a:t>
            </a:r>
          </a:p>
        </p:txBody>
      </p:sp>
      <p:sp>
        <p:nvSpPr>
          <p:cNvPr id="5" name="Header Right">
            <a:extLst>
              <a:ext uri="{FF2B5EF4-FFF2-40B4-BE49-F238E27FC236}">
                <a16:creationId xmlns:a16="http://schemas.microsoft.com/office/drawing/2014/main" id="{21C2C2E8-CBC5-423E-8DFF-62F1653157F7}"/>
              </a:ext>
            </a:extLst>
          </p:cNvPr>
          <p:cNvSpPr>
            <a:spLocks noGrp="1"/>
          </p:cNvSpPr>
          <p:nvPr>
            <p:ph idx="3"/>
          </p:nvPr>
        </p:nvSpPr>
        <p:spPr>
          <a:xfrm>
            <a:off x="5191125" y="1428750"/>
            <a:ext cx="3429000" cy="333375"/>
          </a:xfrm>
        </p:spPr>
        <p:txBody>
          <a:bodyPr/>
          <a:lstStyle/>
          <a:p>
            <a:pPr>
              <a:spcBef>
                <a:spcPts val="1300"/>
              </a:spcBef>
              <a:buNone/>
            </a:pPr>
            <a:r>
              <a:rPr sz="1520" b="1" i="0">
                <a:solidFill>
                  <a:srgbClr val="EB976D"/>
                </a:solidFill>
                <a:latin typeface="Fira Sans"/>
                <a:ea typeface="Fira Sans"/>
                <a:cs typeface="Fira Sans"/>
              </a:rPr>
              <a:t>PRÓXIMOS PASSOS</a:t>
            </a:r>
          </a:p>
        </p:txBody>
      </p:sp>
      <p:sp>
        <p:nvSpPr>
          <p:cNvPr id="6" name="Content Right">
            <a:extLst>
              <a:ext uri="{FF2B5EF4-FFF2-40B4-BE49-F238E27FC236}">
                <a16:creationId xmlns:a16="http://schemas.microsoft.com/office/drawing/2014/main" id="{CBF4B5A5-1CFE-4B78-81EB-213F506A1A5F}"/>
              </a:ext>
            </a:extLst>
          </p:cNvPr>
          <p:cNvSpPr>
            <a:spLocks noGrp="1"/>
          </p:cNvSpPr>
          <p:nvPr>
            <p:ph idx="4"/>
          </p:nvPr>
        </p:nvSpPr>
        <p:spPr>
          <a:xfrm>
            <a:off x="5191125" y="1857375"/>
            <a:ext cx="3429000" cy="3714750"/>
          </a:xfrm>
        </p:spPr>
        <p:txBody>
          <a:bodyPr anchor="t">
            <a:normAutofit/>
          </a:bodyPr>
          <a:lstStyle/>
          <a:p>
            <a:pPr marL="18" indent="-10">
              <a:spcBef>
                <a:spcPts val="1300"/>
              </a:spcBef>
              <a:spcAft>
                <a:spcPts val="7"/>
              </a:spcAft>
              <a:buChar char="•"/>
            </a:pPr>
            <a:r>
              <a:rPr sz="1315" b="1" i="0">
                <a:solidFill>
                  <a:srgbClr val="EB976D"/>
                </a:solidFill>
                <a:latin typeface="Fira Sans"/>
                <a:ea typeface="Fira Sans"/>
                <a:cs typeface="Fira Sans"/>
              </a:rPr>
              <a:t>Delphi: </a:t>
            </a:r>
            <a:r>
              <a:rPr sz="1315" b="1" i="0">
                <a:solidFill>
                  <a:srgbClr val="38415C"/>
                </a:solidFill>
                <a:latin typeface="Fira Sans"/>
                <a:ea typeface="Fira Sans"/>
                <a:cs typeface="Fira Sans"/>
              </a:rPr>
              <a:t>painel independente para revisar dimensões e rubrica.</a:t>
            </a:r>
          </a:p>
          <a:p>
            <a:pPr marL="18" indent="-10">
              <a:spcBef>
                <a:spcPts val="1300"/>
              </a:spcBef>
              <a:spcAft>
                <a:spcPts val="7"/>
              </a:spcAft>
              <a:buChar char="•"/>
            </a:pPr>
            <a:r>
              <a:rPr sz="1315" b="1" i="0">
                <a:solidFill>
                  <a:srgbClr val="EB976D"/>
                </a:solidFill>
                <a:latin typeface="Fira Sans"/>
                <a:ea typeface="Fira Sans"/>
                <a:cs typeface="Fira Sans"/>
              </a:rPr>
              <a:t>Estudos de caso: </a:t>
            </a:r>
            <a:r>
              <a:rPr sz="1315" b="1" i="0">
                <a:solidFill>
                  <a:srgbClr val="38415C"/>
                </a:solidFill>
                <a:latin typeface="Fira Sans"/>
                <a:ea typeface="Fira Sans"/>
                <a:cs typeface="Fira Sans"/>
              </a:rPr>
              <a:t>avaliar aplicabilidade em UCs reais.</a:t>
            </a:r>
          </a:p>
          <a:p>
            <a:pPr marL="18" indent="-10">
              <a:spcBef>
                <a:spcPts val="1300"/>
              </a:spcBef>
              <a:spcAft>
                <a:spcPts val="7"/>
              </a:spcAft>
              <a:buChar char="•"/>
            </a:pPr>
            <a:r>
              <a:rPr sz="1315" b="1" i="0">
                <a:solidFill>
                  <a:srgbClr val="EB976D"/>
                </a:solidFill>
                <a:latin typeface="Fira Sans"/>
                <a:ea typeface="Fira Sans"/>
                <a:cs typeface="Fira Sans"/>
              </a:rPr>
              <a:t>Protótipo: </a:t>
            </a:r>
            <a:r>
              <a:rPr sz="1315" b="1" i="0">
                <a:solidFill>
                  <a:srgbClr val="38415C"/>
                </a:solidFill>
                <a:latin typeface="Fira Sans"/>
                <a:ea typeface="Fira Sans"/>
                <a:cs typeface="Fira Sans"/>
              </a:rPr>
              <a:t>testar RAG, grafos e controles em contexto delimitado.</a:t>
            </a:r>
          </a:p>
          <a:p>
            <a:pPr marL="18" indent="-10">
              <a:spcBef>
                <a:spcPts val="1300"/>
              </a:spcBef>
              <a:spcAft>
                <a:spcPts val="7"/>
              </a:spcAft>
              <a:buChar char="•"/>
            </a:pPr>
            <a:r>
              <a:rPr sz="1315" b="1" i="0">
                <a:solidFill>
                  <a:srgbClr val="EB976D"/>
                </a:solidFill>
                <a:latin typeface="Fira Sans"/>
                <a:ea typeface="Fira Sans"/>
                <a:cs typeface="Fira Sans"/>
              </a:rPr>
              <a:t>Métricas: </a:t>
            </a:r>
            <a:r>
              <a:rPr sz="1315" b="1" i="0">
                <a:solidFill>
                  <a:srgbClr val="38415C"/>
                </a:solidFill>
                <a:latin typeface="Fira Sans"/>
                <a:ea typeface="Fira Sans"/>
                <a:cs typeface="Fira Sans"/>
              </a:rPr>
              <a:t>aprendizagem, qualidade do conhecimento, risco e confiança.</a:t>
            </a:r>
          </a:p>
          <a:p>
            <a:pPr marL="18" indent="-10">
              <a:spcBef>
                <a:spcPts val="1300"/>
              </a:spcBef>
              <a:spcAft>
                <a:spcPts val="7"/>
              </a:spcAft>
              <a:buChar char="•"/>
            </a:pPr>
            <a:r>
              <a:rPr sz="1315" b="1" i="0">
                <a:solidFill>
                  <a:srgbClr val="EB976D"/>
                </a:solidFill>
                <a:latin typeface="Fira Sans"/>
                <a:ea typeface="Fira Sans"/>
                <a:cs typeface="Fira Sans"/>
              </a:rPr>
              <a:t>Comparação: </a:t>
            </a:r>
            <a:r>
              <a:rPr sz="1315" b="1" i="0">
                <a:solidFill>
                  <a:srgbClr val="38415C"/>
                </a:solidFill>
                <a:latin typeface="Fira Sans"/>
                <a:ea typeface="Fira Sans"/>
                <a:cs typeface="Fira Sans"/>
              </a:rPr>
              <a:t>replicação por avaliadores e outros modelos de GC.</a:t>
            </a:r>
          </a:p>
        </p:txBody>
      </p:sp>
    </p:spTree>
    <p:extLst>
      <p:ext uri="{BB962C8B-B14F-4D97-AF65-F5344CB8AC3E}">
        <p14:creationId xmlns:p14="http://schemas.microsoft.com/office/powerpoint/2010/main" val="2953964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012D0-0529-4D72-980B-D7198E5447C2}"/>
              </a:ext>
            </a:extLst>
          </p:cNvPr>
          <p:cNvSpPr>
            <a:spLocks noGrp="1"/>
          </p:cNvSpPr>
          <p:nvPr>
            <p:ph type="title"/>
          </p:nvPr>
        </p:nvSpPr>
        <p:spPr/>
        <p:txBody>
          <a:bodyPr/>
          <a:lstStyle/>
          <a:p>
            <a:r>
              <a:rPr sz="2100" b="1">
                <a:solidFill>
                  <a:srgbClr val="38415C"/>
                </a:solidFill>
                <a:latin typeface="Fira Sans"/>
                <a:ea typeface="Fira Sans"/>
                <a:cs typeface="Fira Sans"/>
              </a:rPr>
              <a:t>Conclusão</a:t>
            </a:r>
          </a:p>
        </p:txBody>
      </p:sp>
      <p:sp>
        <p:nvSpPr>
          <p:cNvPr id="3" name="Content Placeholder 2">
            <a:extLst>
              <a:ext uri="{FF2B5EF4-FFF2-40B4-BE49-F238E27FC236}">
                <a16:creationId xmlns:a16="http://schemas.microsoft.com/office/drawing/2014/main" id="{09D8067F-47FC-4DA4-8E60-6014A8E8DAAF}"/>
              </a:ext>
            </a:extLst>
          </p:cNvPr>
          <p:cNvSpPr>
            <a:spLocks noGrp="1"/>
          </p:cNvSpPr>
          <p:nvPr>
            <p:ph idx="1"/>
          </p:nvPr>
        </p:nvSpPr>
        <p:spPr>
          <a:xfrm>
            <a:off x="1200150" y="1428750"/>
            <a:ext cx="7524750" cy="4238625"/>
          </a:xfrm>
        </p:spPr>
        <p:txBody>
          <a:bodyPr anchor="t">
            <a:normAutofit/>
          </a:bodyPr>
          <a:lstStyle/>
          <a:p>
            <a:pPr marL="18" indent="-10">
              <a:spcAft>
                <a:spcPts val="7"/>
              </a:spcAft>
              <a:buChar char="•"/>
            </a:pPr>
            <a:r>
              <a:rPr sz="1575" b="1" i="0">
                <a:solidFill>
                  <a:srgbClr val="EB976D"/>
                </a:solidFill>
                <a:latin typeface="Fira Sans"/>
                <a:ea typeface="Fira Sans"/>
                <a:cs typeface="Fira Sans"/>
              </a:rPr>
              <a:t>Resposta à questão: </a:t>
            </a:r>
            <a:r>
              <a:rPr sz="1575" b="1" i="0">
                <a:solidFill>
                  <a:srgbClr val="38415C"/>
                </a:solidFill>
                <a:latin typeface="Fira Sans"/>
                <a:ea typeface="Fira Sans"/>
                <a:cs typeface="Fira Sans"/>
              </a:rPr>
              <a:t>o Modelo 3M pode incorporar IA sem abandonar seus pilares, desde que capacidades e controles sejam reinterpretados conjuntamente.</a:t>
            </a:r>
          </a:p>
          <a:p>
            <a:pPr marL="18" indent="-10">
              <a:spcBef>
                <a:spcPts val="1230"/>
              </a:spcBef>
              <a:spcAft>
                <a:spcPts val="7"/>
              </a:spcAft>
              <a:buChar char="•"/>
            </a:pPr>
            <a:r>
              <a:rPr sz="1575" b="1" i="0">
                <a:solidFill>
                  <a:srgbClr val="EB976D"/>
                </a:solidFill>
                <a:latin typeface="Fira Sans"/>
                <a:ea typeface="Fira Sans"/>
                <a:cs typeface="Fira Sans"/>
              </a:rPr>
              <a:t>Motive 5.0: </a:t>
            </a:r>
            <a:r>
              <a:rPr sz="1575" b="1" i="0">
                <a:solidFill>
                  <a:srgbClr val="38415C"/>
                </a:solidFill>
                <a:latin typeface="Fira Sans"/>
                <a:ea typeface="Fira Sans"/>
                <a:cs typeface="Fira Sans"/>
              </a:rPr>
              <a:t>sensoriamento de competências com limites éticos e decisão humana.</a:t>
            </a:r>
          </a:p>
          <a:p>
            <a:pPr marL="18" indent="-10">
              <a:spcBef>
                <a:spcPts val="1230"/>
              </a:spcBef>
              <a:spcAft>
                <a:spcPts val="7"/>
              </a:spcAft>
              <a:buChar char="•"/>
            </a:pPr>
            <a:r>
              <a:rPr sz="1575" b="1" i="0">
                <a:solidFill>
                  <a:srgbClr val="EB976D"/>
                </a:solidFill>
                <a:latin typeface="Fira Sans"/>
                <a:ea typeface="Fira Sans"/>
                <a:cs typeface="Fira Sans"/>
              </a:rPr>
              <a:t>Model 5.0: </a:t>
            </a:r>
            <a:r>
              <a:rPr sz="1575" b="1" i="0">
                <a:solidFill>
                  <a:srgbClr val="38415C"/>
                </a:solidFill>
                <a:latin typeface="Fira Sans"/>
                <a:ea typeface="Fira Sans"/>
                <a:cs typeface="Fira Sans"/>
              </a:rPr>
              <a:t>laboratório vivo com RAG, grafos e aprendizagem no fluxo.</a:t>
            </a:r>
          </a:p>
          <a:p>
            <a:pPr marL="18" indent="-10">
              <a:spcBef>
                <a:spcPts val="1230"/>
              </a:spcBef>
              <a:spcAft>
                <a:spcPts val="7"/>
              </a:spcAft>
              <a:buChar char="•"/>
            </a:pPr>
            <a:r>
              <a:rPr sz="1575" b="1" i="0">
                <a:solidFill>
                  <a:srgbClr val="EB976D"/>
                </a:solidFill>
                <a:latin typeface="Fira Sans"/>
                <a:ea typeface="Fira Sans"/>
                <a:cs typeface="Fira Sans"/>
              </a:rPr>
              <a:t>Moment 5.0: </a:t>
            </a:r>
            <a:r>
              <a:rPr sz="1575" b="1" i="0">
                <a:solidFill>
                  <a:srgbClr val="38415C"/>
                </a:solidFill>
                <a:latin typeface="Fira Sans"/>
                <a:ea typeface="Fira Sans"/>
                <a:cs typeface="Fira Sans"/>
              </a:rPr>
              <a:t>governança adaptativa, rastreabilidade, contestação e integridade.</a:t>
            </a:r>
          </a:p>
          <a:p>
            <a:pPr marL="18" indent="-10">
              <a:spcBef>
                <a:spcPts val="1230"/>
              </a:spcBef>
              <a:spcAft>
                <a:spcPts val="7"/>
              </a:spcAft>
              <a:buChar char="•"/>
            </a:pPr>
            <a:r>
              <a:rPr sz="1575" b="1" i="0">
                <a:solidFill>
                  <a:srgbClr val="EB976D"/>
                </a:solidFill>
                <a:latin typeface="Fira Sans"/>
                <a:ea typeface="Fira Sans"/>
                <a:cs typeface="Fira Sans"/>
              </a:rPr>
              <a:t>Contribuição: </a:t>
            </a:r>
            <a:r>
              <a:rPr sz="1575" b="1" i="0">
                <a:solidFill>
                  <a:srgbClr val="38415C"/>
                </a:solidFill>
                <a:latin typeface="Fira Sans"/>
                <a:ea typeface="Fira Sans"/>
                <a:cs typeface="Fira Sans"/>
              </a:rPr>
              <a:t>arquitetura conceitual que conecta estratégia, GC, agência operacional e governança.</a:t>
            </a:r>
          </a:p>
          <a:p>
            <a:pPr marL="18" indent="-10">
              <a:spcBef>
                <a:spcPts val="1230"/>
              </a:spcBef>
              <a:spcAft>
                <a:spcPts val="7"/>
              </a:spcAft>
              <a:buNone/>
            </a:pPr>
            <a:r>
              <a:rPr sz="1350" b="1" i="0">
                <a:solidFill>
                  <a:srgbClr val="EB976D"/>
                </a:solidFill>
                <a:latin typeface="Fira Sans"/>
                <a:ea typeface="Fira Sans"/>
                <a:cs typeface="Fira Sans"/>
              </a:rPr>
              <a:t>Mensagem final: </a:t>
            </a:r>
            <a:r>
              <a:rPr sz="1350" b="1" i="1">
                <a:solidFill>
                  <a:srgbClr val="8C8C96"/>
                </a:solidFill>
                <a:latin typeface="Fira Sans"/>
                <a:ea typeface="Fira Sans"/>
                <a:cs typeface="Fira Sans"/>
              </a:rPr>
              <a:t>a evolução responsável da UC depende menos de automatizar o ensino e mais de governar como humanos e IA aprendem e decidem juntos.</a:t>
            </a:r>
          </a:p>
        </p:txBody>
      </p:sp>
    </p:spTree>
    <p:extLst>
      <p:ext uri="{BB962C8B-B14F-4D97-AF65-F5344CB8AC3E}">
        <p14:creationId xmlns:p14="http://schemas.microsoft.com/office/powerpoint/2010/main" val="17093182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A468A5-0558-4700-BB4D-F078A2F8F754}"/>
              </a:ext>
            </a:extLst>
          </p:cNvPr>
          <p:cNvSpPr>
            <a:spLocks noGrp="1"/>
          </p:cNvSpPr>
          <p:nvPr>
            <p:ph type="ctrTitle"/>
          </p:nvPr>
        </p:nvSpPr>
        <p:spPr/>
        <p:txBody>
          <a:bodyPr/>
          <a:lstStyle/>
          <a:p>
            <a:r>
              <a:rPr sz="2100" b="1">
                <a:solidFill>
                  <a:srgbClr val="38415C"/>
                </a:solidFill>
                <a:latin typeface="Fira Sans"/>
                <a:ea typeface="Fira Sans"/>
                <a:cs typeface="Fira Sans"/>
              </a:rPr>
              <a:t>Obrigado</a:t>
            </a:r>
          </a:p>
        </p:txBody>
      </p:sp>
      <p:sp>
        <p:nvSpPr>
          <p:cNvPr id="3" name="Subtitle 2">
            <a:extLst>
              <a:ext uri="{FF2B5EF4-FFF2-40B4-BE49-F238E27FC236}">
                <a16:creationId xmlns:a16="http://schemas.microsoft.com/office/drawing/2014/main" id="{12B37123-81B9-484F-AEF2-223371901A42}"/>
              </a:ext>
            </a:extLst>
          </p:cNvPr>
          <p:cNvSpPr>
            <a:spLocks noGrp="1"/>
          </p:cNvSpPr>
          <p:nvPr>
            <p:ph type="subTitle" idx="1"/>
          </p:nvPr>
        </p:nvSpPr>
        <p:spPr/>
        <p:txBody>
          <a:bodyPr/>
          <a:lstStyle/>
          <a:p>
            <a:pPr algn="ctr">
              <a:buNone/>
            </a:pPr>
            <a:r>
              <a:rPr sz="1275" b="0" i="0">
                <a:solidFill>
                  <a:srgbClr val="38415C"/>
                </a:solidFill>
                <a:latin typeface="Fira Sans"/>
                <a:ea typeface="Fira Sans"/>
                <a:cs typeface="Fira Sans"/>
              </a:rPr>
              <a:t>Perguntas e discussão</a:t>
            </a:r>
          </a:p>
          <a:p>
            <a:pPr>
              <a:buNone/>
            </a:pPr>
            <a:endParaRPr sz="1275" b="0" i="0">
              <a:solidFill>
                <a:srgbClr val="38415C"/>
              </a:solidFill>
              <a:latin typeface="Fira Sans"/>
              <a:ea typeface="Fira Sans"/>
              <a:cs typeface="Fira Sans"/>
            </a:endParaRPr>
          </a:p>
          <a:p>
            <a:pPr algn="ctr">
              <a:buNone/>
            </a:pPr>
            <a:r>
              <a:rPr sz="1275" b="0" i="0">
                <a:solidFill>
                  <a:srgbClr val="38415C"/>
                </a:solidFill>
                <a:latin typeface="Fira Sans"/>
                <a:ea typeface="Fira Sans"/>
                <a:cs typeface="Fira Sans"/>
              </a:rPr>
              <a:t>João Pedro Barbosa Martins · Viviane Cunha Farias da Costa · Emily Lopes</a:t>
            </a:r>
          </a:p>
          <a:p>
            <a:pPr algn="ctr">
              <a:buNone/>
            </a:pPr>
            <a:r>
              <a:rPr sz="1275" b="0" i="0">
                <a:solidFill>
                  <a:srgbClr val="38415C"/>
                </a:solidFill>
                <a:latin typeface="Fira Sans"/>
                <a:ea typeface="Fira Sans"/>
                <a:cs typeface="Fira Sans"/>
              </a:rPr>
              <a:t>PESC/COPPE-UFRJ</a:t>
            </a:r>
          </a:p>
        </p:txBody>
      </p:sp>
    </p:spTree>
    <p:extLst>
      <p:ext uri="{BB962C8B-B14F-4D97-AF65-F5344CB8AC3E}">
        <p14:creationId xmlns:p14="http://schemas.microsoft.com/office/powerpoint/2010/main" val="192832015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88670-A8B0-4F9D-978D-34926F056ACE}"/>
              </a:ext>
            </a:extLst>
          </p:cNvPr>
          <p:cNvSpPr>
            <a:spLocks noGrp="1"/>
          </p:cNvSpPr>
          <p:nvPr>
            <p:ph type="title"/>
          </p:nvPr>
        </p:nvSpPr>
        <p:spPr/>
        <p:txBody>
          <a:bodyPr/>
          <a:lstStyle/>
          <a:p>
            <a:r>
              <a:rPr sz="2100" b="1">
                <a:solidFill>
                  <a:srgbClr val="38415C"/>
                </a:solidFill>
                <a:latin typeface="Fira Sans"/>
                <a:ea typeface="Fira Sans"/>
                <a:cs typeface="Fira Sans"/>
              </a:rPr>
              <a:t>Referências citadas no artigo — 1/4</a:t>
            </a:r>
          </a:p>
        </p:txBody>
      </p:sp>
      <p:sp>
        <p:nvSpPr>
          <p:cNvPr id="3" name="Content Placeholder 2">
            <a:extLst>
              <a:ext uri="{FF2B5EF4-FFF2-40B4-BE49-F238E27FC236}">
                <a16:creationId xmlns:a16="http://schemas.microsoft.com/office/drawing/2014/main" id="{37088C56-992D-44E4-ACAE-81A4521EA0CA}"/>
              </a:ext>
            </a:extLst>
          </p:cNvPr>
          <p:cNvSpPr>
            <a:spLocks noGrp="1"/>
          </p:cNvSpPr>
          <p:nvPr>
            <p:ph idx="1"/>
          </p:nvPr>
        </p:nvSpPr>
        <p:spPr>
          <a:xfrm>
            <a:off x="1200150" y="1476375"/>
            <a:ext cx="7524750" cy="4429125"/>
          </a:xfrm>
        </p:spPr>
        <p:txBody>
          <a:bodyPr anchor="t">
            <a:normAutofit/>
          </a:bodyPr>
          <a:lstStyle/>
          <a:p>
            <a:pPr marL="285750" indent="-285750">
              <a:spcAft>
                <a:spcPts val="3"/>
              </a:spcAft>
              <a:buNone/>
            </a:pPr>
            <a:r>
              <a:rPr sz="1105" b="1" i="0">
                <a:solidFill>
                  <a:srgbClr val="EB976D"/>
                </a:solidFill>
                <a:latin typeface="Fira Sans"/>
                <a:ea typeface="Fira Sans"/>
                <a:cs typeface="Fira Sans"/>
              </a:rPr>
              <a:t>[1]</a:t>
            </a:r>
            <a:r>
              <a:rPr sz="1105" b="0" i="0">
                <a:solidFill>
                  <a:srgbClr val="38415C"/>
                </a:solidFill>
                <a:latin typeface="Fira Sans"/>
                <a:ea typeface="Fira Sans"/>
                <a:cs typeface="Fira Sans"/>
              </a:rPr>
              <a:t> Scarso, E. Corporate universities as knowledge management tools. VINE Journal of Information and Knowledge Management Systems, 2017. DOI: 10.1108/VJIKMS-12-2016-0074.</a:t>
            </a:r>
          </a:p>
          <a:p>
            <a:pPr marL="285750" indent="-285750">
              <a:spcAft>
                <a:spcPts val="3"/>
              </a:spcAft>
              <a:buNone/>
            </a:pPr>
            <a:r>
              <a:rPr sz="1105" b="1" i="0">
                <a:solidFill>
                  <a:srgbClr val="EB976D"/>
                </a:solidFill>
                <a:latin typeface="Fira Sans"/>
                <a:ea typeface="Fira Sans"/>
                <a:cs typeface="Fira Sans"/>
              </a:rPr>
              <a:t>[2]</a:t>
            </a:r>
            <a:r>
              <a:rPr sz="1105" b="0" i="0">
                <a:solidFill>
                  <a:srgbClr val="38415C"/>
                </a:solidFill>
                <a:latin typeface="Fira Sans"/>
                <a:ea typeface="Fira Sans"/>
                <a:cs typeface="Fira Sans"/>
              </a:rPr>
              <a:t> Chen, Y.; Xu, Y.; Zhai, Q. The knowledge management functions of corporate university and their evolution: case studies of two Chinese corporate universities. Journal of Knowledge Management, 2019. DOI: 10.1108/JKM-04-2018-0228.</a:t>
            </a:r>
          </a:p>
          <a:p>
            <a:pPr marL="285750" indent="-285750">
              <a:spcAft>
                <a:spcPts val="3"/>
              </a:spcAft>
              <a:buNone/>
            </a:pPr>
            <a:r>
              <a:rPr sz="1105" b="1" i="0">
                <a:solidFill>
                  <a:srgbClr val="EB976D"/>
                </a:solidFill>
                <a:latin typeface="Fira Sans"/>
                <a:ea typeface="Fira Sans"/>
                <a:cs typeface="Fira Sans"/>
              </a:rPr>
              <a:t>[3]</a:t>
            </a:r>
            <a:r>
              <a:rPr sz="1105" b="0" i="0">
                <a:solidFill>
                  <a:srgbClr val="38415C"/>
                </a:solidFill>
                <a:latin typeface="Fira Sans"/>
                <a:ea typeface="Fira Sans"/>
                <a:cs typeface="Fira Sans"/>
              </a:rPr>
              <a:t> Farias da Costa, V.C.; Oliveira, J.; Moreira de Souza, J. Conceptual Model for Corporate Universities. Encyclopedia of Knowledge Management, p. 112–120, 2011. DOI: 10.4018/978-1-59904-931-1.ch012.</a:t>
            </a:r>
          </a:p>
          <a:p>
            <a:pPr marL="285750" indent="-285750">
              <a:spcAft>
                <a:spcPts val="3"/>
              </a:spcAft>
              <a:buNone/>
            </a:pPr>
            <a:r>
              <a:rPr sz="1105" b="1" i="0">
                <a:solidFill>
                  <a:srgbClr val="EB976D"/>
                </a:solidFill>
                <a:latin typeface="Fira Sans"/>
                <a:ea typeface="Fira Sans"/>
                <a:cs typeface="Fira Sans"/>
              </a:rPr>
              <a:t>[4]</a:t>
            </a:r>
            <a:r>
              <a:rPr sz="1105" b="0" i="0">
                <a:solidFill>
                  <a:srgbClr val="38415C"/>
                </a:solidFill>
                <a:latin typeface="Fira Sans"/>
                <a:ea typeface="Fira Sans"/>
                <a:cs typeface="Fira Sans"/>
              </a:rPr>
              <a:t> Prat, N. A Hierarchical Model for Knowledge Management. Encyclopedia of Knowledge Management, 2011. DOI: 10.4018/978-1-59904-931-1.ch036.</a:t>
            </a:r>
          </a:p>
          <a:p>
            <a:pPr marL="285750" indent="-285750">
              <a:spcAft>
                <a:spcPts val="3"/>
              </a:spcAft>
              <a:buNone/>
            </a:pPr>
            <a:r>
              <a:rPr sz="1105" b="1" i="0">
                <a:solidFill>
                  <a:srgbClr val="EB976D"/>
                </a:solidFill>
                <a:latin typeface="Fira Sans"/>
                <a:ea typeface="Fira Sans"/>
                <a:cs typeface="Fira Sans"/>
              </a:rPr>
              <a:t>[5]</a:t>
            </a:r>
            <a:r>
              <a:rPr sz="1105" b="0" i="0">
                <a:solidFill>
                  <a:srgbClr val="38415C"/>
                </a:solidFill>
                <a:latin typeface="Fira Sans"/>
                <a:ea typeface="Fira Sans"/>
                <a:cs typeface="Fira Sans"/>
              </a:rPr>
              <a:t> Alavi, M.; Leidner, D.; Mousavi, R. Knowledge Management Perspective of Generative Artificial Intelligence (GenAI). Journal of the Association for Information Systems, 2024.</a:t>
            </a:r>
          </a:p>
          <a:p>
            <a:pPr marL="285750" indent="-285750">
              <a:spcAft>
                <a:spcPts val="3"/>
              </a:spcAft>
              <a:buNone/>
            </a:pPr>
            <a:r>
              <a:rPr sz="1105" b="1" i="0">
                <a:solidFill>
                  <a:srgbClr val="EB976D"/>
                </a:solidFill>
                <a:latin typeface="Fira Sans"/>
                <a:ea typeface="Fira Sans"/>
                <a:cs typeface="Fira Sans"/>
              </a:rPr>
              <a:t>[6]</a:t>
            </a:r>
            <a:r>
              <a:rPr sz="1105" b="0" i="0">
                <a:solidFill>
                  <a:srgbClr val="38415C"/>
                </a:solidFill>
                <a:latin typeface="Fira Sans"/>
                <a:ea typeface="Fira Sans"/>
                <a:cs typeface="Fira Sans"/>
              </a:rPr>
              <a:t> Mora-Mora, D.P.; Bernal-Torres, C.A.; Torres-Guevara, L.E. Corporate university model: Enhancing competitiveness in firms from emerging economies. The Learning Organization, v. 32, n. 7, p. 153–175, 2025. DOI: 10.1108/TLO-10-2023-0193.</a:t>
            </a:r>
          </a:p>
          <a:p>
            <a:pPr marL="285750" indent="-285750">
              <a:spcAft>
                <a:spcPts val="3"/>
              </a:spcAft>
              <a:buNone/>
            </a:pPr>
            <a:r>
              <a:rPr sz="1105" b="1" i="0">
                <a:solidFill>
                  <a:srgbClr val="EB976D"/>
                </a:solidFill>
                <a:latin typeface="Fira Sans"/>
                <a:ea typeface="Fira Sans"/>
                <a:cs typeface="Fira Sans"/>
              </a:rPr>
              <a:t>[7]</a:t>
            </a:r>
            <a:r>
              <a:rPr sz="1105" b="0" i="0">
                <a:solidFill>
                  <a:srgbClr val="38415C"/>
                </a:solidFill>
                <a:latin typeface="Fira Sans"/>
                <a:ea typeface="Fira Sans"/>
                <a:cs typeface="Fira Sans"/>
              </a:rPr>
              <a:t> Silva, S.d.; Dandolini, G.; Freire, P.d.S.; Rochadel, W.; Valdati, A.d.B. Purpose of the use of technologies in the contemporary models of Corporate University. International Journal for Innovation Education and Research, 2018. DOI: 10.31686/ijier.Vol6.Iss8.1117.</a:t>
            </a:r>
          </a:p>
          <a:p>
            <a:pPr marL="285750" indent="-285750">
              <a:spcAft>
                <a:spcPts val="3"/>
              </a:spcAft>
              <a:buNone/>
            </a:pPr>
            <a:r>
              <a:rPr sz="1105" b="1" i="0">
                <a:solidFill>
                  <a:srgbClr val="EB976D"/>
                </a:solidFill>
                <a:latin typeface="Fira Sans"/>
                <a:ea typeface="Fira Sans"/>
                <a:cs typeface="Fira Sans"/>
              </a:rPr>
              <a:t>[8]</a:t>
            </a:r>
            <a:r>
              <a:rPr sz="1105" b="0" i="0">
                <a:solidFill>
                  <a:srgbClr val="38415C"/>
                </a:solidFill>
                <a:latin typeface="Fira Sans"/>
                <a:ea typeface="Fira Sans"/>
                <a:cs typeface="Fira Sans"/>
              </a:rPr>
              <a:t> Islam, A.; Ajmal, M. Agentic AI and the Co-Evolution of Organizational Knowledge. Policy Journal of Social Science Review, 2025.</a:t>
            </a:r>
          </a:p>
          <a:p>
            <a:pPr marL="285750" indent="-285750">
              <a:spcAft>
                <a:spcPts val="3"/>
              </a:spcAft>
              <a:buNone/>
            </a:pPr>
            <a:r>
              <a:rPr sz="1105" b="1" i="0">
                <a:solidFill>
                  <a:srgbClr val="EB976D"/>
                </a:solidFill>
                <a:latin typeface="Fira Sans"/>
                <a:ea typeface="Fira Sans"/>
                <a:cs typeface="Fira Sans"/>
              </a:rPr>
              <a:t>[9]</a:t>
            </a:r>
            <a:r>
              <a:rPr sz="1105" b="0" i="0">
                <a:solidFill>
                  <a:srgbClr val="38415C"/>
                </a:solidFill>
                <a:latin typeface="Fira Sans"/>
                <a:ea typeface="Fira Sans"/>
                <a:cs typeface="Fira Sans"/>
              </a:rPr>
              <a:t> Jarrahi, M.H.; Askay, D.; Eshraghi, A.; Smith, P. Artificial intelligence and knowledge management: A partnership between human and AI. Business Horizons, v. 66, n. 1, p. 87–99, 2023. DOI: 10.1016/j.bushor.2022.03.002.</a:t>
            </a:r>
          </a:p>
          <a:p>
            <a:pPr marL="285750" indent="-285750">
              <a:spcAft>
                <a:spcPts val="3"/>
              </a:spcAft>
              <a:buNone/>
            </a:pPr>
            <a:r>
              <a:rPr sz="1105" b="1" i="0">
                <a:solidFill>
                  <a:srgbClr val="EB976D"/>
                </a:solidFill>
                <a:latin typeface="Fira Sans"/>
                <a:ea typeface="Fira Sans"/>
                <a:cs typeface="Fira Sans"/>
              </a:rPr>
              <a:t>[10]</a:t>
            </a:r>
            <a:r>
              <a:rPr sz="1105" b="0" i="0">
                <a:solidFill>
                  <a:srgbClr val="38415C"/>
                </a:solidFill>
                <a:latin typeface="Fira Sans"/>
                <a:ea typeface="Fira Sans"/>
                <a:cs typeface="Fira Sans"/>
              </a:rPr>
              <a:t> Stollenwerk, M.F.L. Gestão do Conhecimento: conceitos e modelos. Inteligência Organizacional e Competitiva, p. 143–163, 2001.</a:t>
            </a:r>
          </a:p>
          <a:p>
            <a:pPr marL="285750" indent="-285750">
              <a:spcAft>
                <a:spcPts val="3"/>
              </a:spcAft>
              <a:buNone/>
            </a:pPr>
            <a:r>
              <a:rPr sz="1105" b="1" i="0">
                <a:solidFill>
                  <a:srgbClr val="EB976D"/>
                </a:solidFill>
                <a:latin typeface="Fira Sans"/>
                <a:ea typeface="Fira Sans"/>
                <a:cs typeface="Fira Sans"/>
              </a:rPr>
              <a:t>[11]</a:t>
            </a:r>
            <a:r>
              <a:rPr sz="1105" b="0" i="0">
                <a:solidFill>
                  <a:srgbClr val="38415C"/>
                </a:solidFill>
                <a:latin typeface="Fira Sans"/>
                <a:ea typeface="Fira Sans"/>
                <a:cs typeface="Fira Sans"/>
              </a:rPr>
              <a:t> Faraj, S.; Perez-Torrents, J.; Mantere, S.; Bhardwaj, A. A time for monsters: Organizational knowing after large language models. Strategic Organization, 2026. DOI: 10.1177/14761270251410675.</a:t>
            </a:r>
          </a:p>
          <a:p>
            <a:pPr marL="285750" indent="-285750">
              <a:spcAft>
                <a:spcPts val="3"/>
              </a:spcAft>
              <a:buNone/>
            </a:pPr>
            <a:r>
              <a:rPr sz="1105" b="1" i="0">
                <a:solidFill>
                  <a:srgbClr val="EB976D"/>
                </a:solidFill>
                <a:latin typeface="Fira Sans"/>
                <a:ea typeface="Fira Sans"/>
                <a:cs typeface="Fira Sans"/>
              </a:rPr>
              <a:t>[12]</a:t>
            </a:r>
            <a:r>
              <a:rPr sz="1105" b="0" i="0">
                <a:solidFill>
                  <a:srgbClr val="38415C"/>
                </a:solidFill>
                <a:latin typeface="Fira Sans"/>
                <a:ea typeface="Fira Sans"/>
                <a:cs typeface="Fira Sans"/>
              </a:rPr>
              <a:t> Meister, J.C. Corporate Universities: Lessons in Building a World-Class Work Force. McGraw-Hill, 1998.</a:t>
            </a:r>
          </a:p>
        </p:txBody>
      </p:sp>
    </p:spTree>
    <p:extLst>
      <p:ext uri="{BB962C8B-B14F-4D97-AF65-F5344CB8AC3E}">
        <p14:creationId xmlns:p14="http://schemas.microsoft.com/office/powerpoint/2010/main" val="6150559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88670-A8B0-4F9D-978D-34926F056ACE}"/>
              </a:ext>
            </a:extLst>
          </p:cNvPr>
          <p:cNvSpPr>
            <a:spLocks noGrp="1"/>
          </p:cNvSpPr>
          <p:nvPr>
            <p:ph type="title"/>
          </p:nvPr>
        </p:nvSpPr>
        <p:spPr/>
        <p:txBody>
          <a:bodyPr/>
          <a:lstStyle/>
          <a:p>
            <a:r>
              <a:rPr sz="2100" b="1">
                <a:solidFill>
                  <a:srgbClr val="38415C"/>
                </a:solidFill>
                <a:latin typeface="Fira Sans"/>
                <a:ea typeface="Fira Sans"/>
                <a:cs typeface="Fira Sans"/>
              </a:rPr>
              <a:t>Referências citadas no artigo — 2/4</a:t>
            </a:r>
          </a:p>
        </p:txBody>
      </p:sp>
      <p:sp>
        <p:nvSpPr>
          <p:cNvPr id="3" name="Content Placeholder 2">
            <a:extLst>
              <a:ext uri="{FF2B5EF4-FFF2-40B4-BE49-F238E27FC236}">
                <a16:creationId xmlns:a16="http://schemas.microsoft.com/office/drawing/2014/main" id="{37088C56-992D-44E4-ACAE-81A4521EA0CA}"/>
              </a:ext>
            </a:extLst>
          </p:cNvPr>
          <p:cNvSpPr>
            <a:spLocks noGrp="1"/>
          </p:cNvSpPr>
          <p:nvPr>
            <p:ph idx="1"/>
          </p:nvPr>
        </p:nvSpPr>
        <p:spPr>
          <a:xfrm>
            <a:off x="1200150" y="1476375"/>
            <a:ext cx="7524750" cy="4429125"/>
          </a:xfrm>
        </p:spPr>
        <p:txBody>
          <a:bodyPr anchor="t">
            <a:normAutofit/>
          </a:bodyPr>
          <a:lstStyle/>
          <a:p>
            <a:pPr marL="285750" indent="-285750">
              <a:spcAft>
                <a:spcPts val="3"/>
              </a:spcAft>
              <a:buNone/>
            </a:pPr>
            <a:r>
              <a:rPr sz="1105" b="1" i="0">
                <a:solidFill>
                  <a:srgbClr val="EB976D"/>
                </a:solidFill>
                <a:latin typeface="Fira Sans"/>
                <a:ea typeface="Fira Sans"/>
                <a:cs typeface="Fira Sans"/>
              </a:rPr>
              <a:t>[13]</a:t>
            </a:r>
            <a:r>
              <a:rPr sz="1105" b="0" i="0">
                <a:solidFill>
                  <a:srgbClr val="38415C"/>
                </a:solidFill>
                <a:latin typeface="Fira Sans"/>
                <a:ea typeface="Fira Sans"/>
                <a:cs typeface="Fira Sans"/>
              </a:rPr>
              <a:t> Han, Y.; Zhou, Y.; Carr, S.; Jiang, J. Lifelong learning in the workplace: the knowledge management role of corporate universities in China. Humanities and Social Sciences Communications, 2024. DOI: 10.1057/s41599-024-02693-3.</a:t>
            </a:r>
          </a:p>
          <a:p>
            <a:pPr marL="285750" indent="-285750">
              <a:spcAft>
                <a:spcPts val="3"/>
              </a:spcAft>
              <a:buNone/>
            </a:pPr>
            <a:r>
              <a:rPr sz="1105" b="1" i="0">
                <a:solidFill>
                  <a:srgbClr val="EB976D"/>
                </a:solidFill>
                <a:latin typeface="Fira Sans"/>
                <a:ea typeface="Fira Sans"/>
                <a:cs typeface="Fira Sans"/>
              </a:rPr>
              <a:t>[14]</a:t>
            </a:r>
            <a:r>
              <a:rPr sz="1105" b="0" i="0">
                <a:solidFill>
                  <a:srgbClr val="38415C"/>
                </a:solidFill>
                <a:latin typeface="Fira Sans"/>
                <a:ea typeface="Fira Sans"/>
                <a:cs typeface="Fira Sans"/>
              </a:rPr>
              <a:t> Storey, V. Knowledge Management in a World of Generative AI: Impact and Implications. ACM Transactions on Management Information Systems, 2025. DOI: 10.1145/3719209.</a:t>
            </a:r>
          </a:p>
          <a:p>
            <a:pPr marL="285750" indent="-285750">
              <a:spcAft>
                <a:spcPts val="3"/>
              </a:spcAft>
              <a:buNone/>
            </a:pPr>
            <a:r>
              <a:rPr sz="1105" b="1" i="0">
                <a:solidFill>
                  <a:srgbClr val="EB976D"/>
                </a:solidFill>
                <a:latin typeface="Fira Sans"/>
                <a:ea typeface="Fira Sans"/>
                <a:cs typeface="Fira Sans"/>
              </a:rPr>
              <a:t>[15]</a:t>
            </a:r>
            <a:r>
              <a:rPr sz="1105" b="0" i="0">
                <a:solidFill>
                  <a:srgbClr val="38415C"/>
                </a:solidFill>
                <a:latin typeface="Fira Sans"/>
                <a:ea typeface="Fira Sans"/>
                <a:cs typeface="Fira Sans"/>
              </a:rPr>
              <a:t> Uchihira, N. Tacit Knowledge Management with Generative AI: Proposal of the GenAI SECI Model. arXiv preprint (JAIST), 2026.</a:t>
            </a:r>
          </a:p>
          <a:p>
            <a:pPr marL="285750" indent="-285750">
              <a:spcAft>
                <a:spcPts val="3"/>
              </a:spcAft>
              <a:buNone/>
            </a:pPr>
            <a:r>
              <a:rPr sz="1105" b="1" i="0">
                <a:solidFill>
                  <a:srgbClr val="EB976D"/>
                </a:solidFill>
                <a:latin typeface="Fira Sans"/>
                <a:ea typeface="Fira Sans"/>
                <a:cs typeface="Fira Sans"/>
              </a:rPr>
              <a:t>[16]</a:t>
            </a:r>
            <a:r>
              <a:rPr sz="1105" b="0" i="0">
                <a:solidFill>
                  <a:srgbClr val="38415C"/>
                </a:solidFill>
                <a:latin typeface="Fira Sans"/>
                <a:ea typeface="Fira Sans"/>
                <a:cs typeface="Fira Sans"/>
              </a:rPr>
              <a:t> Böhm, K.; Durst, S. Knowledge management in the age of generative artificial intelligence – from SECI to GRAI. VINE Journal of Information and Knowledge Management Systems, 2025. DOI: 10.1108/VJIKMS-10-2024-0357.</a:t>
            </a:r>
          </a:p>
          <a:p>
            <a:pPr marL="285750" indent="-285750">
              <a:spcAft>
                <a:spcPts val="3"/>
              </a:spcAft>
              <a:buNone/>
            </a:pPr>
            <a:r>
              <a:rPr sz="1105" b="1" i="0">
                <a:solidFill>
                  <a:srgbClr val="EB976D"/>
                </a:solidFill>
                <a:latin typeface="Fira Sans"/>
                <a:ea typeface="Fira Sans"/>
                <a:cs typeface="Fira Sans"/>
              </a:rPr>
              <a:t>[17]</a:t>
            </a:r>
            <a:r>
              <a:rPr sz="1105" b="0" i="0">
                <a:solidFill>
                  <a:srgbClr val="38415C"/>
                </a:solidFill>
                <a:latin typeface="Fira Sans"/>
                <a:ea typeface="Fira Sans"/>
                <a:cs typeface="Fira Sans"/>
              </a:rPr>
              <a:t> Kirchner, K.; Bolisani, E.; Kassaneh, T.; Scarso, E.; Taraghi, N. Generative AI Meets Knowledge Management: Insights From Software Development Practices. Knowledge and Process Management, 2025.</a:t>
            </a:r>
          </a:p>
          <a:p>
            <a:pPr marL="285750" indent="-285750">
              <a:spcAft>
                <a:spcPts val="3"/>
              </a:spcAft>
              <a:buNone/>
            </a:pPr>
            <a:r>
              <a:rPr sz="1105" b="1" i="0">
                <a:solidFill>
                  <a:srgbClr val="EB976D"/>
                </a:solidFill>
                <a:latin typeface="Fira Sans"/>
                <a:ea typeface="Fira Sans"/>
                <a:cs typeface="Fira Sans"/>
              </a:rPr>
              <a:t>[18]</a:t>
            </a:r>
            <a:r>
              <a:rPr sz="1105" b="0" i="0">
                <a:solidFill>
                  <a:srgbClr val="38415C"/>
                </a:solidFill>
                <a:latin typeface="Fira Sans"/>
                <a:ea typeface="Fira Sans"/>
                <a:cs typeface="Fira Sans"/>
              </a:rPr>
              <a:t> O'Leary, D. Enterprise large language models: Knowledge characteristics, risks, and organizational activities. Intelligent Systems in Accounting, Finance and Management, 2023. DOI: 10.1002/isaf.1541.</a:t>
            </a:r>
          </a:p>
          <a:p>
            <a:pPr marL="285750" indent="-285750">
              <a:spcAft>
                <a:spcPts val="3"/>
              </a:spcAft>
              <a:buNone/>
            </a:pPr>
            <a:r>
              <a:rPr sz="1105" b="1" i="0">
                <a:solidFill>
                  <a:srgbClr val="EB976D"/>
                </a:solidFill>
                <a:latin typeface="Fira Sans"/>
                <a:ea typeface="Fira Sans"/>
                <a:cs typeface="Fira Sans"/>
              </a:rPr>
              <a:t>[19]</a:t>
            </a:r>
            <a:r>
              <a:rPr sz="1105" b="0" i="0">
                <a:solidFill>
                  <a:srgbClr val="38415C"/>
                </a:solidFill>
                <a:latin typeface="Fira Sans"/>
                <a:ea typeface="Fira Sans"/>
                <a:cs typeface="Fira Sans"/>
              </a:rPr>
              <a:t> Nakash, M. Learning in the Flow of Work: Navigating the Convergence of Organizational Learning and Knowledge Management. InSITE Conference, 2024. DOI: 10.28945/5270.</a:t>
            </a:r>
          </a:p>
          <a:p>
            <a:pPr marL="285750" indent="-285750">
              <a:spcAft>
                <a:spcPts val="3"/>
              </a:spcAft>
              <a:buNone/>
            </a:pPr>
            <a:r>
              <a:rPr sz="1105" b="1" i="0">
                <a:solidFill>
                  <a:srgbClr val="EB976D"/>
                </a:solidFill>
                <a:latin typeface="Fira Sans"/>
                <a:ea typeface="Fira Sans"/>
                <a:cs typeface="Fira Sans"/>
              </a:rPr>
              <a:t>[20]</a:t>
            </a:r>
            <a:r>
              <a:rPr sz="1105" b="0" i="0">
                <a:solidFill>
                  <a:srgbClr val="38415C"/>
                </a:solidFill>
                <a:latin typeface="Fira Sans"/>
                <a:ea typeface="Fira Sans"/>
                <a:cs typeface="Fira Sans"/>
              </a:rPr>
              <a:t> Lombardozzi, C. Challenges of Learning in the Flow of Work: Scaffolding Self-Direction. International Journal of Human Resource Development: Practice, Policy &amp; Research, 2016. DOI: 10.22324/ijhrdppr.1.114.</a:t>
            </a:r>
          </a:p>
          <a:p>
            <a:pPr marL="285750" indent="-285750">
              <a:spcAft>
                <a:spcPts val="3"/>
              </a:spcAft>
              <a:buNone/>
            </a:pPr>
            <a:r>
              <a:rPr sz="1105" b="1" i="0">
                <a:solidFill>
                  <a:srgbClr val="EB976D"/>
                </a:solidFill>
                <a:latin typeface="Fira Sans"/>
                <a:ea typeface="Fira Sans"/>
                <a:cs typeface="Fira Sans"/>
              </a:rPr>
              <a:t>[21]</a:t>
            </a:r>
            <a:r>
              <a:rPr sz="1105" b="0" i="0">
                <a:solidFill>
                  <a:srgbClr val="38415C"/>
                </a:solidFill>
                <a:latin typeface="Fira Sans"/>
                <a:ea typeface="Fira Sans"/>
                <a:cs typeface="Fira Sans"/>
              </a:rPr>
              <a:t> Callari, T.; Puppione, L. Can generative artificial intelligence productivity tools support workplace learning? A qualitative study on employee perceptions in a multinational corporation. Journal of Workplace Learning, 2025. DOI: 10.1108/jwl-11-2024-0258.</a:t>
            </a:r>
          </a:p>
          <a:p>
            <a:pPr marL="285750" indent="-285750">
              <a:spcAft>
                <a:spcPts val="3"/>
              </a:spcAft>
              <a:buNone/>
            </a:pPr>
            <a:r>
              <a:rPr sz="1105" b="1" i="0">
                <a:solidFill>
                  <a:srgbClr val="EB976D"/>
                </a:solidFill>
                <a:latin typeface="Fira Sans"/>
                <a:ea typeface="Fira Sans"/>
                <a:cs typeface="Fira Sans"/>
              </a:rPr>
              <a:t>[22]</a:t>
            </a:r>
            <a:r>
              <a:rPr sz="1105" b="0" i="0">
                <a:solidFill>
                  <a:srgbClr val="38415C"/>
                </a:solidFill>
                <a:latin typeface="Fira Sans"/>
                <a:ea typeface="Fira Sans"/>
                <a:cs typeface="Fira Sans"/>
              </a:rPr>
              <a:t> Rausch, A. Artificial intelligence for informal workplace learning: a problem-solving perspective. Frontiers in Organizational Psychology, 2025. DOI: 10.3389/forgp.2025.1555429.</a:t>
            </a:r>
          </a:p>
          <a:p>
            <a:pPr marL="285750" indent="-285750">
              <a:spcAft>
                <a:spcPts val="3"/>
              </a:spcAft>
              <a:buNone/>
            </a:pPr>
            <a:r>
              <a:rPr sz="1105" b="1" i="0">
                <a:solidFill>
                  <a:srgbClr val="EB976D"/>
                </a:solidFill>
                <a:latin typeface="Fira Sans"/>
                <a:ea typeface="Fira Sans"/>
                <a:cs typeface="Fira Sans"/>
              </a:rPr>
              <a:t>[23]</a:t>
            </a:r>
            <a:r>
              <a:rPr sz="1105" b="0" i="0">
                <a:solidFill>
                  <a:srgbClr val="38415C"/>
                </a:solidFill>
                <a:latin typeface="Fira Sans"/>
                <a:ea typeface="Fira Sans"/>
                <a:cs typeface="Fira Sans"/>
              </a:rPr>
              <a:t> Yabanova, E. Artificial Intelligence-Supported Workplace Education: A Systematic Review of Learning Outcomes, Opportunities, and Challenges. Educational Process International Journal, 2025. DOI: 10.22521/edupij.2025.19.602.</a:t>
            </a:r>
          </a:p>
          <a:p>
            <a:pPr marL="285750" indent="-285750">
              <a:spcAft>
                <a:spcPts val="3"/>
              </a:spcAft>
              <a:buNone/>
            </a:pPr>
            <a:r>
              <a:rPr sz="1105" b="1" i="0">
                <a:solidFill>
                  <a:srgbClr val="EB976D"/>
                </a:solidFill>
                <a:latin typeface="Fira Sans"/>
                <a:ea typeface="Fira Sans"/>
                <a:cs typeface="Fira Sans"/>
              </a:rPr>
              <a:t>[24]</a:t>
            </a:r>
            <a:r>
              <a:rPr sz="1105" b="0" i="0">
                <a:solidFill>
                  <a:srgbClr val="38415C"/>
                </a:solidFill>
                <a:latin typeface="Fira Sans"/>
                <a:ea typeface="Fira Sans"/>
                <a:cs typeface="Fira Sans"/>
              </a:rPr>
              <a:t> Morandini, S.; Fraboni, F.; Angelis, M.D.; Puzzo, G.; Giusino, D.; Pietrantoni, L. The Impact of Artificial Intelligence on Workers' Skills: Upskilling and Reskilling in Organisations. Informing Science: The International Journal of an Emerging Transdiscipline, 2023. DOI: 10.28945/5078.</a:t>
            </a:r>
          </a:p>
        </p:txBody>
      </p:sp>
    </p:spTree>
    <p:extLst>
      <p:ext uri="{BB962C8B-B14F-4D97-AF65-F5344CB8AC3E}">
        <p14:creationId xmlns:p14="http://schemas.microsoft.com/office/powerpoint/2010/main" val="6150559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88670-A8B0-4F9D-978D-34926F056ACE}"/>
              </a:ext>
            </a:extLst>
          </p:cNvPr>
          <p:cNvSpPr>
            <a:spLocks noGrp="1"/>
          </p:cNvSpPr>
          <p:nvPr>
            <p:ph type="title"/>
          </p:nvPr>
        </p:nvSpPr>
        <p:spPr/>
        <p:txBody>
          <a:bodyPr/>
          <a:lstStyle/>
          <a:p>
            <a:r>
              <a:rPr sz="2100" b="1">
                <a:solidFill>
                  <a:srgbClr val="38415C"/>
                </a:solidFill>
                <a:latin typeface="Fira Sans"/>
                <a:ea typeface="Fira Sans"/>
                <a:cs typeface="Fira Sans"/>
              </a:rPr>
              <a:t>Referências citadas no artigo — 3/4</a:t>
            </a:r>
          </a:p>
        </p:txBody>
      </p:sp>
      <p:sp>
        <p:nvSpPr>
          <p:cNvPr id="3" name="Content Placeholder 2">
            <a:extLst>
              <a:ext uri="{FF2B5EF4-FFF2-40B4-BE49-F238E27FC236}">
                <a16:creationId xmlns:a16="http://schemas.microsoft.com/office/drawing/2014/main" id="{37088C56-992D-44E4-ACAE-81A4521EA0CA}"/>
              </a:ext>
            </a:extLst>
          </p:cNvPr>
          <p:cNvSpPr>
            <a:spLocks noGrp="1"/>
          </p:cNvSpPr>
          <p:nvPr>
            <p:ph idx="1"/>
          </p:nvPr>
        </p:nvSpPr>
        <p:spPr>
          <a:xfrm>
            <a:off x="1200150" y="1476375"/>
            <a:ext cx="7524750" cy="4429125"/>
          </a:xfrm>
        </p:spPr>
        <p:txBody>
          <a:bodyPr anchor="t">
            <a:normAutofit/>
          </a:bodyPr>
          <a:lstStyle/>
          <a:p>
            <a:pPr marL="285750" indent="-285750">
              <a:spcAft>
                <a:spcPts val="3"/>
              </a:spcAft>
              <a:buNone/>
            </a:pPr>
            <a:r>
              <a:rPr sz="1140" b="1" i="0">
                <a:solidFill>
                  <a:srgbClr val="EB976D"/>
                </a:solidFill>
                <a:latin typeface="Fira Sans"/>
                <a:ea typeface="Fira Sans"/>
                <a:cs typeface="Fira Sans"/>
              </a:rPr>
              <a:t>[25]</a:t>
            </a:r>
            <a:r>
              <a:rPr sz="1140" b="0" i="0">
                <a:solidFill>
                  <a:srgbClr val="38415C"/>
                </a:solidFill>
                <a:latin typeface="Fira Sans"/>
                <a:ea typeface="Fira Sans"/>
                <a:cs typeface="Fira Sans"/>
              </a:rPr>
              <a:t> Li, L. Reskilling and Upskilling the Future-ready Workforce for Industry 4.0 and Beyond. Information Systems Frontiers, 2024. DOI: 10.1007/s10796-022-10308-y.</a:t>
            </a:r>
          </a:p>
          <a:p>
            <a:pPr marL="285750" indent="-285750">
              <a:spcAft>
                <a:spcPts val="3"/>
              </a:spcAft>
              <a:buNone/>
            </a:pPr>
            <a:r>
              <a:rPr sz="1140" b="1" i="0">
                <a:solidFill>
                  <a:srgbClr val="EB976D"/>
                </a:solidFill>
                <a:latin typeface="Fira Sans"/>
                <a:ea typeface="Fira Sans"/>
                <a:cs typeface="Fira Sans"/>
              </a:rPr>
              <a:t>[26]</a:t>
            </a:r>
            <a:r>
              <a:rPr sz="1140" b="0" i="0">
                <a:solidFill>
                  <a:srgbClr val="38415C"/>
                </a:solidFill>
                <a:latin typeface="Fira Sans"/>
                <a:ea typeface="Fira Sans"/>
                <a:cs typeface="Fira Sans"/>
              </a:rPr>
              <a:t> He, X.; Burger-Helmchen, T. Evolving Knowledge Management: Artificial Intelligence and the Dynamics of Social Interactions. IEEE Engineering Management Review, 2025. DOI: 10.1109/EMR.2024.3519342.</a:t>
            </a:r>
          </a:p>
          <a:p>
            <a:pPr marL="285750" indent="-285750">
              <a:spcAft>
                <a:spcPts val="3"/>
              </a:spcAft>
              <a:buNone/>
            </a:pPr>
            <a:r>
              <a:rPr sz="1140" b="1" i="0">
                <a:solidFill>
                  <a:srgbClr val="EB976D"/>
                </a:solidFill>
                <a:latin typeface="Fira Sans"/>
                <a:ea typeface="Fira Sans"/>
                <a:cs typeface="Fira Sans"/>
              </a:rPr>
              <a:t>[27]</a:t>
            </a:r>
            <a:r>
              <a:rPr sz="1140" b="0" i="0">
                <a:solidFill>
                  <a:srgbClr val="38415C"/>
                </a:solidFill>
                <a:latin typeface="Fira Sans"/>
                <a:ea typeface="Fira Sans"/>
                <a:cs typeface="Fira Sans"/>
              </a:rPr>
              <a:t> Birkstedt, T.; Minkkinen, M.; Tandon, A.; Mäntymäki, M. AI governance: Themes, knowledge gaps and future agendas. Internet Research, v. 33, n. 7, p. 133–167, 2023. DOI: 10.1108/INTR-01-2022-0042.</a:t>
            </a:r>
          </a:p>
          <a:p>
            <a:pPr marL="285750" indent="-285750">
              <a:spcAft>
                <a:spcPts val="3"/>
              </a:spcAft>
              <a:buNone/>
            </a:pPr>
            <a:r>
              <a:rPr sz="1140" b="1" i="0">
                <a:solidFill>
                  <a:srgbClr val="EB976D"/>
                </a:solidFill>
                <a:latin typeface="Fira Sans"/>
                <a:ea typeface="Fira Sans"/>
                <a:cs typeface="Fira Sans"/>
              </a:rPr>
              <a:t>[28]</a:t>
            </a:r>
            <a:r>
              <a:rPr sz="1140" b="0" i="0">
                <a:solidFill>
                  <a:srgbClr val="38415C"/>
                </a:solidFill>
                <a:latin typeface="Fira Sans"/>
                <a:ea typeface="Fira Sans"/>
                <a:cs typeface="Fira Sans"/>
              </a:rPr>
              <a:t> Benjamins, R. A choices framework for the responsible use of AI. AI and Ethics, 2021. DOI: 10.1007/s43681-020-00012-5.</a:t>
            </a:r>
          </a:p>
          <a:p>
            <a:pPr marL="285750" indent="-285750">
              <a:spcAft>
                <a:spcPts val="3"/>
              </a:spcAft>
              <a:buNone/>
            </a:pPr>
            <a:r>
              <a:rPr sz="1140" b="1" i="0">
                <a:solidFill>
                  <a:srgbClr val="EB976D"/>
                </a:solidFill>
                <a:latin typeface="Fira Sans"/>
                <a:ea typeface="Fira Sans"/>
                <a:cs typeface="Fira Sans"/>
              </a:rPr>
              <a:t>[29]</a:t>
            </a:r>
            <a:r>
              <a:rPr sz="1140" b="0" i="0">
                <a:solidFill>
                  <a:srgbClr val="38415C"/>
                </a:solidFill>
                <a:latin typeface="Fira Sans"/>
                <a:ea typeface="Fira Sans"/>
                <a:cs typeface="Fira Sans"/>
              </a:rPr>
              <a:t> Sprongl, I. The AI Integration Framework - An Original Blueprint for Responsible AI Adoption and Governance. SSRN Electronic Journal, 2025. DOI: 10.2139/ssrn.5372870.</a:t>
            </a:r>
          </a:p>
          <a:p>
            <a:pPr marL="285750" indent="-285750">
              <a:spcAft>
                <a:spcPts val="3"/>
              </a:spcAft>
              <a:buNone/>
            </a:pPr>
            <a:r>
              <a:rPr sz="1140" b="1" i="0">
                <a:solidFill>
                  <a:srgbClr val="EB976D"/>
                </a:solidFill>
                <a:latin typeface="Fira Sans"/>
                <a:ea typeface="Fira Sans"/>
                <a:cs typeface="Fira Sans"/>
              </a:rPr>
              <a:t>[30]</a:t>
            </a:r>
            <a:r>
              <a:rPr sz="1140" b="0" i="0">
                <a:solidFill>
                  <a:srgbClr val="38415C"/>
                </a:solidFill>
                <a:latin typeface="Fira Sans"/>
                <a:ea typeface="Fira Sans"/>
                <a:cs typeface="Fira Sans"/>
              </a:rPr>
              <a:t> Joshi, H. AI Governance by Design for Agentic Systems: A Framework for Responsible Development and Deployment. Preprints.org, 2025. DOI: 10.20944/preprints202504.1707.v1.</a:t>
            </a:r>
          </a:p>
          <a:p>
            <a:pPr marL="285750" indent="-285750">
              <a:spcAft>
                <a:spcPts val="3"/>
              </a:spcAft>
              <a:buNone/>
            </a:pPr>
            <a:r>
              <a:rPr sz="1140" b="1" i="0">
                <a:solidFill>
                  <a:srgbClr val="EB976D"/>
                </a:solidFill>
                <a:latin typeface="Fira Sans"/>
                <a:ea typeface="Fira Sans"/>
                <a:cs typeface="Fira Sans"/>
              </a:rPr>
              <a:t>[31]</a:t>
            </a:r>
            <a:r>
              <a:rPr sz="1140" b="0" i="0">
                <a:solidFill>
                  <a:srgbClr val="38415C"/>
                </a:solidFill>
                <a:latin typeface="Fira Sans"/>
                <a:ea typeface="Fira Sans"/>
                <a:cs typeface="Fira Sans"/>
              </a:rPr>
              <a:t> Yang, B.; Sun, Y.; Zeng, Z.; Li, Q. Deskilling, reskilling, or upskilling? Unpacking the pathways of student adaptation to generative artificial intelligence. International Journal of Information Management, 2026. DOI: 10.1016/j.ijinfomgt.2025.103002.</a:t>
            </a:r>
          </a:p>
          <a:p>
            <a:pPr marL="285750" indent="-285750">
              <a:spcAft>
                <a:spcPts val="3"/>
              </a:spcAft>
              <a:buNone/>
            </a:pPr>
            <a:r>
              <a:rPr sz="1140" b="1" i="0">
                <a:solidFill>
                  <a:srgbClr val="EB976D"/>
                </a:solidFill>
                <a:latin typeface="Fira Sans"/>
                <a:ea typeface="Fira Sans"/>
                <a:cs typeface="Fira Sans"/>
              </a:rPr>
              <a:t>[32]</a:t>
            </a:r>
            <a:r>
              <a:rPr sz="1140" b="0" i="0">
                <a:solidFill>
                  <a:srgbClr val="38415C"/>
                </a:solidFill>
                <a:latin typeface="Fira Sans"/>
                <a:ea typeface="Fira Sans"/>
                <a:cs typeface="Fira Sans"/>
              </a:rPr>
              <a:t> Pan, S.; Luo, L.; Wang, Y.; Chen, C.; Wang, J.; Wu, X. Unifying large language models and knowledge graphs: A roadmap. IEEE Transactions on Knowledge and Data Engineering, 2024. DOI: 10.1109/TKDE.2024.3352100.</a:t>
            </a:r>
          </a:p>
          <a:p>
            <a:pPr marL="285750" indent="-285750">
              <a:spcAft>
                <a:spcPts val="3"/>
              </a:spcAft>
              <a:buNone/>
            </a:pPr>
            <a:r>
              <a:rPr sz="1140" b="1" i="0">
                <a:solidFill>
                  <a:srgbClr val="EB976D"/>
                </a:solidFill>
                <a:latin typeface="Fira Sans"/>
                <a:ea typeface="Fira Sans"/>
                <a:cs typeface="Fira Sans"/>
              </a:rPr>
              <a:t>[33]</a:t>
            </a:r>
            <a:r>
              <a:rPr sz="1140" b="0" i="0">
                <a:solidFill>
                  <a:srgbClr val="38415C"/>
                </a:solidFill>
                <a:latin typeface="Fira Sans"/>
                <a:ea typeface="Fira Sans"/>
                <a:cs typeface="Fira Sans"/>
              </a:rPr>
              <a:t> Al-Fawareh, H. Human-Centric AI Governance in Digital HRM: A Conceptual Framework for Responsible Digital Business. SSRN Electronic Journal, 2026. DOI: 10.2139/ssrn.6466703.</a:t>
            </a:r>
          </a:p>
          <a:p>
            <a:pPr marL="285750" indent="-285750">
              <a:spcAft>
                <a:spcPts val="3"/>
              </a:spcAft>
              <a:buNone/>
            </a:pPr>
            <a:r>
              <a:rPr sz="1140" b="1" i="0">
                <a:solidFill>
                  <a:srgbClr val="EB976D"/>
                </a:solidFill>
                <a:latin typeface="Fira Sans"/>
                <a:ea typeface="Fira Sans"/>
                <a:cs typeface="Fira Sans"/>
              </a:rPr>
              <a:t>[34]</a:t>
            </a:r>
            <a:r>
              <a:rPr sz="1140" b="0" i="0">
                <a:solidFill>
                  <a:srgbClr val="38415C"/>
                </a:solidFill>
                <a:latin typeface="Fira Sans"/>
                <a:ea typeface="Fira Sans"/>
                <a:cs typeface="Fira Sans"/>
              </a:rPr>
              <a:t> Garzón Castrillón, M.A. Proposed model of corporate university. Visión de Futuro, 2019. DOI: 10.36995/j.visiondefuturo.2019.23.01.006.en.</a:t>
            </a:r>
          </a:p>
          <a:p>
            <a:pPr marL="285750" indent="-285750">
              <a:spcAft>
                <a:spcPts val="3"/>
              </a:spcAft>
              <a:buNone/>
            </a:pPr>
            <a:r>
              <a:rPr sz="1140" b="1" i="0">
                <a:solidFill>
                  <a:srgbClr val="EB976D"/>
                </a:solidFill>
                <a:latin typeface="Fira Sans"/>
                <a:ea typeface="Fira Sans"/>
                <a:cs typeface="Fira Sans"/>
              </a:rPr>
              <a:t>[35]</a:t>
            </a:r>
            <a:r>
              <a:rPr sz="1140" b="0" i="0">
                <a:solidFill>
                  <a:srgbClr val="38415C"/>
                </a:solidFill>
                <a:latin typeface="Fira Sans"/>
                <a:ea typeface="Fira Sans"/>
                <a:cs typeface="Fira Sans"/>
              </a:rPr>
              <a:t> Chen, Y.; Zhou, L.; Wang, Y. The role and evolution of knowledge network-based intellectual capital in the corporate university. Journal of Intellectual Capital, 2023. DOI: 10.1108/JIC-12-2022-0238.</a:t>
            </a:r>
          </a:p>
        </p:txBody>
      </p:sp>
    </p:spTree>
    <p:extLst>
      <p:ext uri="{BB962C8B-B14F-4D97-AF65-F5344CB8AC3E}">
        <p14:creationId xmlns:p14="http://schemas.microsoft.com/office/powerpoint/2010/main" val="61505594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B88670-A8B0-4F9D-978D-34926F056ACE}"/>
              </a:ext>
            </a:extLst>
          </p:cNvPr>
          <p:cNvSpPr>
            <a:spLocks noGrp="1"/>
          </p:cNvSpPr>
          <p:nvPr>
            <p:ph type="title"/>
          </p:nvPr>
        </p:nvSpPr>
        <p:spPr/>
        <p:txBody>
          <a:bodyPr/>
          <a:lstStyle/>
          <a:p>
            <a:r>
              <a:rPr sz="2100" b="1">
                <a:solidFill>
                  <a:srgbClr val="38415C"/>
                </a:solidFill>
                <a:latin typeface="Fira Sans"/>
                <a:ea typeface="Fira Sans"/>
                <a:cs typeface="Fira Sans"/>
              </a:rPr>
              <a:t>Referências citadas no artigo — 4/4</a:t>
            </a:r>
          </a:p>
        </p:txBody>
      </p:sp>
      <p:sp>
        <p:nvSpPr>
          <p:cNvPr id="3" name="Content Placeholder 2">
            <a:extLst>
              <a:ext uri="{FF2B5EF4-FFF2-40B4-BE49-F238E27FC236}">
                <a16:creationId xmlns:a16="http://schemas.microsoft.com/office/drawing/2014/main" id="{37088C56-992D-44E4-ACAE-81A4521EA0CA}"/>
              </a:ext>
            </a:extLst>
          </p:cNvPr>
          <p:cNvSpPr>
            <a:spLocks noGrp="1"/>
          </p:cNvSpPr>
          <p:nvPr>
            <p:ph idx="1"/>
          </p:nvPr>
        </p:nvSpPr>
        <p:spPr>
          <a:xfrm>
            <a:off x="1200150" y="1476375"/>
            <a:ext cx="7524750" cy="4429125"/>
          </a:xfrm>
        </p:spPr>
        <p:txBody>
          <a:bodyPr anchor="t">
            <a:normAutofit/>
          </a:bodyPr>
          <a:lstStyle/>
          <a:p>
            <a:pPr marL="285750" indent="-285750">
              <a:spcAft>
                <a:spcPts val="3"/>
              </a:spcAft>
              <a:buNone/>
            </a:pPr>
            <a:r>
              <a:rPr sz="1140" b="1" i="0">
                <a:solidFill>
                  <a:srgbClr val="EB976D"/>
                </a:solidFill>
                <a:latin typeface="Fira Sans"/>
                <a:ea typeface="Fira Sans"/>
                <a:cs typeface="Fira Sans"/>
              </a:rPr>
              <a:t>[36]</a:t>
            </a:r>
            <a:r>
              <a:rPr sz="1140" b="0" i="0">
                <a:solidFill>
                  <a:srgbClr val="38415C"/>
                </a:solidFill>
                <a:latin typeface="Fira Sans"/>
                <a:ea typeface="Fira Sans"/>
                <a:cs typeface="Fira Sans"/>
              </a:rPr>
              <a:t> Zhou, Y. Path of corporate university to enable enterprises: Based on the best corporate universities in China. University of Otago, 2023.</a:t>
            </a:r>
          </a:p>
          <a:p>
            <a:pPr marL="285750" indent="-285750">
              <a:spcAft>
                <a:spcPts val="3"/>
              </a:spcAft>
              <a:buNone/>
            </a:pPr>
            <a:r>
              <a:rPr sz="1140" b="1" i="0">
                <a:solidFill>
                  <a:srgbClr val="EB976D"/>
                </a:solidFill>
                <a:latin typeface="Fira Sans"/>
                <a:ea typeface="Fira Sans"/>
                <a:cs typeface="Fira Sans"/>
              </a:rPr>
              <a:t>[37]</a:t>
            </a:r>
            <a:r>
              <a:rPr sz="1140" b="0" i="0">
                <a:solidFill>
                  <a:srgbClr val="38415C"/>
                </a:solidFill>
                <a:latin typeface="Fira Sans"/>
                <a:ea typeface="Fira Sans"/>
                <a:cs typeface="Fira Sans"/>
              </a:rPr>
              <a:t> Singh, V.; Verma, S.; Chaurasia, S.S. Mapping the themes and intellectual structure of corporate university: co-citation and cluster analyses. Scientometrics, 2019. DOI: 10.1007/s11192-019-03328-0.</a:t>
            </a:r>
          </a:p>
          <a:p>
            <a:pPr marL="285750" indent="-285750">
              <a:spcAft>
                <a:spcPts val="3"/>
              </a:spcAft>
              <a:buNone/>
            </a:pPr>
            <a:r>
              <a:rPr sz="1140" b="1" i="0">
                <a:solidFill>
                  <a:srgbClr val="EB976D"/>
                </a:solidFill>
                <a:latin typeface="Fira Sans"/>
                <a:ea typeface="Fira Sans"/>
                <a:cs typeface="Fira Sans"/>
              </a:rPr>
              <a:t>[38]</a:t>
            </a:r>
            <a:r>
              <a:rPr sz="1140" b="0" i="0">
                <a:solidFill>
                  <a:srgbClr val="38415C"/>
                </a:solidFill>
                <a:latin typeface="Fira Sans"/>
                <a:ea typeface="Fira Sans"/>
                <a:cs typeface="Fira Sans"/>
              </a:rPr>
              <a:t> Bender, E.M.; Gebru, T.; McMillan-Major, A.; Shmitchell, S. On the Dangers of Stochastic Parrots: Can Language Models Be Too Big?. Proceedings of the 2021 ACM Conference on Fairness, Accountability, and Transparency, p. 610–623, 2021. DOI: 10.1145/3442188.3445922.</a:t>
            </a:r>
          </a:p>
          <a:p>
            <a:pPr marL="285750" indent="-285750">
              <a:spcAft>
                <a:spcPts val="3"/>
              </a:spcAft>
              <a:buNone/>
            </a:pPr>
            <a:r>
              <a:rPr sz="1140" b="1" i="0">
                <a:solidFill>
                  <a:srgbClr val="EB976D"/>
                </a:solidFill>
                <a:latin typeface="Fira Sans"/>
                <a:ea typeface="Fira Sans"/>
                <a:cs typeface="Fira Sans"/>
              </a:rPr>
              <a:t>[39]</a:t>
            </a:r>
            <a:r>
              <a:rPr sz="1140" b="0" i="0">
                <a:solidFill>
                  <a:srgbClr val="38415C"/>
                </a:solidFill>
                <a:latin typeface="Fira Sans"/>
                <a:ea typeface="Fira Sans"/>
                <a:cs typeface="Fira Sans"/>
              </a:rPr>
              <a:t> Orlikowski, W.J. Sociomaterial Practices: Exploring Technology at Work. Organization Studies, v. 28, n. 9, p. 1435–1448, 2007. DOI: 10.1177/0170840607081138.</a:t>
            </a:r>
          </a:p>
          <a:p>
            <a:pPr marL="285750" indent="-285750">
              <a:spcAft>
                <a:spcPts val="3"/>
              </a:spcAft>
              <a:buNone/>
            </a:pPr>
            <a:r>
              <a:rPr sz="1140" b="1" i="0">
                <a:solidFill>
                  <a:srgbClr val="EB976D"/>
                </a:solidFill>
                <a:latin typeface="Fira Sans"/>
                <a:ea typeface="Fira Sans"/>
                <a:cs typeface="Fira Sans"/>
              </a:rPr>
              <a:t>[40]</a:t>
            </a:r>
            <a:r>
              <a:rPr sz="1140" b="0" i="0">
                <a:solidFill>
                  <a:srgbClr val="38415C"/>
                </a:solidFill>
                <a:latin typeface="Fira Sans"/>
                <a:ea typeface="Fira Sans"/>
                <a:cs typeface="Fira Sans"/>
              </a:rPr>
              <a:t> Commission, E. Industry 5.0: Towards a sustainable, human-centric and resilient European industry. Directorate-General for Research and Innovation, 2021. DOI: 10.2777/308407.</a:t>
            </a:r>
          </a:p>
          <a:p>
            <a:pPr marL="285750" indent="-285750">
              <a:spcAft>
                <a:spcPts val="3"/>
              </a:spcAft>
              <a:buNone/>
            </a:pPr>
            <a:r>
              <a:rPr sz="1140" b="1" i="0">
                <a:solidFill>
                  <a:srgbClr val="EB976D"/>
                </a:solidFill>
                <a:latin typeface="Fira Sans"/>
                <a:ea typeface="Fira Sans"/>
                <a:cs typeface="Fira Sans"/>
              </a:rPr>
              <a:t>[41]</a:t>
            </a:r>
            <a:r>
              <a:rPr sz="1140" b="0" i="0">
                <a:solidFill>
                  <a:srgbClr val="38415C"/>
                </a:solidFill>
                <a:latin typeface="Fira Sans"/>
                <a:ea typeface="Fira Sans"/>
                <a:cs typeface="Fira Sans"/>
              </a:rPr>
              <a:t> Dell'Acqua, F.; McFowland, E.; Mollick, E.R.; Lifshitz-Assaf, H.; Kellogg, K.; Rajendran, S.; Krayer, L.; Candelon, F.; Lakhani, K.R. Navigating the Jagged Technological Frontier: Field Experimental Evidence of the Effects of AI on Knowledge Worker Productivity and Quality. Harvard Business School, n. 24-013, 2023. DOI: 10.2139/ssrn.4573321.</a:t>
            </a:r>
          </a:p>
          <a:p>
            <a:pPr marL="285750" indent="-285750">
              <a:spcAft>
                <a:spcPts val="3"/>
              </a:spcAft>
              <a:buNone/>
            </a:pPr>
            <a:r>
              <a:rPr sz="1140" b="1" i="0">
                <a:solidFill>
                  <a:srgbClr val="EB976D"/>
                </a:solidFill>
                <a:latin typeface="Fira Sans"/>
                <a:ea typeface="Fira Sans"/>
                <a:cs typeface="Fira Sans"/>
              </a:rPr>
              <a:t>[42]</a:t>
            </a:r>
            <a:r>
              <a:rPr sz="1140" b="0" i="0">
                <a:solidFill>
                  <a:srgbClr val="38415C"/>
                </a:solidFill>
                <a:latin typeface="Fira Sans"/>
                <a:ea typeface="Fira Sans"/>
                <a:cs typeface="Fira Sans"/>
              </a:rPr>
              <a:t> Ng, D.T.K.; Leung, J.K.L.; Chu, S.K.W.; Qiao, M.S. Conceptualizing AI Literacy: An Exploratory Review. Computers and Education: Artificial Intelligence, v. 2, p. 100041, 2021. DOI: 10.1016/j.caeai.2021.100041.</a:t>
            </a:r>
          </a:p>
          <a:p>
            <a:pPr marL="285750" indent="-285750">
              <a:spcAft>
                <a:spcPts val="3"/>
              </a:spcAft>
              <a:buNone/>
            </a:pPr>
            <a:r>
              <a:rPr sz="1140" b="1" i="0">
                <a:solidFill>
                  <a:srgbClr val="EB976D"/>
                </a:solidFill>
                <a:latin typeface="Fira Sans"/>
                <a:ea typeface="Fira Sans"/>
                <a:cs typeface="Fira Sans"/>
              </a:rPr>
              <a:t>[43]</a:t>
            </a:r>
            <a:r>
              <a:rPr sz="1140" b="0" i="0">
                <a:solidFill>
                  <a:srgbClr val="38415C"/>
                </a:solidFill>
                <a:latin typeface="Fira Sans"/>
                <a:ea typeface="Fira Sans"/>
                <a:cs typeface="Fira Sans"/>
              </a:rPr>
              <a:t> Edmondson, A. Psychological Safety and Learning Behavior in Work Teams. Administrative Science Quarterly, v. 44, n. 2, p. 350–383, 1999. DOI: 10.2307/2666999.</a:t>
            </a:r>
          </a:p>
          <a:p>
            <a:pPr marL="285750" indent="-285750">
              <a:spcAft>
                <a:spcPts val="3"/>
              </a:spcAft>
              <a:buNone/>
            </a:pPr>
            <a:r>
              <a:rPr sz="1140" b="1" i="0">
                <a:solidFill>
                  <a:srgbClr val="EB976D"/>
                </a:solidFill>
                <a:latin typeface="Fira Sans"/>
                <a:ea typeface="Fira Sans"/>
                <a:cs typeface="Fira Sans"/>
              </a:rPr>
              <a:t>[44]</a:t>
            </a:r>
            <a:r>
              <a:rPr sz="1140" b="0" i="0">
                <a:solidFill>
                  <a:srgbClr val="38415C"/>
                </a:solidFill>
                <a:latin typeface="Fira Sans"/>
                <a:ea typeface="Fira Sans"/>
                <a:cs typeface="Fira Sans"/>
              </a:rPr>
              <a:t> Foucault, M. Surveiller et Punir: Naissance de la Prison. Gallimard, 1975.</a:t>
            </a:r>
          </a:p>
          <a:p>
            <a:pPr marL="285750" indent="-285750">
              <a:spcAft>
                <a:spcPts val="3"/>
              </a:spcAft>
              <a:buNone/>
            </a:pPr>
            <a:r>
              <a:rPr sz="1140" b="1" i="0">
                <a:solidFill>
                  <a:srgbClr val="EB976D"/>
                </a:solidFill>
                <a:latin typeface="Fira Sans"/>
                <a:ea typeface="Fira Sans"/>
                <a:cs typeface="Fira Sans"/>
              </a:rPr>
              <a:t>[45]</a:t>
            </a:r>
            <a:r>
              <a:rPr sz="1140" b="0" i="0">
                <a:solidFill>
                  <a:srgbClr val="38415C"/>
                </a:solidFill>
                <a:latin typeface="Fira Sans"/>
                <a:ea typeface="Fira Sans"/>
                <a:cs typeface="Fira Sans"/>
              </a:rPr>
              <a:t> Argyris, C.; Schön, D.A. Organizational Learning: A Theory of Action Perspective. Addison-Wesley, 1978.</a:t>
            </a:r>
          </a:p>
          <a:p>
            <a:pPr marL="285750" indent="-285750">
              <a:spcAft>
                <a:spcPts val="3"/>
              </a:spcAft>
              <a:buNone/>
            </a:pPr>
            <a:r>
              <a:rPr sz="1140" b="1" i="0">
                <a:solidFill>
                  <a:srgbClr val="EB976D"/>
                </a:solidFill>
                <a:latin typeface="Fira Sans"/>
                <a:ea typeface="Fira Sans"/>
                <a:cs typeface="Fira Sans"/>
              </a:rPr>
              <a:t>[46]</a:t>
            </a:r>
            <a:r>
              <a:rPr sz="1140" b="0" i="0">
                <a:solidFill>
                  <a:srgbClr val="38415C"/>
                </a:solidFill>
                <a:latin typeface="Fira Sans"/>
                <a:ea typeface="Fira Sans"/>
                <a:cs typeface="Fira Sans"/>
              </a:rPr>
              <a:t> Parliament, E.; Union, C.o.t.E. Regulation (EU) 2024/1689 of the European Parliament and of the Council of 13 June 2024 laying down harmonised rules on artificial intelligence (Artificial Intelligence Act). Official Journal of the European Union, L, 2024/1689, 2024.</a:t>
            </a:r>
          </a:p>
        </p:txBody>
      </p:sp>
    </p:spTree>
    <p:extLst>
      <p:ext uri="{BB962C8B-B14F-4D97-AF65-F5344CB8AC3E}">
        <p14:creationId xmlns:p14="http://schemas.microsoft.com/office/powerpoint/2010/main" val="6150559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A6C849-8EEA-4804-903C-EFE4F920EECD}"/>
              </a:ext>
            </a:extLst>
          </p:cNvPr>
          <p:cNvSpPr>
            <a:spLocks noGrp="1"/>
          </p:cNvSpPr>
          <p:nvPr>
            <p:ph type="title"/>
          </p:nvPr>
        </p:nvSpPr>
        <p:spPr/>
        <p:txBody>
          <a:bodyPr/>
          <a:lstStyle/>
          <a:p>
            <a:r>
              <a:rPr sz="2100" b="1">
                <a:solidFill>
                  <a:srgbClr val="38415C"/>
                </a:solidFill>
                <a:latin typeface="Fira Sans"/>
                <a:ea typeface="Fira Sans"/>
                <a:cs typeface="Fira Sans"/>
              </a:rPr>
              <a:t>Apêndice — controles do pipeline SLR-RAG</a:t>
            </a:r>
          </a:p>
        </p:txBody>
      </p:sp>
      <p:sp>
        <p:nvSpPr>
          <p:cNvPr id="3" name="Content Placeholder 2">
            <a:extLst>
              <a:ext uri="{FF2B5EF4-FFF2-40B4-BE49-F238E27FC236}">
                <a16:creationId xmlns:a16="http://schemas.microsoft.com/office/drawing/2014/main" id="{795AC24E-1677-402B-8EAF-0FFAC3CBC4F8}"/>
              </a:ext>
            </a:extLst>
          </p:cNvPr>
          <p:cNvSpPr>
            <a:spLocks noGrp="1"/>
          </p:cNvSpPr>
          <p:nvPr>
            <p:ph idx="1"/>
          </p:nvPr>
        </p:nvSpPr>
        <p:spPr>
          <a:xfrm>
            <a:off x="1200150" y="1428750"/>
            <a:ext cx="7524750" cy="4238625"/>
          </a:xfrm>
        </p:spPr>
        <p:txBody>
          <a:bodyPr anchor="t">
            <a:normAutofit/>
          </a:bodyPr>
          <a:lstStyle/>
          <a:p>
            <a:pPr marL="18" indent="-10">
              <a:spcAft>
                <a:spcPts val="7"/>
              </a:spcAft>
              <a:buChar char="•"/>
            </a:pPr>
            <a:r>
              <a:rPr sz="1470" b="1" i="0">
                <a:solidFill>
                  <a:srgbClr val="EB976D"/>
                </a:solidFill>
                <a:latin typeface="Fira Sans"/>
                <a:ea typeface="Fira Sans"/>
                <a:cs typeface="Fira Sans"/>
              </a:rPr>
              <a:t>Recuperação: </a:t>
            </a:r>
            <a:r>
              <a:rPr sz="1470" i="0">
                <a:solidFill>
                  <a:srgbClr val="38415C"/>
                </a:solidFill>
                <a:latin typeface="Fira Sans"/>
                <a:ea typeface="Fira Sans"/>
                <a:cs typeface="Fira Sans"/>
              </a:rPr>
              <a:t>busca híbrida, documentos locais e metadados das fontes.</a:t>
            </a:r>
          </a:p>
          <a:p>
            <a:pPr marL="18" indent="-10">
              <a:spcBef>
                <a:spcPts val="790"/>
              </a:spcBef>
              <a:spcAft>
                <a:spcPts val="7"/>
              </a:spcAft>
              <a:buChar char="•"/>
            </a:pPr>
            <a:r>
              <a:rPr sz="1470" b="1" i="0">
                <a:solidFill>
                  <a:srgbClr val="EB976D"/>
                </a:solidFill>
                <a:latin typeface="Fira Sans"/>
                <a:ea typeface="Fira Sans"/>
                <a:cs typeface="Fira Sans"/>
              </a:rPr>
              <a:t>Triagem: </a:t>
            </a:r>
            <a:r>
              <a:rPr sz="1470" b="1" i="0">
                <a:solidFill>
                  <a:srgbClr val="38415C"/>
                </a:solidFill>
                <a:latin typeface="Fira Sans"/>
                <a:ea typeface="Fira Sans"/>
                <a:cs typeface="Fira Sans"/>
              </a:rPr>
              <a:t>saída estruturada por eixo temático, com temperatura determinística.</a:t>
            </a:r>
          </a:p>
          <a:p>
            <a:pPr marL="18" indent="-10">
              <a:spcBef>
                <a:spcPts val="790"/>
              </a:spcBef>
              <a:spcAft>
                <a:spcPts val="7"/>
              </a:spcAft>
              <a:buChar char="•"/>
            </a:pPr>
            <a:r>
              <a:rPr sz="1470" b="1" i="0">
                <a:solidFill>
                  <a:srgbClr val="EB976D"/>
                </a:solidFill>
                <a:latin typeface="Fira Sans"/>
                <a:ea typeface="Fira Sans"/>
                <a:cs typeface="Fira Sans"/>
              </a:rPr>
              <a:t>Validação: </a:t>
            </a:r>
            <a:r>
              <a:rPr sz="1470" b="1" i="0">
                <a:solidFill>
                  <a:srgbClr val="38415C"/>
                </a:solidFill>
                <a:latin typeface="Fira Sans"/>
                <a:ea typeface="Fira Sans"/>
                <a:cs typeface="Fira Sans"/>
              </a:rPr>
              <a:t>schema Pydantic, enumerações restritas e justificativa mínima.</a:t>
            </a:r>
          </a:p>
          <a:p>
            <a:pPr marL="18" indent="-10">
              <a:spcBef>
                <a:spcPts val="790"/>
              </a:spcBef>
              <a:spcAft>
                <a:spcPts val="7"/>
              </a:spcAft>
              <a:buChar char="•"/>
            </a:pPr>
            <a:r>
              <a:rPr sz="1470" b="1" i="0">
                <a:solidFill>
                  <a:srgbClr val="EB976D"/>
                </a:solidFill>
                <a:latin typeface="Fira Sans"/>
                <a:ea typeface="Fira Sans"/>
                <a:cs typeface="Fira Sans"/>
              </a:rPr>
              <a:t>Defesa em profundidade: </a:t>
            </a:r>
          </a:p>
          <a:p>
            <a:pPr marL="30" indent="-10">
              <a:spcBef>
                <a:spcPts val="790"/>
              </a:spcBef>
              <a:spcAft>
                <a:spcPts val="3"/>
              </a:spcAft>
              <a:buChar char="–"/>
            </a:pPr>
            <a:r>
              <a:rPr sz="1305" b="1" i="0">
                <a:solidFill>
                  <a:srgbClr val="EB976D"/>
                </a:solidFill>
                <a:latin typeface="Fira Sans"/>
                <a:ea typeface="Fira Sans"/>
                <a:cs typeface="Fira Sans"/>
              </a:rPr>
              <a:t>Camada 1 — entrada: </a:t>
            </a:r>
            <a:r>
              <a:rPr sz="1305" b="1" i="0">
                <a:solidFill>
                  <a:srgbClr val="38415C"/>
                </a:solidFill>
                <a:latin typeface="Fira Sans"/>
                <a:ea typeface="Fira Sans"/>
                <a:cs typeface="Fira Sans"/>
              </a:rPr>
              <a:t>normalização e delimitação do conteúdo recuperado.</a:t>
            </a:r>
          </a:p>
          <a:p>
            <a:pPr marL="30" indent="-10">
              <a:spcBef>
                <a:spcPts val="790"/>
              </a:spcBef>
              <a:spcAft>
                <a:spcPts val="3"/>
              </a:spcAft>
              <a:buChar char="–"/>
            </a:pPr>
            <a:r>
              <a:rPr sz="1305" b="1" i="0">
                <a:solidFill>
                  <a:srgbClr val="EB976D"/>
                </a:solidFill>
                <a:latin typeface="Fira Sans"/>
                <a:ea typeface="Fira Sans"/>
                <a:cs typeface="Fira Sans"/>
              </a:rPr>
              <a:t>Camada 2 — instrução: </a:t>
            </a:r>
            <a:r>
              <a:rPr sz="1305" b="1" i="0">
                <a:solidFill>
                  <a:srgbClr val="38415C"/>
                </a:solidFill>
                <a:latin typeface="Fira Sans"/>
                <a:ea typeface="Fira Sans"/>
                <a:cs typeface="Fira Sans"/>
              </a:rPr>
              <a:t>prompt separa evidência documental de comandos.</a:t>
            </a:r>
          </a:p>
          <a:p>
            <a:pPr marL="30" indent="-10">
              <a:spcBef>
                <a:spcPts val="790"/>
              </a:spcBef>
              <a:spcAft>
                <a:spcPts val="3"/>
              </a:spcAft>
              <a:buChar char="–"/>
            </a:pPr>
            <a:r>
              <a:rPr sz="1305" b="1" i="0">
                <a:solidFill>
                  <a:srgbClr val="EB976D"/>
                </a:solidFill>
                <a:latin typeface="Fira Sans"/>
                <a:ea typeface="Fira Sans"/>
                <a:cs typeface="Fira Sans"/>
              </a:rPr>
              <a:t>Camada 3 — saída: </a:t>
            </a:r>
            <a:r>
              <a:rPr sz="1305" b="1" i="0">
                <a:solidFill>
                  <a:srgbClr val="38415C"/>
                </a:solidFill>
                <a:latin typeface="Fira Sans"/>
                <a:ea typeface="Fira Sans"/>
                <a:cs typeface="Fira Sans"/>
              </a:rPr>
              <a:t>validação pós-geração e rejeição de respostas inconsistentes.</a:t>
            </a:r>
          </a:p>
          <a:p>
            <a:pPr marL="18" indent="-10">
              <a:spcBef>
                <a:spcPts val="790"/>
              </a:spcBef>
              <a:spcAft>
                <a:spcPts val="7"/>
              </a:spcAft>
              <a:buChar char="•"/>
            </a:pPr>
            <a:r>
              <a:rPr sz="1470" b="1" i="0">
                <a:solidFill>
                  <a:srgbClr val="EB976D"/>
                </a:solidFill>
                <a:latin typeface="Fira Sans"/>
                <a:ea typeface="Fira Sans"/>
                <a:cs typeface="Fira Sans"/>
              </a:rPr>
              <a:t>Rastreabilidade: </a:t>
            </a:r>
            <a:r>
              <a:rPr sz="1470" b="1" i="0">
                <a:solidFill>
                  <a:srgbClr val="38415C"/>
                </a:solidFill>
                <a:latin typeface="Fira Sans"/>
                <a:ea typeface="Fira Sans"/>
                <a:cs typeface="Fira Sans"/>
              </a:rPr>
              <a:t>fichas de leitura, RIS/Zotero e repositório de trabalho.</a:t>
            </a:r>
          </a:p>
          <a:p>
            <a:pPr marL="18" indent="-10">
              <a:spcBef>
                <a:spcPts val="790"/>
              </a:spcBef>
              <a:spcAft>
                <a:spcPts val="7"/>
              </a:spcAft>
              <a:buNone/>
            </a:pPr>
            <a:r>
              <a:rPr sz="1305" b="1" i="0">
                <a:solidFill>
                  <a:srgbClr val="EB976D"/>
                </a:solidFill>
                <a:latin typeface="Fira Sans"/>
                <a:ea typeface="Fira Sans"/>
                <a:cs typeface="Fira Sans"/>
              </a:rPr>
              <a:t>Limite: </a:t>
            </a:r>
            <a:r>
              <a:rPr sz="1305" b="1" i="1">
                <a:solidFill>
                  <a:srgbClr val="8C8C96"/>
                </a:solidFill>
                <a:latin typeface="Fira Sans"/>
                <a:ea typeface="Fira Sans"/>
                <a:cs typeface="Fira Sans"/>
              </a:rPr>
              <a:t>os controles reduzem, mas não eliminam, erro, viés ou prompt injection.</a:t>
            </a:r>
          </a:p>
        </p:txBody>
      </p:sp>
    </p:spTree>
    <p:extLst>
      <p:ext uri="{BB962C8B-B14F-4D97-AF65-F5344CB8AC3E}">
        <p14:creationId xmlns:p14="http://schemas.microsoft.com/office/powerpoint/2010/main" val="2017599210"/>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solidFill>
          <a:schemeClr val="dk1"/>
        </a:solidFill>
        <a:solidFill>
          <a:schemeClr val="accent1"/>
        </a:soli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3462</Words>
  <Application>Microsoft Macintosh PowerPoint</Application>
  <DocSecurity>0</DocSecurity>
  <PresentationFormat>On-screen Show (4:3)</PresentationFormat>
  <Paragraphs>240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Fira Sans</vt:lpstr>
      <vt:lpstr>Office Theme</vt:lpstr>
      <vt:lpstr>Retrofit do Modelo 3M de Universidade Corporativa: Reinterpretação de seus Três Pilares à Luz da Inteligência Artificial</vt:lpstr>
      <vt:lpstr>Agenda</vt:lpstr>
      <vt:lpstr>Universidades Corporativas e o Modelo 3M</vt:lpstr>
      <vt:lpstr>Problema e questão de pesquisa</vt:lpstr>
      <vt:lpstr>Fundamentos de Gestão do Conhecimento</vt:lpstr>
      <vt:lpstr>IA Generativa e Gestão do Conhecimento</vt:lpstr>
      <vt:lpstr>Aprendizagem no fluxo de trabalho</vt:lpstr>
      <vt:lpstr>IA como agente organizacional</vt:lpstr>
      <vt:lpstr>Governança de IA como ciclo de aprendizagem</vt:lpstr>
      <vt:lpstr>Revisão de escopo — funil de seleção</vt:lpstr>
      <vt:lpstr>Protocolo de revisão e síntese</vt:lpstr>
      <vt:lpstr>Estratégia de retrofit e avaliação</vt:lpstr>
      <vt:lpstr>Modelo 3M 5.0 proposto</vt:lpstr>
      <vt:lpstr>Cobertura conceitual exploratória (classificação autoral)</vt:lpstr>
      <vt:lpstr>Discussão: contribuição e tensões</vt:lpstr>
      <vt:lpstr>Limitações e agenda de pesquisa</vt:lpstr>
      <vt:lpstr>Conclusão</vt:lpstr>
      <vt:lpstr>Obrigado</vt:lpstr>
      <vt:lpstr>Referências citadas no artigo — 1/4</vt:lpstr>
      <vt:lpstr>Referências citadas no artigo — 2/4</vt:lpstr>
      <vt:lpstr>Referências citadas no artigo — 3/4</vt:lpstr>
      <vt:lpstr>Referências citadas no artigo — 4/4</vt:lpstr>
      <vt:lpstr>Apêndice — controles do pipeline SLR-RAG</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Joao Pedro Barbosa Dos Santos Martins Silva</cp:lastModifiedBy>
  <cp:revision>1</cp:revision>
  <dcterms:created xsi:type="dcterms:W3CDTF">2026-06-12T13:59:10Z</dcterms:created>
  <dcterms:modified xsi:type="dcterms:W3CDTF">2026-06-12T14:58:29Z</dcterms:modified>
</cp:coreProperties>
</file>