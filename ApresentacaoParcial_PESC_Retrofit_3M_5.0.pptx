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7" r:id="rId14"/>
  </p:sldIdLst>
  <p:sldSz cx="9144000" cy="6858000" type="screen4x3"/>
  <p:notesSz cx="6858000" cy="9144000"/>
  <p:embeddedFontLst>
    <p:embeddedFont>
      <p:font typeface="Fira Sans" panose="020B05030500000200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64"/>
    <p:restoredTop sz="77877"/>
  </p:normalViewPr>
  <p:slideViewPr>
    <p:cSldViewPr snapToGrid="0">
      <p:cViewPr varScale="1">
        <p:scale>
          <a:sx n="97" d="100"/>
          <a:sy n="97" d="100"/>
        </p:scale>
        <p:origin x="1680" y="200"/>
      </p:cViewPr>
      <p:guideLst/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dia. Apresento aqui os resultados parciais do meu trabalho final, cujo tema é o retrofit conceitual do Modelo 3M de Universidade Corporativa à luz da IA Generativa. Estruturarei a fala em: o problema e a provocação da banca, a proposta do Modelo 3M 5.0, a metodologia rigorosa que a fundamenta e o estado atual da redação.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Mora-Mora e colegas publicaram em 2025 uma revisão sistemática que catalogou 19 modelos de UC propostos entre 2000 e 2023. Resultado alarmante: embora 16 dos 19 tratem a Gestão do Conhecimento como fator crítico, nenhum integra IA agêntica à sua arquitetura. A tecnologia é tratada como infraestrutura passiva — LMS, portais, repositórios. Esse é o gap que este trabalho endereça com o Modelo 3M 5.0.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Prof. Jano provocou: a IA Generativa não pode ser vista apenas como ferramenta de suporte. Os LLMs têm agência — planejam tarefas, usam ferramentas, aprendem com feedback. A resposta que incorporei é a dupla perspectiva: mantemos a IA como ferramenta — RAG, automação, curadoria — e adicionamos a camada de IA como agente organizacional ativo, que co-define estratégias, negocia premissas e co-evolui com a UC. Essa distinção é transversal aos três pilares e é o coração do retrofit.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Aqui está o coração do trabalho — a tabela síntese do Modelo 3M 5.0. Cada linha é um pilar clássico. Cada coluna é uma camada evolutiva. A segunda coluna mantém o 3M original intacto. A terceira — aprovada pelas orientadoras — reinterpreta cada pilar com IA como infraestrutura. A quarta — camada adicional do Prof. Jano — coloca a IA como agente que co-participa. O resultado é um modelo com três velocidades de adoção, permitindo que a organização comece pela ferramenta e evolua para o ecossistema.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trabalho entrega seis contribuições. C1: retrofit do 3M sem ruptura — preserva o modelo original e acopla IA. C2: dupla perspectiva ferramenta-agente, primeiro modelo de UC a tratar IA como co-participante. C3: governança de IA como atribuição institucional da UC — o MOMENT 5.0 como centro de auditoria e contestação. C4: substituição do SECI pelo GRAI de Böhm &amp; Durst para explicar criação de conhecimento com IA. C5: framework de upskilling ligado ao sensing estratégico do MOTIVE 5.0. C6: protocolo de Scoping Review replicável com 10 strings, 6 eixos e 93 artigos.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MOTIVE 5.0 evolui em três camadas. A camada original — alinhamento estratégico e engajamento da liderança — é preservada. A camada ferramenta adiciona o sensing contínuo: a IA monitora em tempo real os gaps de competência, detecta obsolescência e gera trilhas personalizadas. A camada agente vai além: a IA não apenas detecta, mas co-define a estratégia de aprendizagem com base no que ela própria inferiu sobre as dinâmicas internas da organização. Referências centrais: Morandini 2023 e Li 2024 para o reskilling, Islam &amp; Ajmal 2025 para a co-evolução.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MODEL 5.0 é um stack de quatro camadas. Na base, os currículos formais e programas estruturados permanecem. Acima, a aprendizagem no fluxo de trabalho embute o conhecimento no momento exato em que ele é necessário. A terceira camada são os sistemas RAG e Grafos de Conhecimento corporativos — LLMs privados que recuperam semanticamente o conhecimento institucional. No topo, a camada agente: a IA não apenas recupera, mas participa ativamente da coprodução de soluções. As camadas se retroalimentam — o que o agente aprende alimenta a base de dados RAG, que alimenta os currículos.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MOMENT 5.0 transforma o pilar de timing competitivo em um sistema de governança de IA. A UC assume o papel de centro institucional que: audita as decisões tomadas pelos agentes algorítmicos, garante mecanismos de contestação e accountability, monitora compliance ético via o choices framework de Benjamins, e — o elemento mais inovador — usa os aprendizados da IA para retroalimentar e calibrar o próprio sistema de governança. É um loop fechado onde a IA é simultaneamente objeto e sujeito da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metodologia é um protocolo rigoroso de Scoping Review. Formulamos 10 strings de busca booleanas cobrindo 6 eixos temáticos. Varremos as principais bases indexadas e chegamos a 114 artigos únicos. Após curadoria com 4 critérios de avaliação — relevância, atualidade, qualidade da fonte e aplicabilidade — chegamos a 93 artigos com PDF local. Desses, 20 foram selecionados para compor o referencial teórico do artigo. A Profa. Viviane sugeriu adicionar o relatório da Gartner para complementar com dados de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Scoping Review está organizada em 6 eixos temáticos, cada um coberto por uma ou duas strings de busca booleanas. O Eixo 1 cobre UC e GC — base para o 3M original. O Eixo 2 cobre IA Generativa e GC — o maior eixo, com 22 artigos, incluindo os trabalhos centrais de Böhm &amp; Durst (SECI→GRAI), Islam &amp; Ajmal (co-evolução) e Faraj et al. (knowing pós-LLM). O Eixo 3 cobre learning in the flow of work — base do MODEL 5.0. O Eixo 4 cobre governança de IA — base do MOMENT 5.0. O Eixo 5 cobre reconfiguração do trabalho — base do MOTIVE 5.0. O Eixo 6 cobre a infraestrutura técnica: KGs e RAG corporativo. No total: 10 strings, 6 eixos, 93 artigos com PDF local, 20 selecionados para o referencial.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referencial está organizado em 5 eixos. O eixo 1 ancora a proposta no Modelo 3M original e confirma o gap de 0/19 modelos com IA. O eixo 2 fundamenta a integração de GenAI com a GC, incluindo o modelo GRAI que substitui o SECI. O eixo 3 justifica a aprendizagem no fluxo de trabalho como central para o MODEL 5.0. O eixo 4 — adição do Prof. Jano — traz as bases teóricas da IA agêntica e da co-evolução. O eixo 5 fundamenta o MOMENT 5.0 com frameworks de governança de IA. Total: 20 artigos do catálogo + 7 referências teóricas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Seções I e II estão completamente redigidas, totalizando 4.345 palavras em formato IEEEtran de duas colunas. A estrutura LaTeX completa das 7 seções está configurada com o banco de referências. As seções III a VII aguardam preenchimento. Um rascunho de 7 páginas em inglês foi compilado com sucesso, sinalizando o caminho para submissão em conferência internacional.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Obrigado. Resumindo: o trabalho partiu de um gap real — nenhum dos 19 modelos de UC integra IA agêntica. A provocação do Prof. Jano enriqueceu a proposta com a dupla perspectiva ferramenta-agente. A revisão sistemática de 93 artigos fundamenta teoricamente o retrofit. As Seções I e II estão concluídas com 4.345 palavras. O próximo marco é a Seção IV com o Modelo 3M 5.0 completo. Aberto 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835445" y="800861"/>
            <a:ext cx="6191137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  <a:defRPr sz="4500"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835445" y="4414058"/>
            <a:ext cx="6217114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>
                <a:solidFill>
                  <a:srgbClr val="38415C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pic>
        <p:nvPicPr>
          <p:cNvPr id="21" name="Google Shape;21;p2" descr="A picture containing draw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9096" y="219583"/>
            <a:ext cx="1350000" cy="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A picture containing diagram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2" y="219583"/>
            <a:ext cx="3229658" cy="551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9689" y="-45213"/>
            <a:ext cx="1624312" cy="13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701370BF-C132-A715-D273-78D75983D6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4D55328F-AD34-6CA6-9477-5EF26BE4E3BF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94E57D7B-F424-A53D-4E48-4083B901B5B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56408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0762D070-8A19-B8CB-B343-A2D04F195B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6B296B81-4886-2FF3-AF57-6A1207AEBE18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F9437BE5-C60A-6BCA-BA8A-841AEA1C2DC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4454396F-23D7-D04C-3368-44359CAC864A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5D92E09-6D01-9E0A-D825-4C52C4B7C8B3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125D206B-8316-FB78-11AD-FED01E65613A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A7B5C549-B1B2-5631-7949-581BFCF7D0A9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23BC0789-0241-F5FA-8256-903089131E1A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3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4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83;p11">
            <a:extLst>
              <a:ext uri="{FF2B5EF4-FFF2-40B4-BE49-F238E27FC236}">
                <a16:creationId xmlns:a16="http://schemas.microsoft.com/office/drawing/2014/main" id="{B0388D56-D47A-FC41-3073-20A543FD1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11" name="Google Shape;13;p1">
            <a:extLst>
              <a:ext uri="{FF2B5EF4-FFF2-40B4-BE49-F238E27FC236}">
                <a16:creationId xmlns:a16="http://schemas.microsoft.com/office/drawing/2014/main" id="{E72668BE-7256-A05E-F820-422C9F991256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12" name="Google Shape;14;p1">
            <a:extLst>
              <a:ext uri="{FF2B5EF4-FFF2-40B4-BE49-F238E27FC236}">
                <a16:creationId xmlns:a16="http://schemas.microsoft.com/office/drawing/2014/main" id="{0D83C5E2-8FC9-487A-E9AE-CB77F613FCC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9DA6CF24-B0F2-AF5A-856B-1EA966B0F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AE9BA02-0D58-DF37-A906-D30C7C67798C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4C7ADF8-4551-764D-3FAB-EBEF4DF33E09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CA122395-EAF2-42E9-C7F2-8364D3F6D7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3ED0C8E-80E8-2251-F3D7-7F2360B109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352FC943-040A-056D-98FF-91ED5D8862EE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inição">
  <p:cSld name="Definiçã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4800"/>
              <a:buNone/>
              <a:defRPr sz="3600" b="1">
                <a:solidFill>
                  <a:srgbClr val="38415C"/>
                </a:solidFill>
              </a:defRPr>
            </a:lvl1pPr>
            <a:lvl2pPr marL="685800" lvl="1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3200"/>
              <a:buNone/>
              <a:defRPr sz="2400" b="0">
                <a:solidFill>
                  <a:srgbClr val="38415C"/>
                </a:solidFill>
              </a:defRPr>
            </a:lvl2pPr>
            <a:lvl3pPr marL="1028700" lvl="2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800"/>
              <a:buNone/>
              <a:defRPr sz="2100" b="0">
                <a:solidFill>
                  <a:srgbClr val="38415C"/>
                </a:solidFill>
              </a:defRPr>
            </a:lvl3pPr>
            <a:lvl4pPr marL="1371600" lvl="3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4pPr>
            <a:lvl5pPr marL="1714500" lvl="4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4D840F7-DE08-E41F-FF27-B1A0CFEAA4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5C662F7D-C3F7-EB9A-A9AC-52533FC28CD7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C780B7C7-BF3B-09ED-7D49-9212BC9FBF81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/13</a:t>
            </a:r>
            <a:endParaRPr sz="1050" dirty="0"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de Definições">
  <p:cSld name="Lista de Definiçõe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 b="1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23AA0777-A0AA-857E-E4DD-23723AA80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5912525-BC0A-DCBA-A8A8-8116AE52F6C1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B3ED1E57-7533-4BCE-95DE-9F8FEA4709F0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112471AE-902F-88F5-FB83-1C4E1D519B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17A17315-56DB-5D15-ECEF-02725F32377D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1AC2F66-A186-23A5-3DB7-A7900C58377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54F14818-85ED-5EDB-341B-FDDE13A16E76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541749A7-2ED6-B601-3BAD-A19EFDB72887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Pedro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2ACBB222-C48B-A68B-53AA-0FDF7B91F30F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62DC56A7-0483-871C-AAB8-9B1C94E3007F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D17C2C70-76CF-A9A8-7D09-6FBABBF45555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_Blank">
  <p:cSld name="Full_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50">
  <p:cSld name="Logo50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8725" y="52388"/>
            <a:ext cx="6686550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 sz="5400" b="1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sz="900" b="0" i="0" u="none" strike="noStrike" cap="none" dirty="0">
              <a:solidFill>
                <a:srgbClr val="EB976D"/>
              </a:solidFill>
              <a:latin typeface="Fira Sans"/>
              <a:sym typeface="Fira Sans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BR" smtClean="0"/>
              <a:pPr/>
              <a:t>‹#›</a:t>
            </a:fld>
            <a:endParaRPr lang="pt-BR" sz="2400" dirty="0"/>
          </a:p>
        </p:txBody>
      </p:sp>
      <p:pic>
        <p:nvPicPr>
          <p:cNvPr id="16" name="Google Shape;16;p1" descr="A picture containing orange, light  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418" y="91016"/>
            <a:ext cx="775161" cy="132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/13</a:t>
            </a:r>
            <a:endParaRPr sz="105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 dirty="0">
          <a:solidFill>
            <a:srgbClr val="EB976D"/>
          </a:solidFill>
          <a:latin typeface="Fira Sans"/>
          <a:ea typeface="Fira Sans"/>
          <a:cs typeface="Arial"/>
          <a:sym typeface="Fira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2863" y="2149310"/>
            <a:ext cx="6191137" cy="1351495"/>
          </a:xfrm>
        </p:spPr>
        <p:txBody>
          <a:bodyPr>
            <a:normAutofit fontScale="90000"/>
          </a:bodyPr>
          <a:lstStyle/>
          <a:p>
            <a:pPr>
              <a:defRPr sz="2600"/>
            </a:pPr>
            <a:r>
              <a:rPr sz="3200" dirty="0"/>
              <a:t>Retrofit do Modelo 3M de </a:t>
            </a:r>
            <a:r>
              <a:rPr sz="3200" dirty="0" err="1"/>
              <a:t>Universidade</a:t>
            </a:r>
            <a:r>
              <a:rPr sz="3200" dirty="0"/>
              <a:t> </a:t>
            </a:r>
            <a:r>
              <a:rPr sz="3200" dirty="0" err="1"/>
              <a:t>Corporativa</a:t>
            </a:r>
            <a:r>
              <a:rPr sz="3200" dirty="0"/>
              <a:t> à Luz da </a:t>
            </a:r>
            <a:r>
              <a:rPr sz="3200" dirty="0" err="1"/>
              <a:t>Inteligência</a:t>
            </a:r>
            <a:r>
              <a:rPr sz="3200" dirty="0"/>
              <a:t>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71" y="3810741"/>
            <a:ext cx="6217114" cy="1939609"/>
          </a:xfrm>
        </p:spPr>
        <p:txBody>
          <a:bodyPr>
            <a:normAutofit/>
          </a:bodyPr>
          <a:lstStyle/>
          <a:p>
            <a:r>
              <a:rPr sz="1200" dirty="0" err="1"/>
              <a:t>Apresentação</a:t>
            </a:r>
            <a:r>
              <a:rPr sz="1200" dirty="0"/>
              <a:t> de </a:t>
            </a:r>
            <a:r>
              <a:rPr sz="1200" dirty="0" err="1"/>
              <a:t>Resultados</a:t>
            </a:r>
            <a:r>
              <a:rPr sz="1200" dirty="0"/>
              <a:t> </a:t>
            </a:r>
            <a:r>
              <a:rPr sz="1200" dirty="0" err="1"/>
              <a:t>Parciais</a:t>
            </a:r>
            <a:endParaRPr sz="1200" dirty="0"/>
          </a:p>
          <a:p>
            <a:r>
              <a:rPr sz="1200" dirty="0"/>
              <a:t>CPS831 — </a:t>
            </a:r>
            <a:r>
              <a:rPr sz="1200" dirty="0" err="1"/>
              <a:t>Gestão</a:t>
            </a:r>
            <a:r>
              <a:rPr sz="1200" dirty="0"/>
              <a:t> </a:t>
            </a:r>
            <a:r>
              <a:rPr sz="1200" dirty="0" err="1"/>
              <a:t>Aumentada</a:t>
            </a:r>
            <a:r>
              <a:rPr sz="1200" dirty="0"/>
              <a:t> do </a:t>
            </a:r>
            <a:r>
              <a:rPr sz="1200" dirty="0" err="1"/>
              <a:t>Conhecimento</a:t>
            </a:r>
            <a:r>
              <a:rPr sz="1200" dirty="0"/>
              <a:t> 5.0</a:t>
            </a:r>
          </a:p>
          <a:p>
            <a:r>
              <a:rPr lang="en-US" sz="1200" dirty="0"/>
              <a:t>João Pedro Barbosa Martins</a:t>
            </a:r>
            <a:r>
              <a:rPr lang="pt-BR" sz="1200" dirty="0"/>
              <a:t> Martins</a:t>
            </a:r>
          </a:p>
          <a:p>
            <a:r>
              <a:rPr lang="en-US" sz="1200" dirty="0" err="1"/>
              <a:t>Orientadoras</a:t>
            </a:r>
            <a:r>
              <a:rPr lang="en-US" sz="1200" dirty="0"/>
              <a:t>: Viviane Cunha Farias da Costa &amp; Emilly Lopes</a:t>
            </a:r>
          </a:p>
          <a:p>
            <a:endParaRPr lang="pt-BR" sz="1200" dirty="0"/>
          </a:p>
          <a:p>
            <a:r>
              <a:rPr sz="1200" dirty="0"/>
              <a:t>PESC / COPPE-UFRJ · 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O Problema: 19 Modelos de UC, Nenhum Integra IA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A51BD5A-5DCD-8660-902B-EA9C8CBC2AE9}"/>
              </a:ext>
            </a:extLst>
          </p:cNvPr>
          <p:cNvGrpSpPr/>
          <p:nvPr/>
        </p:nvGrpSpPr>
        <p:grpSpPr>
          <a:xfrm>
            <a:off x="462987" y="1400519"/>
            <a:ext cx="8762036" cy="3669192"/>
            <a:chOff x="118872" y="1097280"/>
            <a:chExt cx="8229600" cy="3008375"/>
          </a:xfrm>
        </p:grpSpPr>
        <p:sp>
          <p:nvSpPr>
            <p:cNvPr id="4" name="TextBox 3"/>
            <p:cNvSpPr txBox="1"/>
            <p:nvPr/>
          </p:nvSpPr>
          <p:spPr>
            <a:xfrm>
              <a:off x="118872" y="1097280"/>
              <a:ext cx="82296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1" dirty="0">
                  <a:solidFill>
                    <a:srgbClr val="444444"/>
                  </a:solidFill>
                </a:rPr>
                <a:t>Mora-Mora et al. (2025) — </a:t>
              </a:r>
              <a:r>
                <a:rPr sz="900" b="0" i="1" dirty="0" err="1">
                  <a:solidFill>
                    <a:srgbClr val="444444"/>
                  </a:solidFill>
                </a:rPr>
                <a:t>Revisão</a:t>
              </a:r>
              <a:r>
                <a:rPr sz="900" b="0" i="1" dirty="0">
                  <a:solidFill>
                    <a:srgbClr val="444444"/>
                  </a:solidFill>
                </a:rPr>
                <a:t> </a:t>
              </a:r>
              <a:r>
                <a:rPr sz="900" b="0" i="1" dirty="0" err="1">
                  <a:solidFill>
                    <a:srgbClr val="444444"/>
                  </a:solidFill>
                </a:rPr>
                <a:t>Sistemática</a:t>
              </a:r>
              <a:r>
                <a:rPr sz="900" b="0" i="1" dirty="0">
                  <a:solidFill>
                    <a:srgbClr val="444444"/>
                  </a:solidFill>
                </a:rPr>
                <a:t>: 19 </a:t>
              </a:r>
              <a:r>
                <a:rPr sz="900" b="0" i="1" dirty="0" err="1">
                  <a:solidFill>
                    <a:srgbClr val="444444"/>
                  </a:solidFill>
                </a:rPr>
                <a:t>modelos</a:t>
              </a:r>
              <a:r>
                <a:rPr sz="900" b="0" i="1" dirty="0">
                  <a:solidFill>
                    <a:srgbClr val="444444"/>
                  </a:solidFill>
                </a:rPr>
                <a:t> de </a:t>
              </a:r>
              <a:r>
                <a:rPr sz="900" b="0" i="1" dirty="0" err="1">
                  <a:solidFill>
                    <a:srgbClr val="444444"/>
                  </a:solidFill>
                </a:rPr>
                <a:t>Universidade</a:t>
              </a:r>
              <a:r>
                <a:rPr sz="900" b="0" i="1" dirty="0">
                  <a:solidFill>
                    <a:srgbClr val="444444"/>
                  </a:solidFill>
                </a:rPr>
                <a:t> </a:t>
              </a:r>
              <a:r>
                <a:rPr sz="900" b="0" i="1" dirty="0" err="1">
                  <a:solidFill>
                    <a:srgbClr val="444444"/>
                  </a:solidFill>
                </a:rPr>
                <a:t>Corporativa</a:t>
              </a:r>
              <a:r>
                <a:rPr sz="900" b="0" i="1" dirty="0">
                  <a:solidFill>
                    <a:srgbClr val="444444"/>
                  </a:solidFill>
                </a:rPr>
                <a:t> (2000–2023)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18872" y="1389888"/>
              <a:ext cx="2167128" cy="34747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4592" y="1426464"/>
              <a:ext cx="2075688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Modelo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13432" y="1389888"/>
              <a:ext cx="1344168" cy="34747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59151" y="1426464"/>
              <a:ext cx="1252728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Gestão do
Conhecimento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85031" y="1389888"/>
              <a:ext cx="1344168" cy="34747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30751" y="1426464"/>
              <a:ext cx="1252728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Tecnologia
como fator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56631" y="1389888"/>
              <a:ext cx="1344168" cy="34747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02351" y="1426464"/>
              <a:ext cx="1252728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Integra IA
Agêntica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28231" y="1389888"/>
              <a:ext cx="1344168" cy="34747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3951" y="1426464"/>
              <a:ext cx="1252728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Foco
Principal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8872" y="1737360"/>
              <a:ext cx="216712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4592" y="1764792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Meister (1998) — UC Clássica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313432" y="1737360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359151" y="1764792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85031" y="1737360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0751" y="1764792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056631" y="1737360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02351" y="1764792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28231" y="1737360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73951" y="1764792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Treinamento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8872" y="2002536"/>
              <a:ext cx="216712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4592" y="2029967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Walton (1999) — Corporate U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13432" y="2002536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59151" y="202996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85031" y="2002536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730751" y="202996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056631" y="2002536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02351" y="202996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428231" y="2002536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73951" y="202996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Estratégia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8872" y="2267712"/>
              <a:ext cx="216712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64592" y="2295144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Allen (2002) — UC Framework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313432" y="2267712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59151" y="2295144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685031" y="2267712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30751" y="2295144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056631" y="2267712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02351" y="2295144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428231" y="2267712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73951" y="2295144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Alinhamento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8872" y="2532887"/>
              <a:ext cx="216712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64592" y="2560319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Costa, Souza &amp; Oliveira (2011) — 3M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313432" y="2532887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59151" y="2560319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685031" y="2532887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730751" y="2560319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056631" y="2532887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102351" y="2560319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428231" y="2532887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73951" y="2560319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GC + Processo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18872" y="2798063"/>
              <a:ext cx="216712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64592" y="2825495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Fresina (1997) — UC Taxonomy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313432" y="2798063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359151" y="2825495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685031" y="2798063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730751" y="2825495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056631" y="2798063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102351" y="2825495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28231" y="2798063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73951" y="2825495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Tipologia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8872" y="3063239"/>
              <a:ext cx="216712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64592" y="3090671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Garzon-Castrillon (2019)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313432" y="3063239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359151" y="3090671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685031" y="3063239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730751" y="3090671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056631" y="3063239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102351" y="3090671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28231" y="3063239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473951" y="3090671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Emergentes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8872" y="3328415"/>
              <a:ext cx="216712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64592" y="3355847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Mora-Mora et al. (2025)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313432" y="3328415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359151" y="335584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685031" y="3328415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730751" y="335584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2D7A4A"/>
                  </a:solidFill>
                </a:rPr>
                <a:t>✓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056631" y="3328415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102351" y="335584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28231" y="3328415"/>
              <a:ext cx="1344168" cy="246887"/>
            </a:xfrm>
            <a:prstGeom prst="rect">
              <a:avLst/>
            </a:prstGeom>
            <a:solidFill>
              <a:srgbClr val="F2F2F4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473951" y="3355847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Emergentes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18872" y="3593591"/>
              <a:ext cx="216712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64592" y="3621023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444444"/>
                  </a:solidFill>
                </a:rPr>
                <a:t>… +12 modelos adicionais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313432" y="3593591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359151" y="3621023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D48A00"/>
                  </a:solidFill>
                </a:rPr>
                <a:t>~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685031" y="3593591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730751" y="3621023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D48A00"/>
                  </a:solidFill>
                </a:rPr>
                <a:t>~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5056631" y="3593591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102351" y="3621023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CC3333"/>
                  </a:solidFill>
                </a:rPr>
                <a:t>✗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428231" y="3593591"/>
              <a:ext cx="1344168" cy="2468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473951" y="3621023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0">
                  <a:solidFill>
                    <a:srgbClr val="444444"/>
                  </a:solidFill>
                </a:rPr>
                <a:t>Variado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18872" y="3858768"/>
              <a:ext cx="2167128" cy="246887"/>
            </a:xfrm>
            <a:prstGeom prst="rect">
              <a:avLst/>
            </a:prstGeom>
            <a:solidFill>
              <a:srgbClr val="286035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64592" y="3886200"/>
              <a:ext cx="207568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3M 5.0 — Este trabalho ✦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313432" y="3858768"/>
              <a:ext cx="1344168" cy="246887"/>
            </a:xfrm>
            <a:prstGeom prst="rect">
              <a:avLst/>
            </a:prstGeom>
            <a:solidFill>
              <a:srgbClr val="286035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359151" y="3886200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✓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685031" y="3858768"/>
              <a:ext cx="1344168" cy="246887"/>
            </a:xfrm>
            <a:prstGeom prst="rect">
              <a:avLst/>
            </a:prstGeom>
            <a:solidFill>
              <a:srgbClr val="286035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730751" y="3886200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✓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5056631" y="3858768"/>
              <a:ext cx="1344168" cy="246887"/>
            </a:xfrm>
            <a:prstGeom prst="rect">
              <a:avLst/>
            </a:prstGeom>
            <a:solidFill>
              <a:srgbClr val="286035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102351" y="3886200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✓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6428231" y="3858768"/>
              <a:ext cx="1344168" cy="246887"/>
            </a:xfrm>
            <a:prstGeom prst="rect">
              <a:avLst/>
            </a:prstGeom>
            <a:solidFill>
              <a:srgbClr val="286035"/>
            </a:solidFill>
            <a:ln w="381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473951" y="3886200"/>
              <a:ext cx="1252728" cy="2103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GC + IA Agente</a:t>
              </a:r>
            </a:p>
          </p:txBody>
        </p:sp>
      </p:grpSp>
      <p:sp>
        <p:nvSpPr>
          <p:cNvPr id="107" name="Slide Number Placeholder 106">
            <a:extLst>
              <a:ext uri="{FF2B5EF4-FFF2-40B4-BE49-F238E27FC236}">
                <a16:creationId xmlns:a16="http://schemas.microsoft.com/office/drawing/2014/main" id="{E65AA04D-A1E9-4614-3122-7968D32243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</a:t>
            </a:fld>
            <a:endParaRPr lang="pt-BR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A Virada Conceitual: IA como Agente, não apenas Ferramenta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D5EA79-C057-363D-C4FA-CE069098157B}"/>
              </a:ext>
            </a:extLst>
          </p:cNvPr>
          <p:cNvGrpSpPr/>
          <p:nvPr/>
        </p:nvGrpSpPr>
        <p:grpSpPr>
          <a:xfrm>
            <a:off x="457200" y="1531620"/>
            <a:ext cx="8229600" cy="3794760"/>
            <a:chOff x="118872" y="1417320"/>
            <a:chExt cx="8229600" cy="3794760"/>
          </a:xfrm>
        </p:grpSpPr>
        <p:sp>
          <p:nvSpPr>
            <p:cNvPr id="15" name="Rectangle 14"/>
            <p:cNvSpPr/>
            <p:nvPr/>
          </p:nvSpPr>
          <p:spPr>
            <a:xfrm>
              <a:off x="4434840" y="1417320"/>
              <a:ext cx="3913632" cy="3383280"/>
            </a:xfrm>
            <a:prstGeom prst="rect">
              <a:avLst/>
            </a:prstGeom>
            <a:solidFill>
              <a:srgbClr val="233A52"/>
            </a:solidFill>
            <a:ln w="12700">
              <a:solidFill>
                <a:srgbClr val="E86A1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926F8D6-3870-2E1C-39EA-BAD257770010}"/>
                </a:ext>
              </a:extLst>
            </p:cNvPr>
            <p:cNvGrpSpPr/>
            <p:nvPr/>
          </p:nvGrpSpPr>
          <p:grpSpPr>
            <a:xfrm>
              <a:off x="118872" y="1417320"/>
              <a:ext cx="8229600" cy="3794760"/>
              <a:chOff x="118872" y="1417320"/>
              <a:chExt cx="8229600" cy="379476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18872" y="1417320"/>
                <a:ext cx="3886200" cy="3383280"/>
              </a:xfrm>
              <a:prstGeom prst="rect">
                <a:avLst/>
              </a:prstGeom>
              <a:solidFill>
                <a:srgbClr val="F2F2F4"/>
              </a:solidFill>
              <a:ln w="635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64592" y="144475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i="0" dirty="0">
                    <a:solidFill>
                      <a:srgbClr val="38415C"/>
                    </a:solidFill>
                  </a:rPr>
                  <a:t>IA COMO FERRAMENTA  (</a:t>
                </a:r>
                <a:r>
                  <a:rPr sz="1000" b="1" i="0" dirty="0" err="1">
                    <a:solidFill>
                      <a:srgbClr val="38415C"/>
                    </a:solidFill>
                  </a:rPr>
                  <a:t>proposta</a:t>
                </a:r>
                <a:r>
                  <a:rPr sz="1000" b="1" i="0" dirty="0">
                    <a:solidFill>
                      <a:srgbClr val="38415C"/>
                    </a:solidFill>
                  </a:rPr>
                  <a:t> original </a:t>
                </a:r>
                <a:r>
                  <a:rPr sz="1000" b="1" i="0" dirty="0" err="1">
                    <a:solidFill>
                      <a:srgbClr val="38415C"/>
                    </a:solidFill>
                  </a:rPr>
                  <a:t>aprovada</a:t>
                </a:r>
                <a:r>
                  <a:rPr sz="1000" b="1" i="0" dirty="0">
                    <a:solidFill>
                      <a:srgbClr val="38415C"/>
                    </a:solidFill>
                  </a:rPr>
                  <a:t>)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01168" y="1801368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Sensing de competências por IA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01168" y="2221992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RAG corporativo para busca de conhecimento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01168" y="2642616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Assistentes embarcados no fluxo de trabalho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01168" y="3063240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Curadoria automatizada de conteúdo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01168" y="3483864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Monitoramento de conformidade ética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01168" y="3904488"/>
                <a:ext cx="365760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444444"/>
                    </a:solidFill>
                  </a:rPr>
                  <a:t>→  LLMs para criação de trilhas personalizadas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041648" y="2743200"/>
                <a:ext cx="365760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800" b="1" i="0">
                    <a:solidFill>
                      <a:srgbClr val="E86A1A"/>
                    </a:solidFill>
                  </a:rPr>
                  <a:t>+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005072" y="3154680"/>
                <a:ext cx="457200" cy="84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700" b="1" dirty="0">
                    <a:solidFill>
                      <a:srgbClr val="E86A1A"/>
                    </a:solidFill>
                  </a:rPr>
                  <a:t>IA como Agente Organizacional</a:t>
                </a:r>
                <a:endParaRPr sz="700" b="1" i="0" dirty="0">
                  <a:solidFill>
                    <a:srgbClr val="E86A1A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480560" y="1444752"/>
                <a:ext cx="3822191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i="0">
                    <a:solidFill>
                      <a:srgbClr val="E86A1A"/>
                    </a:solidFill>
                  </a:rPr>
                  <a:t>IA COMO AGENTE ORGANIZACIONAL  (camada adicional)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480560" y="1801368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IA co-define estratégia de aprendizagem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480560" y="2221992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IA participa como agente na criação de soluções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480560" y="2642616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IA negocia premissas e questiona decisões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480560" y="3063240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IA gera conhecimento autônomo no fluxo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480560" y="3483864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IA produz input para auditar a própria governança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4480560" y="3904488"/>
                <a:ext cx="3822191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FFFFFF"/>
                    </a:solidFill>
                  </a:rPr>
                  <a:t>→  Co-evolução: humanos ↔ algoritmos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18872" y="4864608"/>
                <a:ext cx="8229600" cy="347472"/>
              </a:xfrm>
              <a:prstGeom prst="rect">
                <a:avLst/>
              </a:prstGeom>
              <a:solidFill>
                <a:srgbClr val="3841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164592" y="4901184"/>
                <a:ext cx="813816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50" b="1" i="0" dirty="0" err="1">
                    <a:solidFill>
                      <a:srgbClr val="FFFFFF"/>
                    </a:solidFill>
                  </a:rPr>
                  <a:t>Resultado</a:t>
                </a:r>
                <a:r>
                  <a:rPr sz="950" b="1" i="0" dirty="0">
                    <a:solidFill>
                      <a:srgbClr val="FFFFFF"/>
                    </a:solidFill>
                  </a:rPr>
                  <a:t>: A UC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deixa</a:t>
                </a:r>
                <a:r>
                  <a:rPr sz="950" b="1" i="0" dirty="0">
                    <a:solidFill>
                      <a:srgbClr val="FFFFFF"/>
                    </a:solidFill>
                  </a:rPr>
                  <a:t> de ser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estrutura</a:t>
                </a:r>
                <a:r>
                  <a:rPr sz="950" b="1" i="0" dirty="0">
                    <a:solidFill>
                      <a:srgbClr val="FFFFFF"/>
                    </a:solidFill>
                  </a:rPr>
                  <a:t> de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alinhamento</a:t>
                </a:r>
                <a:r>
                  <a:rPr sz="950" b="1" i="0" dirty="0">
                    <a:solidFill>
                      <a:srgbClr val="FFFFFF"/>
                    </a:solidFill>
                  </a:rPr>
                  <a:t> →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torna</a:t>
                </a:r>
                <a:r>
                  <a:rPr sz="950" b="1" i="0" dirty="0">
                    <a:solidFill>
                      <a:srgbClr val="FFFFFF"/>
                    </a:solidFill>
                  </a:rPr>
                  <a:t>-se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ecossistema</a:t>
                </a:r>
                <a:r>
                  <a:rPr sz="950" b="1" i="0" dirty="0">
                    <a:solidFill>
                      <a:srgbClr val="FFFFFF"/>
                    </a:solidFill>
                  </a:rPr>
                  <a:t>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sociotécnico</a:t>
                </a:r>
                <a:r>
                  <a:rPr sz="950" b="1" i="0" dirty="0">
                    <a:solidFill>
                      <a:srgbClr val="FFFFFF"/>
                    </a:solidFill>
                  </a:rPr>
                  <a:t>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onde</a:t>
                </a:r>
                <a:r>
                  <a:rPr sz="950" b="1" i="0" dirty="0">
                    <a:solidFill>
                      <a:srgbClr val="FFFFFF"/>
                    </a:solidFill>
                  </a:rPr>
                  <a:t>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humanos</a:t>
                </a:r>
                <a:r>
                  <a:rPr sz="950" b="1" i="0" dirty="0">
                    <a:solidFill>
                      <a:srgbClr val="FFFFFF"/>
                    </a:solidFill>
                  </a:rPr>
                  <a:t>, IA e 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governança</a:t>
                </a:r>
                <a:r>
                  <a:rPr sz="950" b="1" i="0" dirty="0">
                    <a:solidFill>
                      <a:srgbClr val="FFFFFF"/>
                    </a:solidFill>
                  </a:rPr>
                  <a:t> co-</a:t>
                </a:r>
                <a:r>
                  <a:rPr sz="950" b="1" i="0" dirty="0" err="1">
                    <a:solidFill>
                      <a:srgbClr val="FFFFFF"/>
                    </a:solidFill>
                  </a:rPr>
                  <a:t>evoluem</a:t>
                </a:r>
                <a:endParaRPr sz="950" b="1" i="0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34B26-030B-53A0-5BA9-1399ECC830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3</a:t>
            </a:fld>
            <a:endParaRPr lang="pt-B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O Modelo 3M 5.0 — Reinterpretação Tripartite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051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Cada pilar do 3M original (Costa et al., 2011) é reinterpretado em três camadas evolutivas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3127"/>
            <a:ext cx="1417320" cy="384048"/>
          </a:xfrm>
          <a:prstGeom prst="rect">
            <a:avLst/>
          </a:prstGeom>
          <a:solidFill>
            <a:srgbClr val="38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11415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Visão / Pilar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1952" y="1693127"/>
            <a:ext cx="2212848" cy="384048"/>
          </a:xfrm>
          <a:prstGeom prst="rect">
            <a:avLst/>
          </a:prstGeom>
          <a:solidFill>
            <a:srgbClr val="556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47672" y="1711415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3M Original (2011)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2232" y="1693127"/>
            <a:ext cx="2212848" cy="384048"/>
          </a:xfrm>
          <a:prstGeom prst="rect">
            <a:avLst/>
          </a:prstGeom>
          <a:solidFill>
            <a:srgbClr val="2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87952" y="1711415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3M 5.0 — IA como Ferramenta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693127"/>
            <a:ext cx="2212848" cy="384048"/>
          </a:xfrm>
          <a:prstGeom prst="rect">
            <a:avLst/>
          </a:prstGeom>
          <a:solidFill>
            <a:srgbClr val="5B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11415"/>
            <a:ext cx="2121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3M 5.0 — IA como Agente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13751"/>
            <a:ext cx="1417320" cy="996696"/>
          </a:xfrm>
          <a:prstGeom prst="rect">
            <a:avLst/>
          </a:prstGeom>
          <a:solidFill>
            <a:srgbClr val="3841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2168615"/>
            <a:ext cx="13075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MOTIVE
(Estratégia)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2113751"/>
            <a:ext cx="2212848" cy="996696"/>
          </a:xfrm>
          <a:prstGeom prst="rect">
            <a:avLst/>
          </a:prstGeom>
          <a:solidFill>
            <a:srgbClr val="E8EB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56816" y="2168615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Alinhar aprendizagem à estratégia; mapear competências; engajar liderança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2232" y="2113751"/>
            <a:ext cx="2212848" cy="996696"/>
          </a:xfrm>
          <a:prstGeom prst="rect">
            <a:avLst/>
          </a:prstGeom>
          <a:solidFill>
            <a:srgbClr val="F0F8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7096" y="2168615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Sensing contínuo de gaps; IA detecta obsolescência de competências; trilhas personalizadas em tempo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2113751"/>
            <a:ext cx="2212848" cy="996696"/>
          </a:xfrm>
          <a:prstGeom prst="rect">
            <a:avLst/>
          </a:prstGeom>
          <a:solidFill>
            <a:srgbClr val="F2EDF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2168615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IA co-define a estratégia de aprendizagem com base no que infere sobre a organização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37879"/>
            <a:ext cx="1417320" cy="996696"/>
          </a:xfrm>
          <a:prstGeom prst="rect">
            <a:avLst/>
          </a:prstGeom>
          <a:solidFill>
            <a:srgbClr val="3841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3192743"/>
            <a:ext cx="13075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MODEL
(Operação)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1952" y="3137879"/>
            <a:ext cx="2212848" cy="996696"/>
          </a:xfrm>
          <a:prstGeom prst="rect">
            <a:avLst/>
          </a:prstGeom>
          <a:solidFill>
            <a:srgbClr val="D8DCE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56816" y="3192743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Currículos, programas de ensino, metodologias, públicos-alvo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42232" y="3137879"/>
            <a:ext cx="2212848" cy="996696"/>
          </a:xfrm>
          <a:prstGeom prst="rect">
            <a:avLst/>
          </a:prstGeom>
          <a:solidFill>
            <a:srgbClr val="E4F3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97096" y="3192743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Laboratório vivo: RAG corporativo, KGs, assistentes embarcados no fluxo de trabalho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3137879"/>
            <a:ext cx="2212848" cy="996696"/>
          </a:xfrm>
          <a:prstGeom prst="rect">
            <a:avLst/>
          </a:prstGeom>
          <a:solidFill>
            <a:srgbClr val="EAE3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3192743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IA participa como agente ativo: gera soluções, questiona premissas, coproduz conhecimento tácito-explícito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62007"/>
            <a:ext cx="1417320" cy="996696"/>
          </a:xfrm>
          <a:prstGeom prst="rect">
            <a:avLst/>
          </a:prstGeom>
          <a:solidFill>
            <a:srgbClr val="3841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216871"/>
            <a:ext cx="13075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MOMENT
(Governança)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01952" y="4162007"/>
            <a:ext cx="2212848" cy="996696"/>
          </a:xfrm>
          <a:prstGeom prst="rect">
            <a:avLst/>
          </a:prstGeom>
          <a:solidFill>
            <a:srgbClr val="E8EB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56816" y="4216871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Timing do negócio; adaptação às flutuações do ambiente competitivo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2232" y="4162007"/>
            <a:ext cx="2212848" cy="996696"/>
          </a:xfrm>
          <a:prstGeom prst="rect">
            <a:avLst/>
          </a:prstGeom>
          <a:solidFill>
            <a:srgbClr val="F0F8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97096" y="4216871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Governança de IA: auditoria, contestação, responsabilização dos sistemas algorítmicos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4162007"/>
            <a:ext cx="2212848" cy="996696"/>
          </a:xfrm>
          <a:prstGeom prst="rect">
            <a:avLst/>
          </a:prstGeom>
          <a:solidFill>
            <a:srgbClr val="F2EDF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7376" y="4216871"/>
            <a:ext cx="21031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IA é sujeita à governança E produtora de input para ela — seus aprendizados retroalimentam as diretrizes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785AC14-CDD3-0BFC-A410-43A25A533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4</a:t>
            </a:fld>
            <a:endParaRPr lang="pt-BR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Contribuições do Trabalho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6A812D-6853-676B-2FE1-E03B5AFB0C05}"/>
              </a:ext>
            </a:extLst>
          </p:cNvPr>
          <p:cNvGrpSpPr/>
          <p:nvPr/>
        </p:nvGrpSpPr>
        <p:grpSpPr>
          <a:xfrm>
            <a:off x="443484" y="1618488"/>
            <a:ext cx="8257032" cy="3621024"/>
            <a:chOff x="118872" y="1115568"/>
            <a:chExt cx="8257032" cy="3621024"/>
          </a:xfrm>
        </p:grpSpPr>
        <p:sp>
          <p:nvSpPr>
            <p:cNvPr id="4" name="Rectangle 3"/>
            <p:cNvSpPr/>
            <p:nvPr/>
          </p:nvSpPr>
          <p:spPr>
            <a:xfrm>
              <a:off x="118872" y="1115568"/>
              <a:ext cx="384048" cy="329184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530352" y="1115568"/>
              <a:ext cx="5047488" cy="329184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605272" y="1115568"/>
              <a:ext cx="1325880" cy="329184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958584" y="1115568"/>
              <a:ext cx="1417320" cy="329184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B63B9EF-A0E9-0C4F-3A55-CB605B99F487}"/>
                </a:ext>
              </a:extLst>
            </p:cNvPr>
            <p:cNvGrpSpPr/>
            <p:nvPr/>
          </p:nvGrpSpPr>
          <p:grpSpPr>
            <a:xfrm>
              <a:off x="118872" y="1143000"/>
              <a:ext cx="8257032" cy="3593592"/>
              <a:chOff x="118872" y="1143000"/>
              <a:chExt cx="8257032" cy="3593592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76072" y="1143000"/>
                <a:ext cx="4956048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i="0">
                    <a:solidFill>
                      <a:srgbClr val="FFFFFF"/>
                    </a:solidFill>
                  </a:rPr>
                  <a:t>Contribuição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650992" y="1143000"/>
                <a:ext cx="1234439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i="0">
                    <a:solidFill>
                      <a:srgbClr val="FFFFFF"/>
                    </a:solidFill>
                  </a:rPr>
                  <a:t>Tipo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004304" y="1143000"/>
                <a:ext cx="1325880" cy="274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i="0">
                    <a:solidFill>
                      <a:srgbClr val="FFFFFF"/>
                    </a:solidFill>
                  </a:rPr>
                  <a:t>Pilar / Seção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18872" y="1481328"/>
                <a:ext cx="384048" cy="512064"/>
              </a:xfrm>
              <a:prstGeom prst="rect">
                <a:avLst/>
              </a:prstGeom>
              <a:solidFill>
                <a:srgbClr val="3841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37160" y="157276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C1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30352" y="1481328"/>
                <a:ext cx="5047488" cy="512064"/>
              </a:xfrm>
              <a:prstGeom prst="rect">
                <a:avLst/>
              </a:prstGeom>
              <a:solidFill>
                <a:srgbClr val="D8E4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03503" y="151790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Retrofit conceitual do 3M sem ruptura estrutural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03503" y="172821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Integra IA Generativa preservando a vitalidade teórica do modelo original (Costa et al., 2011)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5605272" y="1481328"/>
                <a:ext cx="1325880" cy="512064"/>
              </a:xfrm>
              <a:prstGeom prst="rect">
                <a:avLst/>
              </a:prstGeom>
              <a:solidFill>
                <a:srgbClr val="D8E4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650992" y="163677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38415C"/>
                    </a:solidFill>
                  </a:rPr>
                  <a:t>Teórica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958584" y="1481328"/>
                <a:ext cx="1417320" cy="512064"/>
              </a:xfrm>
              <a:prstGeom prst="rect">
                <a:avLst/>
              </a:prstGeom>
              <a:solidFill>
                <a:srgbClr val="D8E4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004304" y="159105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38415C"/>
                    </a:solidFill>
                  </a:rPr>
                  <a:t>3M 5.0
completo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118872" y="2029968"/>
                <a:ext cx="384048" cy="512064"/>
              </a:xfrm>
              <a:prstGeom prst="rect">
                <a:avLst/>
              </a:prstGeom>
              <a:solidFill>
                <a:srgbClr val="5B438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37160" y="212140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C2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30352" y="2029968"/>
                <a:ext cx="5047488" cy="512064"/>
              </a:xfrm>
              <a:prstGeom prst="rect">
                <a:avLst/>
              </a:prstGeom>
              <a:solidFill>
                <a:srgbClr val="F2EEFA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03503" y="206654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IA como Agente Organizacional nos três pilares da UC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03503" y="227685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Dupla perspectiva ferramenta-agente — primeiro modelo de UC a posicionar IA como co-participante ativo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605272" y="2029968"/>
                <a:ext cx="1325880" cy="512064"/>
              </a:xfrm>
              <a:prstGeom prst="rect">
                <a:avLst/>
              </a:prstGeom>
              <a:solidFill>
                <a:srgbClr val="F2EEFA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650992" y="218541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5B438A"/>
                    </a:solidFill>
                  </a:rPr>
                  <a:t>Teórica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958584" y="2029968"/>
                <a:ext cx="1417320" cy="512064"/>
              </a:xfrm>
              <a:prstGeom prst="rect">
                <a:avLst/>
              </a:prstGeom>
              <a:solidFill>
                <a:srgbClr val="F2EEFA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7004304" y="213969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5B438A"/>
                    </a:solidFill>
                  </a:rPr>
                  <a:t>MOTIVE · MODEL
· MOMENT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18872" y="2578608"/>
                <a:ext cx="384048" cy="512064"/>
              </a:xfrm>
              <a:prstGeom prst="rect">
                <a:avLst/>
              </a:prstGeom>
              <a:solidFill>
                <a:srgbClr val="2E868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37160" y="267004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C3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30352" y="2578608"/>
                <a:ext cx="5047488" cy="512064"/>
              </a:xfrm>
              <a:prstGeom prst="rect">
                <a:avLst/>
              </a:prstGeom>
              <a:solidFill>
                <a:srgbClr val="E0F2F2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03503" y="261518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Governança de IA como atribuição institucional da UC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03503" y="282549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MOMENT 5.0: UC como centro de auditoria, contestação e retroalimentação algorítmica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605272" y="2578608"/>
                <a:ext cx="1325880" cy="512064"/>
              </a:xfrm>
              <a:prstGeom prst="rect">
                <a:avLst/>
              </a:prstGeom>
              <a:solidFill>
                <a:srgbClr val="E0F2F2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650992" y="273405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2E868A"/>
                    </a:solidFill>
                  </a:rPr>
                  <a:t>Teórica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6958584" y="2578608"/>
                <a:ext cx="1417320" cy="512064"/>
              </a:xfrm>
              <a:prstGeom prst="rect">
                <a:avLst/>
              </a:prstGeom>
              <a:solidFill>
                <a:srgbClr val="E0F2F2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004304" y="268833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2E868A"/>
                    </a:solidFill>
                  </a:rPr>
                  <a:t>MOMENT 5.0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18872" y="3127248"/>
                <a:ext cx="384048" cy="512064"/>
              </a:xfrm>
              <a:prstGeom prst="rect">
                <a:avLst/>
              </a:prstGeom>
              <a:solidFill>
                <a:srgbClr val="2A70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37160" y="321868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C4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530352" y="3127248"/>
                <a:ext cx="5047488" cy="512064"/>
              </a:xfrm>
              <a:prstGeom prst="rect">
                <a:avLst/>
              </a:prstGeom>
              <a:solidFill>
                <a:srgbClr val="ECF8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03503" y="316382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Modelo GRAI (Böhm &amp; Durst, 2025) substituindo o SECI na UC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03503" y="337413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Reinterpreta criação de conhecimento para o regime de IA Generativa agêntica</a:t>
                </a: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605272" y="3127248"/>
                <a:ext cx="1325880" cy="512064"/>
              </a:xfrm>
              <a:prstGeom prst="rect">
                <a:avLst/>
              </a:prstGeom>
              <a:solidFill>
                <a:srgbClr val="ECF8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650992" y="328269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2A704A"/>
                    </a:solidFill>
                  </a:rPr>
                  <a:t>Teórica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958584" y="3127248"/>
                <a:ext cx="1417320" cy="512064"/>
              </a:xfrm>
              <a:prstGeom prst="rect">
                <a:avLst/>
              </a:prstGeom>
              <a:solidFill>
                <a:srgbClr val="ECF8F0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04304" y="323697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2E868A"/>
                    </a:solidFill>
                  </a:rPr>
                  <a:t>MODEL 5.0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118872" y="3675888"/>
                <a:ext cx="384048" cy="512064"/>
              </a:xfrm>
              <a:prstGeom prst="rect">
                <a:avLst/>
              </a:prstGeom>
              <a:solidFill>
                <a:srgbClr val="E86A1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37160" y="376732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C5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530352" y="3675888"/>
                <a:ext cx="5047488" cy="512064"/>
              </a:xfrm>
              <a:prstGeom prst="rect">
                <a:avLst/>
              </a:prstGeom>
              <a:solidFill>
                <a:srgbClr val="FEF3E4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03503" y="371246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Framework de upskilling/reskilling integrado ao MOTIVE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603503" y="392277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Liga reconfiguração de competências (Morandini 2023; Li 2024) ao sensing estratégico contínuo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5605272" y="3675888"/>
                <a:ext cx="1325880" cy="512064"/>
              </a:xfrm>
              <a:prstGeom prst="rect">
                <a:avLst/>
              </a:prstGeom>
              <a:solidFill>
                <a:srgbClr val="FEF3E4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650992" y="383133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E86A1A"/>
                    </a:solidFill>
                  </a:rPr>
                  <a:t>Prática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6958584" y="3675888"/>
                <a:ext cx="1417320" cy="512064"/>
              </a:xfrm>
              <a:prstGeom prst="rect">
                <a:avLst/>
              </a:prstGeom>
              <a:solidFill>
                <a:srgbClr val="FEF3E4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7004304" y="378561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E86A1A"/>
                    </a:solidFill>
                  </a:rPr>
                  <a:t>MOTIVE 5.0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18872" y="4224528"/>
                <a:ext cx="384048" cy="512064"/>
              </a:xfrm>
              <a:prstGeom prst="rect">
                <a:avLst/>
              </a:prstGeom>
              <a:solidFill>
                <a:srgbClr val="60608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37160" y="4315968"/>
                <a:ext cx="347472" cy="329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i="0">
                    <a:solidFill>
                      <a:srgbClr val="FFFFFF"/>
                    </a:solidFill>
                  </a:rPr>
                  <a:t>C6</a:t>
                </a:r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30352" y="4224528"/>
                <a:ext cx="5047488" cy="512064"/>
              </a:xfrm>
              <a:prstGeom prst="rect">
                <a:avLst/>
              </a:prstGeom>
              <a:solidFill>
                <a:srgbClr val="F5F5F9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603503" y="4261104"/>
                <a:ext cx="490118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333333"/>
                    </a:solidFill>
                  </a:rPr>
                  <a:t>Protocolo de Scoping Review replicável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03503" y="4471416"/>
                <a:ext cx="4901183" cy="228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1">
                    <a:solidFill>
                      <a:srgbClr val="555555"/>
                    </a:solidFill>
                  </a:rPr>
                  <a:t>10 strings booleanas · 6 eixos · 93 artigos · critérios explícitos (máx. 20 pts)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5605272" y="4224528"/>
                <a:ext cx="1325880" cy="512064"/>
              </a:xfrm>
              <a:prstGeom prst="rect">
                <a:avLst/>
              </a:prstGeom>
              <a:solidFill>
                <a:srgbClr val="F5F5F9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650992" y="4379976"/>
                <a:ext cx="1234439" cy="2194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>
                    <a:solidFill>
                      <a:srgbClr val="606080"/>
                    </a:solidFill>
                  </a:rPr>
                  <a:t>Metodológica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6958584" y="4224528"/>
                <a:ext cx="1417320" cy="512064"/>
              </a:xfrm>
              <a:prstGeom prst="rect">
                <a:avLst/>
              </a:prstGeom>
              <a:solidFill>
                <a:srgbClr val="F5F5F9"/>
              </a:solidFill>
              <a:ln w="3810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7004304" y="4334256"/>
                <a:ext cx="1325880" cy="29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i="0">
                    <a:solidFill>
                      <a:srgbClr val="606080"/>
                    </a:solidFill>
                  </a:rPr>
                  <a:t>Metodologia</a:t>
                </a:r>
              </a:p>
            </p:txBody>
          </p:sp>
        </p:grpSp>
      </p:grp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226A8DBC-CED7-C889-3156-BFAB889EC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5</a:t>
            </a:fld>
            <a:endParaRPr lang="pt-B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6601" y="238432"/>
            <a:ext cx="8185958" cy="1334336"/>
          </a:xfrm>
        </p:spPr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MOTIVE 5.0 — Do Alinhamento ao Sensing Contínuo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EF8B5B3-6339-2078-1FFD-0A878834C419}"/>
              </a:ext>
            </a:extLst>
          </p:cNvPr>
          <p:cNvGrpSpPr/>
          <p:nvPr/>
        </p:nvGrpSpPr>
        <p:grpSpPr>
          <a:xfrm>
            <a:off x="457200" y="1851544"/>
            <a:ext cx="8229600" cy="3502152"/>
            <a:chOff x="118872" y="1115568"/>
            <a:chExt cx="8229600" cy="3502152"/>
          </a:xfrm>
        </p:grpSpPr>
        <p:sp>
          <p:nvSpPr>
            <p:cNvPr id="4" name="Rectangle 3"/>
            <p:cNvSpPr/>
            <p:nvPr/>
          </p:nvSpPr>
          <p:spPr>
            <a:xfrm>
              <a:off x="118872" y="1115568"/>
              <a:ext cx="2651760" cy="365760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736" y="1133856"/>
              <a:ext cx="2542032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3M ORIGINAL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18872" y="1508760"/>
              <a:ext cx="2651760" cy="2560320"/>
            </a:xfrm>
            <a:prstGeom prst="rect">
              <a:avLst/>
            </a:prstGeom>
            <a:solidFill>
              <a:srgbClr val="F2F2F4"/>
            </a:solidFill>
            <a:ln w="12700">
              <a:solidFill>
                <a:srgbClr val="3841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8600" y="1572768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 dirty="0">
                  <a:solidFill>
                    <a:srgbClr val="444444"/>
                  </a:solidFill>
                </a:rPr>
                <a:t>• </a:t>
              </a:r>
              <a:r>
                <a:rPr sz="950" b="0" i="0" dirty="0" err="1">
                  <a:solidFill>
                    <a:srgbClr val="444444"/>
                  </a:solidFill>
                </a:rPr>
                <a:t>Alinhar</a:t>
              </a:r>
              <a:r>
                <a:rPr sz="950" b="0" i="0" dirty="0">
                  <a:solidFill>
                    <a:srgbClr val="444444"/>
                  </a:solidFill>
                </a:rPr>
                <a:t> </a:t>
              </a:r>
              <a:r>
                <a:rPr sz="950" b="0" i="0" dirty="0" err="1">
                  <a:solidFill>
                    <a:srgbClr val="444444"/>
                  </a:solidFill>
                </a:rPr>
                <a:t>aprendizagem</a:t>
              </a:r>
              <a:r>
                <a:rPr sz="950" b="0" i="0" dirty="0">
                  <a:solidFill>
                    <a:srgbClr val="444444"/>
                  </a:solidFill>
                </a:rPr>
                <a:t> à </a:t>
              </a:r>
              <a:r>
                <a:rPr sz="950" b="0" i="0" dirty="0" err="1">
                  <a:solidFill>
                    <a:srgbClr val="444444"/>
                  </a:solidFill>
                </a:rPr>
                <a:t>estratégia</a:t>
              </a:r>
              <a:endParaRPr sz="950" b="0" i="0" dirty="0">
                <a:solidFill>
                  <a:srgbClr val="444444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600" y="2103120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Engajar liderança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8600" y="2633472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Mapear competências estáticas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62072" y="1115568"/>
              <a:ext cx="2651760" cy="365760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16936" y="1133856"/>
              <a:ext cx="2542032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IA COMO FERRAMENTA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62072" y="1508760"/>
              <a:ext cx="2651760" cy="2560320"/>
            </a:xfrm>
            <a:prstGeom prst="rect">
              <a:avLst/>
            </a:prstGeom>
            <a:solidFill>
              <a:srgbClr val="F2F2F4"/>
            </a:solidFill>
            <a:ln w="12700">
              <a:solidFill>
                <a:srgbClr val="2E8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71800" y="1572768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Sensing contínuo de gaps por IA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71800" y="2103120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Detecção de obsolescência de skills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71800" y="2633472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Trilhas personalizadas automatizadas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71800" y="3163824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Mapeamento preditivo de competências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05272" y="1115568"/>
              <a:ext cx="2651760" cy="365760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60136" y="1133856"/>
              <a:ext cx="2542032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IA COMO AGENTE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605272" y="1508760"/>
              <a:ext cx="2651760" cy="2560320"/>
            </a:xfrm>
            <a:prstGeom prst="rect">
              <a:avLst/>
            </a:prstGeom>
            <a:solidFill>
              <a:srgbClr val="F2F2F4"/>
            </a:solidFill>
            <a:ln w="12700">
              <a:solidFill>
                <a:srgbClr val="5B43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15000" y="1572768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IA co-define a estratégia de aprendizagem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15000" y="2103120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Infere dinâmicas internas da organização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715000" y="2633472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Proativamente detecta padrões de conhecimento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715000" y="3163824"/>
              <a:ext cx="2432304" cy="475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0" i="0">
                  <a:solidFill>
                    <a:srgbClr val="444444"/>
                  </a:solidFill>
                </a:rPr>
                <a:t>• Negoceia prioridades de upskilling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8872" y="4114800"/>
              <a:ext cx="8229600" cy="502920"/>
            </a:xfrm>
            <a:prstGeom prst="rect">
              <a:avLst/>
            </a:prstGeom>
            <a:solidFill>
              <a:srgbClr val="F8F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4592" y="4142232"/>
              <a:ext cx="813816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1">
                  <a:solidFill>
                    <a:srgbClr val="5B438A"/>
                  </a:solidFill>
                </a:rPr>
                <a:t>Fundamentação: Morandini et al. (2023) — framework upskilling/reskilling  |  Li (2024) — future-ready workforce I4.0/I5.0
Islam &amp; Ajmal (2025) — co-evolução IA-conhecimento org.  |  Alavi &amp; Leidner (2024) — ciclo de GC com GenAI</a:t>
              </a:r>
            </a:p>
          </p:txBody>
        </p:sp>
        <p:sp>
          <p:nvSpPr>
            <p:cNvPr id="26" name="Can 25"/>
            <p:cNvSpPr/>
            <p:nvPr/>
          </p:nvSpPr>
          <p:spPr>
            <a:xfrm>
              <a:off x="2788920" y="2743200"/>
              <a:ext cx="109728" cy="182880"/>
            </a:xfrm>
            <a:prstGeom prst="can">
              <a:avLst/>
            </a:prstGeom>
            <a:solidFill>
              <a:srgbClr val="E86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Can 26"/>
            <p:cNvSpPr/>
            <p:nvPr/>
          </p:nvSpPr>
          <p:spPr>
            <a:xfrm>
              <a:off x="5440680" y="2743200"/>
              <a:ext cx="109728" cy="182880"/>
            </a:xfrm>
            <a:prstGeom prst="can">
              <a:avLst/>
            </a:prstGeom>
            <a:solidFill>
              <a:srgbClr val="E86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9110B4C-B2BE-FAC0-FDBB-CC721F7300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6</a:t>
            </a:fld>
            <a:endParaRPr lang="pt-BR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MODEL 5.0 — Do Currículo ao Laboratório Vivo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E2C79B-1E8D-BE28-83AA-19684B20FE20}"/>
              </a:ext>
            </a:extLst>
          </p:cNvPr>
          <p:cNvGrpSpPr/>
          <p:nvPr/>
        </p:nvGrpSpPr>
        <p:grpSpPr>
          <a:xfrm>
            <a:off x="600608" y="1427952"/>
            <a:ext cx="6922936" cy="3532386"/>
            <a:chOff x="1746504" y="1699083"/>
            <a:chExt cx="5486400" cy="2907792"/>
          </a:xfrm>
        </p:grpSpPr>
        <p:sp>
          <p:nvSpPr>
            <p:cNvPr id="4" name="Rectangle 3"/>
            <p:cNvSpPr/>
            <p:nvPr/>
          </p:nvSpPr>
          <p:spPr>
            <a:xfrm>
              <a:off x="1746504" y="1699083"/>
              <a:ext cx="164592" cy="685800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11096" y="1699083"/>
              <a:ext cx="5321808" cy="685800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5B43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975104" y="1744803"/>
              <a:ext cx="12801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5B438A"/>
                  </a:solidFill>
                </a:rPr>
                <a:t>AGENTE IA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82696" y="1744803"/>
              <a:ext cx="3749039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444444"/>
                  </a:solidFill>
                </a:rPr>
                <a:t>Coprodução de soluções · Geração de conhecimento tácito-explícito · Questionamento de premissas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46504" y="2439747"/>
              <a:ext cx="164592" cy="685800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11096" y="2439747"/>
              <a:ext cx="5321808" cy="685800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2E8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75104" y="2485467"/>
              <a:ext cx="12801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2E868A"/>
                  </a:solidFill>
                </a:rPr>
                <a:t>RAG + KGs Corporativos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82696" y="2485467"/>
              <a:ext cx="3749039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444444"/>
                  </a:solidFill>
                </a:rPr>
                <a:t>Recuperação semântica · Grafos de conhecimento · LLMs enterprise privados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46504" y="3180411"/>
              <a:ext cx="164592" cy="685800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11096" y="3180411"/>
              <a:ext cx="5321808" cy="685800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3841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75104" y="3226131"/>
              <a:ext cx="12801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38415C"/>
                  </a:solidFill>
                </a:rPr>
                <a:t>Learning in the Flow of Work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82696" y="3226131"/>
              <a:ext cx="3749039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444444"/>
                  </a:solidFill>
                </a:rPr>
                <a:t>Aprendizagem no momento certo · Andaimes cognitivos · Assistentes no workflow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746504" y="3921075"/>
              <a:ext cx="164592" cy="685800"/>
            </a:xfrm>
            <a:prstGeom prst="rect">
              <a:avLst/>
            </a:prstGeom>
            <a:solidFill>
              <a:srgbClr val="888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11096" y="3921075"/>
              <a:ext cx="5321808" cy="685800"/>
            </a:xfrm>
            <a:prstGeom prst="rect">
              <a:avLst/>
            </a:prstGeom>
            <a:solidFill>
              <a:srgbClr val="F5F5F7"/>
            </a:solidFill>
            <a:ln w="6350">
              <a:solidFill>
                <a:srgbClr val="8888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75104" y="3966795"/>
              <a:ext cx="12801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888899"/>
                  </a:solidFill>
                </a:rPr>
                <a:t>Currículos &amp; Programas (base)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82696" y="3966795"/>
              <a:ext cx="3749039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444444"/>
                  </a:solidFill>
                </a:rPr>
                <a:t>Estrutura formal · Conteúdo certificado · Formação de liderança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731232" y="2066047"/>
            <a:ext cx="131824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 dirty="0">
                <a:solidFill>
                  <a:srgbClr val="E86A1A"/>
                </a:solidFill>
              </a:rPr>
              <a:t>↑
</a:t>
            </a:r>
            <a:r>
              <a:rPr lang="pt-BR" sz="2000" b="1" i="0" dirty="0">
                <a:solidFill>
                  <a:srgbClr val="E86A1A"/>
                </a:solidFill>
              </a:rPr>
              <a:t>Evolu</a:t>
            </a:r>
            <a:r>
              <a:rPr lang="pt-BR" sz="2000" b="1" dirty="0">
                <a:solidFill>
                  <a:srgbClr val="E86A1A"/>
                </a:solidFill>
              </a:rPr>
              <a:t>ção</a:t>
            </a:r>
            <a:r>
              <a:rPr sz="2000" b="1" i="0" dirty="0">
                <a:solidFill>
                  <a:srgbClr val="E86A1A"/>
                </a:solidFill>
              </a:rPr>
              <a:t>
e
</a:t>
            </a:r>
            <a:r>
              <a:rPr lang="pt-BR" sz="2000" b="1" i="0" dirty="0">
                <a:solidFill>
                  <a:srgbClr val="E86A1A"/>
                </a:solidFill>
              </a:rPr>
              <a:t>retroalimentação</a:t>
            </a:r>
            <a:r>
              <a:rPr sz="2000" b="1" i="0" dirty="0">
                <a:solidFill>
                  <a:srgbClr val="E86A1A"/>
                </a:solidFill>
              </a:rPr>
              <a:t>
↓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5E74EF-9E49-F734-35EC-FA03E7032BC8}"/>
              </a:ext>
            </a:extLst>
          </p:cNvPr>
          <p:cNvGrpSpPr/>
          <p:nvPr/>
        </p:nvGrpSpPr>
        <p:grpSpPr>
          <a:xfrm>
            <a:off x="457200" y="5571277"/>
            <a:ext cx="8229600" cy="475488"/>
            <a:chOff x="310896" y="4680026"/>
            <a:chExt cx="8229600" cy="475488"/>
          </a:xfrm>
        </p:grpSpPr>
        <p:sp>
          <p:nvSpPr>
            <p:cNvPr id="21" name="Rectangle 20"/>
            <p:cNvSpPr/>
            <p:nvPr/>
          </p:nvSpPr>
          <p:spPr>
            <a:xfrm>
              <a:off x="310896" y="4680026"/>
              <a:ext cx="8229600" cy="475488"/>
            </a:xfrm>
            <a:prstGeom prst="rect">
              <a:avLst/>
            </a:prstGeom>
            <a:solidFill>
              <a:srgbClr val="E8F4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6616" y="4707459"/>
              <a:ext cx="8138160" cy="438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1">
                  <a:solidFill>
                    <a:srgbClr val="2E868A"/>
                  </a:solidFill>
                </a:rPr>
                <a:t>Böhm &amp; Durst (2025) — SECI→GRAI  |  Nakash (2024) — Learning in the Flow  |  Rausch (2025) — IA para aprendizagem informal
Callari &amp; Puppione (2025) — GenAI tools no workplace  |  Pan et al. (2024) — LLMs + KGs Roadmap</a:t>
              </a:r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673CCFE-9FFF-83A8-5E6F-9633796586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7</a:t>
            </a:fld>
            <a:endParaRPr lang="pt-BR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MOMENT 5.0 — Do Timing à Governança de IA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2259FE5-A664-8C98-B579-2EB8903B3A4B}"/>
              </a:ext>
            </a:extLst>
          </p:cNvPr>
          <p:cNvGrpSpPr/>
          <p:nvPr/>
        </p:nvGrpSpPr>
        <p:grpSpPr>
          <a:xfrm>
            <a:off x="457200" y="1563624"/>
            <a:ext cx="8229600" cy="3730752"/>
            <a:chOff x="118872" y="1115568"/>
            <a:chExt cx="8229600" cy="3730752"/>
          </a:xfrm>
        </p:grpSpPr>
        <p:sp>
          <p:nvSpPr>
            <p:cNvPr id="4" name="Rectangle 3"/>
            <p:cNvSpPr/>
            <p:nvPr/>
          </p:nvSpPr>
          <p:spPr>
            <a:xfrm>
              <a:off x="118872" y="1115568"/>
              <a:ext cx="3977639" cy="329184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3736" y="1152144"/>
              <a:ext cx="3867911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AUDITORIA DE IA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18872" y="1444752"/>
              <a:ext cx="3977639" cy="1115568"/>
            </a:xfrm>
            <a:prstGeom prst="rect">
              <a:avLst/>
            </a:prstGeom>
            <a:solidFill>
              <a:srgbClr val="E8F4F4"/>
            </a:solidFill>
            <a:ln w="10160">
              <a:solidFill>
                <a:srgbClr val="2E8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0312" y="1499616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Logs de decisão dos algoritmos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0312" y="1801368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Rastreabilidade de decisões automáticas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0312" y="2103120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Drift analysis e monitoramento contínuo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42816" y="1115568"/>
              <a:ext cx="3977639" cy="329184"/>
            </a:xfrm>
            <a:prstGeom prst="rect">
              <a:avLst/>
            </a:prstGeom>
            <a:solidFill>
              <a:srgbClr val="E86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7679" y="1152144"/>
              <a:ext cx="3867911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ÉTICA &amp; COMPLIANCE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42816" y="1444752"/>
              <a:ext cx="3977639" cy="1115568"/>
            </a:xfrm>
            <a:prstGeom prst="rect">
              <a:avLst/>
            </a:prstGeom>
            <a:solidFill>
              <a:srgbClr val="FFF8F0"/>
            </a:solidFill>
            <a:ln w="10160">
              <a:solidFill>
                <a:srgbClr val="E86A1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34255" y="1499616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Frameworks éticos corporativos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34255" y="1801368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Choices framework (Benjamins, 2021)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34255" y="2103120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Alinhamento a valores humanos e direitos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8872" y="2706624"/>
              <a:ext cx="3977639" cy="329184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3736" y="2743200"/>
              <a:ext cx="3867911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CONTESTAÇÃO &amp; ACCOUNTABILITY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8872" y="3035808"/>
              <a:ext cx="3977639" cy="1115568"/>
            </a:xfrm>
            <a:prstGeom prst="rect">
              <a:avLst/>
            </a:prstGeom>
            <a:solidFill>
              <a:srgbClr val="F4F0FF"/>
            </a:solidFill>
            <a:ln w="10160">
              <a:solidFill>
                <a:srgbClr val="5B43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0312" y="3090672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Human-in-the-loop obrigatório em decisões sensíveis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0312" y="3392424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Apelação e revisão de decisões autônomas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0312" y="3694176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Responsabilização dos sistemas algorítmicos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242816" y="2706624"/>
              <a:ext cx="3977639" cy="329184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97679" y="2743200"/>
              <a:ext cx="3867911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RETROALIMENTAÇÃO ATIVA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242816" y="3035808"/>
              <a:ext cx="3977639" cy="1115568"/>
            </a:xfrm>
            <a:prstGeom prst="rect">
              <a:avLst/>
            </a:prstGeom>
            <a:solidFill>
              <a:srgbClr val="EAF7EE"/>
            </a:solidFill>
            <a:ln w="10160">
              <a:solidFill>
                <a:srgbClr val="2D7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34255" y="3090672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IA aprende com auditorias e revisões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34255" y="3392424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Atualiza modelos com feedback organizacional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34255" y="3694176"/>
              <a:ext cx="379475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333333"/>
                  </a:solidFill>
                </a:rPr>
                <a:t>• Calibra o aprendizado da UC continuamente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63823" y="2377439"/>
              <a:ext cx="2011680" cy="512064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18687" y="2432303"/>
              <a:ext cx="1901952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50" b="1" i="0">
                  <a:solidFill>
                    <a:srgbClr val="FFFFFF"/>
                  </a:solidFill>
                </a:rPr>
                <a:t>UC como Centro de Governança de IA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8872" y="4498848"/>
              <a:ext cx="8229600" cy="347472"/>
            </a:xfrm>
            <a:prstGeom prst="rect">
              <a:avLst/>
            </a:prstGeom>
            <a:solidFill>
              <a:srgbClr val="F8F2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4592" y="4517136"/>
              <a:ext cx="8138160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1">
                  <a:solidFill>
                    <a:srgbClr val="5B438A"/>
                  </a:solidFill>
                </a:rPr>
                <a:t>Birkstedt et al. (2023)  ·  Benjamins (2021) — choices framework  ·  Joshi (2025) — IA agêntica  ·  Sprongl (2025) — AI Integration Framework</a:t>
              </a:r>
            </a:p>
          </p:txBody>
        </p:sp>
      </p:grp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BA07200-464C-01CF-E72E-71B2499806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8</a:t>
            </a:fld>
            <a:endParaRPr lang="pt-BR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Metodologia: Scoping Review Sistemática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0744E0-93A9-AF8F-93F8-A2212C7BED18}"/>
              </a:ext>
            </a:extLst>
          </p:cNvPr>
          <p:cNvGrpSpPr/>
          <p:nvPr/>
        </p:nvGrpSpPr>
        <p:grpSpPr>
          <a:xfrm>
            <a:off x="470916" y="1737360"/>
            <a:ext cx="8202168" cy="3383280"/>
            <a:chOff x="338795" y="1588279"/>
            <a:chExt cx="8202168" cy="3383280"/>
          </a:xfrm>
        </p:grpSpPr>
        <p:sp>
          <p:nvSpPr>
            <p:cNvPr id="4" name="Rectangle 3"/>
            <p:cNvSpPr/>
            <p:nvPr/>
          </p:nvSpPr>
          <p:spPr>
            <a:xfrm>
              <a:off x="338795" y="1588279"/>
              <a:ext cx="2926080" cy="43891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3659" y="1615711"/>
              <a:ext cx="281635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</a:rPr>
                <a:t>10 Strings de </a:t>
              </a:r>
              <a:r>
                <a:rPr sz="900" b="1" i="0" dirty="0" err="1">
                  <a:solidFill>
                    <a:srgbClr val="FFFFFF"/>
                  </a:solidFill>
                </a:rPr>
                <a:t>Busca</a:t>
              </a:r>
              <a:endParaRPr sz="9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3659" y="1816879"/>
              <a:ext cx="2816352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1">
                  <a:solidFill>
                    <a:srgbClr val="FFFFFF"/>
                  </a:solidFill>
                </a:rPr>
                <a:t>6 Eixos Temáticos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21675" y="2082055"/>
              <a:ext cx="2560320" cy="420623"/>
            </a:xfrm>
            <a:prstGeom prst="rect">
              <a:avLst/>
            </a:prstGeom>
            <a:solidFill>
              <a:srgbClr val="4A5A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6539" y="2109487"/>
              <a:ext cx="2450591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Scopus · WoS · GScholar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6539" y="2310655"/>
              <a:ext cx="2450591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1">
                  <a:solidFill>
                    <a:srgbClr val="FFFFFF"/>
                  </a:solidFill>
                </a:rPr>
                <a:t>Varredura inicial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04555" y="2557543"/>
              <a:ext cx="2194560" cy="420623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9419" y="2584975"/>
              <a:ext cx="2084831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</a:rPr>
                <a:t>114 </a:t>
              </a:r>
              <a:r>
                <a:rPr sz="900" b="1" i="0" dirty="0" err="1">
                  <a:solidFill>
                    <a:srgbClr val="FFFFFF"/>
                  </a:solidFill>
                </a:rPr>
                <a:t>artigos</a:t>
              </a:r>
              <a:r>
                <a:rPr sz="900" b="1" i="0" dirty="0">
                  <a:solidFill>
                    <a:srgbClr val="FFFFFF"/>
                  </a:solidFill>
                </a:rPr>
                <a:t> </a:t>
              </a:r>
              <a:r>
                <a:rPr sz="900" b="1" i="0" dirty="0" err="1">
                  <a:solidFill>
                    <a:srgbClr val="FFFFFF"/>
                  </a:solidFill>
                </a:rPr>
                <a:t>encontrados</a:t>
              </a:r>
              <a:endParaRPr sz="9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9419" y="2786143"/>
              <a:ext cx="2084831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1">
                  <a:solidFill>
                    <a:srgbClr val="FFFFFF"/>
                  </a:solidFill>
                </a:rPr>
                <a:t>Após deduplicação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87435" y="3033031"/>
              <a:ext cx="1828800" cy="420623"/>
            </a:xfrm>
            <a:prstGeom prst="rect">
              <a:avLst/>
            </a:prstGeom>
            <a:solidFill>
              <a:srgbClr val="1A6A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2299" y="3060463"/>
              <a:ext cx="1719072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</a:rPr>
                <a:t>93 artigos com PDF local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42299" y="3261631"/>
              <a:ext cx="1719072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1">
                  <a:solidFill>
                    <a:srgbClr val="FFFFFF"/>
                  </a:solidFill>
                </a:rPr>
                <a:t>Curadoria Q1/Q2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24595" y="3508519"/>
              <a:ext cx="1554480" cy="466344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459" y="3535951"/>
              <a:ext cx="14447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i="0" dirty="0">
                  <a:solidFill>
                    <a:srgbClr val="FFFFFF"/>
                  </a:solidFill>
                </a:rPr>
                <a:t>20</a:t>
              </a:r>
              <a:r>
                <a:rPr lang="pt-BR" sz="900" b="1" i="0" dirty="0">
                  <a:solidFill>
                    <a:srgbClr val="FFFFFF"/>
                  </a:solidFill>
                </a:rPr>
                <a:t>+</a:t>
              </a:r>
              <a:r>
                <a:rPr sz="900" b="1" i="0" dirty="0">
                  <a:solidFill>
                    <a:srgbClr val="FFFFFF"/>
                  </a:solidFill>
                </a:rPr>
                <a:t> </a:t>
              </a:r>
              <a:r>
                <a:rPr sz="900" b="1" i="0" dirty="0" err="1">
                  <a:solidFill>
                    <a:srgbClr val="FFFFFF"/>
                  </a:solidFill>
                </a:rPr>
                <a:t>artigos</a:t>
              </a:r>
              <a:r>
                <a:rPr sz="900" b="1" i="0" dirty="0">
                  <a:solidFill>
                    <a:srgbClr val="FFFFFF"/>
                  </a:solidFill>
                </a:rPr>
                <a:t> </a:t>
              </a:r>
              <a:r>
                <a:rPr sz="900" b="1" i="0" dirty="0" err="1">
                  <a:solidFill>
                    <a:srgbClr val="FFFFFF"/>
                  </a:solidFill>
                </a:rPr>
                <a:t>selecionados</a:t>
              </a:r>
              <a:endParaRPr sz="9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79459" y="3794994"/>
              <a:ext cx="1444752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1" dirty="0">
                  <a:solidFill>
                    <a:srgbClr val="FFFFFF"/>
                  </a:solidFill>
                </a:rPr>
                <a:t>Para </a:t>
              </a:r>
              <a:r>
                <a:rPr sz="750" b="0" i="1" dirty="0" err="1">
                  <a:solidFill>
                    <a:srgbClr val="FFFFFF"/>
                  </a:solidFill>
                </a:rPr>
                <a:t>referencial</a:t>
              </a:r>
              <a:r>
                <a:rPr sz="750" b="0" i="1" dirty="0">
                  <a:solidFill>
                    <a:srgbClr val="FFFFFF"/>
                  </a:solidFill>
                </a:rPr>
                <a:t> </a:t>
              </a:r>
              <a:r>
                <a:rPr sz="750" b="0" i="1" dirty="0" err="1">
                  <a:solidFill>
                    <a:srgbClr val="FFFFFF"/>
                  </a:solidFill>
                </a:rPr>
                <a:t>teórico</a:t>
              </a:r>
              <a:endParaRPr sz="750" b="0" i="1" dirty="0">
                <a:solidFill>
                  <a:srgbClr val="FFFFFF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374603" y="1588279"/>
              <a:ext cx="36576" cy="33832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66043" y="1588279"/>
              <a:ext cx="507492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38415C"/>
                  </a:solidFill>
                </a:rPr>
                <a:t>Critérios de Avaliação dos Artigos (máx. 20 pontos)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66043" y="1926607"/>
              <a:ext cx="640080" cy="621792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5187" y="2091199"/>
              <a:ext cx="621792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</a:rPr>
                <a:t>0–5 pts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24410" y="1926607"/>
              <a:ext cx="4407408" cy="6217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3841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79275" y="1954039"/>
              <a:ext cx="429768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38415C"/>
                  </a:solidFill>
                </a:rPr>
                <a:t>Relevância Temática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79275" y="2228359"/>
              <a:ext cx="429768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444444"/>
                  </a:solidFill>
                </a:rPr>
                <a:t>Aderência aos pilares do 3M 5.0 e eixos do briefing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466043" y="2639839"/>
              <a:ext cx="640080" cy="621792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75187" y="2804431"/>
              <a:ext cx="621792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</a:rPr>
                <a:t>1–5 pts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124410" y="2639839"/>
              <a:ext cx="4407408" cy="6217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2E8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79275" y="2667271"/>
              <a:ext cx="429768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2E868A"/>
                  </a:solidFill>
                </a:rPr>
                <a:t>Atualidade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79275" y="2941591"/>
              <a:ext cx="4297680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 dirty="0">
                  <a:solidFill>
                    <a:srgbClr val="444444"/>
                  </a:solidFill>
                </a:rPr>
                <a:t>2021–2026 = 5 pts  </a:t>
              </a:r>
              <a:r>
                <a:rPr sz="850" b="0" i="0">
                  <a:solidFill>
                    <a:srgbClr val="444444"/>
                  </a:solidFill>
                </a:rPr>
                <a:t>·  20</a:t>
              </a:r>
              <a:r>
                <a:rPr lang="en-BR" sz="850" b="0" i="0">
                  <a:solidFill>
                    <a:srgbClr val="444444"/>
                  </a:solidFill>
                </a:rPr>
                <a:t>13</a:t>
              </a:r>
              <a:r>
                <a:rPr sz="850" b="0" i="0">
                  <a:solidFill>
                    <a:srgbClr val="444444"/>
                  </a:solidFill>
                </a:rPr>
                <a:t>–2020 </a:t>
              </a:r>
              <a:r>
                <a:rPr sz="850" b="0" i="0" dirty="0">
                  <a:solidFill>
                    <a:srgbClr val="444444"/>
                  </a:solidFill>
                </a:rPr>
                <a:t>= 3 pts  ·  </a:t>
              </a:r>
              <a:r>
                <a:rPr sz="850" b="0" i="0">
                  <a:solidFill>
                    <a:srgbClr val="444444"/>
                  </a:solidFill>
                </a:rPr>
                <a:t>&lt;20</a:t>
              </a:r>
              <a:r>
                <a:rPr lang="en-BR" sz="850" b="0" i="0">
                  <a:solidFill>
                    <a:srgbClr val="444444"/>
                  </a:solidFill>
                </a:rPr>
                <a:t>13</a:t>
              </a:r>
              <a:r>
                <a:rPr sz="850" b="0" i="0">
                  <a:solidFill>
                    <a:srgbClr val="444444"/>
                  </a:solidFill>
                </a:rPr>
                <a:t> </a:t>
              </a:r>
              <a:r>
                <a:rPr sz="850" b="0" i="0" dirty="0">
                  <a:solidFill>
                    <a:srgbClr val="444444"/>
                  </a:solidFill>
                </a:rPr>
                <a:t>= 1 pt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466043" y="3353071"/>
              <a:ext cx="640080" cy="621792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75187" y="3517663"/>
              <a:ext cx="621792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</a:rPr>
                <a:t>0–5 pts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24410" y="3353071"/>
              <a:ext cx="4407408" cy="6217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5B43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79275" y="3380503"/>
              <a:ext cx="4297680" cy="238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pt-BR" sz="950" b="1" i="0" dirty="0">
                  <a:solidFill>
                    <a:srgbClr val="5B438A"/>
                  </a:solidFill>
                </a:rPr>
                <a:t>Qualidade</a:t>
              </a:r>
              <a:r>
                <a:rPr sz="950" b="1" i="0" dirty="0">
                  <a:solidFill>
                    <a:srgbClr val="5B438A"/>
                  </a:solidFill>
                </a:rPr>
                <a:t> da Fonte</a:t>
              </a:r>
              <a:r>
                <a:rPr lang="pt-BR" sz="950" b="1" i="0" dirty="0">
                  <a:solidFill>
                    <a:srgbClr val="5B438A"/>
                  </a:solidFill>
                </a:rPr>
                <a:t> + Relevância do Autor</a:t>
              </a:r>
              <a:endParaRPr sz="950" b="1" i="0" dirty="0">
                <a:solidFill>
                  <a:srgbClr val="5B438A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79275" y="3654823"/>
              <a:ext cx="429768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444444"/>
                  </a:solidFill>
                </a:rPr>
                <a:t>IEEE/ACM/Elsevier/JKM = 5  ·  Preprints = 3–4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466043" y="4066302"/>
              <a:ext cx="640080" cy="621792"/>
            </a:xfrm>
            <a:prstGeom prst="rect">
              <a:avLst/>
            </a:prstGeom>
            <a:solidFill>
              <a:srgbClr val="E86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75187" y="4230894"/>
              <a:ext cx="621792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</a:rPr>
                <a:t>0–5 pts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24410" y="4066302"/>
              <a:ext cx="4407408" cy="6217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E86A1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79275" y="4093734"/>
              <a:ext cx="429768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50" b="1" i="0">
                  <a:solidFill>
                    <a:srgbClr val="E86A1A"/>
                  </a:solidFill>
                </a:rPr>
                <a:t>Aplicabilidade Direta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79275" y="4368055"/>
              <a:ext cx="429768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444444"/>
                  </a:solidFill>
                </a:rPr>
                <a:t>Frameworks/modelos empíricos usáveis = 5  ·  Teórico = 3–4</a:t>
              </a:r>
            </a:p>
          </p:txBody>
        </p:sp>
      </p:grp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35023765-22BF-1CF7-1429-4CB247656D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9</a:t>
            </a:fld>
            <a:endParaRPr lang="pt-B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38415C"/>
                </a:solidFill>
              </a:defRPr>
            </a:pPr>
            <a:r>
              <a:t>Os 6 Eixos de Pesquisa da Scoping Review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F1299C1-7A68-2953-C9B3-F7ECCD13B352}"/>
              </a:ext>
            </a:extLst>
          </p:cNvPr>
          <p:cNvGrpSpPr/>
          <p:nvPr/>
        </p:nvGrpSpPr>
        <p:grpSpPr>
          <a:xfrm>
            <a:off x="434340" y="1628483"/>
            <a:ext cx="8275320" cy="4005072"/>
            <a:chOff x="501644" y="1400519"/>
            <a:chExt cx="8275320" cy="4005072"/>
          </a:xfrm>
        </p:grpSpPr>
        <p:sp>
          <p:nvSpPr>
            <p:cNvPr id="4" name="Rectangle 3"/>
            <p:cNvSpPr/>
            <p:nvPr/>
          </p:nvSpPr>
          <p:spPr>
            <a:xfrm>
              <a:off x="501644" y="1400519"/>
              <a:ext cx="2697480" cy="384048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5652" y="143709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1  ·  10 artigos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5652" y="158339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Universidade Corporativa &amp; GC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01644" y="178456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3841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3084" y="183943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1: "corporate university" + "knowledge management"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3084" y="2278342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2: "corporate university" + "organizational learning"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3084" y="2717255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S1A01 Chen (2019) · S1A03 Scarso (2017) · S1A05–S1A10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90564" y="1400519"/>
              <a:ext cx="2697480" cy="384048"/>
            </a:xfrm>
            <a:prstGeom prst="rect">
              <a:avLst/>
            </a:prstGeom>
            <a:solidFill>
              <a:srgbClr val="2E86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54572" y="143709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2  ·  22 artigos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54572" y="158339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IA Generativa &amp; Gestão do Conhecimento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90564" y="178456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2E8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82004" y="183943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3: "generative AI" + "knowledge management"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82004" y="2278342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4: "LLMs" + "organizational knowledge" + enterprise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82004" y="2717255"/>
              <a:ext cx="2514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E0A</a:t>
              </a:r>
              <a:r>
                <a:rPr lang="en-BR" sz="800" b="0" i="0">
                  <a:solidFill>
                    <a:srgbClr val="333333"/>
                  </a:solidFill>
                </a:rPr>
                <a:t>13</a:t>
              </a:r>
              <a:r>
                <a:rPr sz="800" b="0" i="0">
                  <a:solidFill>
                    <a:srgbClr val="333333"/>
                  </a:solidFill>
                </a:rPr>
                <a:t> </a:t>
              </a:r>
              <a:r>
                <a:rPr sz="800" b="0" i="0" dirty="0">
                  <a:solidFill>
                    <a:srgbClr val="333333"/>
                  </a:solidFill>
                </a:rPr>
                <a:t>Alavi · E0A18 Böhm · E0A06 Islam · E0A13 Faraj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079484" y="1400519"/>
              <a:ext cx="2697480" cy="384048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43492" y="143709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3  ·  14 artigos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43492" y="158339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Aprendizagem no Fluxo de Trabalho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79484" y="178456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2D7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70924" y="183943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5: "learning in the flow of work"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70924" y="2278342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6: "workplace learning" + "artificial intelligence"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70924" y="2717255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S5A02 Nakash · S5A03 Lombardozzi · S6A01 Rausch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01644" y="3320759"/>
              <a:ext cx="2697480" cy="384048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5652" y="335733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4  ·  10 artigos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65652" y="350363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Governança de IA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1644" y="370480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5B43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3084" y="375967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7: "AI governance" + "responsible AI" + framework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93084" y="4198583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S7A08 Benjamins · S7A05 Sprongl · S7A06 Joshi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93084" y="4637495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Base do MOMENT 5.0 — governança como loop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0564" y="3320759"/>
              <a:ext cx="2697480" cy="384048"/>
            </a:xfrm>
            <a:prstGeom prst="rect">
              <a:avLst/>
            </a:prstGeom>
            <a:solidFill>
              <a:srgbClr val="E86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54572" y="335733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5  ·  9 artigos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54572" y="350363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Reconfiguração do Trabalho &amp; Upskilling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0564" y="370480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E86A1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82004" y="375967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8: "future of work" + "AI" + upskilling/reskilling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82004" y="4198583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S8A04 Morandini (2023) · S8A05 Li (2024)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382004" y="4637495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Base do MOTIVE 5.0 — future-ready workforce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079484" y="3320759"/>
              <a:ext cx="2697480" cy="384048"/>
            </a:xfrm>
            <a:prstGeom prst="rect">
              <a:avLst/>
            </a:prstGeom>
            <a:solidFill>
              <a:srgbClr val="A03A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43492" y="3357335"/>
              <a:ext cx="2569464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FFFFFF"/>
                  </a:solidFill>
                </a:rPr>
                <a:t>Eixo 6  ·  16 artigos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43492" y="3503639"/>
              <a:ext cx="2569464" cy="182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</a:rPr>
                <a:t>Knowledge Graphs &amp; RAG Corporativo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79484" y="3704807"/>
              <a:ext cx="2697480" cy="1426464"/>
            </a:xfrm>
            <a:prstGeom prst="rect">
              <a:avLst/>
            </a:prstGeom>
            <a:solidFill>
              <a:srgbClr val="F2F2F4"/>
            </a:solidFill>
            <a:ln w="10160">
              <a:solidFill>
                <a:srgbClr val="A03A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70924" y="3759671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9: "knowledge graph" + enterprise + KM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70924" y="4198583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String 10: "retrieval augmented generation" + enterprise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170924" y="4637495"/>
              <a:ext cx="2514600" cy="4023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333333"/>
                  </a:solidFill>
                </a:rPr>
                <a:t>→  Infraestrutura técnica do MODEL 5.0 — laboratório vivo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1644" y="5021543"/>
              <a:ext cx="8229600" cy="384048"/>
            </a:xfrm>
            <a:prstGeom prst="rect">
              <a:avLst/>
            </a:prstGeom>
            <a:solidFill>
              <a:srgbClr val="3841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47364" y="5048975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10 strings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47364" y="5195279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0">
                  <a:solidFill>
                    <a:srgbClr val="CCCCCC"/>
                  </a:solidFill>
                </a:rPr>
                <a:t>de busca booleanas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93284" y="5048975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6 eixos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193284" y="5195279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0">
                  <a:solidFill>
                    <a:srgbClr val="CCCCCC"/>
                  </a:solidFill>
                </a:rPr>
                <a:t>temáticos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839204" y="5048975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114 únicos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839204" y="5195279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0">
                  <a:solidFill>
                    <a:srgbClr val="CCCCCC"/>
                  </a:solidFill>
                </a:rPr>
                <a:t>encontrados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485124" y="5048975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</a:rPr>
                <a:t>93 artigos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485124" y="5195279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0">
                  <a:solidFill>
                    <a:srgbClr val="CCCCCC"/>
                  </a:solidFill>
                </a:rPr>
                <a:t>com PDF local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131044" y="5048975"/>
              <a:ext cx="15544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 dirty="0">
                  <a:solidFill>
                    <a:srgbClr val="FFFFFF"/>
                  </a:solidFill>
                </a:rPr>
                <a:t>20</a:t>
              </a:r>
              <a:r>
                <a:rPr lang="pt-BR" sz="1000" b="1" i="0" dirty="0">
                  <a:solidFill>
                    <a:srgbClr val="FFFFFF"/>
                  </a:solidFill>
                </a:rPr>
                <a:t>+</a:t>
              </a:r>
              <a:r>
                <a:rPr sz="1000" b="1" i="0" dirty="0">
                  <a:solidFill>
                    <a:srgbClr val="FFFFFF"/>
                  </a:solidFill>
                </a:rPr>
                <a:t> </a:t>
              </a:r>
              <a:r>
                <a:rPr sz="1000" b="1" i="0" dirty="0" err="1">
                  <a:solidFill>
                    <a:srgbClr val="FFFFFF"/>
                  </a:solidFill>
                </a:rPr>
                <a:t>selecionados</a:t>
              </a:r>
              <a:endParaRPr sz="10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131044" y="5195279"/>
              <a:ext cx="15544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 i="0">
                  <a:solidFill>
                    <a:srgbClr val="CCCCCC"/>
                  </a:solidFill>
                </a:rPr>
                <a:t>para referencial</a:t>
              </a:r>
            </a:p>
          </p:txBody>
        </p:sp>
      </p:grp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FD6DE1C7-68A6-64AE-609F-ECA6768378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10</a:t>
            </a:fld>
            <a:endParaRPr lang="pt-BR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t>Referencial Teórico — 5 Eixos, 27 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840" y="1649263"/>
            <a:ext cx="2697480" cy="347472"/>
          </a:xfrm>
          <a:prstGeom prst="rect">
            <a:avLst/>
          </a:prstGeom>
          <a:solidFill>
            <a:srgbClr val="38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8704" y="1685839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§2.1  UC &amp; Modelo 3M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3840" y="1996735"/>
            <a:ext cx="2697480" cy="1463040"/>
          </a:xfrm>
          <a:prstGeom prst="rect">
            <a:avLst/>
          </a:prstGeom>
          <a:solidFill>
            <a:srgbClr val="F2F2F4"/>
          </a:solidFill>
          <a:ln w="10160">
            <a:solidFill>
              <a:srgbClr val="3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992" y="2033310"/>
            <a:ext cx="25511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4444"/>
                </a:solidFill>
              </a:rPr>
              <a:t>S1A01 Chen (2019) · S1A03 Scarso (2017) · S1A06 Han (2024)
Costa, Souza &amp; Oliveira (2011) — modelo a retrofitar
Mora-Mora et al. (2025) — gap: 0/19 integram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4080" y="3167167"/>
            <a:ext cx="749808" cy="237744"/>
          </a:xfrm>
          <a:prstGeom prst="rect">
            <a:avLst/>
          </a:prstGeom>
          <a:solidFill>
            <a:srgbClr val="38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43224" y="3185455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MOTIVE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9336" y="1649263"/>
            <a:ext cx="2697480" cy="347472"/>
          </a:xfrm>
          <a:prstGeom prst="rect">
            <a:avLst/>
          </a:prstGeom>
          <a:solidFill>
            <a:srgbClr val="2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4200" y="1685839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§2.2  IA Generativa &amp; GC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9336" y="1996735"/>
            <a:ext cx="2697480" cy="1463040"/>
          </a:xfrm>
          <a:prstGeom prst="rect">
            <a:avLst/>
          </a:prstGeom>
          <a:solidFill>
            <a:srgbClr val="F2F2F4"/>
          </a:solidFill>
          <a:ln w="10160">
            <a:solidFill>
              <a:srgbClr val="2E8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2488" y="2033310"/>
            <a:ext cx="25511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4444"/>
                </a:solidFill>
              </a:rPr>
              <a:t>Alavi &amp; Leidner (2024) · Böhm &amp; Durst (2025) — GRAI
Kirchner (2025) · Storey (2025) · O'Leary (2023)
Jarrahi et al. (2023) — simbiose humano-IA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9576" y="3167167"/>
            <a:ext cx="749808" cy="237744"/>
          </a:xfrm>
          <a:prstGeom prst="rect">
            <a:avLst/>
          </a:prstGeom>
          <a:solidFill>
            <a:srgbClr val="2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8720" y="3185455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4832" y="1649263"/>
            <a:ext cx="2697480" cy="347472"/>
          </a:xfrm>
          <a:prstGeom prst="rect">
            <a:avLst/>
          </a:prstGeom>
          <a:solidFill>
            <a:srgbClr val="2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19695" y="1685839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§2.3  Learning in the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4832" y="1996735"/>
            <a:ext cx="2697480" cy="1463040"/>
          </a:xfrm>
          <a:prstGeom prst="rect">
            <a:avLst/>
          </a:prstGeom>
          <a:solidFill>
            <a:srgbClr val="F2F2F4"/>
          </a:solidFill>
          <a:ln w="10160">
            <a:solidFill>
              <a:srgbClr val="2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37984" y="2033310"/>
            <a:ext cx="25511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4444"/>
                </a:solidFill>
              </a:rPr>
              <a:t>Nakash (2024) · Lombardozzi (2016) — scaffolding
Rausch (2025) · Callari &amp; Puppione (2025)
Morandini (2023) · Li (2024) — I4.0/I5.0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072" y="3167167"/>
            <a:ext cx="749808" cy="237744"/>
          </a:xfrm>
          <a:prstGeom prst="rect">
            <a:avLst/>
          </a:prstGeom>
          <a:solidFill>
            <a:srgbClr val="2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94216" y="3185455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1160" y="3606079"/>
            <a:ext cx="2697480" cy="347472"/>
          </a:xfrm>
          <a:prstGeom prst="rect">
            <a:avLst/>
          </a:prstGeom>
          <a:solidFill>
            <a:srgbClr val="5B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86024" y="3642655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§2.4  IA como Agente 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31160" y="3953550"/>
            <a:ext cx="2697480" cy="1463040"/>
          </a:xfrm>
          <a:prstGeom prst="rect">
            <a:avLst/>
          </a:prstGeom>
          <a:solidFill>
            <a:srgbClr val="F2F2F4"/>
          </a:solidFill>
          <a:ln w="10160">
            <a:solidFill>
              <a:srgbClr val="5B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4312" y="3990127"/>
            <a:ext cx="25511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4444"/>
                </a:solidFill>
              </a:rPr>
              <a:t>Islam &amp; Ajmal (2025) — co-evolução IA-GC
Faraj et al. (2026) — knowing pós-LLM
He &amp; Burger-Helmchen (2025) — dinâmicas sociais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50727C1-77E6-9833-556C-14AED72369B0}"/>
              </a:ext>
            </a:extLst>
          </p:cNvPr>
          <p:cNvGrpSpPr/>
          <p:nvPr/>
        </p:nvGrpSpPr>
        <p:grpSpPr>
          <a:xfrm>
            <a:off x="3470787" y="5123983"/>
            <a:ext cx="1030421" cy="310676"/>
            <a:chOff x="3447288" y="4553712"/>
            <a:chExt cx="758952" cy="310676"/>
          </a:xfrm>
        </p:grpSpPr>
        <p:sp>
          <p:nvSpPr>
            <p:cNvPr id="26" name="Rectangle 25"/>
            <p:cNvSpPr/>
            <p:nvPr/>
          </p:nvSpPr>
          <p:spPr>
            <a:xfrm>
              <a:off x="3456432" y="4553712"/>
              <a:ext cx="749808" cy="237744"/>
            </a:xfrm>
            <a:prstGeom prst="rect">
              <a:avLst/>
            </a:prstGeom>
            <a:solidFill>
              <a:srgbClr val="5B43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47288" y="4572000"/>
              <a:ext cx="749808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650" b="1" i="0" dirty="0">
                  <a:solidFill>
                    <a:srgbClr val="FFFFFF"/>
                  </a:solidFill>
                </a:rPr>
                <a:t>TRANSVERSAL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4912688" y="3606079"/>
            <a:ext cx="269748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67551" y="3642655"/>
            <a:ext cx="2587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§2.5  Governança de 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2688" y="3953550"/>
            <a:ext cx="2697480" cy="1463040"/>
          </a:xfrm>
          <a:prstGeom prst="rect">
            <a:avLst/>
          </a:prstGeom>
          <a:solidFill>
            <a:srgbClr val="F2F2F4"/>
          </a:solidFill>
          <a:ln w="1016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5840" y="3990127"/>
            <a:ext cx="25511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4444"/>
                </a:solidFill>
              </a:rPr>
              <a:t>Birkstedt et al. (2023) · Benjamins (2021)
Sprongl (2025) · Joshi (2025) — IA agêntica
Prat (2011) · Stollenwerk (2001)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2928" y="5123983"/>
            <a:ext cx="749808" cy="23774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42072" y="5142271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MOMENT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470C208C-93C1-50CE-5968-27AAFAB140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11</a:t>
            </a:fld>
            <a:endParaRPr 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66601" y="357517"/>
            <a:ext cx="8185958" cy="1334336"/>
          </a:xfrm>
        </p:spPr>
        <p:txBody>
          <a:bodyPr/>
          <a:lstStyle/>
          <a:p>
            <a:pPr>
              <a:defRPr sz="2800" b="1">
                <a:solidFill>
                  <a:srgbClr val="38415C"/>
                </a:solidFill>
              </a:defRPr>
            </a:pPr>
            <a:r>
              <a:rPr dirty="0"/>
              <a:t>Estado </a:t>
            </a:r>
            <a:r>
              <a:rPr dirty="0" err="1"/>
              <a:t>Atual</a:t>
            </a:r>
            <a:r>
              <a:rPr dirty="0"/>
              <a:t> do </a:t>
            </a:r>
            <a:r>
              <a:rPr dirty="0" err="1"/>
              <a:t>Artigo</a:t>
            </a:r>
            <a:endParaRPr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267E461-DE4E-0C8D-AB62-537943252924}"/>
              </a:ext>
            </a:extLst>
          </p:cNvPr>
          <p:cNvGrpSpPr/>
          <p:nvPr/>
        </p:nvGrpSpPr>
        <p:grpSpPr>
          <a:xfrm>
            <a:off x="534484" y="1793918"/>
            <a:ext cx="8037576" cy="2277689"/>
            <a:chOff x="522909" y="1608723"/>
            <a:chExt cx="8037576" cy="2277689"/>
          </a:xfrm>
        </p:grpSpPr>
        <p:sp>
          <p:nvSpPr>
            <p:cNvPr id="6" name="Rectangle 5"/>
            <p:cNvSpPr/>
            <p:nvPr/>
          </p:nvSpPr>
          <p:spPr>
            <a:xfrm>
              <a:off x="522909" y="2075901"/>
              <a:ext cx="1124712" cy="256032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0341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 dirty="0">
                  <a:solidFill>
                    <a:srgbClr val="FFFFFF"/>
                  </a:solidFill>
                </a:rPr>
                <a:t>✓ CONCLUÍDA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22909" y="2350220"/>
              <a:ext cx="1124712" cy="1536192"/>
            </a:xfrm>
            <a:prstGeom prst="rect">
              <a:avLst/>
            </a:prstGeom>
            <a:solidFill>
              <a:srgbClr val="E8F4EA"/>
            </a:solidFill>
            <a:ln w="6350">
              <a:solidFill>
                <a:srgbClr val="2D7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8629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1A5A28"/>
                  </a:solidFill>
                </a:rPr>
                <a:t>Contextualização, gap, pergunta de pesquisa, objetivos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75053" y="2075901"/>
              <a:ext cx="1124712" cy="256032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02485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✓ CONCLUÍDA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75053" y="2350220"/>
              <a:ext cx="1124712" cy="1536192"/>
            </a:xfrm>
            <a:prstGeom prst="rect">
              <a:avLst/>
            </a:prstGeom>
            <a:solidFill>
              <a:srgbClr val="E8F4EA"/>
            </a:solidFill>
            <a:ln w="6350">
              <a:solidFill>
                <a:srgbClr val="2D7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20773" y="2386796"/>
              <a:ext cx="1033271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 dirty="0">
                  <a:solidFill>
                    <a:srgbClr val="1A5A28"/>
                  </a:solidFill>
                </a:rPr>
                <a:t>5 </a:t>
              </a:r>
              <a:r>
                <a:rPr sz="750" b="0" i="0" dirty="0" err="1">
                  <a:solidFill>
                    <a:srgbClr val="1A5A28"/>
                  </a:solidFill>
                </a:rPr>
                <a:t>eixos</a:t>
              </a:r>
              <a:endParaRPr sz="750" b="0" i="0" dirty="0">
                <a:solidFill>
                  <a:srgbClr val="1A5A28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827197" y="2075901"/>
              <a:ext cx="1124712" cy="256032"/>
            </a:xfrm>
            <a:prstGeom prst="rect">
              <a:avLst/>
            </a:prstGeom>
            <a:solidFill>
              <a:srgbClr val="D4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54628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→ PRÓXIMA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27197" y="2350220"/>
              <a:ext cx="1124712" cy="15361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72916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444444"/>
                  </a:solidFill>
                </a:rPr>
                <a:t>Scoping Review, 4 etapas conceitual-construtivas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79341" y="2075901"/>
              <a:ext cx="1124712" cy="256032"/>
            </a:xfrm>
            <a:prstGeom prst="rect">
              <a:avLst/>
            </a:prstGeom>
            <a:solidFill>
              <a:srgbClr val="D4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06773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→ PRÓXIMA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979341" y="2350220"/>
              <a:ext cx="1124712" cy="15361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025061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444444"/>
                  </a:solidFill>
                </a:rPr>
                <a:t>MOTIVE · MODEL · MOMENT — retrofit tripartite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31485" y="2075901"/>
              <a:ext cx="1124712" cy="256032"/>
            </a:xfrm>
            <a:prstGeom prst="rect">
              <a:avLst/>
            </a:prstGeom>
            <a:solidFill>
              <a:srgbClr val="D4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58917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→ PRÓXIMA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131485" y="2350220"/>
              <a:ext cx="1124712" cy="15361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77205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444444"/>
                  </a:solidFill>
                </a:rPr>
                <a:t>Validação vs. 19 modelos Mora-Mora (2025)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83629" y="2075901"/>
              <a:ext cx="1124712" cy="256032"/>
            </a:xfrm>
            <a:prstGeom prst="rect">
              <a:avLst/>
            </a:prstGeom>
            <a:solidFill>
              <a:srgbClr val="D4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11061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→ PRÓXIMA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283629" y="2350220"/>
              <a:ext cx="1124712" cy="15361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329349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444444"/>
                  </a:solidFill>
                </a:rPr>
                <a:t>Contribuições teóricas C1–C5 + práticas C6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C5F21A8-71B7-14BB-F978-A39708FA88B7}"/>
                </a:ext>
              </a:extLst>
            </p:cNvPr>
            <p:cNvGrpSpPr/>
            <p:nvPr/>
          </p:nvGrpSpPr>
          <p:grpSpPr>
            <a:xfrm>
              <a:off x="522909" y="1608723"/>
              <a:ext cx="8037576" cy="390519"/>
              <a:chOff x="522909" y="1691853"/>
              <a:chExt cx="8037576" cy="390519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522909" y="1691853"/>
                <a:ext cx="1124712" cy="384048"/>
              </a:xfrm>
              <a:prstGeom prst="rect">
                <a:avLst/>
              </a:prstGeom>
              <a:solidFill>
                <a:srgbClr val="2D7A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77773" y="1728429"/>
                <a:ext cx="1014983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I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Introdução</a:t>
                </a:r>
                <a:endParaRPr sz="850" b="1" i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675053" y="1691853"/>
                <a:ext cx="1124712" cy="384048"/>
              </a:xfrm>
              <a:prstGeom prst="rect">
                <a:avLst/>
              </a:prstGeom>
              <a:solidFill>
                <a:srgbClr val="2D7A4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729917" y="1728429"/>
                <a:ext cx="1014983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II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Referencial</a:t>
                </a:r>
                <a:r>
                  <a:rPr sz="850" b="1" i="0" dirty="0">
                    <a:solidFill>
                      <a:srgbClr val="FFFFFF"/>
                    </a:solidFill>
                  </a:rPr>
                  <a:t>
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Teórico</a:t>
                </a:r>
                <a:endParaRPr sz="850" b="1" i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827197" y="1691853"/>
                <a:ext cx="1124712" cy="384048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882061" y="1728429"/>
                <a:ext cx="1014983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850" b="1" dirty="0" err="1">
                    <a:solidFill>
                      <a:srgbClr val="FFFFFF"/>
                    </a:solidFill>
                  </a:rPr>
                  <a:t>i</a:t>
                </a:r>
                <a:r>
                  <a:rPr sz="850" b="1" i="0" dirty="0">
                    <a:solidFill>
                      <a:srgbClr val="FFFFFF"/>
                    </a:solidFill>
                  </a:rPr>
                  <a:t>II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Metodologia</a:t>
                </a:r>
                <a:endParaRPr sz="850" b="1" i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3979341" y="1691853"/>
                <a:ext cx="1124712" cy="384048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034205" y="1728429"/>
                <a:ext cx="1014983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IV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>
                    <a:solidFill>
                      <a:srgbClr val="FFFFFF"/>
                    </a:solidFill>
                  </a:rPr>
                  <a:t>Modelo
3M 5.0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5131485" y="1691853"/>
                <a:ext cx="1124712" cy="384048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186349" y="1728429"/>
                <a:ext cx="1014983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V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Análise</a:t>
                </a:r>
                <a:r>
                  <a:rPr sz="850" b="1" i="0" dirty="0">
                    <a:solidFill>
                      <a:srgbClr val="FFFFFF"/>
                    </a:solidFill>
                  </a:rPr>
                  <a:t>
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Comparativa</a:t>
                </a:r>
                <a:endParaRPr sz="850" b="1" i="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283629" y="1691853"/>
                <a:ext cx="1124712" cy="384048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6338492" y="1728429"/>
                <a:ext cx="1014983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VI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>
                    <a:solidFill>
                      <a:srgbClr val="FFFFFF"/>
                    </a:solidFill>
                  </a:rPr>
                  <a:t>Discussão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435773" y="1691853"/>
                <a:ext cx="1124712" cy="384048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490637" y="1728429"/>
                <a:ext cx="1014983" cy="22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50" b="1" i="0" dirty="0">
                    <a:solidFill>
                      <a:srgbClr val="FFFFFF"/>
                    </a:solidFill>
                  </a:rPr>
                  <a:t>VII</a:t>
                </a:r>
                <a:r>
                  <a:rPr lang="pt-BR" sz="850" b="1" dirty="0">
                    <a:solidFill>
                      <a:srgbClr val="FFFFFF"/>
                    </a:solidFill>
                  </a:rPr>
                  <a:t> </a:t>
                </a:r>
                <a:r>
                  <a:rPr sz="850" b="1" i="0" dirty="0" err="1">
                    <a:solidFill>
                      <a:srgbClr val="FFFFFF"/>
                    </a:solidFill>
                  </a:rPr>
                  <a:t>Conclusão</a:t>
                </a:r>
                <a:endParaRPr sz="85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2" name="Rectangle 41"/>
            <p:cNvSpPr/>
            <p:nvPr/>
          </p:nvSpPr>
          <p:spPr>
            <a:xfrm>
              <a:off x="7435773" y="2075901"/>
              <a:ext cx="1124712" cy="256032"/>
            </a:xfrm>
            <a:prstGeom prst="rect">
              <a:avLst/>
            </a:prstGeom>
            <a:solidFill>
              <a:srgbClr val="D4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63205" y="2094189"/>
              <a:ext cx="1069848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1" i="0">
                  <a:solidFill>
                    <a:srgbClr val="FFFFFF"/>
                  </a:solidFill>
                </a:rPr>
                <a:t>→ PRÓXIMA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435773" y="2350220"/>
              <a:ext cx="1124712" cy="1536192"/>
            </a:xfrm>
            <a:prstGeom prst="rect">
              <a:avLst/>
            </a:prstGeom>
            <a:solidFill>
              <a:srgbClr val="F2F2F4"/>
            </a:solidFill>
            <a:ln w="6350">
              <a:solidFill>
                <a:srgbClr val="BBBB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81493" y="2386796"/>
              <a:ext cx="1033271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444444"/>
                  </a:solidFill>
                </a:rPr>
                <a:t>Limitações + trabalhos futuros + submissão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36DD6E6-FE60-2040-D4F9-B68EDCD8AEC4}"/>
              </a:ext>
            </a:extLst>
          </p:cNvPr>
          <p:cNvGrpSpPr/>
          <p:nvPr/>
        </p:nvGrpSpPr>
        <p:grpSpPr>
          <a:xfrm>
            <a:off x="2147763" y="4842080"/>
            <a:ext cx="4553712" cy="658368"/>
            <a:chOff x="2552877" y="4453340"/>
            <a:chExt cx="4553712" cy="658368"/>
          </a:xfrm>
        </p:grpSpPr>
        <p:sp>
          <p:nvSpPr>
            <p:cNvPr id="49" name="Rectangle 48"/>
            <p:cNvSpPr/>
            <p:nvPr/>
          </p:nvSpPr>
          <p:spPr>
            <a:xfrm>
              <a:off x="2552877" y="4453340"/>
              <a:ext cx="1920240" cy="658368"/>
            </a:xfrm>
            <a:prstGeom prst="rect">
              <a:avLst/>
            </a:prstGeom>
            <a:solidFill>
              <a:srgbClr val="2D7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07741" y="4480773"/>
              <a:ext cx="181051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607741" y="4819101"/>
              <a:ext cx="181051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i="0">
                  <a:solidFill>
                    <a:srgbClr val="FFFFFF"/>
                  </a:solidFill>
                </a:rPr>
                <a:t>seções
concluídas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044D998-611C-3AC3-FC40-1B54609BAB2E}"/>
                </a:ext>
              </a:extLst>
            </p:cNvPr>
            <p:cNvGrpSpPr/>
            <p:nvPr/>
          </p:nvGrpSpPr>
          <p:grpSpPr>
            <a:xfrm>
              <a:off x="5186349" y="4453340"/>
              <a:ext cx="1920240" cy="658368"/>
              <a:chOff x="6612813" y="4453340"/>
              <a:chExt cx="1920240" cy="658368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6612813" y="4453340"/>
                <a:ext cx="1920240" cy="658368"/>
              </a:xfrm>
              <a:prstGeom prst="rect">
                <a:avLst/>
              </a:prstGeom>
              <a:solidFill>
                <a:srgbClr val="5B438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667677" y="4480773"/>
                <a:ext cx="1810512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i="0">
                    <a:solidFill>
                      <a:srgbClr val="FFFFFF"/>
                    </a:solidFill>
                  </a:rPr>
                  <a:t>93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667677" y="4819101"/>
                <a:ext cx="1810512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 i="0">
                    <a:solidFill>
                      <a:srgbClr val="FFFFFF"/>
                    </a:solidFill>
                  </a:rPr>
                  <a:t>artigos
catalogados</a:t>
                </a:r>
              </a:p>
            </p:txBody>
          </p:sp>
        </p:grpSp>
      </p:grp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DE0836C5-0D07-F3E0-7200-34A990BF78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12</a:t>
            </a:fld>
            <a:endParaRPr lang="pt-B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4871" y="2131827"/>
            <a:ext cx="6191137" cy="835377"/>
          </a:xfrm>
        </p:spPr>
        <p:txBody>
          <a:bodyPr/>
          <a:lstStyle/>
          <a:p>
            <a:r>
              <a:rPr dirty="0" err="1"/>
              <a:t>Obrigado</a:t>
            </a:r>
            <a:endParaRPr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EB6B01-C13D-129F-6F30-CF32CA136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1882" y="3429000"/>
            <a:ext cx="6217114" cy="1939609"/>
          </a:xfrm>
        </p:spPr>
        <p:txBody>
          <a:bodyPr>
            <a:normAutofit/>
          </a:bodyPr>
          <a:lstStyle/>
          <a:p>
            <a:r>
              <a:rPr sz="1200" dirty="0" err="1"/>
              <a:t>Apresentação</a:t>
            </a:r>
            <a:r>
              <a:rPr sz="1200" dirty="0"/>
              <a:t> de </a:t>
            </a:r>
            <a:r>
              <a:rPr sz="1200" dirty="0" err="1"/>
              <a:t>Resultados</a:t>
            </a:r>
            <a:r>
              <a:rPr sz="1200" dirty="0"/>
              <a:t> </a:t>
            </a:r>
            <a:r>
              <a:rPr sz="1200" dirty="0" err="1"/>
              <a:t>Parciais</a:t>
            </a:r>
            <a:endParaRPr sz="1200" dirty="0"/>
          </a:p>
          <a:p>
            <a:r>
              <a:rPr sz="1200" dirty="0"/>
              <a:t>CPS831 — </a:t>
            </a:r>
            <a:r>
              <a:rPr sz="1200" dirty="0" err="1"/>
              <a:t>Gestão</a:t>
            </a:r>
            <a:r>
              <a:rPr sz="1200" dirty="0"/>
              <a:t> </a:t>
            </a:r>
            <a:r>
              <a:rPr sz="1200" dirty="0" err="1"/>
              <a:t>Aumentada</a:t>
            </a:r>
            <a:r>
              <a:rPr sz="1200" dirty="0"/>
              <a:t> do </a:t>
            </a:r>
            <a:r>
              <a:rPr sz="1200" dirty="0" err="1"/>
              <a:t>Conhecimento</a:t>
            </a:r>
            <a:r>
              <a:rPr sz="1200" dirty="0"/>
              <a:t> 5.0</a:t>
            </a:r>
          </a:p>
          <a:p>
            <a:r>
              <a:rPr lang="en-US" sz="1200" dirty="0"/>
              <a:t>João Pedro Barbosa Martins</a:t>
            </a:r>
            <a:r>
              <a:rPr lang="pt-BR" sz="1200" dirty="0"/>
              <a:t> Martins</a:t>
            </a:r>
          </a:p>
          <a:p>
            <a:r>
              <a:rPr lang="en-US" sz="1200" dirty="0" err="1"/>
              <a:t>Orientadoras</a:t>
            </a:r>
            <a:r>
              <a:rPr lang="en-US" sz="1200" dirty="0"/>
              <a:t>: Viviane Cunha Farias da Costa &amp; Emilly Lopes</a:t>
            </a:r>
          </a:p>
          <a:p>
            <a:endParaRPr lang="pt-BR" sz="1200" dirty="0"/>
          </a:p>
          <a:p>
            <a:r>
              <a:rPr sz="1200" dirty="0"/>
              <a:t>PESC / COPPE-UFRJ · Jun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3090</Words>
  <Application>Microsoft Macintosh PowerPoint</Application>
  <PresentationFormat>On-screen Show (4:3)</PresentationFormat>
  <Paragraphs>313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Fira Sans</vt:lpstr>
      <vt:lpstr>Calibri</vt:lpstr>
      <vt:lpstr>Arial</vt:lpstr>
      <vt:lpstr>Office Theme</vt:lpstr>
      <vt:lpstr>Retrofit do Modelo 3M de Universidade Corporativa à Luz da Inteligência Artificial</vt:lpstr>
      <vt:lpstr>O Problema: 19 Modelos de UC, Nenhum Integra IA</vt:lpstr>
      <vt:lpstr>A Virada Conceitual: IA como Agente, não apenas Ferramenta</vt:lpstr>
      <vt:lpstr>O Modelo 3M 5.0 — Reinterpretação Tripartite</vt:lpstr>
      <vt:lpstr>Contribuições do Trabalho</vt:lpstr>
      <vt:lpstr>MOTIVE 5.0 — Do Alinhamento ao Sensing Contínuo</vt:lpstr>
      <vt:lpstr>MODEL 5.0 — Do Currículo ao Laboratório Vivo</vt:lpstr>
      <vt:lpstr>MOMENT 5.0 — Do Timing à Governança de IA</vt:lpstr>
      <vt:lpstr>Metodologia: Scoping Review Sistemática</vt:lpstr>
      <vt:lpstr>Os 6 Eixos de Pesquisa da Scoping Review</vt:lpstr>
      <vt:lpstr>Referencial Teórico — 5 Eixos, 27 Referências</vt:lpstr>
      <vt:lpstr>Estado Atual do Artigo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Joao Pedro Barbosa Dos Santos Martins Silva</cp:lastModifiedBy>
  <cp:revision>4</cp:revision>
  <dcterms:modified xsi:type="dcterms:W3CDTF">2026-06-02T16:21:50Z</dcterms:modified>
</cp:coreProperties>
</file>